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sldIdLst>
    <p:sldId id="542" r:id="rId3"/>
    <p:sldId id="547" r:id="rId4"/>
    <p:sldId id="579" r:id="rId5"/>
    <p:sldId id="596" r:id="rId6"/>
    <p:sldId id="521" r:id="rId7"/>
    <p:sldId id="641" r:id="rId8"/>
    <p:sldId id="642" r:id="rId9"/>
    <p:sldId id="644" r:id="rId10"/>
    <p:sldId id="645" r:id="rId11"/>
    <p:sldId id="646" r:id="rId12"/>
    <p:sldId id="647" r:id="rId13"/>
    <p:sldId id="648" r:id="rId14"/>
    <p:sldId id="649" r:id="rId15"/>
    <p:sldId id="650" r:id="rId16"/>
    <p:sldId id="651" r:id="rId17"/>
    <p:sldId id="652" r:id="rId18"/>
    <p:sldId id="653" r:id="rId19"/>
    <p:sldId id="654" r:id="rId20"/>
    <p:sldId id="640" r:id="rId21"/>
    <p:sldId id="655" r:id="rId22"/>
    <p:sldId id="656" r:id="rId23"/>
    <p:sldId id="657" r:id="rId24"/>
    <p:sldId id="660" r:id="rId25"/>
    <p:sldId id="658" r:id="rId26"/>
    <p:sldId id="659" r:id="rId27"/>
    <p:sldId id="664" r:id="rId28"/>
    <p:sldId id="662" r:id="rId29"/>
    <p:sldId id="663" r:id="rId30"/>
    <p:sldId id="665" r:id="rId31"/>
    <p:sldId id="57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0" autoAdjust="0"/>
    <p:restoredTop sz="94660"/>
  </p:normalViewPr>
  <p:slideViewPr>
    <p:cSldViewPr snapToGrid="0">
      <p:cViewPr varScale="1">
        <p:scale>
          <a:sx n="70" d="100"/>
          <a:sy n="70" d="100"/>
        </p:scale>
        <p:origin x="50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dirty="0"/>
              <a:t>This was updated by SR on 1122 11 23 2025 with input from TS VM and TD</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46BD-5A3C-0CF6-B6AB-7BA090F80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9996C-AC94-D0F0-B999-A7D9A4AA5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BAF51-B8B8-DABC-325D-35A0891732B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2EA95853-FC8E-284E-FBDB-D827631850CA}"/>
              </a:ext>
            </a:extLst>
          </p:cNvPr>
          <p:cNvSpPr>
            <a:spLocks noGrp="1"/>
          </p:cNvSpPr>
          <p:nvPr>
            <p:ph type="sldNum" sz="quarter" idx="5"/>
          </p:nvPr>
        </p:nvSpPr>
        <p:spPr/>
        <p:txBody>
          <a:bodyPr/>
          <a:lstStyle/>
          <a:p>
            <a:fld id="{73D03784-C198-49B1-BBEF-9EB2D7F83474}" type="slidenum">
              <a:rPr lang="en-US" smtClean="0"/>
              <a:t>19</a:t>
            </a:fld>
            <a:endParaRPr lang="en-US" dirty="0"/>
          </a:p>
        </p:txBody>
      </p:sp>
    </p:spTree>
    <p:extLst>
      <p:ext uri="{BB962C8B-B14F-4D97-AF65-F5344CB8AC3E}">
        <p14:creationId xmlns:p14="http://schemas.microsoft.com/office/powerpoint/2010/main" val="1264730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B660-524C-5322-5A85-87B62C68E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3247B-1287-69BE-9D91-655C385E2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07010-711B-4569-CBAF-7259D19B282D}"/>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1C5BE978-AC38-0D1A-36D7-B814FD2DFF71}"/>
              </a:ext>
            </a:extLst>
          </p:cNvPr>
          <p:cNvSpPr>
            <a:spLocks noGrp="1"/>
          </p:cNvSpPr>
          <p:nvPr>
            <p:ph type="sldNum" sz="quarter" idx="5"/>
          </p:nvPr>
        </p:nvSpPr>
        <p:spPr/>
        <p:txBody>
          <a:bodyPr/>
          <a:lstStyle/>
          <a:p>
            <a:fld id="{73D03784-C198-49B1-BBEF-9EB2D7F83474}" type="slidenum">
              <a:rPr lang="en-US" smtClean="0"/>
              <a:t>23</a:t>
            </a:fld>
            <a:endParaRPr lang="en-US" dirty="0"/>
          </a:p>
        </p:txBody>
      </p:sp>
    </p:spTree>
    <p:extLst>
      <p:ext uri="{BB962C8B-B14F-4D97-AF65-F5344CB8AC3E}">
        <p14:creationId xmlns:p14="http://schemas.microsoft.com/office/powerpoint/2010/main" val="1513639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27D70-D399-2964-850A-67C32620A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5AFA2-A229-AE59-5982-146896FC4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EF63E-16D6-BD8F-275C-1C3546DB8822}"/>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4605B097-C76A-E09A-835E-18F85848B398}"/>
              </a:ext>
            </a:extLst>
          </p:cNvPr>
          <p:cNvSpPr>
            <a:spLocks noGrp="1"/>
          </p:cNvSpPr>
          <p:nvPr>
            <p:ph type="sldNum" sz="quarter" idx="5"/>
          </p:nvPr>
        </p:nvSpPr>
        <p:spPr/>
        <p:txBody>
          <a:bodyPr/>
          <a:lstStyle/>
          <a:p>
            <a:fld id="{73D03784-C198-49B1-BBEF-9EB2D7F83474}" type="slidenum">
              <a:rPr lang="en-US" smtClean="0"/>
              <a:t>26</a:t>
            </a:fld>
            <a:endParaRPr lang="en-US" dirty="0"/>
          </a:p>
        </p:txBody>
      </p:sp>
    </p:spTree>
    <p:extLst>
      <p:ext uri="{BB962C8B-B14F-4D97-AF65-F5344CB8AC3E}">
        <p14:creationId xmlns:p14="http://schemas.microsoft.com/office/powerpoint/2010/main" val="1179411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A4E9-DA54-E30F-A00D-F04F8AD41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2145F-E488-8C35-850B-367E85FD6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3EB5F-F6B5-6919-2B44-1DA007DC51E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6A18EEAF-5DEE-34AA-2B80-6A83DA35EDE4}"/>
              </a:ext>
            </a:extLst>
          </p:cNvPr>
          <p:cNvSpPr>
            <a:spLocks noGrp="1"/>
          </p:cNvSpPr>
          <p:nvPr>
            <p:ph type="sldNum" sz="quarter" idx="5"/>
          </p:nvPr>
        </p:nvSpPr>
        <p:spPr/>
        <p:txBody>
          <a:bodyPr/>
          <a:lstStyle/>
          <a:p>
            <a:fld id="{73D03784-C198-49B1-BBEF-9EB2D7F83474}" type="slidenum">
              <a:rPr lang="en-US" smtClean="0"/>
              <a:t>29</a:t>
            </a:fld>
            <a:endParaRPr lang="en-US" dirty="0"/>
          </a:p>
        </p:txBody>
      </p:sp>
    </p:spTree>
    <p:extLst>
      <p:ext uri="{BB962C8B-B14F-4D97-AF65-F5344CB8AC3E}">
        <p14:creationId xmlns:p14="http://schemas.microsoft.com/office/powerpoint/2010/main" val="1904680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30</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1/12/2026</a:t>
            </a:fld>
            <a:endParaRPr lang="en-US"/>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1/12/2026</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PPS – Service – Tech Mobile SOP</a:t>
            </a:r>
          </a:p>
        </p:txBody>
      </p:sp>
      <p:sp>
        <p:nvSpPr>
          <p:cNvPr id="5" name="- S000. Opening Slide for Tech Mobile   Deck">
            <a:extLst>
              <a:ext uri="{FF2B5EF4-FFF2-40B4-BE49-F238E27FC236}">
                <a16:creationId xmlns:a16="http://schemas.microsoft.com/office/drawing/2014/main" id="{9CCAB26E-CA08-A585-5150-232BBE540447}"/>
              </a:ext>
            </a:extLst>
          </p:cNvPr>
          <p:cNvSpPr txBox="1">
            <a:spLocks/>
          </p:cNvSpPr>
          <p:nvPr/>
        </p:nvSpPr>
        <p:spPr>
          <a:xfrm>
            <a:off x="838200" y="0"/>
            <a:ext cx="10515600" cy="728133"/>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PPS – Service – Tech Mobile  Deck</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680830" y="846667"/>
            <a:ext cx="10964632" cy="5909310"/>
          </a:xfrm>
          <a:prstGeom prst="rect">
            <a:avLst/>
          </a:prstGeom>
          <a:noFill/>
        </p:spPr>
        <p:txBody>
          <a:bodyPr wrap="square" rtlCol="0">
            <a:spAutoFit/>
          </a:bodyPr>
          <a:lstStyle/>
          <a:p>
            <a:r>
              <a:rPr lang="en-US" sz="1400" b="1" dirty="0"/>
              <a:t>Palco Power Systems</a:t>
            </a:r>
            <a:r>
              <a:rPr lang="en-US" sz="1400" dirty="0"/>
              <a:t> is a specialized power solutions provider and an authorized </a:t>
            </a:r>
            <a:r>
              <a:rPr lang="en-US" sz="1400" b="1" dirty="0"/>
              <a:t>KOHLER</a:t>
            </a:r>
            <a:r>
              <a:rPr lang="en-US" sz="1400" dirty="0"/>
              <a:t> distributor, serving customers across </a:t>
            </a:r>
            <a:r>
              <a:rPr lang="en-US" sz="1400" b="1" dirty="0"/>
              <a:t>western Pennsylvania, West Virginia, and western Maryland</a:t>
            </a:r>
            <a:r>
              <a:rPr lang="en-US" sz="1400" dirty="0"/>
              <a:t>. Since </a:t>
            </a:r>
            <a:r>
              <a:rPr lang="en-US" sz="1400" b="1" dirty="0"/>
              <a:t>1972</a:t>
            </a:r>
            <a:r>
              <a:rPr lang="en-US" sz="1400" dirty="0"/>
              <a:t>, Palco has supplied reliable generator systems and power equipment to </a:t>
            </a:r>
            <a:r>
              <a:rPr lang="en-US" sz="1400" b="1" dirty="0"/>
              <a:t>industrial, commercial, municipal, healthcare, and residential</a:t>
            </a:r>
            <a:r>
              <a:rPr lang="en-US" sz="1400" dirty="0"/>
              <a:t> customers who depend on </a:t>
            </a:r>
            <a:r>
              <a:rPr lang="en-US" sz="1400" b="1" dirty="0"/>
              <a:t>uninterrupted power</a:t>
            </a:r>
            <a:r>
              <a:rPr lang="en-US" sz="1400" dirty="0"/>
              <a:t>.</a:t>
            </a:r>
          </a:p>
          <a:p>
            <a:r>
              <a:rPr lang="en-US" sz="1400" dirty="0"/>
              <a:t>As part of the </a:t>
            </a:r>
            <a:r>
              <a:rPr lang="en-US" sz="1400" b="1" dirty="0"/>
              <a:t>Scott Electric</a:t>
            </a:r>
            <a:r>
              <a:rPr lang="en-US" sz="1400" dirty="0"/>
              <a:t> family since </a:t>
            </a:r>
            <a:r>
              <a:rPr lang="en-US" sz="1400" b="1" dirty="0"/>
              <a:t>1993</a:t>
            </a:r>
            <a:r>
              <a:rPr lang="en-US" sz="1400" dirty="0"/>
              <a:t>, Palco Power Systems combines </a:t>
            </a:r>
            <a:r>
              <a:rPr lang="en-US" sz="1400" b="1" dirty="0"/>
              <a:t>deep technical expertise</a:t>
            </a:r>
            <a:r>
              <a:rPr lang="en-US" sz="1400" dirty="0"/>
              <a:t> with the broader resources of a </a:t>
            </a:r>
            <a:r>
              <a:rPr lang="en-US" sz="1400" b="1" dirty="0"/>
              <a:t>leading independent electrical distributor</a:t>
            </a:r>
            <a:r>
              <a:rPr lang="en-US" sz="1400" dirty="0"/>
              <a:t>. Our portfolio includes </a:t>
            </a:r>
            <a:r>
              <a:rPr lang="en-US" sz="1400" b="1" dirty="0"/>
              <a:t>KOHLER industrial, mobile (towable), residential, and portable generator systems</a:t>
            </a:r>
            <a:r>
              <a:rPr lang="en-US" sz="1400" dirty="0"/>
              <a:t>; </a:t>
            </a:r>
            <a:r>
              <a:rPr lang="en-US" sz="1400" b="1" dirty="0"/>
              <a:t>pumps</a:t>
            </a:r>
            <a:r>
              <a:rPr lang="en-US" sz="1400" dirty="0"/>
              <a:t>; </a:t>
            </a:r>
            <a:r>
              <a:rPr lang="en-US" sz="1400" b="1" dirty="0"/>
              <a:t>other power systems and components</a:t>
            </a:r>
            <a:r>
              <a:rPr lang="en-US" sz="1400" dirty="0"/>
              <a:t>; </a:t>
            </a:r>
            <a:r>
              <a:rPr lang="en-US" sz="1400" b="1" dirty="0"/>
              <a:t>Honda</a:t>
            </a:r>
            <a:r>
              <a:rPr lang="en-US" sz="1400" dirty="0"/>
              <a:t> portable units; </a:t>
            </a:r>
            <a:r>
              <a:rPr lang="en-US" sz="1400" b="1" dirty="0"/>
              <a:t>transfer equipment</a:t>
            </a:r>
            <a:r>
              <a:rPr lang="en-US" sz="1400" dirty="0"/>
              <a:t>; and related accessories, including </a:t>
            </a:r>
            <a:r>
              <a:rPr lang="en-US" sz="1400" b="1" dirty="0"/>
              <a:t>ASCO</a:t>
            </a:r>
            <a:r>
              <a:rPr lang="en-US" sz="1400" dirty="0"/>
              <a:t> and </a:t>
            </a:r>
            <a:r>
              <a:rPr lang="en-US" sz="1400" b="1" dirty="0"/>
              <a:t>PSP</a:t>
            </a:r>
            <a:r>
              <a:rPr lang="en-US" sz="1400" dirty="0"/>
              <a:t> components.</a:t>
            </a:r>
          </a:p>
          <a:p>
            <a:r>
              <a:rPr lang="en-US" sz="1400" dirty="0"/>
              <a:t>Over the years, Palco’s territory and responsibilities have grown along with its reputation:</a:t>
            </a:r>
            <a:br>
              <a:rPr lang="en-US" sz="1400" dirty="0"/>
            </a:br>
            <a:r>
              <a:rPr lang="en-US" sz="1400" dirty="0"/>
              <a:t>• </a:t>
            </a:r>
            <a:r>
              <a:rPr lang="en-US" sz="1400" b="1" dirty="0"/>
              <a:t>1972</a:t>
            </a:r>
            <a:r>
              <a:rPr lang="en-US" sz="1400" dirty="0"/>
              <a:t> – Palco becomes an authorized KOHLER distributor in western Pennsylvania.</a:t>
            </a:r>
            <a:br>
              <a:rPr lang="en-US" sz="1400" dirty="0"/>
            </a:br>
            <a:r>
              <a:rPr lang="en-US" sz="1400" dirty="0"/>
              <a:t>• </a:t>
            </a:r>
            <a:r>
              <a:rPr lang="en-US" sz="1400" b="1" dirty="0"/>
              <a:t>1984</a:t>
            </a:r>
            <a:r>
              <a:rPr lang="en-US" sz="1400" dirty="0"/>
              <a:t> – Territory expands to include West Virginia and western Maryland.</a:t>
            </a:r>
            <a:br>
              <a:rPr lang="en-US" sz="1400" dirty="0"/>
            </a:br>
            <a:r>
              <a:rPr lang="en-US" sz="1400" dirty="0"/>
              <a:t>• </a:t>
            </a:r>
            <a:r>
              <a:rPr lang="en-US" sz="1400" b="1" dirty="0"/>
              <a:t>1989</a:t>
            </a:r>
            <a:r>
              <a:rPr lang="en-US" sz="1400" dirty="0"/>
              <a:t> – Area of responsibility further expands to include western New York State.</a:t>
            </a:r>
            <a:br>
              <a:rPr lang="en-US" sz="1400" dirty="0"/>
            </a:br>
            <a:r>
              <a:rPr lang="en-US" sz="1400" dirty="0"/>
              <a:t>• </a:t>
            </a:r>
            <a:r>
              <a:rPr lang="en-US" sz="1400" b="1" dirty="0"/>
              <a:t>1993</a:t>
            </a:r>
            <a:r>
              <a:rPr lang="en-US" sz="1400" dirty="0"/>
              <a:t> – Scott Electric Company acquires Palco.</a:t>
            </a:r>
            <a:br>
              <a:rPr lang="en-US" sz="1400" dirty="0"/>
            </a:br>
            <a:r>
              <a:rPr lang="en-US" sz="1400" dirty="0"/>
              <a:t>• </a:t>
            </a:r>
            <a:r>
              <a:rPr lang="en-US" sz="1400" b="1" dirty="0"/>
              <a:t>2001</a:t>
            </a:r>
            <a:r>
              <a:rPr lang="en-US" sz="1400" dirty="0"/>
              <a:t> – Territory is adjusted with the removal of western New York State.</a:t>
            </a:r>
          </a:p>
          <a:p>
            <a:r>
              <a:rPr lang="en-US" sz="1400" dirty="0"/>
              <a:t>Most recently, </a:t>
            </a:r>
            <a:r>
              <a:rPr lang="en-US" sz="1400" b="1" dirty="0"/>
              <a:t>Palco Power Systems was the first Scott Electric division to host a Conference Room Pilot (CRP) for the new Infor </a:t>
            </a:r>
            <a:r>
              <a:rPr lang="en-US" sz="1400" b="1" dirty="0" err="1"/>
              <a:t>CloudSuite</a:t>
            </a:r>
            <a:r>
              <a:rPr lang="en-US" sz="1400" b="1" dirty="0"/>
              <a:t> software</a:t>
            </a:r>
            <a:r>
              <a:rPr lang="en-US" sz="1400" dirty="0"/>
              <a:t>, demonstrating </a:t>
            </a:r>
            <a:r>
              <a:rPr lang="en-US" sz="1400" b="1" dirty="0"/>
              <a:t>leadership and innovation</a:t>
            </a:r>
            <a:r>
              <a:rPr lang="en-US" sz="1400" dirty="0"/>
              <a:t> in how we use technology to support customers and internal operations. This work reflects the dedication of the </a:t>
            </a:r>
            <a:r>
              <a:rPr lang="en-US" sz="1400" b="1" dirty="0"/>
              <a:t>Palco team</a:t>
            </a:r>
            <a:r>
              <a:rPr lang="en-US" sz="1400" dirty="0"/>
              <a:t>—including </a:t>
            </a:r>
            <a:r>
              <a:rPr lang="en-US" sz="1400" b="1" dirty="0"/>
              <a:t>Tanner Schwartz, Valerie Markish, Tim Drop, Jen Schlegel, and Subi Rajagopalan</a:t>
            </a:r>
            <a:r>
              <a:rPr lang="en-US" sz="1400" dirty="0"/>
              <a:t>—along with support from the broader </a:t>
            </a:r>
            <a:r>
              <a:rPr lang="en-US" sz="1400" b="1" dirty="0"/>
              <a:t>ERP project</a:t>
            </a:r>
            <a:r>
              <a:rPr lang="en-US" sz="1400" dirty="0"/>
              <a:t>, </a:t>
            </a:r>
            <a:r>
              <a:rPr lang="en-US" sz="1400" b="1" dirty="0"/>
              <a:t>Champions</a:t>
            </a:r>
            <a:r>
              <a:rPr lang="en-US" sz="1400" dirty="0"/>
              <a:t>, and </a:t>
            </a:r>
            <a:r>
              <a:rPr lang="en-US" sz="1400" b="1" dirty="0"/>
              <a:t>Executive Sponsors</a:t>
            </a:r>
            <a:r>
              <a:rPr lang="en-US" sz="1400" dirty="0"/>
              <a:t>. </a:t>
            </a:r>
            <a:r>
              <a:rPr lang="en-US" sz="1400" b="1" dirty="0"/>
              <a:t>The management teams at Palco Power Systems and Scott Electric continue to support these efforts by prioritizing training, process improvement, and the successful adoption of the new system.</a:t>
            </a:r>
            <a:endParaRPr lang="en-US" sz="1400" dirty="0"/>
          </a:p>
          <a:p>
            <a:endParaRPr lang="en-US" sz="1400" dirty="0"/>
          </a:p>
          <a:p>
            <a:r>
              <a:rPr lang="en-US" sz="1400" b="1" dirty="0"/>
              <a:t>Welcome to the Palco Power Systems Training Site.</a:t>
            </a:r>
            <a:endParaRPr lang="en-US" sz="1400" dirty="0"/>
          </a:p>
          <a:p>
            <a:r>
              <a:rPr lang="en-US" sz="1400" dirty="0"/>
              <a:t>This section of the </a:t>
            </a:r>
            <a:r>
              <a:rPr lang="en-US" sz="1400" b="1" dirty="0"/>
              <a:t>Scott Electric Training Site</a:t>
            </a:r>
            <a:r>
              <a:rPr lang="en-US" sz="1400" dirty="0"/>
              <a:t> is designed to help you </a:t>
            </a:r>
            <a:r>
              <a:rPr lang="en-US" sz="1400" b="1" dirty="0"/>
              <a:t>build the knowledge and skills</a:t>
            </a:r>
            <a:r>
              <a:rPr lang="en-US" sz="1400" dirty="0"/>
              <a:t> needed to support our power systems customers </a:t>
            </a:r>
            <a:r>
              <a:rPr lang="en-US" sz="1400" b="1" dirty="0"/>
              <a:t>safely, accurately, and efficiently</a:t>
            </a:r>
            <a:r>
              <a:rPr lang="en-US" sz="1400" dirty="0"/>
              <a:t>—whether you work in </a:t>
            </a:r>
            <a:r>
              <a:rPr lang="en-US" sz="1400" b="1" dirty="0"/>
              <a:t>sales, service, parts, rentals, administration, or support</a:t>
            </a:r>
            <a:r>
              <a:rPr lang="en-US" sz="1400" dirty="0"/>
              <a:t>. Here you will find </a:t>
            </a:r>
            <a:r>
              <a:rPr lang="en-US" sz="1400" b="1" dirty="0"/>
              <a:t>guided learning, reference materials, and role-based courses</a:t>
            </a:r>
            <a:r>
              <a:rPr lang="en-US" sz="1400" dirty="0"/>
              <a:t> tailored to the work we do every day at Palco: </a:t>
            </a:r>
            <a:r>
              <a:rPr lang="en-US" sz="1400" b="1" dirty="0"/>
              <a:t>sizing and selecting generators, supporting projects, coordinating installations, servicing equipment, and taking care of customers before, during, and after the sale.</a:t>
            </a:r>
            <a:endParaRPr lang="en-US" sz="1400" dirty="0"/>
          </a:p>
          <a:p>
            <a:endParaRPr lang="en-US" sz="1400" b="1" dirty="0"/>
          </a:p>
          <a:p>
            <a:r>
              <a:rPr lang="en-US" sz="1400" b="1" dirty="0"/>
              <a:t>Thank you for investing your time in training.</a:t>
            </a:r>
            <a:r>
              <a:rPr lang="en-US" sz="1400" dirty="0"/>
              <a:t> Your commitment to </a:t>
            </a:r>
            <a:r>
              <a:rPr lang="en-US" sz="1400" b="1" dirty="0"/>
              <a:t>learning and continuous improvement</a:t>
            </a:r>
            <a:r>
              <a:rPr lang="en-US" sz="1400" dirty="0"/>
              <a:t> helps keep </a:t>
            </a:r>
            <a:r>
              <a:rPr lang="en-US" sz="1400" b="1" dirty="0"/>
              <a:t>Palco Power Systems—and Scott Electric as a whole—reliable, responsive, and growing as we continue our customer-focused operations.</a:t>
            </a:r>
            <a:endParaRPr lang="en-US" sz="1400" dirty="0"/>
          </a:p>
        </p:txBody>
      </p:sp>
      <p:sp>
        <p:nvSpPr>
          <p:cNvPr id="6" name="-S001. Alt Introduction to PPS and its history">
            <a:extLst>
              <a:ext uri="{FF2B5EF4-FFF2-40B4-BE49-F238E27FC236}">
                <a16:creationId xmlns:a16="http://schemas.microsoft.com/office/drawing/2014/main" id="{7C902527-DA10-578D-9B51-B45F4D419FF0}"/>
              </a:ext>
            </a:extLst>
          </p:cNvPr>
          <p:cNvSpPr>
            <a:spLocks noGrp="1"/>
          </p:cNvSpPr>
          <p:nvPr>
            <p:ph type="ctrTitle"/>
          </p:nvPr>
        </p:nvSpPr>
        <p:spPr>
          <a:xfrm>
            <a:off x="2192189" y="0"/>
            <a:ext cx="7112000" cy="846667"/>
          </a:xfrm>
        </p:spPr>
        <p:txBody>
          <a:bodyPr>
            <a:noAutofit/>
          </a:bodyPr>
          <a:lstStyle/>
          <a:p>
            <a:br>
              <a:rPr lang="en-US" sz="2000" b="1" dirty="0"/>
            </a:br>
            <a:r>
              <a:rPr lang="en-US" sz="2000" b="1" dirty="0"/>
              <a:t>S001. About Palco Power Systems and Scott Electric </a:t>
            </a:r>
            <a:br>
              <a:rPr lang="en-US" sz="2000" b="1" dirty="0"/>
            </a:br>
            <a:r>
              <a:rPr lang="en-US" sz="2000" b="1" dirty="0"/>
              <a:t>and  a Welcome to Training</a:t>
            </a:r>
            <a:endParaRPr lang="en-US" sz="2000" dirty="0"/>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199496"/>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665168"/>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290046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Customer Requests Service Or is scheduled for one</a:t>
            </a:r>
          </a:p>
        </p:txBody>
      </p:sp>
      <p:sp>
        <p:nvSpPr>
          <p:cNvPr id="9" name="Arrow: Chevron 8">
            <a:extLst>
              <a:ext uri="{FF2B5EF4-FFF2-40B4-BE49-F238E27FC236}">
                <a16:creationId xmlns:a16="http://schemas.microsoft.com/office/drawing/2014/main" id="{FC5C348B-0097-0C12-7C08-EAF19306732C}"/>
              </a:ext>
            </a:extLst>
          </p:cNvPr>
          <p:cNvSpPr/>
          <p:nvPr/>
        </p:nvSpPr>
        <p:spPr>
          <a:xfrm>
            <a:off x="2257197" y="1862040"/>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Based Type of service SRO (Service Request Order) is Created</a:t>
            </a:r>
            <a:endParaRPr lang="en-US" sz="1050" b="1"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3867876" y="1869203"/>
            <a:ext cx="2900462"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Based on Assessment and acceptance from Customer a  Service is planned and  scheduled </a:t>
            </a:r>
            <a:endParaRPr lang="en-US" sz="105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5700666" y="1869203"/>
            <a:ext cx="2900462"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lumMod val="85000"/>
                    <a:lumOff val="15000"/>
                  </a:schemeClr>
                </a:solidFill>
              </a:rPr>
              <a:t>Performs service at the site very rarely is service performed at PALCO </a:t>
            </a:r>
            <a:endParaRPr lang="en-US" sz="1050" b="1" dirty="0">
              <a:solidFill>
                <a:schemeClr val="tx1">
                  <a:lumMod val="85000"/>
                  <a:lumOff val="15000"/>
                </a:schemeClr>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6178683" y="697993"/>
            <a:ext cx="839461" cy="276999"/>
          </a:xfrm>
          <a:prstGeom prst="rect">
            <a:avLst/>
          </a:prstGeom>
          <a:noFill/>
        </p:spPr>
        <p:txBody>
          <a:bodyPr wrap="none" rtlCol="0">
            <a:spAutoFit/>
          </a:bodyPr>
          <a:lstStyle/>
          <a:p>
            <a:r>
              <a:rPr lang="en-US" sz="1200" dirty="0"/>
              <a:t>Technician</a:t>
            </a:r>
          </a:p>
        </p:txBody>
      </p:sp>
      <p:sp>
        <p:nvSpPr>
          <p:cNvPr id="14" name="TextBox 13">
            <a:extLst>
              <a:ext uri="{FF2B5EF4-FFF2-40B4-BE49-F238E27FC236}">
                <a16:creationId xmlns:a16="http://schemas.microsoft.com/office/drawing/2014/main" id="{32CEFF2D-80C8-6AD7-0AE0-E6ECABAC7F2A}"/>
              </a:ext>
            </a:extLst>
          </p:cNvPr>
          <p:cNvSpPr txBox="1"/>
          <p:nvPr/>
        </p:nvSpPr>
        <p:spPr>
          <a:xfrm>
            <a:off x="4630799" y="678953"/>
            <a:ext cx="1287213" cy="830997"/>
          </a:xfrm>
          <a:prstGeom prst="rect">
            <a:avLst/>
          </a:prstGeom>
          <a:noFill/>
        </p:spPr>
        <p:txBody>
          <a:bodyPr wrap="square" rtlCol="0">
            <a:spAutoFit/>
          </a:bodyPr>
          <a:lstStyle/>
          <a:p>
            <a:r>
              <a:rPr lang="en-US" sz="1200" dirty="0"/>
              <a:t>Parts Personnel</a:t>
            </a:r>
          </a:p>
          <a:p>
            <a:r>
              <a:rPr lang="en-US" sz="1200" dirty="0"/>
              <a:t>Technicians</a:t>
            </a:r>
          </a:p>
          <a:p>
            <a:r>
              <a:rPr lang="en-US" sz="1200" dirty="0"/>
              <a:t>Manufacturer’s Guide</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65568" y="697993"/>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683820" y="680401"/>
            <a:ext cx="1451035" cy="830997"/>
          </a:xfrm>
          <a:prstGeom prst="rect">
            <a:avLst/>
          </a:prstGeom>
          <a:noFill/>
        </p:spPr>
        <p:txBody>
          <a:bodyPr wrap="square" rtlCol="0">
            <a:spAutoFit/>
          </a:bodyPr>
          <a:lstStyle/>
          <a:p>
            <a:r>
              <a:rPr lang="en-US" sz="1200" dirty="0"/>
              <a:t>Warranty Processor</a:t>
            </a:r>
          </a:p>
          <a:p>
            <a:r>
              <a:rPr lang="en-US" sz="1200" dirty="0"/>
              <a:t>Or Service Supervisor/ Manager</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8"/>
            <a:ext cx="1433208" cy="712331"/>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Generator information Gathered and verified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1" y="3479068"/>
            <a:ext cx="1433208" cy="807196"/>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Based on serial number all  service records are reviewed and current issue is noted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37468" y="4303137"/>
            <a:ext cx="1433209" cy="675698"/>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Estimate is created </a:t>
            </a:r>
          </a:p>
          <a:p>
            <a:pPr algn="ctr"/>
            <a:r>
              <a:rPr lang="en-US" sz="1100" b="1" dirty="0">
                <a:solidFill>
                  <a:schemeClr val="tx1"/>
                </a:solidFill>
              </a:rPr>
              <a:t>And acceptance of Service and Payment terms is received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70" y="5055148"/>
            <a:ext cx="1433208"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Planned list of Parts added to SRO </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4702837" y="4696483"/>
            <a:ext cx="1318936" cy="717330"/>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Items required for the SRO are delivered to the truck</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4695039" y="4309893"/>
            <a:ext cx="1289220"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Tech is scheduled </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6276962" y="3436895"/>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Technician performs service as planed, notes if  a Call back is needed or additional much needed service can be performed at that time</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Invoice is processed as per the terms (Credit card/ on account)</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Service </a:t>
            </a:r>
            <a:r>
              <a:rPr lang="en-US" sz="1200" dirty="0"/>
              <a:t>Create Incident or SRO </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401146" cy="1015663"/>
          </a:xfrm>
          <a:prstGeom prst="rect">
            <a:avLst/>
          </a:prstGeom>
          <a:noFill/>
        </p:spPr>
        <p:txBody>
          <a:bodyPr wrap="square" rtlCol="0">
            <a:spAutoFit/>
          </a:bodyPr>
          <a:lstStyle/>
          <a:p>
            <a:r>
              <a:rPr lang="en-US" sz="1200" dirty="0"/>
              <a:t>On ISM module of CSD, Manufacturers trouble shooting Guide.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461665"/>
          </a:xfrm>
          <a:prstGeom prst="rect">
            <a:avLst/>
          </a:prstGeom>
          <a:noFill/>
        </p:spPr>
        <p:txBody>
          <a:bodyPr wrap="square" rtlCol="0">
            <a:spAutoFit/>
          </a:bodyPr>
          <a:lstStyle/>
          <a:p>
            <a:r>
              <a:rPr lang="en-US" sz="1200" dirty="0"/>
              <a:t>CSD </a:t>
            </a:r>
            <a:br>
              <a:rPr lang="en-US" sz="1200" dirty="0"/>
            </a:br>
            <a:r>
              <a:rPr lang="en-US" sz="1200" dirty="0"/>
              <a:t>Credit card Processing</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784751" y="5661455"/>
            <a:ext cx="1632754" cy="1015663"/>
          </a:xfrm>
          <a:prstGeom prst="rect">
            <a:avLst/>
          </a:prstGeom>
          <a:noFill/>
        </p:spPr>
        <p:txBody>
          <a:bodyPr wrap="square" rtlCol="0">
            <a:spAutoFit/>
          </a:bodyPr>
          <a:lstStyle/>
          <a:p>
            <a:r>
              <a:rPr lang="en-US" sz="1200" dirty="0"/>
              <a:t>Based on prevailing Warranty a warranty claim is entered in the Manufacturer’s system</a:t>
            </a:r>
          </a:p>
          <a:p>
            <a:r>
              <a:rPr lang="en-US" sz="1200" dirty="0"/>
              <a:t>ISM /CSD</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Warranty PMA status etc determined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4702837" y="3464820"/>
            <a:ext cx="1318937" cy="751063"/>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If parts are not carried in stock, they are picked up from Part stores or ordered </a:t>
            </a:r>
          </a:p>
        </p:txBody>
      </p:sp>
      <p:sp>
        <p:nvSpPr>
          <p:cNvPr id="6" name="TextBox 5">
            <a:extLst>
              <a:ext uri="{FF2B5EF4-FFF2-40B4-BE49-F238E27FC236}">
                <a16:creationId xmlns:a16="http://schemas.microsoft.com/office/drawing/2014/main" id="{525134E9-642D-2CEC-3A64-F91A61D5A177}"/>
              </a:ext>
            </a:extLst>
          </p:cNvPr>
          <p:cNvSpPr txBox="1"/>
          <p:nvPr/>
        </p:nvSpPr>
        <p:spPr>
          <a:xfrm>
            <a:off x="4644208" y="5661456"/>
            <a:ext cx="1377565" cy="830997"/>
          </a:xfrm>
          <a:prstGeom prst="rect">
            <a:avLst/>
          </a:prstGeom>
          <a:noFill/>
        </p:spPr>
        <p:txBody>
          <a:bodyPr wrap="square" rtlCol="0">
            <a:spAutoFit/>
          </a:bodyPr>
          <a:lstStyle/>
          <a:p>
            <a:r>
              <a:rPr lang="en-US" sz="1200" dirty="0"/>
              <a:t>Parts in SD and ISM</a:t>
            </a:r>
          </a:p>
          <a:p>
            <a:r>
              <a:rPr lang="en-US" sz="1200" dirty="0"/>
              <a:t>ISM Tech Mobile</a:t>
            </a:r>
          </a:p>
          <a:p>
            <a:r>
              <a:rPr lang="en-US" sz="1200" dirty="0"/>
              <a:t>CSD</a:t>
            </a:r>
          </a:p>
        </p:txBody>
      </p:sp>
      <p:sp>
        <p:nvSpPr>
          <p:cNvPr id="19" name="TextBox 18">
            <a:extLst>
              <a:ext uri="{FF2B5EF4-FFF2-40B4-BE49-F238E27FC236}">
                <a16:creationId xmlns:a16="http://schemas.microsoft.com/office/drawing/2014/main" id="{AF2F8D8B-E3A0-4398-2AF5-5D30AB3F8107}"/>
              </a:ext>
            </a:extLst>
          </p:cNvPr>
          <p:cNvSpPr txBox="1"/>
          <p:nvPr/>
        </p:nvSpPr>
        <p:spPr>
          <a:xfrm>
            <a:off x="2864990" y="677505"/>
            <a:ext cx="1126270" cy="830997"/>
          </a:xfrm>
          <a:prstGeom prst="rect">
            <a:avLst/>
          </a:prstGeom>
          <a:noFill/>
        </p:spPr>
        <p:txBody>
          <a:bodyPr wrap="none" rtlCol="0">
            <a:spAutoFit/>
          </a:bodyPr>
          <a:lstStyle/>
          <a:p>
            <a:r>
              <a:rPr lang="en-US" sz="1200" dirty="0"/>
              <a:t>Service Writers</a:t>
            </a:r>
          </a:p>
          <a:p>
            <a:r>
              <a:rPr lang="en-US" sz="1200" dirty="0"/>
              <a:t>Coordinator</a:t>
            </a:r>
          </a:p>
          <a:p>
            <a:r>
              <a:rPr lang="en-US" sz="1200" dirty="0"/>
              <a:t>Supervisor</a:t>
            </a:r>
          </a:p>
          <a:p>
            <a:r>
              <a:rPr lang="en-US" sz="1200" dirty="0"/>
              <a:t>Manager</a:t>
            </a:r>
          </a:p>
        </p:txBody>
      </p:sp>
      <p:sp>
        <p:nvSpPr>
          <p:cNvPr id="22" name="Arrow: Chevron 21">
            <a:extLst>
              <a:ext uri="{FF2B5EF4-FFF2-40B4-BE49-F238E27FC236}">
                <a16:creationId xmlns:a16="http://schemas.microsoft.com/office/drawing/2014/main" id="{3DA32B5D-6D78-87F5-51FA-77BA6F200AD6}"/>
              </a:ext>
            </a:extLst>
          </p:cNvPr>
          <p:cNvSpPr/>
          <p:nvPr/>
        </p:nvSpPr>
        <p:spPr>
          <a:xfrm>
            <a:off x="7382242" y="1869203"/>
            <a:ext cx="2758454" cy="1246238"/>
          </a:xfrm>
          <a:prstGeom prst="chevron">
            <a:avLst>
              <a:gd name="adj" fmla="val 71893"/>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accent6">
                    <a:lumMod val="50000"/>
                  </a:schemeClr>
                </a:solidFill>
              </a:rPr>
              <a:t>Warranty Coverage Verified or Billed accordingly</a:t>
            </a:r>
          </a:p>
        </p:txBody>
      </p:sp>
      <p:sp>
        <p:nvSpPr>
          <p:cNvPr id="12" name="Arrow: Chevron 11">
            <a:extLst>
              <a:ext uri="{FF2B5EF4-FFF2-40B4-BE49-F238E27FC236}">
                <a16:creationId xmlns:a16="http://schemas.microsoft.com/office/drawing/2014/main" id="{5B580A3B-5307-713B-1DC0-5CA2033EDE2A}"/>
              </a:ext>
            </a:extLst>
          </p:cNvPr>
          <p:cNvSpPr/>
          <p:nvPr/>
        </p:nvSpPr>
        <p:spPr>
          <a:xfrm>
            <a:off x="9034570" y="1869203"/>
            <a:ext cx="2402053"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Payment received and applied</a:t>
            </a:r>
            <a:endParaRPr lang="en-US" sz="1050" b="1" dirty="0">
              <a:solidFill>
                <a:srgbClr val="FFFF00"/>
              </a:solidFill>
            </a:endParaRPr>
          </a:p>
        </p:txBody>
      </p:sp>
      <p:sp>
        <p:nvSpPr>
          <p:cNvPr id="28" name="Flowchart: Process 27">
            <a:extLst>
              <a:ext uri="{FF2B5EF4-FFF2-40B4-BE49-F238E27FC236}">
                <a16:creationId xmlns:a16="http://schemas.microsoft.com/office/drawing/2014/main" id="{8CB82E60-21AF-C03A-6355-9B4245146E0D}"/>
              </a:ext>
            </a:extLst>
          </p:cNvPr>
          <p:cNvSpPr/>
          <p:nvPr/>
        </p:nvSpPr>
        <p:spPr>
          <a:xfrm>
            <a:off x="7857358" y="3429000"/>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6">
                    <a:lumMod val="50000"/>
                  </a:schemeClr>
                </a:solidFill>
              </a:rPr>
              <a:t>Warranty claim is processed if applicable and applied if accepted else billing is finalized  </a:t>
            </a:r>
          </a:p>
        </p:txBody>
      </p:sp>
      <p:sp>
        <p:nvSpPr>
          <p:cNvPr id="34" name="TextBox 33">
            <a:extLst>
              <a:ext uri="{FF2B5EF4-FFF2-40B4-BE49-F238E27FC236}">
                <a16:creationId xmlns:a16="http://schemas.microsoft.com/office/drawing/2014/main" id="{F4C0EF1F-618B-673E-D91D-2BD731E3DAFB}"/>
              </a:ext>
            </a:extLst>
          </p:cNvPr>
          <p:cNvSpPr txBox="1"/>
          <p:nvPr/>
        </p:nvSpPr>
        <p:spPr>
          <a:xfrm>
            <a:off x="6157347" y="5661455"/>
            <a:ext cx="1377565" cy="1015663"/>
          </a:xfrm>
          <a:prstGeom prst="rect">
            <a:avLst/>
          </a:prstGeom>
          <a:noFill/>
        </p:spPr>
        <p:txBody>
          <a:bodyPr wrap="square" rtlCol="0">
            <a:spAutoFit/>
          </a:bodyPr>
          <a:lstStyle/>
          <a:p>
            <a:r>
              <a:rPr lang="en-US" sz="1200" dirty="0"/>
              <a:t>Tech Mobile </a:t>
            </a:r>
            <a:br>
              <a:rPr lang="en-US" sz="1200" dirty="0"/>
            </a:br>
            <a:r>
              <a:rPr lang="en-US" sz="1200" dirty="0"/>
              <a:t>on Laptop etc </a:t>
            </a:r>
            <a:br>
              <a:rPr lang="en-US" sz="1200" dirty="0"/>
            </a:br>
            <a:r>
              <a:rPr lang="en-US" sz="1200" dirty="0"/>
              <a:t>tech Mobile on </a:t>
            </a:r>
            <a:br>
              <a:rPr lang="en-US" sz="1200" dirty="0"/>
            </a:br>
            <a:r>
              <a:rPr lang="en-US" sz="1200" dirty="0"/>
              <a:t>Tablet</a:t>
            </a:r>
          </a:p>
          <a:p>
            <a:endParaRPr lang="en-US" sz="1200" dirty="0"/>
          </a:p>
        </p:txBody>
      </p:sp>
      <p:sp>
        <p:nvSpPr>
          <p:cNvPr id="7" name="-S002. Service to Cash work Flow at PPS">
            <a:extLst>
              <a:ext uri="{FF2B5EF4-FFF2-40B4-BE49-F238E27FC236}">
                <a16:creationId xmlns:a16="http://schemas.microsoft.com/office/drawing/2014/main" id="{15D4CFEC-12CD-A728-AFCA-B09CB89C40BA}"/>
              </a:ext>
            </a:extLst>
          </p:cNvPr>
          <p:cNvSpPr txBox="1">
            <a:spLocks/>
          </p:cNvSpPr>
          <p:nvPr/>
        </p:nvSpPr>
        <p:spPr>
          <a:xfrm>
            <a:off x="838200" y="212726"/>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S002.  Palco Power Systems – Service to Cash Work Flow</a:t>
            </a:r>
          </a:p>
        </p:txBody>
      </p:sp>
    </p:spTree>
    <p:extLst>
      <p:ext uri="{BB962C8B-B14F-4D97-AF65-F5344CB8AC3E}">
        <p14:creationId xmlns:p14="http://schemas.microsoft.com/office/powerpoint/2010/main" val="177971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20 Jan 03 0950 Sat</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062047" y="1319348"/>
            <a:ext cx="967987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666126"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2882317" y="2162494"/>
              <a:ext cx="1285363"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Service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338690" y="2162494"/>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2.Service order to Picking Scheduling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879060" y="2162493"/>
              <a:ext cx="1339751"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Serving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75013" y="2724983"/>
              <a:ext cx="924286" cy="74282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45198" y="1954797"/>
              <a:ext cx="924287" cy="2283190"/>
            </a:xfrm>
            <a:prstGeom prst="bentConnector3">
              <a:avLst>
                <a:gd name="adj1" fmla="val 50000"/>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78065" y="2005118"/>
              <a:ext cx="924287" cy="2182547"/>
            </a:xfrm>
            <a:prstGeom prst="bentConnector3">
              <a:avLst>
                <a:gd name="adj1" fmla="val 50000"/>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48588"/>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167679" y="2398372"/>
              <a:ext cx="171010"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678440" y="2398371"/>
              <a:ext cx="20061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7218810" y="2398370"/>
              <a:ext cx="230696"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82833"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555777" y="3685634"/>
              <a:ext cx="5953"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548935" y="2634248"/>
              <a:ext cx="6842"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ervice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Service Request  to Cash similar to Quote  to Cash   - At PPS Service</a:t>
            </a:r>
          </a:p>
        </p:txBody>
      </p:sp>
    </p:spTree>
    <p:extLst>
      <p:ext uri="{BB962C8B-B14F-4D97-AF65-F5344CB8AC3E}">
        <p14:creationId xmlns:p14="http://schemas.microsoft.com/office/powerpoint/2010/main" val="284050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2DC3D-0874-B8D5-D880-455DCFD4CF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D7E8124-A4D8-2005-7BA1-F45D816810A7}"/>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6008E9D4-BEE9-56B3-E50C-0C9A3C321FB3}"/>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FBAE31B8-9285-DD30-0ED7-07EEC42F8CA7}"/>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9A09D8B8-C8C2-79DA-A790-EEC57FC8E0A2}"/>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EDFD37FD-7009-D8E6-0B50-CF85D89C6E6C}"/>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AA40E987-BDA6-3FEA-D75D-084BB34A8CD9}"/>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3EB5010D-EC91-39E7-B157-6D6B82314805}"/>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A5897B3D-70AD-07E3-7091-3A74B98ED7C4}"/>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B5031B98-077A-DC14-96ED-CE8DF02AD40A}"/>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7E68631D-EB18-2EBD-01A7-22B7E5786F82}"/>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2388983E-D1DC-AF7A-7179-DF9EDAADC16F}"/>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0FC1641-D19F-0324-1BED-795CC7E08D7E}"/>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088CCE47-D040-3FDD-BDFD-47455A29FE7F}"/>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0C7413EB-C855-8B17-7037-571D26C4D473}"/>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CD41C59-6D2D-E802-6B5D-71F51786AC1F}"/>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BA59E4D9-0E5E-C770-A58A-B640B19ABBB1}"/>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646FFCAB-5B40-DE9E-986F-74518E1F5701}"/>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1A436C99-4909-96AA-BFE4-B0E55520485C}"/>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96473959-69D0-AFEA-EA8E-FC95B2989ABE}"/>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EFAAD653-125A-68AE-BFE6-4210425D7896}"/>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A5ACCA76-ABBD-077F-7580-C0C95FE27B7B}"/>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14EB49D8-C25F-0605-A0A1-7CB53382D562}"/>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68B3C44-D676-D76F-A9BA-A69A166084E3}"/>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2D9CC5F2-2653-CE26-3D34-2A9BC36BEE2D}"/>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E797FF84-60B6-AD3A-D781-35922F613197}"/>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6607983-41E3-FF13-BC84-C1D1525ECEB9}"/>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63BA0420-91D6-AE1D-BB90-A32040EC834E}"/>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D60D13A5-32A1-57BF-5FAB-A308D3AED44C}"/>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103109A-EAA4-10D8-AAD8-D8A04A2EA6D9}"/>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9F887C22-E278-AF96-CBBB-8B291B47A0E0}"/>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A7BEA5BA-BB58-56DB-C204-91905163C0B3}"/>
              </a:ext>
            </a:extLst>
          </p:cNvPr>
          <p:cNvSpPr/>
          <p:nvPr/>
        </p:nvSpPr>
        <p:spPr>
          <a:xfrm>
            <a:off x="4106659" y="606140"/>
            <a:ext cx="4687586" cy="29924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998F970D-06E7-FA01-8148-7C2B08164420}"/>
              </a:ext>
            </a:extLst>
          </p:cNvPr>
          <p:cNvSpPr>
            <a:spLocks noGrp="1"/>
          </p:cNvSpPr>
          <p:nvPr>
            <p:ph type="title"/>
          </p:nvPr>
        </p:nvSpPr>
        <p:spPr>
          <a:xfrm>
            <a:off x="838200" y="134217"/>
            <a:ext cx="10515600" cy="613930"/>
          </a:xfrm>
        </p:spPr>
        <p:txBody>
          <a:bodyPr/>
          <a:lstStyle/>
          <a:p>
            <a:pPr algn="ctr"/>
            <a:r>
              <a:rPr lang="en-US" dirty="0"/>
              <a:t>M1. – Tech Mobile </a:t>
            </a:r>
          </a:p>
        </p:txBody>
      </p:sp>
      <p:cxnSp>
        <p:nvCxnSpPr>
          <p:cNvPr id="60" name="Connector: Elbow 59">
            <a:extLst>
              <a:ext uri="{FF2B5EF4-FFF2-40B4-BE49-F238E27FC236}">
                <a16:creationId xmlns:a16="http://schemas.microsoft.com/office/drawing/2014/main" id="{7C27518F-26A3-A1F7-1CA4-8405230D17AA}"/>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88844F8-2178-C768-011C-92A3055C78B0}"/>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9F8392A1-AED2-D9FE-BDD1-58D0D9A919F7}"/>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4FFF3FD2-2F55-1280-D48A-F921F7A942EE}"/>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42018333-935C-6067-01C3-690400F960BE}"/>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04E714C8-28FE-18BD-4894-556F46BB8207}"/>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68BE5687-F292-0106-A7C7-E875AEE2EB66}"/>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01860826-73D6-77B5-D596-EB1F43681AE5}"/>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B3E99066-6E27-72CB-5B8A-9046964CBC0A}"/>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EB393033-D1DE-E1EE-BBC3-65A7DF1FC620}"/>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E2FB4B36-6057-3E5C-1E88-F5BE20BA99AC}"/>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7345C48A-FA1A-AB8A-7367-50EC59DD3991}"/>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752EBD6A-4D0E-DDCD-398A-09B71D8E2D0C}"/>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2271D857-69BD-E66E-5C9D-00F0598D8D61}"/>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3E3C8A35-3C18-686B-C3A0-4A2D1870B36D}"/>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852487C4-CEB8-1DD3-B44E-E5F06E54D2D1}"/>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B607BFA0-018E-5B35-CC89-318CA4A49595}"/>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9B6A114A-821C-416A-6796-FD862D192661}"/>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41DBB88-897E-5A5D-87FE-A1A5D4E6A462}"/>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7984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975B4-E226-CD92-5103-FF6CDC8FAA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EC6EF05-E5F5-5613-C9DB-5C728DE010D2}"/>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E711306C-4D28-814A-A3BE-1ED8F2BAFB0D}"/>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250644AD-7406-53F8-8E16-971B79DE1CDA}"/>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7D814251-CB8C-B24A-B4E7-BA6F5764210D}"/>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F6705377-B2A8-A97B-50AC-B774D967734C}"/>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DDD45D73-607D-9AD0-D8D0-AC39F483E51F}"/>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99E060FF-216E-7881-7541-205230105B6E}"/>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165E7C3D-8425-5C69-A328-1FBDC0BAB960}"/>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03FD80EC-2FD0-75D6-7861-72A1A98339A0}"/>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3BC2B6D4-8E68-B03A-B648-5858FD9C2150}"/>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9E3E4A59-C5E0-A339-E3FD-F9287157AFC3}"/>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75E6633F-DED9-B294-243E-CBBE6AE29FB2}"/>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60F180E2-29F3-0334-C543-5E27CA38C1AA}"/>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2EA62669-13B1-BE3F-F2FA-42212D2B1999}"/>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90EAA52-125B-DFED-7A86-19EFAEEB484D}"/>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A1189ECA-DAE8-63DE-93F2-A2EBD364151F}"/>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20EB5D64-837D-4EC7-06AC-072821D32CE6}"/>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F3596912-6E11-3409-B94B-89EFB32A6828}"/>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7F178163-1786-90B6-FCC1-9CA63FA379F2}"/>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3C53E70C-35D3-300E-8B8D-E9EF7501DD22}"/>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37375F0E-F46F-F100-7380-F2BF535B24C6}"/>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D601CC43-81D4-5322-9D9D-D957A96547D2}"/>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B35CC71-632E-1C4C-C350-D49307B70E4A}"/>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ACF69AC2-1D0B-9FA8-1B55-388B3184F529}"/>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14C41C38-0405-A3AB-E2C5-397C97C363F0}"/>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9E6FF86-B941-ACE9-B50C-9215857A5348}"/>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7CB7D03A-AFBA-CEF5-76A3-A8197248814C}"/>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EFDAC9D0-2F43-419A-32C0-8176DAE28C82}"/>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2B87A0E-FF30-B2BD-DD99-8F52D0BF1F78}"/>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76245E9F-FD0D-30BE-6655-B47F30357DA4}"/>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A120FA6B-679E-7A94-034F-E221944EBE6D}"/>
              </a:ext>
            </a:extLst>
          </p:cNvPr>
          <p:cNvSpPr/>
          <p:nvPr/>
        </p:nvSpPr>
        <p:spPr>
          <a:xfrm>
            <a:off x="747547" y="1628430"/>
            <a:ext cx="1644824" cy="13236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2D8EA88E-F919-4474-1412-BA2520D75EFD}"/>
              </a:ext>
            </a:extLst>
          </p:cNvPr>
          <p:cNvSpPr>
            <a:spLocks noGrp="1"/>
          </p:cNvSpPr>
          <p:nvPr>
            <p:ph type="title"/>
          </p:nvPr>
        </p:nvSpPr>
        <p:spPr>
          <a:xfrm>
            <a:off x="838200" y="134217"/>
            <a:ext cx="10515600" cy="613930"/>
          </a:xfrm>
        </p:spPr>
        <p:txBody>
          <a:bodyPr/>
          <a:lstStyle/>
          <a:p>
            <a:pPr algn="ctr"/>
            <a:r>
              <a:rPr lang="en-US" dirty="0"/>
              <a:t>S1. Appoint Scheduled for Technician -  Tech Mobile – at PPS</a:t>
            </a:r>
          </a:p>
        </p:txBody>
      </p:sp>
      <p:cxnSp>
        <p:nvCxnSpPr>
          <p:cNvPr id="60" name="Connector: Elbow 59">
            <a:extLst>
              <a:ext uri="{FF2B5EF4-FFF2-40B4-BE49-F238E27FC236}">
                <a16:creationId xmlns:a16="http://schemas.microsoft.com/office/drawing/2014/main" id="{58561712-F4D9-F887-4398-D3AF4A545056}"/>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6674E19-AD41-5728-EC02-78F6BB110386}"/>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2CD8824F-846B-FE67-405F-EF1BAA4908FB}"/>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8AB0CF43-957A-06A1-4527-F4E3D122DD91}"/>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2533F098-B1F4-BA2B-0452-EF381696C7CF}"/>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356E4B3C-7DD4-1783-BDBE-B7AB95B9527F}"/>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FDBBB89F-B57F-0F96-E127-5BF6896A95F6}"/>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FECB3FBA-8E14-3B07-1DB7-D1495C2E1EB8}"/>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A33B05D9-3748-7102-6E05-4EB66D60F825}"/>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0A56F513-EDD1-9BE1-4008-2C4D88A96FB3}"/>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17DF69FB-0FF8-0845-4690-92282E46ECB1}"/>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7C4F4A41-86D6-FA86-8DCF-546FB0F264AA}"/>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7DC9438E-3759-1660-804D-4371FB18F70C}"/>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C822F45A-3FC9-247B-5194-DA15A3625372}"/>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6F260FA9-29BE-A915-3437-5ADF33A29026}"/>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66CB8F96-67FF-90E9-0469-4B6066954467}"/>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7F4F63A8-25F1-4308-3EAD-95B81F413A9C}"/>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2DA92066-12B7-005C-6DE6-0B1B36E68E18}"/>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F6AD8379-83DC-CDAE-EBF9-631AD2D19EC0}"/>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78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BFECB-B6CD-9E8E-9F7F-B31216B310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10C2B92-7E6C-3F81-3A9F-A77A1D494334}"/>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61CABE96-FF50-12EF-95A2-3C572145383D}"/>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68FCFCAA-EB1A-B244-B94C-E30A8BE8CCCC}"/>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C348359B-EFF5-5522-1ACA-0DDB10159543}"/>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42908195-6D49-098C-B9EB-F7EB4E9721BA}"/>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7B9C65B6-7DAC-4787-35B3-40742DAB529E}"/>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D56E3991-7C0F-2960-9467-3B570853F169}"/>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79A2F519-51B7-C030-AA0A-9190F11EB1A1}"/>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9C5BFB7C-233E-70CB-F233-636FD9CC4D94}"/>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669CC871-51F4-FBBF-58F5-461746D164E9}"/>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A4775A51-D6A0-106E-DB73-878C18D3D2D7}"/>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7DACF5BF-EA38-C36F-AF0F-121D460C1C9E}"/>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3A9305AE-855B-4AE6-C372-A71EBEEF0DF0}"/>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AA931FCE-9B50-52ED-1193-13E6511E7631}"/>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B6CDBB3-DA01-4F72-98DF-595FBB9C2FD5}"/>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A92F9B40-3EF8-1DDF-375E-012C918E9383}"/>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CC366AF7-4900-EDEA-A9D3-DE5C234287C6}"/>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C815A7C5-DA3C-660C-8DC0-737381AB1B34}"/>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B98FF4C7-BF22-31CD-40F6-ADEBB89C2893}"/>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1DC2A05F-4CA8-9399-B966-6FAA5BAFCDCB}"/>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89C31279-51FB-BE3D-DAC7-1B4660FC37BD}"/>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05C53236-5315-2922-FE9C-BED5C7FA2D2A}"/>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E8142E-8119-F7BB-4FD4-CDA78809EEB1}"/>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97BC46F1-CE46-1268-61C0-B4760EB579B4}"/>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906CCEE2-5D6E-87B0-B262-61F12E5D9BC8}"/>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4223552-6B48-8C95-E8F7-BB53386BE441}"/>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BCFE5E2D-5C60-8158-A866-0868D669E0B9}"/>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6641D901-0B97-B323-6866-2DF4B37A0009}"/>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1B535A2-02C4-4BE1-6F33-7770F5F06CCC}"/>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7D64461C-C1D1-D196-2FBD-FBE86A91B50B}"/>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30C717A0-A9AE-80FA-6AB2-85FC1539A73A}"/>
              </a:ext>
            </a:extLst>
          </p:cNvPr>
          <p:cNvSpPr/>
          <p:nvPr/>
        </p:nvSpPr>
        <p:spPr>
          <a:xfrm>
            <a:off x="2526984" y="1605949"/>
            <a:ext cx="1721195" cy="13236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F3A4A8A7-5FF2-99D3-6A71-51A68E9FAC4B}"/>
              </a:ext>
            </a:extLst>
          </p:cNvPr>
          <p:cNvSpPr>
            <a:spLocks noGrp="1"/>
          </p:cNvSpPr>
          <p:nvPr>
            <p:ph type="title"/>
          </p:nvPr>
        </p:nvSpPr>
        <p:spPr>
          <a:xfrm>
            <a:off x="838200" y="134217"/>
            <a:ext cx="10515600" cy="613930"/>
          </a:xfrm>
        </p:spPr>
        <p:txBody>
          <a:bodyPr/>
          <a:lstStyle/>
          <a:p>
            <a:pPr algn="ctr"/>
            <a:r>
              <a:rPr lang="en-US" dirty="0"/>
              <a:t>S2. Technician clocks in and travels to Site-  Tech Mobile – at PPS</a:t>
            </a:r>
          </a:p>
        </p:txBody>
      </p:sp>
      <p:cxnSp>
        <p:nvCxnSpPr>
          <p:cNvPr id="60" name="Connector: Elbow 59">
            <a:extLst>
              <a:ext uri="{FF2B5EF4-FFF2-40B4-BE49-F238E27FC236}">
                <a16:creationId xmlns:a16="http://schemas.microsoft.com/office/drawing/2014/main" id="{CDE85B33-1C8C-A6D2-EA0B-2B9CA9CE3EDF}"/>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4EB9CE0-7341-7519-0C53-FD3FE5FCB14E}"/>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6E6ED310-D31F-C4BE-0BA3-709EF5BB1A1A}"/>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5B8094B5-6BAF-54AC-969F-6EE668ACF455}"/>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CCEBEB42-DD16-F093-5C54-850559021743}"/>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0A29BD1B-3BCA-F08D-A779-4C1581E60753}"/>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D5F01637-5D39-CA2A-0090-435D62232650}"/>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3A33B3F7-FA49-07FA-EC3E-5CDA3087D001}"/>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46119F04-CE9C-2321-8536-67C981504865}"/>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0D9FDF3B-7BB7-D203-B9B4-19B37F13C5B9}"/>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A7991EAB-A3BD-6A1B-3A23-F99B763AACD2}"/>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9A48E5FF-6C2E-830E-B93B-7037900AD6DE}"/>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205949FE-93F9-FF30-0D3F-BD36C1E89851}"/>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49CCF866-3E28-7BE1-FAF1-F5769ACFB78C}"/>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822FF836-59A0-131F-AA83-2F6322E07613}"/>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B17C40F8-F5F8-F864-1511-9FF4A2B47FC9}"/>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7813B99F-095C-B725-F5E4-78BE363410EF}"/>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7161842C-E91D-FF5B-C1DA-EF467C6AA895}"/>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4B7F250D-7464-8A2E-5443-33AAAC68D77B}"/>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055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01BD6-6618-C458-43D0-EFA9C25063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24D017-FDAE-8AEE-4CA4-79A8A543347C}"/>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F70697AD-DAA3-0F9C-304E-9E765398EA87}"/>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9FC337B7-CE89-2937-E704-3387E802BB3C}"/>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3457A5FF-9926-F001-545E-2BE2AE9C52E2}"/>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3D773DF9-EF8B-2D7C-E232-90D66671F90D}"/>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A03E7408-0D0C-251A-7376-4F2ABE27621D}"/>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314BF5CB-1E4F-3FDC-F339-BDC7D5400938}"/>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43CFA8DC-2AEE-FD5E-A65F-EE3B19A22C9C}"/>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5AC09380-E5F3-5EFB-93BC-3B473D890D30}"/>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DC4710F9-7175-FAFD-D514-85D7FEEAE35B}"/>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86D39642-C666-62F7-18C9-D3E58F638D9A}"/>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D60B169-8106-4EAB-3654-62D830433C2D}"/>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3463A646-7EC2-1CCB-4A31-3AC63DE28BB1}"/>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7BADB1D2-5B81-E050-5BB7-A7D40B209098}"/>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2757D53-424E-3C57-BE54-AE99FB6091C8}"/>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A69F269B-DF2A-388F-3239-07454188638C}"/>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3FD23AE8-0C9B-008E-435A-994197A646AE}"/>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F81E9F3B-2614-A7C8-3A5A-86250329CA8B}"/>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FEA00B39-9111-1D94-00DA-1F36B8909D56}"/>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AA87A806-9AC3-07F0-FA95-9AD1093E6B7F}"/>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2BB154E0-00A9-1B07-0F08-DAB297DF4840}"/>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D36EFCBE-9FA1-85BF-CB50-CC9D14C0936F}"/>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932FE1B-916B-0BE8-BEF1-BE996FBFE8BE}"/>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A9403284-4688-5D84-1187-4F687CAFBB59}"/>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DB4B5089-AA0B-1A42-EA90-507758F60F32}"/>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7C802B4-8426-1473-865F-FCAEC4167CEC}"/>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9911B275-CCF3-B697-B09A-B2D18C7258A4}"/>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A6F76A08-0A79-7ECB-ECB2-E03DDFFCD0C1}"/>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7D6BDDD-CBE4-ECA8-9E31-664344103396}"/>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FE68C43F-1AEF-B761-92AB-9D9413F466E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DB8D18F0-6FD4-D8D9-8B9C-F03EAB5FFB8A}"/>
              </a:ext>
            </a:extLst>
          </p:cNvPr>
          <p:cNvSpPr/>
          <p:nvPr/>
        </p:nvSpPr>
        <p:spPr>
          <a:xfrm>
            <a:off x="4151265" y="1580092"/>
            <a:ext cx="1721195" cy="132367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DBA95FEE-DD31-85B2-D8B0-8759D8E13035}"/>
              </a:ext>
            </a:extLst>
          </p:cNvPr>
          <p:cNvSpPr>
            <a:spLocks noGrp="1"/>
          </p:cNvSpPr>
          <p:nvPr>
            <p:ph type="title"/>
          </p:nvPr>
        </p:nvSpPr>
        <p:spPr>
          <a:xfrm>
            <a:off x="838200" y="134217"/>
            <a:ext cx="10515600" cy="613930"/>
          </a:xfrm>
        </p:spPr>
        <p:txBody>
          <a:bodyPr/>
          <a:lstStyle/>
          <a:p>
            <a:pPr algn="ctr"/>
            <a:r>
              <a:rPr lang="en-US" dirty="0"/>
              <a:t>S3. Technician starts the on-site service -  Tech Mobile – at PPS</a:t>
            </a:r>
          </a:p>
        </p:txBody>
      </p:sp>
      <p:cxnSp>
        <p:nvCxnSpPr>
          <p:cNvPr id="60" name="Connector: Elbow 59">
            <a:extLst>
              <a:ext uri="{FF2B5EF4-FFF2-40B4-BE49-F238E27FC236}">
                <a16:creationId xmlns:a16="http://schemas.microsoft.com/office/drawing/2014/main" id="{1025C1C7-C77A-0320-5479-93C9F81A9D9E}"/>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2A4284B-5ED4-C57A-CCA2-FF0247C270ED}"/>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A5C45856-6CDD-AB56-7FB1-C9AB430869BF}"/>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3EBDE326-AE45-D95D-4D47-D7012CDC66FA}"/>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47CB5890-A9AD-7E12-FAF2-C0A3DA0005F4}"/>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3FBB7D85-7C25-8045-8758-A391818396E3}"/>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8E498A64-D6F5-7253-D797-699103BA2720}"/>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A9EFB269-9D00-04DE-3D12-9C843510A920}"/>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2BC35DC6-722F-9AA9-CC79-03B1DA1876ED}"/>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1BC27B81-7821-0D9E-5C1E-EFB1495AF7DB}"/>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6EA3FADC-348D-DCBC-0181-22ECDEA56A4A}"/>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25579320-8F92-E92B-AACB-44CA2EF62A87}"/>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AA210348-23B2-7807-3E5D-B0CBC81C077A}"/>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157564DE-3FC3-23FE-EB32-F636FB7B81F3}"/>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D0AF887B-D9E0-D396-9DBC-19BC7CE37B9F}"/>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4E78C0AC-12B1-A78E-0D6B-A8FE7D7CB6E3}"/>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7AF89FE6-88CF-AD9B-E724-18637D1C48C2}"/>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E73A8EB2-6AFA-7C8B-A1BD-8BAC4E361C99}"/>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63923028-5023-A003-92BB-B2E14C4C86B9}"/>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841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9174E-CB5B-390E-AD98-4030ED5230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8FDCBA-90D1-6ABF-DB30-2AD14C1AB8DB}"/>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23F10C68-4885-B2A2-C5D4-2283E59E512C}"/>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6CA4B670-737F-CFF7-3C4E-054CC890B51F}"/>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FF235B5C-482B-6BA2-9B55-F45BB246AED8}"/>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D58FCDC0-05EC-61FE-7C78-D85F1CF52C7D}"/>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10995FAD-CEE0-14B1-4082-2A7EE1521EB3}"/>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215333FE-863A-4F26-BC51-5BBC8D3F0455}"/>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3BB6C234-66F7-616C-34B0-2F9F94EB4886}"/>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AF5CF087-E19C-21BB-70A0-5C5053118A30}"/>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61191546-15A5-D6FF-F435-261B9600BBEB}"/>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30EBD67-B4E8-D798-4E51-FB7F12745660}"/>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0A519857-1B71-FC87-FBF5-B7F00A03DFF3}"/>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28D6C556-0602-E1EB-EE05-41336BE6BF8B}"/>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D353312D-E302-3022-40D9-463AE9453B6E}"/>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0ECA5EB-E9B7-7432-7B41-C6FE6E5D0C45}"/>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3E449B67-843B-9FE8-BDBB-77384486637F}"/>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54C00376-19CB-992A-F42E-7625CF87C4B2}"/>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9F452BBC-231F-C06C-4204-4EC778F2E572}"/>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CC38C476-DD9E-3158-2DAF-451D0E058599}"/>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69FFB095-437D-8BEF-3A80-CD76CDABC19C}"/>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F0FE2562-3F51-8DB7-AC24-F32D44CC7EC0}"/>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E95E0445-EFEE-2914-33F6-B9E2727E8616}"/>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9B0375E-4BFD-3CCA-4F8F-D45C079A0C4E}"/>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071EA1B3-E6AE-D5EF-9C88-44CDE601C874}"/>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24658EC8-87D2-C969-2499-EEE67C74FF42}"/>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08C45DF-0E77-B506-D90A-540BDD31A9C9}"/>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E8EAAB92-1FC1-0DF3-AAD9-8FE70973E073}"/>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FFBE3567-975A-2983-3DF9-5BA98061AFFA}"/>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1E4E605-E2A1-6559-06C7-1223FFD27ACD}"/>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F4F6CAE6-291D-E603-93A6-18DB5B807CA3}"/>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190B5D3C-1FEF-5E02-B9CF-FDFAC59BC86A}"/>
              </a:ext>
            </a:extLst>
          </p:cNvPr>
          <p:cNvSpPr/>
          <p:nvPr/>
        </p:nvSpPr>
        <p:spPr>
          <a:xfrm>
            <a:off x="5724029" y="1272702"/>
            <a:ext cx="1255794" cy="160647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C5AFAB05-13E4-DAAE-7D7F-2BDB00090244}"/>
              </a:ext>
            </a:extLst>
          </p:cNvPr>
          <p:cNvSpPr>
            <a:spLocks noGrp="1"/>
          </p:cNvSpPr>
          <p:nvPr>
            <p:ph type="title"/>
          </p:nvPr>
        </p:nvSpPr>
        <p:spPr>
          <a:xfrm>
            <a:off x="838200" y="134217"/>
            <a:ext cx="10515600" cy="613930"/>
          </a:xfrm>
        </p:spPr>
        <p:txBody>
          <a:bodyPr/>
          <a:lstStyle/>
          <a:p>
            <a:pPr algn="ctr"/>
            <a:r>
              <a:rPr lang="en-US" dirty="0"/>
              <a:t>D1. A Decision, Is additional material needed ?-  Tech Mobile – at PPS</a:t>
            </a:r>
          </a:p>
        </p:txBody>
      </p:sp>
      <p:cxnSp>
        <p:nvCxnSpPr>
          <p:cNvPr id="60" name="Connector: Elbow 59">
            <a:extLst>
              <a:ext uri="{FF2B5EF4-FFF2-40B4-BE49-F238E27FC236}">
                <a16:creationId xmlns:a16="http://schemas.microsoft.com/office/drawing/2014/main" id="{086BC8B1-A800-3B9B-C0B7-A52CD0D270FF}"/>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F2B46E7-A166-CBDA-E1B3-D33F19BBD424}"/>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D50A6D5C-F3DE-72AE-3E0A-D7840766583B}"/>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B7895225-587A-3ABF-7266-73A372FE08A2}"/>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CF7A02F5-C507-CF03-A44E-55F492AC9926}"/>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271320F9-210F-E078-C915-0D60B20B8EEE}"/>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4C5569FB-3BCE-4BCF-41DD-99AA3D2E4915}"/>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AF92A166-4FB3-803C-D15C-CE698077801A}"/>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E45E8FB2-7A41-DC8D-8201-402F6F4497CB}"/>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FAB832AC-6C43-AB0F-8ED4-88C30A85DF26}"/>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E16CC408-230E-987C-EBB7-233B074E1F97}"/>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0B99DF30-DE47-E2F3-9979-F43CF599A109}"/>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131BFE10-CA3A-38AB-E4EA-595C326D81B8}"/>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C694587E-CBE0-9595-D5EB-B1ECF86C9593}"/>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A76A982B-61FA-E5F6-3BB1-143B2942B007}"/>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C3427284-F72E-020A-264B-71E1A74747D3}"/>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164BC53D-E292-3EE9-5520-6AB0DCE25A48}"/>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D36F5D5B-B61C-89D8-09D5-2073759AAD75}"/>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59BD7A38-D947-24EF-414A-24A3F77AA28A}"/>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38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5A657-D780-5BB8-00F7-1C0EA2AB9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F3EC31-71BE-9B0F-7AEB-BC6A3A661994}"/>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B1BB307D-25B7-4243-4874-CBD32DA98245}"/>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7FBC189A-72B0-D616-A7F5-49D6DEF13AB9}"/>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6D0A56D0-E24F-4950-C0A3-9930035893D0}"/>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FC896866-0FEC-DBE8-1558-6FC520A2A8BE}"/>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D01CC272-6732-8D8D-1E84-D328B68CFA7A}"/>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CA5A749B-D2F8-2C57-67AC-4D768E253C6D}"/>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CA903272-FB05-8FA0-9A28-A4F62C3E0B21}"/>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28DFACE7-CDC1-6502-3103-361938F023BC}"/>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2BD128AA-DBE5-F63B-288B-7FEC73878131}"/>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820E7912-5546-B462-FD19-5A65AF6E05FF}"/>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C80828D9-F382-B144-9E3A-A5C39D484477}"/>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4456CB2B-7E4F-0155-E296-3D32A30F35AA}"/>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3BB164EB-2C2B-4846-B06E-DF0BEB784027}"/>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F678C7E-9856-5901-B7E3-9CE95AEBE96C}"/>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2EBF2585-2993-1371-B312-DE4FA9829D39}"/>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B91EDF54-8771-6190-4E9A-5A8477183AD4}"/>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15582C90-1334-82D4-8869-3DAAF61FEBCC}"/>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2C75C32C-6E29-7112-C6D8-4898DC76AD8C}"/>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9DBDDA69-B077-B05B-EEF9-362575A27A17}"/>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9129A1B8-4870-3D47-9E65-F8891400789D}"/>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1D5F8129-1FB4-F29C-1E37-C848BAAF540D}"/>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D1E92B3-0F9F-FAEE-D2AC-54743DBBA8D7}"/>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46C28C9D-2583-1C68-03D6-91CBE092A6B3}"/>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06BF3DB0-6168-FBD4-4546-78A505784790}"/>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882EC73-ECEE-E352-E8E1-A06FD90F6F02}"/>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73F94C84-2F0A-7D9C-E760-C5DD391DB27C}"/>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DEBAE895-C5FE-3300-815B-5A33DDB56762}"/>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5550DAE-DA24-F94D-CBF6-BD7614F5E0CD}"/>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B42CED2E-3F0B-2635-7B29-031223CB0D3E}"/>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A6268342-84AB-09B9-5191-462AEC9DB2E8}"/>
              </a:ext>
            </a:extLst>
          </p:cNvPr>
          <p:cNvSpPr/>
          <p:nvPr/>
        </p:nvSpPr>
        <p:spPr>
          <a:xfrm>
            <a:off x="6626124" y="1130082"/>
            <a:ext cx="950887" cy="122884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3F4BBFD4-7F74-8602-F7CF-A3E76E750312}"/>
              </a:ext>
            </a:extLst>
          </p:cNvPr>
          <p:cNvSpPr>
            <a:spLocks noGrp="1"/>
          </p:cNvSpPr>
          <p:nvPr>
            <p:ph type="title"/>
          </p:nvPr>
        </p:nvSpPr>
        <p:spPr>
          <a:xfrm>
            <a:off x="838200" y="134217"/>
            <a:ext cx="10515600" cy="613930"/>
          </a:xfrm>
        </p:spPr>
        <p:txBody>
          <a:bodyPr/>
          <a:lstStyle/>
          <a:p>
            <a:pPr algn="ctr"/>
            <a:r>
              <a:rPr lang="en-US" dirty="0"/>
              <a:t>Y1. Yes, Additional material is needed -  Tech Mobile – at PPS</a:t>
            </a:r>
          </a:p>
        </p:txBody>
      </p:sp>
      <p:cxnSp>
        <p:nvCxnSpPr>
          <p:cNvPr id="60" name="Connector: Elbow 59">
            <a:extLst>
              <a:ext uri="{FF2B5EF4-FFF2-40B4-BE49-F238E27FC236}">
                <a16:creationId xmlns:a16="http://schemas.microsoft.com/office/drawing/2014/main" id="{803D4AC6-2A08-4B1B-B7DB-F6B32C6F7734}"/>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F3A93F9-F191-C5B5-1411-4CAB4AE214F1}"/>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8F97DEC4-9C15-F256-A2B9-2D1E3E556925}"/>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30D56906-2399-28BB-ACDA-12D4017A2756}"/>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791660A0-531E-E687-71B1-0226D2382FFE}"/>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E7AD6E49-F691-3936-8C35-D12CA94E8CEE}"/>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F44F2B19-6253-D98B-9879-7D7F6BECA537}"/>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C152A5D3-78EA-3E6E-AF4D-65B3968AC81D}"/>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45B58D62-C344-D037-3CFE-B048C62B0495}"/>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248A53C5-7575-C4D3-C18E-F160EBEA1135}"/>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B4DB5429-765C-E0DC-1110-1B9174ECCEE7}"/>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A5ED3B39-5257-3457-5A2B-61AFD9097021}"/>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D3086F30-079C-60C9-80FD-F339FC8BBEF1}"/>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03B2DEEF-25F2-77AC-D027-A051ADC2A8B0}"/>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D2EB2FC5-4230-2754-A6AD-90AA1070C55B}"/>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B85EC35C-AC40-A64B-9FA3-0477E7A74A91}"/>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364A1881-5548-424D-E810-91C36979793D}"/>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00BA0EB2-000A-83FB-10C6-146DE2C2B497}"/>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AC074411-D177-052E-3605-6A2A78AC9A6F}"/>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075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562CE-0A04-6C5A-B5C3-0A4BA5D2749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251803-7F9C-B85F-0243-94357190B452}"/>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A8FC26C2-2BFD-6B9E-972D-F19EE695E9CA}"/>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7FD978E4-3DB3-A787-73F5-3BC4ED48C870}"/>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9AB4CFD8-D274-B676-D72C-51BA7EB4C6CF}"/>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D69FEF89-3D7C-7197-9BC4-8B5C09F31525}"/>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4E4EFC4A-5526-CF22-A515-275C1B7E632B}"/>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B34B53D6-2D4D-516F-C205-148FC0F31A9D}"/>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234AD246-9D39-DF64-C237-5116B96F0E72}"/>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45309565-601E-40AE-721E-4738480F6FDB}"/>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4775C0B7-C96F-DBC1-E4C1-53918A520825}"/>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4F7EFC7-FB82-2A95-5AE5-3CF4981C5D8F}"/>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82220EB9-6735-2C64-2E6B-D8B225092D01}"/>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484B8C3F-D941-6F5D-CECA-396FCCAAFA14}"/>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2C4E90BD-86F6-140A-6DA6-B9495D75BF2E}"/>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BFAB33E-704F-46DE-C28A-ACA7DCD1FF44}"/>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ED9C664D-FE2C-7C48-2367-C17B2015899A}"/>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2436CD7C-91E6-98E6-1C44-83B8AED2AA5E}"/>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144D4B1A-BCBF-A552-CFDA-4B24158841A4}"/>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448AA384-0F97-4825-FFC5-DA550445559A}"/>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6B21FADC-4256-B5A4-B241-B3308BEC6DE8}"/>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065C0E1C-B701-2124-6F70-C020FDC68134}"/>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014B9E40-B208-1C96-551F-9681AC791FBE}"/>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AD21765-8BD7-3DB9-9B36-FAC9E1F8AA1C}"/>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26B617CF-B9D0-2F97-95F5-ECC3416105BA}"/>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7F432E18-4EC3-FF16-2A61-1DB886D7796B}"/>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90E5292-007B-DEF8-7D8B-AB3DF84C13EF}"/>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9D6F2DBF-0528-4586-1138-EBBD8BE8A82D}"/>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05E37031-AFE8-FFEF-3936-D8FDB1FE81F9}"/>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9695964-924F-C7EB-3C1A-5C3968D43E1A}"/>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DE739124-CA11-6D42-AB40-DCF0FEDAA4B7}"/>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BE821CBF-CA35-5E2A-B428-FA26AE3E8434}"/>
              </a:ext>
            </a:extLst>
          </p:cNvPr>
          <p:cNvSpPr/>
          <p:nvPr/>
        </p:nvSpPr>
        <p:spPr>
          <a:xfrm>
            <a:off x="7378778" y="1074096"/>
            <a:ext cx="1773241" cy="122884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F00AB5BE-6931-F43B-D416-D0445675365C}"/>
              </a:ext>
            </a:extLst>
          </p:cNvPr>
          <p:cNvSpPr>
            <a:spLocks noGrp="1"/>
          </p:cNvSpPr>
          <p:nvPr>
            <p:ph type="title"/>
          </p:nvPr>
        </p:nvSpPr>
        <p:spPr>
          <a:xfrm>
            <a:off x="838200" y="134217"/>
            <a:ext cx="10515600" cy="613930"/>
          </a:xfrm>
        </p:spPr>
        <p:txBody>
          <a:bodyPr/>
          <a:lstStyle/>
          <a:p>
            <a:pPr algn="ctr"/>
            <a:r>
              <a:rPr lang="en-US" dirty="0"/>
              <a:t>S4. Additional material is added OPM -  Tech Mobile – at PPS</a:t>
            </a:r>
          </a:p>
        </p:txBody>
      </p:sp>
      <p:cxnSp>
        <p:nvCxnSpPr>
          <p:cNvPr id="60" name="Connector: Elbow 59">
            <a:extLst>
              <a:ext uri="{FF2B5EF4-FFF2-40B4-BE49-F238E27FC236}">
                <a16:creationId xmlns:a16="http://schemas.microsoft.com/office/drawing/2014/main" id="{15150FE8-877B-F0CB-724D-0C1017208256}"/>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4606831-CCC1-2759-7EE4-E451659F5EA5}"/>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DC151DAC-4A90-0507-C89A-CC2E252A8F57}"/>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A4C6C562-ADC5-BA78-6433-C34DA5BD89EA}"/>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4293EF85-13D1-0825-91BF-1C531461FED6}"/>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4EBF2047-3A5C-2194-C7B6-A0B541DC33DE}"/>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B0137D8B-91A7-6DAC-3F61-9EFD91E08BBD}"/>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56213F6F-493D-280E-1524-8129BB148C40}"/>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C6CB8478-521F-AFA7-EFF1-06F0C66F1B92}"/>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534EDAFF-06C4-4B70-E131-24FCA02069BA}"/>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0BC82286-C57F-AE26-E326-9B799879BDF6}"/>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638D8320-0F53-307F-430C-DCA6E7E28A4F}"/>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23D386CE-D77F-A1B7-ACDF-80C997B99A69}"/>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75CECF37-DD5C-C699-AD0C-C3FD1C8B5F6D}"/>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2E22B551-188F-8294-475F-48DE389CE5F7}"/>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F4DD2E65-7C10-A5CB-9EBB-1B59BAE698FA}"/>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9809776E-32A6-B6E9-4676-B4DB6A273B39}"/>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FD720E70-A1E0-ABF9-F1DE-B33848663C6C}"/>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D0C4F356-703B-FC82-B21C-41C1E0D6535A}"/>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0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07A19-09DE-157E-5539-D912076CF96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6980CC-7D0D-CB3A-4ADC-9B040566105E}"/>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BDC37655-86BE-9D71-7EBC-8766C79FE5CD}"/>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8EAB2EB2-B73D-A515-0F18-18168CE8CE01}"/>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8450F7A2-9EC3-B362-AC21-3D2D9C2D10CA}"/>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1A072657-C123-0C86-136C-8FA1624319B0}"/>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F295D902-A876-49B7-AAC8-732CCC0FAF4A}"/>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E9E6661A-1374-4419-3625-D7788C587F1E}"/>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8C5812C1-82E3-560E-6D3F-DF9D09173B91}"/>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29C8D74B-E1A8-C9E0-63FB-895E71FD80DC}"/>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A954AE96-88E9-2764-BC4F-5C05C2ECF1DE}"/>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E2E6C8A-AB67-5E4B-A94F-8B9E50D4E036}"/>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F5A0A56-5BC5-6FBC-A659-48FEC945238C}"/>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75459D1A-CC55-1AB3-C695-9E1F343BC600}"/>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95FC6FDE-9DB0-A493-5A2F-F8D8C529E19D}"/>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B1C1BE-159C-9DDC-96A7-CCC5787B28AF}"/>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734423A5-3683-8B58-DC61-DD21F3FBCEC7}"/>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C476C941-274E-D0E1-13F3-654288A12042}"/>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AD4AF7D5-E7C8-5C97-889F-EA7C0A940052}"/>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21D93A52-BA99-3004-0BAF-D397B3FD6A92}"/>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4E3DF37E-F733-579B-1C92-E1C1EE4E8FB6}"/>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A90D7943-2940-F3FC-30E4-67704D69EA7C}"/>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4B141B3A-11A9-CBDF-8979-6DFFBF9828AA}"/>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4823252-0ADC-75B1-2D8E-F4545D9DF76A}"/>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60C5E0EC-BC0B-78E0-11EC-745D4C4ADE7C}"/>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5BFBA0BD-3AB9-7C7A-4ABB-3C6E50705D04}"/>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E59FD20-F098-15F0-A648-68A4C3D7E8F9}"/>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AFC9A83E-4E92-C5CD-3DC1-9188736280F4}"/>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30D2A0E1-55FE-2FC9-31C0-32F04D2E775C}"/>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4C448D1-7B88-8E15-C308-7F15AB7581EB}"/>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4C40E1E4-D2ED-ABB9-5E0A-6A6D76FCC44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1882677F-46FC-615E-93FB-B9B560EAA33D}"/>
              </a:ext>
            </a:extLst>
          </p:cNvPr>
          <p:cNvSpPr/>
          <p:nvPr/>
        </p:nvSpPr>
        <p:spPr>
          <a:xfrm>
            <a:off x="732793" y="3830942"/>
            <a:ext cx="1430766" cy="17540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C3097EC9-B6D0-E361-9F30-4BC8E105C54F}"/>
              </a:ext>
            </a:extLst>
          </p:cNvPr>
          <p:cNvSpPr>
            <a:spLocks noGrp="1"/>
          </p:cNvSpPr>
          <p:nvPr>
            <p:ph type="title"/>
          </p:nvPr>
        </p:nvSpPr>
        <p:spPr>
          <a:xfrm>
            <a:off x="838200" y="134217"/>
            <a:ext cx="10515600" cy="613930"/>
          </a:xfrm>
        </p:spPr>
        <p:txBody>
          <a:bodyPr/>
          <a:lstStyle/>
          <a:p>
            <a:pPr algn="ctr"/>
            <a:r>
              <a:rPr lang="en-US" dirty="0"/>
              <a:t>D2. Decision is Additional work needed ?-  Tech Mobile – at PPS</a:t>
            </a:r>
          </a:p>
        </p:txBody>
      </p:sp>
      <p:cxnSp>
        <p:nvCxnSpPr>
          <p:cNvPr id="60" name="Connector: Elbow 59">
            <a:extLst>
              <a:ext uri="{FF2B5EF4-FFF2-40B4-BE49-F238E27FC236}">
                <a16:creationId xmlns:a16="http://schemas.microsoft.com/office/drawing/2014/main" id="{2EC17EED-7916-05F1-B298-B726F4D56187}"/>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AA73D72-5425-1D7C-3CB2-E00904377DCC}"/>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EC0698D1-BEF1-A754-7BC8-BA2DE094AFA6}"/>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FD0505A4-3B16-35ED-4F49-C2BE2AB9770D}"/>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98CC3B74-79AC-9D20-DB91-0FC3DAFDD64F}"/>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BD3ED943-2FB4-6859-49D4-1BB8FBEE1DA2}"/>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AC49EB32-276E-A1F8-02E1-C4F3E24D2922}"/>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0CB71F02-6273-A8ED-2398-8D0DB94990AA}"/>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B02969D3-5CFB-0783-6FB7-AD67B8DBA590}"/>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EAE15662-6636-FFC4-9EE8-A193347BCA50}"/>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645A0B89-DB20-8CA1-4855-AEEDEE169321}"/>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D0F49DF6-40D0-320D-4D81-D01A80A31CDD}"/>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37A6366E-ED87-DF5E-A605-06E6D062A4B0}"/>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0A47EC6C-12BC-EC7A-7D1B-F49B5DACDADE}"/>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E0BC3ABA-F510-E338-FBCC-99DF0C51B81D}"/>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187B2355-D340-28CE-20C6-C8EF32A27D4F}"/>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4577CDE1-3BFD-7C84-04B1-86189047B52D}"/>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A098C568-5440-C467-9CC1-B40D3DB7F52F}"/>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9A74ACA-FA31-8FC2-51BF-5E6527F9850F}"/>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17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CB487-3C63-E71C-D4FA-C806627E6F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88E69C-BFAA-2656-D97D-C589D4EE3D05}"/>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D3B030FA-C94D-D9EB-E214-98FC9E8FC11F}"/>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D8ABD345-F9F6-01D2-66D2-4D4FFE549A2A}"/>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1C2FE822-DE32-EA15-B5E3-01882741B1DE}"/>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F7CD0ECF-B234-5DE6-7ED2-FAF86F937EF4}"/>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D9CDEEE9-FB6A-25A1-2516-789A21142D6E}"/>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E65CD186-B45F-D8B6-E73F-5E2EF1C0A2F5}"/>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ACA0892B-3C4A-1A6F-64D4-3EE3E36D3D78}"/>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4CFE80F3-6C25-0E55-26FF-83EA24E9499F}"/>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59CFF7BC-3C65-F20F-DB72-48197644797A}"/>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8A5F1BA-3425-233C-EAE9-72B96BF69B58}"/>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825EE9A4-1962-C5BB-EF72-FD56EE70B2D0}"/>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68BF02DF-85FB-1B91-D04D-EFF210A35698}"/>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9F80DF56-CCB3-8E28-F60C-F5A003942DCF}"/>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9E8BC8A-EB6F-4878-E643-85654C2EB1E9}"/>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7FEDE17A-3F1C-2582-3C60-00F9D13C3C71}"/>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6CC8EA9F-6847-56E4-74E7-CD42AD5B2FB9}"/>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EED14743-79B0-63CD-AEAB-7187DD332534}"/>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062AEC22-A042-325D-E843-4B9EB3551CCB}"/>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69CC1C39-325C-5154-5F0F-1AA03E5E7AA3}"/>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D6D3D553-4F30-D758-FB25-EA435ADAB101}"/>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B06A151F-83EA-7374-C170-DE26F0BAB0CE}"/>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5D65E8-48F8-D79A-CA72-3BF88FE8B569}"/>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14FE7CDE-CCD8-16E0-2C3C-BE6C48308A1B}"/>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8032838A-57D0-9BCA-2352-0991530AC405}"/>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6D4FAD1-FF1C-F817-F3C3-036FA54B7EA0}"/>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382519D2-A7E2-CF69-BA2A-3EE8E538B6EB}"/>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451CAD14-8B09-F2E9-76E9-3B450FCE8021}"/>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686486F-D7AB-6EBF-4363-42363F3CBD94}"/>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2D4FC2BA-9166-865B-FA94-65CCE94E6B4A}"/>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9D41FB61-0311-2FA8-9E7E-B70DA7B00AFD}"/>
              </a:ext>
            </a:extLst>
          </p:cNvPr>
          <p:cNvSpPr/>
          <p:nvPr/>
        </p:nvSpPr>
        <p:spPr>
          <a:xfrm>
            <a:off x="2109908" y="3996428"/>
            <a:ext cx="975238" cy="126609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01067CD7-E427-11AF-AE13-DDC8E9F75168}"/>
              </a:ext>
            </a:extLst>
          </p:cNvPr>
          <p:cNvSpPr>
            <a:spLocks noGrp="1"/>
          </p:cNvSpPr>
          <p:nvPr>
            <p:ph type="title"/>
          </p:nvPr>
        </p:nvSpPr>
        <p:spPr>
          <a:xfrm>
            <a:off x="838200" y="134217"/>
            <a:ext cx="10515600" cy="613930"/>
          </a:xfrm>
        </p:spPr>
        <p:txBody>
          <a:bodyPr/>
          <a:lstStyle/>
          <a:p>
            <a:pPr algn="ctr"/>
            <a:r>
              <a:rPr lang="en-US" dirty="0"/>
              <a:t>Y2. Yes, Additional Work needs to be performed-  Tech Mobile – at PPS</a:t>
            </a:r>
          </a:p>
        </p:txBody>
      </p:sp>
      <p:cxnSp>
        <p:nvCxnSpPr>
          <p:cNvPr id="60" name="Connector: Elbow 59">
            <a:extLst>
              <a:ext uri="{FF2B5EF4-FFF2-40B4-BE49-F238E27FC236}">
                <a16:creationId xmlns:a16="http://schemas.microsoft.com/office/drawing/2014/main" id="{618494E7-DD7A-5917-5A4E-275630A95C6D}"/>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4D94C24-90D1-9D9B-CDB0-2864DA8C2200}"/>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20F438AE-2FE9-61D4-9825-F8D0DA3A5A6A}"/>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1E28F412-877B-7FDB-0092-CA9223D0E015}"/>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ADE581EF-44C0-FC93-A57D-EF9E04B90D97}"/>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7E58A972-8699-2382-0A10-6D8154007904}"/>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3AF1EC31-37B5-7408-DB93-9C1CED8754EE}"/>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B43894BC-4A11-E600-CA97-DEF687E8A5E7}"/>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B4C24F5B-18F5-CEEC-C7B6-D0AD008127CC}"/>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D3687337-3A24-AB54-1FDD-C1FA7345F35B}"/>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D393F10C-2006-48EC-5CEE-6CDB61C99621}"/>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C7F53636-E389-2FAF-EC57-51B444EBF882}"/>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B67B9547-6710-EC9B-708E-1F7FFFAC57E8}"/>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387DAB92-2B7F-7680-A1DF-39B931D740F2}"/>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1CD1F50C-B53B-4AE2-609E-A6BC3A60DF2E}"/>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7E93DAFE-9E98-D9D3-B3BE-0C69A4A7FF8D}"/>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C9DD1A91-2E01-98BE-567C-F3DCE8C17E4A}"/>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E4127BC3-C83F-01A4-C5A4-3FA7B1F10887}"/>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6BD4BFE3-7084-8F75-23A7-182DFFA5F5BD}"/>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745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8756-98E7-0190-DF6C-BFC697111D2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29F464-8E50-C83E-8216-F8AE44B537C4}"/>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1C66F051-0950-CC25-21A4-CB453F800258}"/>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7BEC9D13-A383-68F9-385F-B94B44C4B9D9}"/>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56CCDE1A-CCB5-3FEA-C3D5-A43E6E8A08C2}"/>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87DDBC6C-B831-1607-8CB3-1081DDD7A3CE}"/>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05C815BD-50D0-412C-933E-C9F2F153C597}"/>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7BA5AAC5-D1FA-0454-A03E-D25E72E95E50}"/>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12E90FC0-3DA3-CD0D-7C79-C1DAD9D401F9}"/>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FB45D49E-2CD8-7FF9-549F-B27701121A1C}"/>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52E1E91F-DFD0-ABD3-A10F-EB5C0C572EC8}"/>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0DB1523-C1E5-0F87-A2C1-00128D8CF795}"/>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246C2F9-8807-1643-045A-62CCC65A7537}"/>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5CF1BE23-300C-16BD-CCDB-6C8E4FD8B120}"/>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2858857C-0F65-1641-0D8F-53BCC486EE86}"/>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9583804-F553-0CFE-09E6-98BA3E354563}"/>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984AA2C8-7CB3-854F-E545-8E9E00A2FBBD}"/>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72105607-86B8-B5D6-E215-D80DB50340B1}"/>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3A183BC6-E3DB-86A3-CB10-37C1BA62FDAD}"/>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20303B53-97CE-C93B-2B19-F4577CF2E44E}"/>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B6B2E428-69AA-0B56-CF04-EF9D598C79EC}"/>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6EC5988C-E660-5605-F7BF-D20135BCD92B}"/>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1EED5941-235A-939E-C786-350A24C2035A}"/>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F72F51F-57D6-22A4-3C48-8612BEB670A8}"/>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770BB9DE-9F48-0FC0-6308-E1FD52AA6F7D}"/>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5C8CA56E-7081-3521-E47A-260DD78AC896}"/>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8E12CFD-6A41-7BF2-CC77-0DDBBBBE7231}"/>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066F4050-0FE1-1D4E-408F-927765B95009}"/>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D192FCBC-5064-0BC9-9579-092BD55D6CAA}"/>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602593F-D113-93E6-E698-FFD613ED2018}"/>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4C1FE2D5-20CF-3996-E7A3-4D9F16FF4DA0}"/>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6A1AD663-A2B2-08D1-D817-C759AEFF65E1}"/>
              </a:ext>
            </a:extLst>
          </p:cNvPr>
          <p:cNvSpPr/>
          <p:nvPr/>
        </p:nvSpPr>
        <p:spPr>
          <a:xfrm>
            <a:off x="2991877" y="3819062"/>
            <a:ext cx="975238" cy="143874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B955BC10-2DDB-016A-1B94-02B952152328}"/>
              </a:ext>
            </a:extLst>
          </p:cNvPr>
          <p:cNvSpPr>
            <a:spLocks noGrp="1"/>
          </p:cNvSpPr>
          <p:nvPr>
            <p:ph type="title"/>
          </p:nvPr>
        </p:nvSpPr>
        <p:spPr>
          <a:xfrm>
            <a:off x="838200" y="134217"/>
            <a:ext cx="10515600" cy="613930"/>
          </a:xfrm>
        </p:spPr>
        <p:txBody>
          <a:bodyPr>
            <a:normAutofit fontScale="90000"/>
          </a:bodyPr>
          <a:lstStyle/>
          <a:p>
            <a:pPr algn="ctr"/>
            <a:r>
              <a:rPr lang="en-US" dirty="0"/>
              <a:t>D3. Decision, Can the additional work be performed during this visit?</a:t>
            </a:r>
            <a:br>
              <a:rPr lang="en-US" dirty="0"/>
            </a:br>
            <a:r>
              <a:rPr lang="en-US" dirty="0"/>
              <a:t> -  Tech Mobile – at PPS</a:t>
            </a:r>
          </a:p>
        </p:txBody>
      </p:sp>
      <p:cxnSp>
        <p:nvCxnSpPr>
          <p:cNvPr id="60" name="Connector: Elbow 59">
            <a:extLst>
              <a:ext uri="{FF2B5EF4-FFF2-40B4-BE49-F238E27FC236}">
                <a16:creationId xmlns:a16="http://schemas.microsoft.com/office/drawing/2014/main" id="{BE2F4FF4-AA4B-7B44-4AED-0279EB174222}"/>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A535271-B202-349F-AF33-53B8EDF05ED4}"/>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3CD1A906-B6AF-F9E7-38C2-B5E5AE03E287}"/>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4E15AD2F-0564-8431-5551-71DA4289C252}"/>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8A92746C-87AD-0C23-FEE3-074DEB34116D}"/>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A5E3B0E4-9DBC-7C6C-8CE3-BABD85E90512}"/>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DC809DAD-CC6D-6F7B-1B1C-271762278D7F}"/>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F0418037-F005-3847-3522-E24932EDA96E}"/>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AE32C828-40F2-1A79-2B44-8AD30BD27759}"/>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269BE361-26BC-CB7F-92C7-0746DA0A977B}"/>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F521789C-63D0-B8B5-F652-C6CC00FAAC95}"/>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C54A4B29-0637-8186-F003-780A0BA4D6B4}"/>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0A0014AB-BE5C-A46B-4FFA-D3CF14BF26D9}"/>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0E30A44C-E61A-C942-4C32-800BF183E791}"/>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DC391509-C6D7-BEF0-0E5D-EC63F0E1029D}"/>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2BD2C4A8-7A74-7F04-01FE-1A47D9B685A3}"/>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856F1B7C-C501-E4C8-3125-511DEB6B12B3}"/>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4D7896F6-333E-44D8-70AB-A9FF1ED28D99}"/>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46C13AB2-924A-415E-C71D-83879FF4734F}"/>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6852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54A3-5F5A-90E4-A24E-D581875B7D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F5E5FBC-78DB-ABF1-E42A-09B30BC922A3}"/>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E624A7A0-98E5-C6A0-AAF2-27B6B06A3ED5}"/>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12631BB9-F279-2F59-BBAE-140BE527F9A5}"/>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0D2E3564-AFFC-767B-B58A-0558CB2C0E50}"/>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50B5E5B9-69FE-2670-9B95-2FC101951987}"/>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AB3837D7-DB7B-E266-B641-4AC5C8C86EEF}"/>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2840063C-14BB-7F8C-D2C0-8BDCE31BEC01}"/>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3B21E248-07C2-3113-C512-285FA4F1C1EE}"/>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C090C180-B3E3-AAB9-76D4-9A4207A6C2E0}"/>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A8999AD5-F507-7C6E-DFBF-5FF5928895FD}"/>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288E544-8D08-7DCF-DEE4-7BB90B6F7F81}"/>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2618BB9-2E59-C568-8755-C5ED4234CD19}"/>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E817E16B-71D6-F001-A014-7B083E0840E7}"/>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0722D705-B49D-F5AC-F68A-E2F67477F4E0}"/>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55278E-859E-8892-9B05-118679ACB6F1}"/>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6063EA81-730C-E346-B200-804FCDC4DB89}"/>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0EFEB590-1DAA-641A-66B3-8F41EF8AF350}"/>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AEBF03EC-4A15-E4CC-19EA-4A67753AF287}"/>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9B51C463-19CC-9C9D-E8C1-C9FE51D6A70F}"/>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93F1A914-1B37-6E3A-759C-204567F98104}"/>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648F6A36-1219-0118-D344-8502989DB9A0}"/>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C181519D-087B-1918-E6E5-A659391D52FF}"/>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2CD283A-1AA6-60BC-6344-2F047E933A3D}"/>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B9BEB48B-5691-23AE-F16C-9CDB4B2D94A0}"/>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C83A3AE3-4903-151E-B4E9-0D104D53ED3F}"/>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E780020-6906-1ECD-3C19-6017E7A1FE6F}"/>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B8FA355D-682D-2413-90BB-3F020A5F453A}"/>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1DA7F11B-B2D5-0E88-6DCD-1CB51FDFE647}"/>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2EC6454-07C9-64B3-BE61-B820975137EB}"/>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52776E9B-62F1-5A30-44C4-92C162B138D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F5CEB5B9-E8F7-F1F0-B674-19508E68DC65}"/>
              </a:ext>
            </a:extLst>
          </p:cNvPr>
          <p:cNvSpPr/>
          <p:nvPr/>
        </p:nvSpPr>
        <p:spPr>
          <a:xfrm>
            <a:off x="3815599" y="3347402"/>
            <a:ext cx="975238" cy="143874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75EBA639-2AF1-AEA7-7C7C-167D19E1B580}"/>
              </a:ext>
            </a:extLst>
          </p:cNvPr>
          <p:cNvSpPr>
            <a:spLocks noGrp="1"/>
          </p:cNvSpPr>
          <p:nvPr>
            <p:ph type="title"/>
          </p:nvPr>
        </p:nvSpPr>
        <p:spPr>
          <a:xfrm>
            <a:off x="838200" y="134217"/>
            <a:ext cx="10515600" cy="613930"/>
          </a:xfrm>
        </p:spPr>
        <p:txBody>
          <a:bodyPr>
            <a:normAutofit fontScale="90000"/>
          </a:bodyPr>
          <a:lstStyle/>
          <a:p>
            <a:pPr algn="ctr"/>
            <a:r>
              <a:rPr lang="en-US" dirty="0"/>
              <a:t>Y3. Yes the Additional work can be performed during this visit</a:t>
            </a:r>
            <a:br>
              <a:rPr lang="en-US" dirty="0"/>
            </a:br>
            <a:r>
              <a:rPr lang="en-US" dirty="0"/>
              <a:t> -  Tech Mobile – at PPS</a:t>
            </a:r>
          </a:p>
        </p:txBody>
      </p:sp>
      <p:cxnSp>
        <p:nvCxnSpPr>
          <p:cNvPr id="60" name="Connector: Elbow 59">
            <a:extLst>
              <a:ext uri="{FF2B5EF4-FFF2-40B4-BE49-F238E27FC236}">
                <a16:creationId xmlns:a16="http://schemas.microsoft.com/office/drawing/2014/main" id="{75166B43-14B6-7582-053E-B2212F0ECE06}"/>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4A8E11E7-EE4B-0ADF-7FC8-21B056AD0BAB}"/>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A3CB918C-66CE-02B3-7389-C1273DED16A3}"/>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9D04E909-F445-4F77-2525-C5F236AE30B4}"/>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F8856172-A5D6-30D1-870A-A766942D5EB7}"/>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2582D533-7952-4B61-DA4F-7A2E4A9851FA}"/>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85A9491A-1AA3-3FF9-8CC2-819D04E7BB48}"/>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BD1BED25-B23A-BC80-0BD0-D11915C21970}"/>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3790A65C-71E3-C656-3648-9692FE51FE9B}"/>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E19463AF-1EBC-1714-953A-7F0E90FDD828}"/>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4BD60BE9-51F9-459E-A490-26EE69703252}"/>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E0784976-702C-8E4C-C25F-0373EA6A300B}"/>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66E5C3F1-0081-B67B-EF77-2CADC74B618F}"/>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12710FDA-C0FF-524E-B1C2-349E280AEA78}"/>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FB562282-77C0-2F68-4CE6-DD1E48141FBA}"/>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870528C3-315C-B809-9CAF-4053D404C134}"/>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2FE53EEC-FBBB-BFB9-0406-92A1FC77944B}"/>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ACD30348-80FA-5445-8BE8-BB0F583EC427}"/>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419C6271-06A6-4E13-19CE-EBD22D01C78D}"/>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110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58203-9D82-D634-0599-BB3735299C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06E696-C82A-5A1F-E545-037C1BFD60F3}"/>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A62E6762-222B-4809-D946-1AB4239BD47A}"/>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F2007BCF-E887-4C27-073D-563E2C81DCEF}"/>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9EB4D2A4-1F66-DFA3-5EDF-3738FB50239A}"/>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2F00D73C-D1F9-A9E0-0EA7-B7A38735DE51}"/>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EDC222D4-5B6F-DFA6-0EF8-1B0663672A3C}"/>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C35438FF-BD49-6E73-BCD0-4DDA3B6D7195}"/>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48107120-E9DA-F3CA-ABE7-32295B985523}"/>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DA87BF14-7829-061D-0EB3-C3900973C129}"/>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59F3681B-7974-F810-30B9-EB2AD419FA80}"/>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CB2022D-46EB-BA8A-5C1D-286028C3AC1B}"/>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0252CB3F-B710-C01D-6C71-68005E77B933}"/>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2689EDA7-4ECA-0FA9-1527-10E4B83600F5}"/>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980D6BF2-0B40-D2C1-ACD5-FB126F16C455}"/>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6BFBC93-CC01-1E79-CA28-B77F64275C53}"/>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22379C17-75E8-DB27-6B60-3EF4AE84ABCF}"/>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730036D8-87F5-4123-F7AB-F6262EB74BC1}"/>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C03BB2FB-0C0E-944E-FFAA-69068CF0549F}"/>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70A64CC1-F618-33C5-58C2-15B2A7F310B2}"/>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F53F93BA-A9D5-ADFC-D1DF-3508819C64A6}"/>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6EB15710-72D9-3856-046E-FAE482DAB861}"/>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8EA5B6EC-9687-5923-B430-6F46BA8518D4}"/>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E967C6D-0A21-9B1E-786A-E4C8C21457E5}"/>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36B6703B-9443-B06D-34C9-CA35CE647B1D}"/>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E80B72E0-BD68-24FC-B407-C1967208ACF4}"/>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F1F5B5D-F2B1-3B14-CE82-59937F271A3C}"/>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9DD27481-F4D5-BCDE-5C52-D98A9AB34BCB}"/>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6940FEFB-8574-A5A8-0670-9563DB4E6871}"/>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BF9E377-DAA2-5139-CAE9-766A33DC80A1}"/>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33A13B80-6D75-0790-81E5-C6CC51984C0D}"/>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89DDC49D-6258-C5BC-A2BE-5024AA018C18}"/>
              </a:ext>
            </a:extLst>
          </p:cNvPr>
          <p:cNvSpPr/>
          <p:nvPr/>
        </p:nvSpPr>
        <p:spPr>
          <a:xfrm>
            <a:off x="4858348" y="3583608"/>
            <a:ext cx="1811272" cy="94601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2A00C955-6157-CE75-2332-BFFAF7EB731C}"/>
              </a:ext>
            </a:extLst>
          </p:cNvPr>
          <p:cNvSpPr>
            <a:spLocks noGrp="1"/>
          </p:cNvSpPr>
          <p:nvPr>
            <p:ph type="title"/>
          </p:nvPr>
        </p:nvSpPr>
        <p:spPr>
          <a:xfrm>
            <a:off x="838200" y="134217"/>
            <a:ext cx="10515600" cy="613930"/>
          </a:xfrm>
        </p:spPr>
        <p:txBody>
          <a:bodyPr>
            <a:normAutofit/>
          </a:bodyPr>
          <a:lstStyle/>
          <a:p>
            <a:pPr algn="ctr"/>
            <a:r>
              <a:rPr lang="en-US" dirty="0"/>
              <a:t>S5. Create a new SRO OPM  -  Tech Mobile – at PPS</a:t>
            </a:r>
          </a:p>
        </p:txBody>
      </p:sp>
      <p:cxnSp>
        <p:nvCxnSpPr>
          <p:cNvPr id="60" name="Connector: Elbow 59">
            <a:extLst>
              <a:ext uri="{FF2B5EF4-FFF2-40B4-BE49-F238E27FC236}">
                <a16:creationId xmlns:a16="http://schemas.microsoft.com/office/drawing/2014/main" id="{D40C57E2-A5C1-4B7F-F86C-786637FC0E12}"/>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CED29F7-A862-0871-E02B-2975FDE7F4F6}"/>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1C6D45D3-F4A9-CF85-D6B3-EDF4AD2D3B36}"/>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DA7D87F6-6BA0-30AB-2E27-088B2686B8E1}"/>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1C28849A-957F-1623-A795-C83F5460130C}"/>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937393AC-9278-BB56-CE77-CA744D189853}"/>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3870B1BD-F8D0-E4AF-6957-7E0EDEC623AF}"/>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2B478F6B-8F0F-EAAC-91C0-822B03716B80}"/>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93785570-7CE4-1793-92E3-86A6B4ED640D}"/>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3DB594B1-B960-0B19-8E48-3BF20FC419B0}"/>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EF946B13-70E2-013F-F245-33E2EE7B3489}"/>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3DAD7FBD-76D9-45DD-1AF3-4BE6A765DD1C}"/>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BB2D9264-62AF-6132-E813-25884CD9B4D8}"/>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E08AE9D5-0080-BE7B-B858-67940139EAAD}"/>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01AD58A3-15E4-3B1D-CB94-13688419412F}"/>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D1B896DE-0F38-37EE-830F-83BA88D0A7CB}"/>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74A280AC-4A55-8BA4-656E-945C24A80447}"/>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7F3A8F02-9578-744A-52ED-26E77D49E937}"/>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23E0E2B0-DCFA-BF98-F27E-8D2CC801D610}"/>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956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452A3-42AE-3643-7328-E256B0ED1C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68004C-DF7D-2140-7FF2-27BA45A48B54}"/>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5A5CA531-0E8D-4362-20E7-2A0B383373C3}"/>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929B7FF4-C176-03AE-B50B-91EB87C5BDCC}"/>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623DC06E-4B2D-F4B0-2098-BDB2219A242A}"/>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876F35D1-E4EE-ED23-35C2-F65FD8DBDD51}"/>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69844210-9F95-E84F-15DB-E37094517517}"/>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098BD814-E288-4FBF-033F-8929744E6E71}"/>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B20F946A-243F-C809-26A4-BC73DB5EE2F8}"/>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C91162C2-7917-4D1C-31BB-88492DE9A063}"/>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011AF920-F077-96E3-5902-51C61668BC0A}"/>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D7888CA-84C6-B5F3-85DB-83B6581DC484}"/>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D30F736F-E28B-61BE-D7CF-C0A3C4527D61}"/>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3FBF802F-EC7F-8205-4798-886EE04F9C44}"/>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94021E17-27B8-621B-D566-090DF151E801}"/>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F69D5B8-4EC5-5EC7-A943-01E9B12A2D7F}"/>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0DF11040-13D7-F24E-2B60-4BF783DACF1B}"/>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4058E568-5EE9-148E-4D40-9A91CCE4402C}"/>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624A9CB5-EB37-D01B-354B-6606E381BCD8}"/>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FB9CA395-F4E7-7A54-6491-7D743C71F813}"/>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85062126-AAC7-4BEC-A8F6-603C44519295}"/>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62D87916-B5A0-1983-ED33-31F3DA8ABCC1}"/>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3BBD23F5-BC55-BA63-52ED-FC83D99DB436}"/>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355CFF9-053C-01D3-BD35-E97285609185}"/>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418083FD-3B24-1224-E656-48477CE4E42C}"/>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B9FD45DD-ED59-64CC-5CB2-35AA1D5A2A01}"/>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78A4351-B7BF-3798-3C87-4F3189A663FC}"/>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9D6C4248-693A-3963-9C94-FD820DDFC286}"/>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7E5A4375-FE1C-9D75-35A0-ED040C39C2DC}"/>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2F143E7-5F0B-1965-F843-70E16AACF22E}"/>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E9CFD6E9-6DD3-6B99-9381-00857F8EFCE0}"/>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B70F107C-02D0-6F3A-CB9B-C3D9D13424A4}"/>
              </a:ext>
            </a:extLst>
          </p:cNvPr>
          <p:cNvSpPr/>
          <p:nvPr/>
        </p:nvSpPr>
        <p:spPr>
          <a:xfrm>
            <a:off x="7715464" y="3956781"/>
            <a:ext cx="1981794" cy="108301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2F90540A-3692-F5DC-C6E4-3534903E2C02}"/>
              </a:ext>
            </a:extLst>
          </p:cNvPr>
          <p:cNvSpPr>
            <a:spLocks noGrp="1"/>
          </p:cNvSpPr>
          <p:nvPr>
            <p:ph type="title"/>
          </p:nvPr>
        </p:nvSpPr>
        <p:spPr>
          <a:xfrm>
            <a:off x="838200" y="134217"/>
            <a:ext cx="10515600" cy="613930"/>
          </a:xfrm>
        </p:spPr>
        <p:txBody>
          <a:bodyPr>
            <a:normAutofit/>
          </a:bodyPr>
          <a:lstStyle/>
          <a:p>
            <a:pPr algn="ctr"/>
            <a:r>
              <a:rPr lang="en-US" dirty="0"/>
              <a:t>S6. Travel (from) Leaving Site OPM  -  Tech Mobile – at PPS</a:t>
            </a:r>
          </a:p>
        </p:txBody>
      </p:sp>
      <p:cxnSp>
        <p:nvCxnSpPr>
          <p:cNvPr id="60" name="Connector: Elbow 59">
            <a:extLst>
              <a:ext uri="{FF2B5EF4-FFF2-40B4-BE49-F238E27FC236}">
                <a16:creationId xmlns:a16="http://schemas.microsoft.com/office/drawing/2014/main" id="{9040BD0B-2325-61B7-4A54-E1B812EB751D}"/>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AA21AB9-D2C3-F566-3230-836DF1BE6DEC}"/>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9A31C9AC-2088-52B3-F594-95028072978B}"/>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6E5AC17D-E215-6143-A9DA-E90B2528D8A7}"/>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B5786A55-E41E-0DBE-CA06-7DED72EF7318}"/>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A6F1CF4E-3C95-B4A8-E986-DDD32D129DBE}"/>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335AFF54-57F4-9189-A8EA-EC2A9E4D53B9}"/>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1674838D-48E0-8DE1-3470-F6313BD9EF42}"/>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41042C72-3452-4487-07B4-2F779D183B7A}"/>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9B27975F-ED8E-7821-1624-6DBB0A22D4AD}"/>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1BAC3977-40F8-C953-31EB-DF20FE4A6927}"/>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528753B2-A06C-5B8D-A84B-DC9AE35B8250}"/>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BFF47B65-6044-043B-32E0-F5CC0F9CFFC7}"/>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A5CB5158-712D-2421-747D-C72607AEEB0F}"/>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0D5DD0D5-2358-BAF8-84A2-92947AF995C8}"/>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1A704272-0E1D-C745-443A-E8A1368F0152}"/>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380E0BCA-102E-495F-A372-72E6FB535E1D}"/>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011DA493-0627-1B34-4C17-04C5B24FFBC4}"/>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D577AAA-EB37-F02B-CA21-3BC2DB849C4C}"/>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088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D026-E9FD-27CF-0A6D-257A40AE83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95D7BA6-7BF3-F1CC-D03E-2660D075F797}"/>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EB19D548-70AE-750E-E801-6C67FAC4470F}"/>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36B40F86-54A6-5966-8560-A66918FD8DA4}"/>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DA8A0A4D-7969-B9F8-4E02-78A5153C6FE0}"/>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C15B1045-5587-0D93-274E-956C36BDB69B}"/>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FF6479BF-3C7E-1A28-AB49-6E0748F854FD}"/>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7D4B92B0-AD86-6F2F-B0D9-820417AA722D}"/>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0D443902-558A-362E-D45A-82F2DD9B1CC7}"/>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3EF7553B-5DD9-853C-FCA2-010B567A4191}"/>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1B23B32C-521E-021C-6740-03B021BD5B76}"/>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EED105E-2282-C325-95C0-5298B98A75B1}"/>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50AF70FB-B546-5B9A-0B13-261E10A2DD64}"/>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52EAE388-2B35-7591-74CB-96C1FC60BD08}"/>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D75D3E8E-B3B8-6475-A94F-C5B11D949699}"/>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E80C36E-6098-AE70-412A-24A6745C1AB0}"/>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AD05E015-2055-0E3B-F1C4-CC3DCB41ED44}"/>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F7BC4770-E3D9-6039-3C75-2EB23CC25B08}"/>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48E827EA-940C-3A97-DCB2-03D80F0CE2C1}"/>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EC47882B-4219-CB1C-8EB0-274A7909985C}"/>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B101AB11-9A38-8D9F-74E1-B64157F7F970}"/>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321687C0-99AE-7DA2-6F2D-811DB0BB7F08}"/>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852EE951-895A-3F56-27D9-973E2B821F1C}"/>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14AA85-EFF9-967E-CE38-DC09DCE75061}"/>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6D21F547-3B96-19E3-17DE-828E2F966EEB}"/>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849AA458-BFA3-079B-5861-F1791F888E11}"/>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3A733D0-8492-3196-0E03-778033D98B14}"/>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A80E3E4E-A3D5-B1C0-7614-4149D81801AE}"/>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713C4E50-CADD-814E-5E69-32A4AC196555}"/>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9BE37E9-1D97-656D-4671-7CFB8029176E}"/>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80E6407D-71D5-6EE5-A301-E49F0C502A04}"/>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F1568701-5E1B-B68C-1A7B-8A3A54E93E8F}"/>
              </a:ext>
            </a:extLst>
          </p:cNvPr>
          <p:cNvSpPr/>
          <p:nvPr/>
        </p:nvSpPr>
        <p:spPr>
          <a:xfrm>
            <a:off x="7641956" y="4994823"/>
            <a:ext cx="1981794" cy="108301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C694E79C-8EE5-BD1C-EA20-12BB2B83386C}"/>
              </a:ext>
            </a:extLst>
          </p:cNvPr>
          <p:cNvSpPr>
            <a:spLocks noGrp="1"/>
          </p:cNvSpPr>
          <p:nvPr>
            <p:ph type="title"/>
          </p:nvPr>
        </p:nvSpPr>
        <p:spPr>
          <a:xfrm>
            <a:off x="838200" y="134217"/>
            <a:ext cx="10515600" cy="613930"/>
          </a:xfrm>
        </p:spPr>
        <p:txBody>
          <a:bodyPr>
            <a:normAutofit/>
          </a:bodyPr>
          <a:lstStyle/>
          <a:p>
            <a:pPr algn="ctr"/>
            <a:r>
              <a:rPr lang="en-US" dirty="0"/>
              <a:t>S8. Close the SRO OPM  -  Tech Mobile – at PPS</a:t>
            </a:r>
          </a:p>
        </p:txBody>
      </p:sp>
      <p:cxnSp>
        <p:nvCxnSpPr>
          <p:cNvPr id="60" name="Connector: Elbow 59">
            <a:extLst>
              <a:ext uri="{FF2B5EF4-FFF2-40B4-BE49-F238E27FC236}">
                <a16:creationId xmlns:a16="http://schemas.microsoft.com/office/drawing/2014/main" id="{02F7E1D5-E3D8-D207-4E89-F0D2F7436B6B}"/>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2EE047E-F94D-8D87-561F-72AE67211DEC}"/>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DBEBE9D2-FAEE-792D-CC71-FA1FED278DDC}"/>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B9FA1FFB-E6CD-B476-9017-14B81DDE0F29}"/>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2AE28D0F-1EFA-9CE7-DFD4-5AD7B686BBA3}"/>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EDFBA3D3-74EA-5C49-29B1-81B4BD2968C0}"/>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1AC96E04-8F44-D30A-8216-B5ED851F6E70}"/>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3F4DAD1B-4918-D81E-2BE1-222591B5F2A1}"/>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B40E6A45-DE72-1CBB-2217-D8F090B119CD}"/>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3CB6090C-1014-1AB4-8EFF-9B0BC1B86CFF}"/>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DB4BF53C-E9A9-153E-608D-6C1FC053F4F8}"/>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6B92C50D-2A42-A268-1462-429BF7903BA6}"/>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E4216612-54BE-62D8-5A4A-31B09709D074}"/>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DE26757B-F1A4-64EC-75CB-11B3E2C91B78}"/>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5B6AB393-CEC2-4B8D-6FB1-D2725372FA79}"/>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20CE4C97-5D4E-7D07-A801-4C3F9E8294CF}"/>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2FF466EE-1C83-581F-7939-E1799ACF01F2}"/>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5CF51488-A2BA-7120-0A82-251E94AEE4E8}"/>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F2C442D-F660-743A-4420-5C9745F9BC46}"/>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246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6E28-33C7-0153-020F-10468AAD2634}"/>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3B0ECEC5-0B58-FCFD-9655-40CE34A590B9}"/>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74EB1A6E-6490-404C-5ADF-F6E2E38BD6C9}"/>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F894ED25-9B4F-F697-C3A0-39E131E47172}"/>
              </a:ext>
            </a:extLst>
          </p:cNvPr>
          <p:cNvSpPr txBox="1"/>
          <p:nvPr/>
        </p:nvSpPr>
        <p:spPr>
          <a:xfrm>
            <a:off x="2566711" y="5088131"/>
            <a:ext cx="8782086" cy="1615827"/>
          </a:xfrm>
          <a:prstGeom prst="rect">
            <a:avLst/>
          </a:prstGeom>
          <a:noFill/>
        </p:spPr>
        <p:txBody>
          <a:bodyPr wrap="square" rtlCol="0">
            <a:spAutoFit/>
          </a:bodyPr>
          <a:lstStyle/>
          <a:p>
            <a:pPr algn="ctr"/>
            <a:r>
              <a:rPr lang="en-US" sz="1100" b="1" dirty="0"/>
              <a:t>While you have reached the end of a path it would be beneficial to follow an alternate path by selecting one of decision points from the Bread Crumb above however if you have traversed all the paths and would like to go to the end of this SOP do so by Clicking on S999, indicating you have completed this simulation for the Tech Mobile SOP </a:t>
            </a:r>
          </a:p>
          <a:p>
            <a:pPr algn="ctr"/>
            <a:endParaRPr lang="en-US" sz="1100" b="1" dirty="0"/>
          </a:p>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sp>
        <p:nvSpPr>
          <p:cNvPr id="6" name="TextBox 5">
            <a:extLst>
              <a:ext uri="{FF2B5EF4-FFF2-40B4-BE49-F238E27FC236}">
                <a16:creationId xmlns:a16="http://schemas.microsoft.com/office/drawing/2014/main" id="{588E7582-C0B0-9B98-E4F8-D1BEB67AAF9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26 01 12 1400</a:t>
            </a:r>
          </a:p>
        </p:txBody>
      </p:sp>
      <p:sp>
        <p:nvSpPr>
          <p:cNvPr id="3" name="- S998. You have come to the end of the path selected">
            <a:extLst>
              <a:ext uri="{FF2B5EF4-FFF2-40B4-BE49-F238E27FC236}">
                <a16:creationId xmlns:a16="http://schemas.microsoft.com/office/drawing/2014/main" id="{2DBDFBBB-6E22-F69C-5C49-944744BBDBA3}"/>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S998a. You have come to the end of the path selected in the – Tech Mobile Process</a:t>
            </a:r>
          </a:p>
        </p:txBody>
      </p:sp>
      <p:pic>
        <p:nvPicPr>
          <p:cNvPr id="8" name="Picture 7">
            <a:extLst>
              <a:ext uri="{FF2B5EF4-FFF2-40B4-BE49-F238E27FC236}">
                <a16:creationId xmlns:a16="http://schemas.microsoft.com/office/drawing/2014/main" id="{2F5429FE-35C9-396E-F7CB-8D46CAE9898D}"/>
              </a:ext>
            </a:extLst>
          </p:cNvPr>
          <p:cNvPicPr>
            <a:picLocks noChangeAspect="1"/>
          </p:cNvPicPr>
          <p:nvPr/>
        </p:nvPicPr>
        <p:blipFill>
          <a:blip r:embed="rId3"/>
          <a:stretch>
            <a:fillRect/>
          </a:stretch>
        </p:blipFill>
        <p:spPr>
          <a:xfrm>
            <a:off x="2127856" y="603835"/>
            <a:ext cx="8248951" cy="4041321"/>
          </a:xfrm>
          <a:prstGeom prst="rect">
            <a:avLst/>
          </a:prstGeom>
        </p:spPr>
      </p:pic>
    </p:spTree>
    <p:extLst>
      <p:ext uri="{BB962C8B-B14F-4D97-AF65-F5344CB8AC3E}">
        <p14:creationId xmlns:p14="http://schemas.microsoft.com/office/powerpoint/2010/main" val="1783746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6F31F-12B1-65A2-3C9C-7D652C4FBA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A2879A-1845-DDB1-0F71-64CB082622F1}"/>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D30639E8-EBD8-654C-252C-7DF1E9A32F06}"/>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5EE6EBCA-DE4E-BE3F-8971-70DC61222EFC}"/>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C2A6593F-CCE2-2786-A77C-BD3A11A811B3}"/>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F83F9758-BEE8-2BAF-5DA9-444CA84E25BE}"/>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D747916B-4E72-A590-B22B-C24BC6B9734D}"/>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8E9332CF-A642-9252-7B4F-BB8D4EEB89F5}"/>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29ECB8F4-2E1E-84E5-B9C4-70E6DBB9D25A}"/>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699CFB09-F623-AE74-F276-C981487030AA}"/>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382E095E-E8A5-37A8-CDAD-5881F0F19DFF}"/>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251A150-42FB-C23C-75A3-2F715C9E4DF9}"/>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DE0F701F-6AE2-0C3B-83FA-8C0DAAD801BD}"/>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902144F1-167F-E19B-7755-6D78569BDF8D}"/>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E8776146-183F-D1A9-3E6A-FB783A72AD2B}"/>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705C823-BC80-D7CE-4471-523AFFD64BE2}"/>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DE6749D2-6138-3718-EEBF-D177BF0AC16E}"/>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70D71DB6-B289-6842-F876-B02FDD781E19}"/>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B7BC12B8-033C-A0C7-1412-C948080634C6}"/>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F08C229B-4067-98C8-C944-E82B1701BD26}"/>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DCF8C179-9D6A-6352-E2E3-FAAB42E35E15}"/>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E8DFB64E-1815-380F-12C7-B977549E7107}"/>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F07E3CBC-AEB2-EEC7-4E09-5D7FD4AF6C11}"/>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C73F904-D6B5-DF0E-7A51-B62D5FABDA52}"/>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54FC3E88-D12D-820D-AC8E-3AB8919818D1}"/>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B7DFFE95-4893-B5ED-C547-6CC5D61204F0}"/>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214823E-CB75-2C3E-31FB-1FB6A736C7C6}"/>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F40089F6-AE77-1ED6-4CD6-D6912F3139FF}"/>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59C3B958-099A-D11C-494C-BA1D8F4DCD80}"/>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D4C4646-0150-7FBC-2E9F-E2F407D11DF4}"/>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59897363-AB09-744D-37B6-197416D87DC1}"/>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B25723DD-43D5-0EFA-86C3-9A8DD0A73CE5}"/>
              </a:ext>
            </a:extLst>
          </p:cNvPr>
          <p:cNvSpPr/>
          <p:nvPr/>
        </p:nvSpPr>
        <p:spPr>
          <a:xfrm>
            <a:off x="2991877" y="3819062"/>
            <a:ext cx="975238" cy="143874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FC1996E1-8CFC-E618-7080-897FFA9A64DA}"/>
              </a:ext>
            </a:extLst>
          </p:cNvPr>
          <p:cNvSpPr>
            <a:spLocks noGrp="1"/>
          </p:cNvSpPr>
          <p:nvPr>
            <p:ph type="title"/>
          </p:nvPr>
        </p:nvSpPr>
        <p:spPr>
          <a:xfrm>
            <a:off x="838200" y="134217"/>
            <a:ext cx="10515600" cy="613930"/>
          </a:xfrm>
        </p:spPr>
        <p:txBody>
          <a:bodyPr>
            <a:normAutofit fontScale="90000"/>
          </a:bodyPr>
          <a:lstStyle/>
          <a:p>
            <a:pPr algn="ctr"/>
            <a:r>
              <a:rPr lang="en-US" dirty="0"/>
              <a:t>D3a. Decision, Can the additional work be performed during this visit?</a:t>
            </a:r>
            <a:br>
              <a:rPr lang="en-US" dirty="0"/>
            </a:br>
            <a:r>
              <a:rPr lang="en-US" dirty="0"/>
              <a:t> -  Tech Mobile – at PPS</a:t>
            </a:r>
          </a:p>
        </p:txBody>
      </p:sp>
      <p:cxnSp>
        <p:nvCxnSpPr>
          <p:cNvPr id="60" name="Connector: Elbow 59">
            <a:extLst>
              <a:ext uri="{FF2B5EF4-FFF2-40B4-BE49-F238E27FC236}">
                <a16:creationId xmlns:a16="http://schemas.microsoft.com/office/drawing/2014/main" id="{65303FBD-2785-F140-2D61-64DD105BC84B}"/>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5D755AA-0EDE-1FE4-FEA6-40B8F0ACAC46}"/>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71746C2F-88A2-AE39-A80A-289E74B4DAF0}"/>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877A4885-D9E1-B2BC-F257-F571D99E08BD}"/>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9B2A56FD-6CA1-629F-D6C4-58533D6040C8}"/>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798D5AB9-0C89-CB6E-3927-C65D86CD0FE7}"/>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4648CAB8-274B-4C07-E66B-914AC15B8920}"/>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6195E544-768B-C4EF-BE63-349485E9B562}"/>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C56C984B-FA92-A357-F8BC-107DBA0986FC}"/>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1F6E4FBB-0D2E-3327-5770-3B242A8F97F2}"/>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4AE42D2A-1AF2-2408-8687-04DCA8EBBFCD}"/>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40396ED9-9C71-14BD-063D-0637539A7594}"/>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CD96859F-A250-EB4B-CFDC-1575811EA24F}"/>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96A04005-8F7B-0D0A-B059-EDB84620EAD7}"/>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25800987-8C39-F113-CDC9-5D31B48D0D89}"/>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8A44ABE4-3F35-F043-984D-DB1C3844D4D2}"/>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1D033093-014B-19D4-819D-E0359DFB8B3B}"/>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E9C7CF9B-C523-6733-27DA-550C2F992F26}"/>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B2C92CED-353D-6FE6-574E-3127E219B448}"/>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5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89683-45E7-A60D-8F0F-42D18F0D12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141CEF-02AB-67F8-D7FA-7C057EFF18C3}"/>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905DCA2D-A858-1CBE-608C-C97BAF6F302E}"/>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81858DDC-47C6-D7C4-FA48-F2EE69DCF6C9}"/>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2FBD808D-4353-3DA7-F535-F50F7E529204}"/>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AA7858C2-A1B5-52FF-44DC-5F4E1767ACE9}"/>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51E0EF23-6777-19CF-45BC-10548F0B3F3E}"/>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8DB392D4-59F9-4462-5EE6-5FDE4B2B6928}"/>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41FFAE29-18B8-3BA1-8F45-5EAC7E8B931A}"/>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CF57B770-F9CC-DA74-26E6-199437280DD2}"/>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603C9DAD-935F-0794-EF3C-A674A1E062BD}"/>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CC8CAC68-934A-44BE-906E-938529346533}"/>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6C51A5F7-1623-85FF-0AA2-25AC01E5F036}"/>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0D67795A-7A41-087E-955F-6748D82E76A8}"/>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D06F04C6-92D2-7256-44C6-EF25884AE75B}"/>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AD5F435-7AA2-3324-727E-3107EB386521}"/>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2A4A875D-90C8-ECFD-B307-280593B3150A}"/>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B77F1DBC-9CBA-4B86-EA44-9ADFB410FE49}"/>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C040A375-4A22-F88D-FB83-2FAAE80501F2}"/>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A64A6751-B1C9-ABBE-97AB-865B7B6C3D6C}"/>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02AC0016-16A0-71B6-C916-42DA7D391736}"/>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EBF7C45E-4BFB-5F34-4D34-BC8DFD670498}"/>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39F3B291-D018-7A93-C891-53CECE49E0FB}"/>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CD14AFA-788C-FF80-0433-3754C9B42E3F}"/>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38D8CFC1-EB06-E1C5-D2E8-2B7693CD89B7}"/>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1B8D5247-F263-86EA-EEB7-08EA73760D58}"/>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6E01363-101C-2442-A931-AA46FC3E7234}"/>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467C38B5-0BAC-857F-1481-F1FE9857D530}"/>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37044841-EAAE-E052-3A01-B3C3D017AC8F}"/>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31F271D-E61F-4757-3EA1-55BCB1C66D14}"/>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CA64F9A0-037E-1500-468C-2376942DE590}"/>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1EC4C5AF-3558-702D-35D4-8B5579226445}"/>
              </a:ext>
            </a:extLst>
          </p:cNvPr>
          <p:cNvSpPr/>
          <p:nvPr/>
        </p:nvSpPr>
        <p:spPr>
          <a:xfrm>
            <a:off x="3667430" y="4591477"/>
            <a:ext cx="975238" cy="110494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D3460592-368E-F9A0-6E21-94B9B2D8C41D}"/>
              </a:ext>
            </a:extLst>
          </p:cNvPr>
          <p:cNvSpPr>
            <a:spLocks noGrp="1"/>
          </p:cNvSpPr>
          <p:nvPr>
            <p:ph type="title"/>
          </p:nvPr>
        </p:nvSpPr>
        <p:spPr>
          <a:xfrm>
            <a:off x="838200" y="134217"/>
            <a:ext cx="10515600" cy="613930"/>
          </a:xfrm>
        </p:spPr>
        <p:txBody>
          <a:bodyPr>
            <a:normAutofit fontScale="90000"/>
          </a:bodyPr>
          <a:lstStyle/>
          <a:p>
            <a:pPr algn="ctr"/>
            <a:r>
              <a:rPr lang="en-US" dirty="0"/>
              <a:t>N3. No, the  Additional work can not be performed during this visit</a:t>
            </a:r>
            <a:br>
              <a:rPr lang="en-US" dirty="0"/>
            </a:br>
            <a:r>
              <a:rPr lang="en-US" dirty="0"/>
              <a:t> -  Tech Mobile – at PPS</a:t>
            </a:r>
          </a:p>
        </p:txBody>
      </p:sp>
      <p:cxnSp>
        <p:nvCxnSpPr>
          <p:cNvPr id="60" name="Connector: Elbow 59">
            <a:extLst>
              <a:ext uri="{FF2B5EF4-FFF2-40B4-BE49-F238E27FC236}">
                <a16:creationId xmlns:a16="http://schemas.microsoft.com/office/drawing/2014/main" id="{8A4EF440-4684-2A8F-C557-0A4467F2320F}"/>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C2CFC50-1725-68F0-B423-CFC419342A27}"/>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12A7C643-0D4A-F2A3-CBB6-C5EBFC4CA92F}"/>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6DCD44A9-7794-AD6E-00FF-C4EA3E8C7B0D}"/>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38F0FA0A-0DE3-4ED1-45B1-0213999BC30C}"/>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9804C176-C45F-6736-EB22-F7863AD7CEDC}"/>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00CE6B21-C563-F0AF-190E-F4BF3886CF7A}"/>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3E2E97E5-238E-1678-F2C9-0257FAE10161}"/>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EABA8429-03E3-6BC3-1661-5CD3D03458ED}"/>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026D6F15-F549-D1A5-213E-C54386DD354F}"/>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5F69199A-5CF9-AF03-5206-DBFFEFF3630D}"/>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8488C161-F4AF-277A-221B-B68B1A96615B}"/>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9662B69B-3F0B-0E32-B871-9E0C9D81D18C}"/>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C9140E21-F3A0-71D8-7821-09C1DCEC2228}"/>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76B17111-2265-14E9-E0CA-0C963D09F4DA}"/>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A9592F36-E526-0201-1B78-B4EF7C957DAA}"/>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38B133E6-5928-AD5A-8E66-4F737EB2D7F3}"/>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D76DB3BC-A69B-3E64-E374-5CEC01910E11}"/>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E582F288-BB95-CFCA-BAA9-5893DEB16C70}"/>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112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AD7E4-67FC-0303-791A-9E508FF8DE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62A9DB-2E34-0498-447A-DC5FE459E301}"/>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15B95C78-BF85-B3AD-EB40-D0DCD9AEC471}"/>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86E2ADFF-3405-935F-1D63-CF703C40C77A}"/>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71F8F708-31F5-2315-CDBA-79D52F9EB75A}"/>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EBFF29BB-85B7-DBF9-E2BB-EAE9166CF574}"/>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5CABF574-90FF-508F-B287-3433F32A8569}"/>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1628377B-5684-1238-58C8-9A9306CB78AD}"/>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305D45FC-0958-BB31-180E-BF29AD5CC511}"/>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A2E66101-0725-EA00-5535-0A48479FE772}"/>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67855513-A2E5-1ACE-817E-9F3B27A2F39A}"/>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2A483AEE-CE3B-7FF9-6DDD-9B50EF6479C2}"/>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63EDA0BA-39E6-1F12-5C8A-86FF96A112FA}"/>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E15E5DD5-5197-C90A-E6F0-9B294AEE6835}"/>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A6874EBD-A27C-891A-B361-2E9F95734A25}"/>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1BF7215-00AC-866F-C6B3-F5A78BD51681}"/>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DBFCA61C-6B53-23F5-F515-3E4C60A5A723}"/>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7D6044B0-8A1A-0D01-AA57-63CEA1E5F93A}"/>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2A264560-193C-85AE-7327-BBFFCF895D5B}"/>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9AAFAF7D-823B-0533-6858-7923BE21CEA5}"/>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90097FA7-EE48-D115-26D9-2DE95AE56BD0}"/>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E4C89E06-E642-E9F3-8393-19156D3C85AC}"/>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5277E1F9-013E-4FDF-2C0B-25561EB6D849}"/>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A7CA6A5-BB69-3097-C1CE-9043B33AFD06}"/>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15D9B385-B7BA-50F7-8A73-D95C23CECDB8}"/>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6ADBF987-1807-7CE6-C4EB-92F6BDBE6268}"/>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D65006A-3A95-0DD4-47F6-2F1EF0BC36A8}"/>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CBB49A3F-83D5-C4F5-4EB7-17C3A9FB5A0B}"/>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CF4C2B39-D130-09F6-94B6-95DB89461CC8}"/>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036D76-D8A1-ECA4-B299-E0BA2FDFBB62}"/>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DE70F4DE-8F14-E027-E39B-0D36407776F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F95769E6-D118-3DC0-8997-FEDA89FC6744}"/>
              </a:ext>
            </a:extLst>
          </p:cNvPr>
          <p:cNvSpPr/>
          <p:nvPr/>
        </p:nvSpPr>
        <p:spPr>
          <a:xfrm>
            <a:off x="4602376" y="4478089"/>
            <a:ext cx="2499192" cy="110494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409045FA-71B1-0BAE-3358-2502F23DB844}"/>
              </a:ext>
            </a:extLst>
          </p:cNvPr>
          <p:cNvSpPr>
            <a:spLocks noGrp="1"/>
          </p:cNvSpPr>
          <p:nvPr>
            <p:ph type="title"/>
          </p:nvPr>
        </p:nvSpPr>
        <p:spPr>
          <a:xfrm>
            <a:off x="838200" y="134217"/>
            <a:ext cx="10515600" cy="613930"/>
          </a:xfrm>
        </p:spPr>
        <p:txBody>
          <a:bodyPr>
            <a:normAutofit fontScale="90000"/>
          </a:bodyPr>
          <a:lstStyle/>
          <a:p>
            <a:pPr algn="ctr"/>
            <a:r>
              <a:rPr lang="en-US" dirty="0"/>
              <a:t>S7. Change the status of SRO Indicating “ Call Back” OPM</a:t>
            </a:r>
            <a:br>
              <a:rPr lang="en-US" dirty="0"/>
            </a:br>
            <a:r>
              <a:rPr lang="en-US" dirty="0"/>
              <a:t> -  Tech Mobile – at PPS</a:t>
            </a:r>
          </a:p>
        </p:txBody>
      </p:sp>
      <p:cxnSp>
        <p:nvCxnSpPr>
          <p:cNvPr id="60" name="Connector: Elbow 59">
            <a:extLst>
              <a:ext uri="{FF2B5EF4-FFF2-40B4-BE49-F238E27FC236}">
                <a16:creationId xmlns:a16="http://schemas.microsoft.com/office/drawing/2014/main" id="{48DD5EFA-6112-DAA0-D16D-670058DCF1B2}"/>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E2BF12E-68A3-49EC-4BBA-92E76A5A905D}"/>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520C2A3E-AA26-075F-3C7A-A7D3171EC798}"/>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CFB722FA-C21C-4B87-234A-9B61572BF19D}"/>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B45E3CEE-38D5-86D7-7566-9598AFB338B8}"/>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752CC1DC-C4FE-1A10-A16C-C1E7F938B3F2}"/>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6961A997-315D-4764-FFAC-378C883D40AF}"/>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9A9E6CB2-A4FE-7AA2-2F1A-E76699188E90}"/>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9D7C5CE5-A831-CBAC-4B95-510FDF32308B}"/>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1E46B936-5318-5C71-A189-0B916A4F88FD}"/>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09B66B23-3F11-2ACC-48FE-541C546091E6}"/>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BABC1D39-40D7-77ED-74CA-D4C6648FFB43}"/>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C51C6C99-C93D-2A1E-7F0F-F2C3A08FAF1B}"/>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383AD0E0-3B17-149E-8AF8-B37BE1C1C105}"/>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9D8D321E-7C09-E85A-E07D-359D6F780540}"/>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F57671D6-F042-B778-258F-4559BEAAC824}"/>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3814A699-6A9F-4D11-752D-816B807F9C5D}"/>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44FE9A12-7E56-7986-14AA-3636DF0B8458}"/>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1195BB93-18EA-B01B-C8FF-799A0ED543AC}"/>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9DF5BEC-D023-1616-F36B-933CBB8D589E}"/>
              </a:ext>
            </a:extLst>
          </p:cNvPr>
          <p:cNvSpPr txBox="1"/>
          <p:nvPr/>
        </p:nvSpPr>
        <p:spPr>
          <a:xfrm>
            <a:off x="3673929" y="6385229"/>
            <a:ext cx="3950120" cy="261610"/>
          </a:xfrm>
          <a:prstGeom prst="rect">
            <a:avLst/>
          </a:prstGeom>
          <a:noFill/>
        </p:spPr>
        <p:txBody>
          <a:bodyPr wrap="none" rtlCol="0">
            <a:spAutoFit/>
          </a:bodyPr>
          <a:lstStyle/>
          <a:p>
            <a:r>
              <a:rPr lang="en-US" sz="1100" dirty="0"/>
              <a:t>Note the steps S6 – S8 – to the end were shown in path for Yes Y3</a:t>
            </a:r>
          </a:p>
        </p:txBody>
      </p:sp>
    </p:spTree>
    <p:extLst>
      <p:ext uri="{BB962C8B-B14F-4D97-AF65-F5344CB8AC3E}">
        <p14:creationId xmlns:p14="http://schemas.microsoft.com/office/powerpoint/2010/main" val="1820902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B038D-F891-8BCD-B12D-38A1D69A7775}"/>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3A25E813-8387-579A-6360-9567AD3F7D6A}"/>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21E366C5-25B0-1F2C-5758-0A97FBEEE8FD}"/>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7BF619F6-2D40-D156-36F7-F811F2F957B4}"/>
              </a:ext>
            </a:extLst>
          </p:cNvPr>
          <p:cNvSpPr txBox="1"/>
          <p:nvPr/>
        </p:nvSpPr>
        <p:spPr>
          <a:xfrm>
            <a:off x="2566711" y="5088131"/>
            <a:ext cx="8782086" cy="1615827"/>
          </a:xfrm>
          <a:prstGeom prst="rect">
            <a:avLst/>
          </a:prstGeom>
          <a:noFill/>
        </p:spPr>
        <p:txBody>
          <a:bodyPr wrap="square" rtlCol="0">
            <a:spAutoFit/>
          </a:bodyPr>
          <a:lstStyle/>
          <a:p>
            <a:pPr algn="ctr"/>
            <a:r>
              <a:rPr lang="en-US" sz="1100" b="1" dirty="0"/>
              <a:t>While you have reached the end of a path it would be beneficial to follow an alternate path by selecting one of decision points from the Bread Crumb above however if you have traversed all the paths and would like to go to the end of this SOP do so by Clicking on S999, indicating you have completed this simulation for the Tech Mobile SOP </a:t>
            </a:r>
          </a:p>
          <a:p>
            <a:pPr algn="ctr"/>
            <a:endParaRPr lang="en-US" sz="1100" b="1" dirty="0"/>
          </a:p>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sp>
        <p:nvSpPr>
          <p:cNvPr id="6" name="TextBox 5">
            <a:extLst>
              <a:ext uri="{FF2B5EF4-FFF2-40B4-BE49-F238E27FC236}">
                <a16:creationId xmlns:a16="http://schemas.microsoft.com/office/drawing/2014/main" id="{85841D4B-99C2-990E-0C8B-4C4737DEA6E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26 01 12 1400</a:t>
            </a:r>
          </a:p>
        </p:txBody>
      </p:sp>
      <p:sp>
        <p:nvSpPr>
          <p:cNvPr id="3" name="- S998. You have come to the end of the path selected">
            <a:extLst>
              <a:ext uri="{FF2B5EF4-FFF2-40B4-BE49-F238E27FC236}">
                <a16:creationId xmlns:a16="http://schemas.microsoft.com/office/drawing/2014/main" id="{1E2F50B9-69A4-BCEE-C860-FEB66EBD6C14}"/>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S998b. You have come to the end of the path selected in the – Tech Mobile Process</a:t>
            </a:r>
          </a:p>
        </p:txBody>
      </p:sp>
      <p:pic>
        <p:nvPicPr>
          <p:cNvPr id="8" name="Picture 7">
            <a:extLst>
              <a:ext uri="{FF2B5EF4-FFF2-40B4-BE49-F238E27FC236}">
                <a16:creationId xmlns:a16="http://schemas.microsoft.com/office/drawing/2014/main" id="{80DAAFCB-0F13-70F1-EA35-B5BE058474EB}"/>
              </a:ext>
            </a:extLst>
          </p:cNvPr>
          <p:cNvPicPr>
            <a:picLocks noChangeAspect="1"/>
          </p:cNvPicPr>
          <p:nvPr/>
        </p:nvPicPr>
        <p:blipFill>
          <a:blip r:embed="rId3"/>
          <a:stretch>
            <a:fillRect/>
          </a:stretch>
        </p:blipFill>
        <p:spPr>
          <a:xfrm>
            <a:off x="2127856" y="603835"/>
            <a:ext cx="8248951" cy="4041321"/>
          </a:xfrm>
          <a:prstGeom prst="rect">
            <a:avLst/>
          </a:prstGeom>
        </p:spPr>
      </p:pic>
    </p:spTree>
    <p:extLst>
      <p:ext uri="{BB962C8B-B14F-4D97-AF65-F5344CB8AC3E}">
        <p14:creationId xmlns:p14="http://schemas.microsoft.com/office/powerpoint/2010/main" val="387101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DBC30-92FA-A2AF-D5CB-D75D2151DD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22AAE-5458-1C46-224B-3C04151C2FB3}"/>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51ADA527-024A-4D70-EC38-6F2AF56DA640}"/>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BC788474-A7F1-FD59-F99A-6178F8550871}"/>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47B0A3D9-1BA5-2D9E-8C91-399FE45DFBFE}"/>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9B3FFAC9-93D9-F921-F0F3-0A393662FFD0}"/>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46F9BFE1-7495-F9A7-73EB-5BBCBEA03CAE}"/>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A7704A9B-FEFF-3304-7FBB-069F67B098FE}"/>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AD0592A1-5D4D-CEBE-1910-70580064CB8B}"/>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0B5AE43C-C202-37F1-D79E-C7B96FAA4B8B}"/>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CBEBBEE1-FD4B-C91D-369D-732DC64C9E6F}"/>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BCB7F35C-2621-9964-4353-844D3ECA12CF}"/>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12C0C09-8F99-CA02-4501-583669A414B4}"/>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18EB0BF1-CE25-D3D5-87F4-3FD53AD18DCA}"/>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E9BE7150-424C-969E-87A2-AFA3529B1425}"/>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798F25-EA52-00B9-1669-CDAE279C0ED0}"/>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83BCE4FC-2268-A16E-7164-4BC05880D249}"/>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CE87D9A2-5449-4793-968E-B37BD1A54A1B}"/>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383581DE-D48B-B632-8BF1-5E46D522D610}"/>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988AB2F6-EC5A-C610-8EEB-9EAF1446E84F}"/>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6681CCA8-671B-F1F7-173B-58437642C182}"/>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518007FB-FBFF-5E9D-6C8C-99BAF3D7B101}"/>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8ADA813A-625D-9B64-1281-2EAE3F19BFF4}"/>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C1048D2-B5AE-1C80-6959-C06DA4FA6874}"/>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EC1CA517-DFB8-C611-9D0F-45C7EFBBB0E1}"/>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74DB931C-1685-056C-66FB-8EBCF122C278}"/>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87C7F76-2F5C-B992-A9DB-FF5BF876A028}"/>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22C63EE6-3769-9883-9DAF-85F66609E481}"/>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6D1E8F88-0F21-5F92-8437-A0FBB4D98515}"/>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3B7285-CE99-5B92-1B84-62D024CEDC99}"/>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E093D8A4-C956-9A43-B7EC-3F5B9C732A7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B1DBA064-7813-DE2E-AA41-5A891FFFFC31}"/>
              </a:ext>
            </a:extLst>
          </p:cNvPr>
          <p:cNvSpPr/>
          <p:nvPr/>
        </p:nvSpPr>
        <p:spPr>
          <a:xfrm>
            <a:off x="732793" y="3830942"/>
            <a:ext cx="1430766" cy="17540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C809855D-CECF-9C08-0005-5E866793B7C4}"/>
              </a:ext>
            </a:extLst>
          </p:cNvPr>
          <p:cNvSpPr>
            <a:spLocks noGrp="1"/>
          </p:cNvSpPr>
          <p:nvPr>
            <p:ph type="title"/>
          </p:nvPr>
        </p:nvSpPr>
        <p:spPr>
          <a:xfrm>
            <a:off x="838200" y="134217"/>
            <a:ext cx="10515600" cy="613930"/>
          </a:xfrm>
        </p:spPr>
        <p:txBody>
          <a:bodyPr/>
          <a:lstStyle/>
          <a:p>
            <a:pPr algn="ctr"/>
            <a:r>
              <a:rPr lang="en-US" dirty="0"/>
              <a:t>D2a. Decision is Additional work needed ?-  Tech Mobile – at PPS</a:t>
            </a:r>
          </a:p>
        </p:txBody>
      </p:sp>
      <p:cxnSp>
        <p:nvCxnSpPr>
          <p:cNvPr id="60" name="Connector: Elbow 59">
            <a:extLst>
              <a:ext uri="{FF2B5EF4-FFF2-40B4-BE49-F238E27FC236}">
                <a16:creationId xmlns:a16="http://schemas.microsoft.com/office/drawing/2014/main" id="{C7D2C04D-9FAC-36E8-EEE4-AE13E14879F9}"/>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64645DF-3AF3-BB58-187F-3B439986EB8D}"/>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D4C2D69F-F837-C95E-A570-DBBEAF9AB4DD}"/>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8D53997C-65F2-59FA-5B0E-6D0519DC326C}"/>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22EEADD6-36E7-68D2-32A9-C790ACF6E9F4}"/>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6D0759C6-1DD4-D1A8-9444-51274B0445E8}"/>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23CADCE4-00AA-B948-4272-773868559653}"/>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F7FCB682-199D-90E4-5ACD-5F8DD24A9943}"/>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58926D07-763D-6BF1-83B8-22BDB1F5526E}"/>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067DD59C-6DDC-C2E3-ABD4-E72B6D03C9E2}"/>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2D4572E7-DA3C-956D-3D2F-C401BDB2658C}"/>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2A9E1DC7-B45E-E0CD-7C2F-9DB972E08214}"/>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89AAA664-977B-726F-61C6-02551644F07C}"/>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10325CB8-03BC-2834-9066-C95D73C63F10}"/>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2F6AC71B-501D-EB86-0DAC-6984FA7C2D69}"/>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62F6B7B7-C910-9176-9FE9-7CAF63BE8FEB}"/>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8BEAAABF-989D-F9C0-F2A6-6F589E1FC6A7}"/>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347DD655-B61E-3DB7-643E-E27CAA8D32DB}"/>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1A5B46F3-C900-15C9-A892-CD6952A5A7E0}"/>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666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130B8-D6F5-F57B-0C91-6965805A9E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36DCAA-1C18-5EF6-C83F-1D00A009A68E}"/>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2C819FF4-A7CF-1B00-C6A5-D83912BC4134}"/>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E61ED126-E79E-2BC8-4CC4-D406B13496B2}"/>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3E2364A7-6ECF-01D0-BCA1-6AFE9B84128B}"/>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A7455242-BB7B-6713-6812-69C3C6AC6F68}"/>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7AFE724B-5D20-7BB3-02C4-21178BE4446F}"/>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03F6BB07-1F82-096B-847C-B40B9D8FE36F}"/>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D61A9623-5A41-5978-2C79-70D715F89762}"/>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B2302A0F-59E0-61D2-F53E-3721C80BB8C5}"/>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C173F3D3-95C9-8DE1-76A1-6FC8B4A83811}"/>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F450D45B-DA33-75FC-2D6A-D735628EACF3}"/>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48E49C22-3FC5-FF42-0178-6F60B81CF8C4}"/>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DD3025A8-7664-96BB-F12E-0A945006B60E}"/>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3A288AAD-C058-A5AC-8319-792C6F862441}"/>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B2B2012-D723-DB8D-5CF7-B3BFA6121CD7}"/>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51DA6937-AC7C-9634-35A6-1D859544382E}"/>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E1BCF81C-A93A-5D31-5DCD-E65B4817B8D1}"/>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B9B06096-CF81-6D98-712F-2BB606AAD944}"/>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7BFAF129-508C-33B3-E518-4AEF77FE6F36}"/>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9AA77959-879C-6CDB-D8FD-368488AC32CE}"/>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F186FBB6-46E7-CDA8-F252-6B5D025D7170}"/>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F8E01637-86F5-5DC6-1DC4-532CB0FC723D}"/>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21DA6AB-BD95-84AE-6F5D-9247311577AA}"/>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F33BDCF7-CBCA-D6AE-F6B8-37D4DFC05DDF}"/>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9F6C90FD-F630-CD51-B430-5D9CCD2E9423}"/>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D6275B3-DC98-5D17-E53D-E4FCB36375D6}"/>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6910862B-A82C-EBD3-EEB5-E15DDB03E52A}"/>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D06572B0-30EE-2D40-190E-15C029A963C3}"/>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B6C994C-70E9-497E-F753-1EF7E862AD58}"/>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118C827B-C32D-F27A-0654-AE46770F26FD}"/>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F03A948D-4DB8-5907-18C7-0A70A7D746B3}"/>
              </a:ext>
            </a:extLst>
          </p:cNvPr>
          <p:cNvSpPr/>
          <p:nvPr/>
        </p:nvSpPr>
        <p:spPr>
          <a:xfrm>
            <a:off x="2070831" y="5077090"/>
            <a:ext cx="975238" cy="99096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A2CA3E01-1EEF-4F81-483F-47EDAA5E1203}"/>
              </a:ext>
            </a:extLst>
          </p:cNvPr>
          <p:cNvSpPr>
            <a:spLocks noGrp="1"/>
          </p:cNvSpPr>
          <p:nvPr>
            <p:ph type="title"/>
          </p:nvPr>
        </p:nvSpPr>
        <p:spPr>
          <a:xfrm>
            <a:off x="838200" y="134217"/>
            <a:ext cx="10515600" cy="613930"/>
          </a:xfrm>
        </p:spPr>
        <p:txBody>
          <a:bodyPr/>
          <a:lstStyle/>
          <a:p>
            <a:pPr algn="ctr"/>
            <a:r>
              <a:rPr lang="en-US" dirty="0"/>
              <a:t>N2. No, Additional Work needs to be performed-  Tech Mobile – at PPS</a:t>
            </a:r>
          </a:p>
        </p:txBody>
      </p:sp>
      <p:cxnSp>
        <p:nvCxnSpPr>
          <p:cNvPr id="60" name="Connector: Elbow 59">
            <a:extLst>
              <a:ext uri="{FF2B5EF4-FFF2-40B4-BE49-F238E27FC236}">
                <a16:creationId xmlns:a16="http://schemas.microsoft.com/office/drawing/2014/main" id="{6C709C1B-1E9F-9584-C373-4557071B351E}"/>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C1DF56A6-E910-93FE-ED69-31DF61002A2D}"/>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FACE3236-5DA3-F525-2F91-CFB495417425}"/>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372F5D76-785F-CB23-19CB-68C8B68CEA01}"/>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0F8140A0-0993-3D41-E311-B869A02470AF}"/>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302A5CA9-8C30-6846-E7EF-E4F3038A9AC5}"/>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5D4A875C-A573-F177-0AC6-03AF1AD66199}"/>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020D805A-EE5A-75D0-8B4C-9A0CEE94C84D}"/>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1FD330AA-554D-04B6-5558-C4D21CB28045}"/>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9E72FA0F-B580-97DB-4097-D6D351F5118D}"/>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61D55A29-CCFB-9039-E282-06D10C4B63FD}"/>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5831745B-C9F3-9D5D-BE20-35D1F918B68D}"/>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43527AEC-87C8-1C66-18C2-84697B687474}"/>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BBD99929-5B3B-10FC-1DCD-3A3E8261FA3F}"/>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DDA2BD87-A258-7C17-D29D-BF536F3D1176}"/>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7E4FC938-36E8-A741-1D4C-9294ACBE61BD}"/>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7D5F3B7A-3F0A-FB3B-2DA7-5E7CAD5C6BB0}"/>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4CF6CDDB-5860-F7EB-6718-D0B6517F403E}"/>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F4229622-F0FD-B107-67FE-D029B5DA05DE}"/>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3E4F043-F622-E2F0-7731-D53D0256336F}"/>
              </a:ext>
            </a:extLst>
          </p:cNvPr>
          <p:cNvSpPr txBox="1"/>
          <p:nvPr/>
        </p:nvSpPr>
        <p:spPr>
          <a:xfrm>
            <a:off x="3841763" y="6188396"/>
            <a:ext cx="4823813" cy="430887"/>
          </a:xfrm>
          <a:prstGeom prst="rect">
            <a:avLst/>
          </a:prstGeom>
          <a:noFill/>
        </p:spPr>
        <p:txBody>
          <a:bodyPr wrap="square" rtlCol="0">
            <a:spAutoFit/>
          </a:bodyPr>
          <a:lstStyle/>
          <a:p>
            <a:r>
              <a:rPr lang="en-US" sz="1100" dirty="0"/>
              <a:t>Note the steps S6 – S8 – to the end were shown in path for Yes Y3 However should choose to follow it in this path the next slide provides the option</a:t>
            </a:r>
          </a:p>
        </p:txBody>
      </p:sp>
    </p:spTree>
    <p:extLst>
      <p:ext uri="{BB962C8B-B14F-4D97-AF65-F5344CB8AC3E}">
        <p14:creationId xmlns:p14="http://schemas.microsoft.com/office/powerpoint/2010/main" val="198020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567E2-7F84-F00D-3851-5AEE3982F504}"/>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476024CE-8FB7-55EC-1976-9D7BE4A88CA9}"/>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619B6901-47BF-41DB-027F-4791B615398D}"/>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D31BE0C7-9717-D02E-344D-2EB7D77DE320}"/>
              </a:ext>
            </a:extLst>
          </p:cNvPr>
          <p:cNvSpPr txBox="1"/>
          <p:nvPr/>
        </p:nvSpPr>
        <p:spPr>
          <a:xfrm>
            <a:off x="2566711" y="5088131"/>
            <a:ext cx="8782086" cy="1615827"/>
          </a:xfrm>
          <a:prstGeom prst="rect">
            <a:avLst/>
          </a:prstGeom>
          <a:noFill/>
        </p:spPr>
        <p:txBody>
          <a:bodyPr wrap="square" rtlCol="0">
            <a:spAutoFit/>
          </a:bodyPr>
          <a:lstStyle/>
          <a:p>
            <a:pPr algn="ctr"/>
            <a:r>
              <a:rPr lang="en-US" sz="1100" b="1" dirty="0"/>
              <a:t>While you have reached the end of a path it would be beneficial to follow an alternate path by selecting one of decision points from the Bread Crumb above however if you have traversed all the paths and would like to go to the end of this SOP do so by Clicking on S999, indicating you have completed this simulation for the Tech Mobile SOP </a:t>
            </a:r>
          </a:p>
          <a:p>
            <a:pPr algn="ctr"/>
            <a:endParaRPr lang="en-US" sz="1100" b="1" dirty="0"/>
          </a:p>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sp>
        <p:nvSpPr>
          <p:cNvPr id="6" name="TextBox 5">
            <a:extLst>
              <a:ext uri="{FF2B5EF4-FFF2-40B4-BE49-F238E27FC236}">
                <a16:creationId xmlns:a16="http://schemas.microsoft.com/office/drawing/2014/main" id="{E861834A-4041-97F7-D02A-C520CCA72A5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26 01 12 1400</a:t>
            </a:r>
          </a:p>
        </p:txBody>
      </p:sp>
      <p:sp>
        <p:nvSpPr>
          <p:cNvPr id="3" name="- S998. You have come to the end of the path selected">
            <a:extLst>
              <a:ext uri="{FF2B5EF4-FFF2-40B4-BE49-F238E27FC236}">
                <a16:creationId xmlns:a16="http://schemas.microsoft.com/office/drawing/2014/main" id="{FEFBD81E-33F3-134B-F497-A468EE8251F1}"/>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S998c. You have come to the end of the path selected in the – Tech Mobile Process</a:t>
            </a:r>
          </a:p>
        </p:txBody>
      </p:sp>
      <p:pic>
        <p:nvPicPr>
          <p:cNvPr id="8" name="Picture 7">
            <a:extLst>
              <a:ext uri="{FF2B5EF4-FFF2-40B4-BE49-F238E27FC236}">
                <a16:creationId xmlns:a16="http://schemas.microsoft.com/office/drawing/2014/main" id="{0DEB98E7-F90C-BA2B-8AF1-A515D9DFE680}"/>
              </a:ext>
            </a:extLst>
          </p:cNvPr>
          <p:cNvPicPr>
            <a:picLocks noChangeAspect="1"/>
          </p:cNvPicPr>
          <p:nvPr/>
        </p:nvPicPr>
        <p:blipFill>
          <a:blip r:embed="rId3"/>
          <a:stretch>
            <a:fillRect/>
          </a:stretch>
        </p:blipFill>
        <p:spPr>
          <a:xfrm>
            <a:off x="2127856" y="603835"/>
            <a:ext cx="8248951" cy="4041321"/>
          </a:xfrm>
          <a:prstGeom prst="rect">
            <a:avLst/>
          </a:prstGeom>
        </p:spPr>
      </p:pic>
    </p:spTree>
    <p:extLst>
      <p:ext uri="{BB962C8B-B14F-4D97-AF65-F5344CB8AC3E}">
        <p14:creationId xmlns:p14="http://schemas.microsoft.com/office/powerpoint/2010/main" val="2987068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30E9-3C27-48DD-C042-45F9A0A39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43A172-3458-DCD1-F7A3-675D0DA9141E}"/>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ED1465C5-9D96-F609-F4BA-841FDD071AE6}"/>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C5EFAC5A-7CE7-4384-E98C-47AB871C8062}"/>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A38B06A7-7A16-0EE3-7325-BD017799669A}"/>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E7526261-B48B-7C20-F196-041C2AAAC2D0}"/>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6751E718-F759-1B9D-1633-089E9D132AA6}"/>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2A60F64F-E769-18BB-D61F-68A0F275A6BB}"/>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94CB89BF-AB99-D1F6-858A-E0BE25198B9F}"/>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2BD66932-C0DA-203E-C40C-5181C690794E}"/>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409F633B-9A55-A32A-C9DD-F9F788BAB121}"/>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14854BC0-D6C0-9C5B-A141-FA706234989F}"/>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D3850EA-E511-FB75-1BFB-3BC5811B24BD}"/>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2EDE8F2B-5E94-596C-3D21-DF4B3AD76ED8}"/>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BF5B737C-7CDB-14C0-561F-5891E2DCBDC0}"/>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35D223C-1930-C46F-8A5A-A768BE35D005}"/>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FE03BFA0-C008-BF43-FA83-F1D427BE0D2E}"/>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40EDEEF6-8377-6A60-29FD-1E1A5F3AB500}"/>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9FBB5D79-2A99-9985-7987-0AD604CF60FF}"/>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26CEEC84-0EFA-C7BD-0C81-CAC5F6C084B2}"/>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F81968E2-D46B-FC74-FD2D-0472E91B680A}"/>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35DE9FCA-E806-80DD-B934-AA74B1E0FED3}"/>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FBB381FE-F4FE-A9DF-D7EC-5EA61718A472}"/>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A442950-F5EA-00C8-26A4-2F31AB98AC92}"/>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632E46B6-F065-31D2-A4B4-4F85998C4021}"/>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1FC0FCB5-AF28-0257-68B1-A871F2D5D65B}"/>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0FD97EC-1664-BC1E-6259-29DA767B4288}"/>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B2646C78-7A47-DEA1-4A94-BAF3094923A8}"/>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6B2436E8-5FE6-320E-12C9-CE71E3EB286B}"/>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00E3CE69-C2BF-EC6A-E92F-8114960A8A97}"/>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9F26E0B1-221D-61BF-16E3-6981A5547FEF}"/>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A8661C83-B297-1164-BE28-A06A119765C5}"/>
              </a:ext>
            </a:extLst>
          </p:cNvPr>
          <p:cNvSpPr/>
          <p:nvPr/>
        </p:nvSpPr>
        <p:spPr>
          <a:xfrm>
            <a:off x="5724029" y="1272702"/>
            <a:ext cx="1255794" cy="160647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7D10C7CC-F7CD-2579-56A7-CCB77FFBE4AC}"/>
              </a:ext>
            </a:extLst>
          </p:cNvPr>
          <p:cNvSpPr>
            <a:spLocks noGrp="1"/>
          </p:cNvSpPr>
          <p:nvPr>
            <p:ph type="title"/>
          </p:nvPr>
        </p:nvSpPr>
        <p:spPr>
          <a:xfrm>
            <a:off x="838200" y="134217"/>
            <a:ext cx="10515600" cy="613930"/>
          </a:xfrm>
        </p:spPr>
        <p:txBody>
          <a:bodyPr/>
          <a:lstStyle/>
          <a:p>
            <a:pPr algn="ctr"/>
            <a:r>
              <a:rPr lang="en-US" dirty="0"/>
              <a:t>D1a. A Decision, Is additional material needed ?-  Tech Mobile – at PPS</a:t>
            </a:r>
          </a:p>
        </p:txBody>
      </p:sp>
      <p:cxnSp>
        <p:nvCxnSpPr>
          <p:cNvPr id="60" name="Connector: Elbow 59">
            <a:extLst>
              <a:ext uri="{FF2B5EF4-FFF2-40B4-BE49-F238E27FC236}">
                <a16:creationId xmlns:a16="http://schemas.microsoft.com/office/drawing/2014/main" id="{23ED33D5-D395-2EEE-11B3-01932A2CA0E4}"/>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E23AFB5-CA56-BDB6-A989-76321DCB4151}"/>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326669F8-41CF-70E8-6F08-C3C60675EE3E}"/>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C7F92345-9B2A-694D-1542-225EF9206BA2}"/>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B21B455D-0AE1-2387-B569-5B0E567C789D}"/>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00D82B37-AC7C-EFB0-76AE-E2849914CA2E}"/>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EBDAB403-F504-8C94-131F-BC30E965D7A5}"/>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390EFCC3-1EDE-D4CA-33BC-063DDCD708A7}"/>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383F9973-3B42-377B-832C-C9599651514D}"/>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2BCD003E-0C58-B583-00CF-4D37B4303C39}"/>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7D2C9AED-E3DB-0CB8-6779-D9FDA94DB240}"/>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F4D55972-5B34-A634-FE8F-39C626392CCC}"/>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C8DEBD1E-CE25-6F43-8F1F-B9E2E9898DA3}"/>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AC84C966-A9BC-8FBB-E6ED-187CA3AFFDAA}"/>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D83D4486-A96E-5921-84CC-B22178D312F1}"/>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489AF1E9-B2EF-33B9-D258-218659C2010E}"/>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D9E2B245-B47E-C128-8C6A-3864396BE8D9}"/>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4FAF676D-6305-3CD1-1D04-C8DA5C40364E}"/>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6BEF9788-68BF-E7C5-7D1F-F6E585642CE9}"/>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104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D82F4-F660-F1CC-D246-48671F4721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FFA039-1845-7117-64EE-A61649565081}"/>
              </a:ext>
            </a:extLst>
          </p:cNvPr>
          <p:cNvSpPr txBox="1"/>
          <p:nvPr/>
        </p:nvSpPr>
        <p:spPr>
          <a:xfrm>
            <a:off x="143034" y="5923564"/>
            <a:ext cx="1015331" cy="461665"/>
          </a:xfrm>
          <a:prstGeom prst="rect">
            <a:avLst/>
          </a:prstGeom>
          <a:noFill/>
        </p:spPr>
        <p:txBody>
          <a:bodyPr wrap="square" rtlCol="0">
            <a:spAutoFit/>
          </a:bodyPr>
          <a:lstStyle/>
          <a:p>
            <a:r>
              <a:rPr lang="en-US" sz="800" dirty="0"/>
              <a:t>Draft Started 06 10 2025 </a:t>
            </a:r>
          </a:p>
          <a:p>
            <a:r>
              <a:rPr lang="en-US" sz="800" dirty="0"/>
              <a:t>by SR TS VM TD </a:t>
            </a:r>
          </a:p>
        </p:txBody>
      </p:sp>
      <p:sp>
        <p:nvSpPr>
          <p:cNvPr id="5" name="TextBox 4">
            <a:extLst>
              <a:ext uri="{FF2B5EF4-FFF2-40B4-BE49-F238E27FC236}">
                <a16:creationId xmlns:a16="http://schemas.microsoft.com/office/drawing/2014/main" id="{8623AC73-ECCB-368C-BABB-2330CFA2EE1D}"/>
              </a:ext>
            </a:extLst>
          </p:cNvPr>
          <p:cNvSpPr txBox="1"/>
          <p:nvPr/>
        </p:nvSpPr>
        <p:spPr>
          <a:xfrm>
            <a:off x="143034" y="6385229"/>
            <a:ext cx="994285" cy="338554"/>
          </a:xfrm>
          <a:prstGeom prst="rect">
            <a:avLst/>
          </a:prstGeom>
          <a:noFill/>
        </p:spPr>
        <p:txBody>
          <a:bodyPr wrap="square" rtlCol="0">
            <a:spAutoFit/>
          </a:bodyPr>
          <a:lstStyle/>
          <a:p>
            <a:r>
              <a:rPr lang="en-US" sz="800" dirty="0"/>
              <a:t>Last Updated SR Jan 12 2026</a:t>
            </a:r>
          </a:p>
        </p:txBody>
      </p:sp>
      <p:sp>
        <p:nvSpPr>
          <p:cNvPr id="6" name="Flowchart: Predefined Process 5">
            <a:extLst>
              <a:ext uri="{FF2B5EF4-FFF2-40B4-BE49-F238E27FC236}">
                <a16:creationId xmlns:a16="http://schemas.microsoft.com/office/drawing/2014/main" id="{D556501D-5E13-DCBA-B9FC-8C745A14D5B3}"/>
              </a:ext>
            </a:extLst>
          </p:cNvPr>
          <p:cNvSpPr/>
          <p:nvPr/>
        </p:nvSpPr>
        <p:spPr>
          <a:xfrm>
            <a:off x="2640014" y="1676134"/>
            <a:ext cx="1515804" cy="81017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S2. Travel to the appointment / site</a:t>
            </a:r>
          </a:p>
        </p:txBody>
      </p:sp>
      <p:sp>
        <p:nvSpPr>
          <p:cNvPr id="7" name="Flowchart: Predefined Process 6">
            <a:extLst>
              <a:ext uri="{FF2B5EF4-FFF2-40B4-BE49-F238E27FC236}">
                <a16:creationId xmlns:a16="http://schemas.microsoft.com/office/drawing/2014/main" id="{3ECD5506-0CE6-1FE6-30C5-95EE4E9E7E92}"/>
              </a:ext>
            </a:extLst>
          </p:cNvPr>
          <p:cNvSpPr/>
          <p:nvPr/>
        </p:nvSpPr>
        <p:spPr>
          <a:xfrm>
            <a:off x="4416652" y="1688521"/>
            <a:ext cx="1255069" cy="785401"/>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0" i="0" dirty="0">
                <a:solidFill>
                  <a:srgbClr val="000000"/>
                </a:solidFill>
                <a:effectLst/>
                <a:latin typeface="Times New Roman" panose="02020603050405020304" pitchFamily="18" charset="0"/>
              </a:rPr>
              <a:t>S3. Perform on site work</a:t>
            </a:r>
          </a:p>
        </p:txBody>
      </p:sp>
      <p:cxnSp>
        <p:nvCxnSpPr>
          <p:cNvPr id="8" name="Connector: Elbow 7">
            <a:extLst>
              <a:ext uri="{FF2B5EF4-FFF2-40B4-BE49-F238E27FC236}">
                <a16:creationId xmlns:a16="http://schemas.microsoft.com/office/drawing/2014/main" id="{D477CF20-B47C-A099-882A-7C5E66E640A1}"/>
              </a:ext>
            </a:extLst>
          </p:cNvPr>
          <p:cNvCxnSpPr>
            <a:cxnSpLocks/>
            <a:stCxn id="20" idx="0"/>
            <a:endCxn id="21" idx="1"/>
          </p:cNvCxnSpPr>
          <p:nvPr/>
        </p:nvCxnSpPr>
        <p:spPr>
          <a:xfrm rot="5400000" flipH="1" flipV="1">
            <a:off x="6567547" y="1474503"/>
            <a:ext cx="348970" cy="376957"/>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edefined Process 8">
            <a:extLst>
              <a:ext uri="{FF2B5EF4-FFF2-40B4-BE49-F238E27FC236}">
                <a16:creationId xmlns:a16="http://schemas.microsoft.com/office/drawing/2014/main" id="{317AFB07-AD2E-A7F3-C19F-0FA6F9054844}"/>
              </a:ext>
            </a:extLst>
          </p:cNvPr>
          <p:cNvSpPr/>
          <p:nvPr/>
        </p:nvSpPr>
        <p:spPr>
          <a:xfrm>
            <a:off x="7511141" y="1123359"/>
            <a:ext cx="1434837" cy="723460"/>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S4. Add additional material </a:t>
            </a:r>
            <a:endParaRPr lang="en-US" sz="1400" dirty="0">
              <a:solidFill>
                <a:srgbClr val="000000"/>
              </a:solidFill>
              <a:latin typeface="Calibri" panose="020F0502020204030204" pitchFamily="34" charset="0"/>
            </a:endParaRPr>
          </a:p>
        </p:txBody>
      </p:sp>
      <p:cxnSp>
        <p:nvCxnSpPr>
          <p:cNvPr id="10" name="Connector: Elbow 9">
            <a:extLst>
              <a:ext uri="{FF2B5EF4-FFF2-40B4-BE49-F238E27FC236}">
                <a16:creationId xmlns:a16="http://schemas.microsoft.com/office/drawing/2014/main" id="{F6B6E213-0E60-B38E-9114-43F66D98DB29}"/>
              </a:ext>
            </a:extLst>
          </p:cNvPr>
          <p:cNvCxnSpPr>
            <a:cxnSpLocks/>
            <a:stCxn id="20" idx="2"/>
            <a:endCxn id="22" idx="1"/>
          </p:cNvCxnSpPr>
          <p:nvPr/>
        </p:nvCxnSpPr>
        <p:spPr>
          <a:xfrm rot="16200000" flipH="1">
            <a:off x="6628731" y="2263736"/>
            <a:ext cx="226602" cy="376957"/>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Flowchart: Predefined Process 10">
            <a:extLst>
              <a:ext uri="{FF2B5EF4-FFF2-40B4-BE49-F238E27FC236}">
                <a16:creationId xmlns:a16="http://schemas.microsoft.com/office/drawing/2014/main" id="{1E2398BB-E366-23FB-CE9D-55015BEB160B}"/>
              </a:ext>
            </a:extLst>
          </p:cNvPr>
          <p:cNvSpPr/>
          <p:nvPr/>
        </p:nvSpPr>
        <p:spPr>
          <a:xfrm>
            <a:off x="7991215" y="4050447"/>
            <a:ext cx="1306754" cy="618867"/>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S6.Travel Leaving Site. </a:t>
            </a:r>
          </a:p>
        </p:txBody>
      </p:sp>
      <p:sp>
        <p:nvSpPr>
          <p:cNvPr id="12" name="Flowchart: Predefined Process 11">
            <a:extLst>
              <a:ext uri="{FF2B5EF4-FFF2-40B4-BE49-F238E27FC236}">
                <a16:creationId xmlns:a16="http://schemas.microsoft.com/office/drawing/2014/main" id="{C239F3C9-BBDE-C99E-BE5C-488E539F9E00}"/>
              </a:ext>
            </a:extLst>
          </p:cNvPr>
          <p:cNvSpPr/>
          <p:nvPr/>
        </p:nvSpPr>
        <p:spPr>
          <a:xfrm>
            <a:off x="7874725" y="5141064"/>
            <a:ext cx="1532130" cy="692873"/>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S8. Change the Status to closed </a:t>
            </a:r>
          </a:p>
        </p:txBody>
      </p:sp>
      <p:cxnSp>
        <p:nvCxnSpPr>
          <p:cNvPr id="13" name="Connector: Elbow 12">
            <a:extLst>
              <a:ext uri="{FF2B5EF4-FFF2-40B4-BE49-F238E27FC236}">
                <a16:creationId xmlns:a16="http://schemas.microsoft.com/office/drawing/2014/main" id="{321484AA-C0E4-5680-5379-3AE41FFBF417}"/>
              </a:ext>
            </a:extLst>
          </p:cNvPr>
          <p:cNvCxnSpPr>
            <a:cxnSpLocks/>
            <a:stCxn id="37" idx="6"/>
            <a:endCxn id="23" idx="1"/>
          </p:cNvCxnSpPr>
          <p:nvPr/>
        </p:nvCxnSpPr>
        <p:spPr>
          <a:xfrm flipH="1">
            <a:off x="1516309" y="2084458"/>
            <a:ext cx="7893504" cy="2813042"/>
          </a:xfrm>
          <a:prstGeom prst="bentConnector5">
            <a:avLst>
              <a:gd name="adj1" fmla="val -2896"/>
              <a:gd name="adj2" fmla="val 36111"/>
              <a:gd name="adj3" fmla="val 111584"/>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5896B3DC-8D8A-5036-D790-EB71206711BE}"/>
              </a:ext>
            </a:extLst>
          </p:cNvPr>
          <p:cNvCxnSpPr>
            <a:cxnSpLocks/>
            <a:stCxn id="9" idx="3"/>
            <a:endCxn id="37" idx="0"/>
          </p:cNvCxnSpPr>
          <p:nvPr/>
        </p:nvCxnSpPr>
        <p:spPr>
          <a:xfrm>
            <a:off x="8945978" y="1485089"/>
            <a:ext cx="371572" cy="509553"/>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7BD45F5-C1A1-B356-4F92-2A7C1D6E6600}"/>
              </a:ext>
            </a:extLst>
          </p:cNvPr>
          <p:cNvCxnSpPr>
            <a:cxnSpLocks/>
            <a:stCxn id="23" idx="2"/>
            <a:endCxn id="89" idx="1"/>
          </p:cNvCxnSpPr>
          <p:nvPr/>
        </p:nvCxnSpPr>
        <p:spPr>
          <a:xfrm rot="16200000" flipH="1">
            <a:off x="1700732" y="5263685"/>
            <a:ext cx="740199" cy="509276"/>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Predefined Process 15">
            <a:extLst>
              <a:ext uri="{FF2B5EF4-FFF2-40B4-BE49-F238E27FC236}">
                <a16:creationId xmlns:a16="http://schemas.microsoft.com/office/drawing/2014/main" id="{00B51260-A8BA-DD85-2875-4808F35CD182}"/>
              </a:ext>
            </a:extLst>
          </p:cNvPr>
          <p:cNvSpPr/>
          <p:nvPr/>
        </p:nvSpPr>
        <p:spPr>
          <a:xfrm>
            <a:off x="4981750" y="3679430"/>
            <a:ext cx="1574796" cy="38734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      S5. Create New SRO       </a:t>
            </a:r>
          </a:p>
        </p:txBody>
      </p:sp>
      <p:cxnSp>
        <p:nvCxnSpPr>
          <p:cNvPr id="17" name="Connector: Elbow 16">
            <a:extLst>
              <a:ext uri="{FF2B5EF4-FFF2-40B4-BE49-F238E27FC236}">
                <a16:creationId xmlns:a16="http://schemas.microsoft.com/office/drawing/2014/main" id="{41932BA3-D45B-F989-1CB0-1C8D1457DB03}"/>
              </a:ext>
            </a:extLst>
          </p:cNvPr>
          <p:cNvCxnSpPr>
            <a:cxnSpLocks/>
            <a:stCxn id="29" idx="0"/>
            <a:endCxn id="74" idx="1"/>
          </p:cNvCxnSpPr>
          <p:nvPr/>
        </p:nvCxnSpPr>
        <p:spPr>
          <a:xfrm rot="5400000" flipH="1" flipV="1">
            <a:off x="3738591" y="3720571"/>
            <a:ext cx="169296" cy="474360"/>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6E1BA9B-CE5C-7BB5-7900-5EB05B025772}"/>
              </a:ext>
            </a:extLst>
          </p:cNvPr>
          <p:cNvSpPr txBox="1"/>
          <p:nvPr/>
        </p:nvSpPr>
        <p:spPr>
          <a:xfrm>
            <a:off x="780483" y="3858099"/>
            <a:ext cx="1243059"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Q2.Additional Work Required Other Than That Shown in </a:t>
            </a:r>
          </a:p>
          <a:p>
            <a:r>
              <a:rPr lang="en-US" sz="1050" b="0" i="0" dirty="0">
                <a:solidFill>
                  <a:srgbClr val="000000"/>
                </a:solidFill>
                <a:effectLst/>
                <a:latin typeface="Times New Roman" panose="02020603050405020304" pitchFamily="18" charset="0"/>
              </a:rPr>
              <a:t>Original SRO? </a:t>
            </a:r>
          </a:p>
        </p:txBody>
      </p:sp>
      <p:sp>
        <p:nvSpPr>
          <p:cNvPr id="19" name="TextBox 18">
            <a:extLst>
              <a:ext uri="{FF2B5EF4-FFF2-40B4-BE49-F238E27FC236}">
                <a16:creationId xmlns:a16="http://schemas.microsoft.com/office/drawing/2014/main" id="{71D2FB01-9424-EF80-7672-8A316A4F6DB9}"/>
              </a:ext>
            </a:extLst>
          </p:cNvPr>
          <p:cNvSpPr txBox="1"/>
          <p:nvPr/>
        </p:nvSpPr>
        <p:spPr>
          <a:xfrm>
            <a:off x="5763984" y="1309038"/>
            <a:ext cx="825225" cy="707886"/>
          </a:xfrm>
          <a:prstGeom prst="rect">
            <a:avLst/>
          </a:prstGeom>
          <a:noFill/>
        </p:spPr>
        <p:txBody>
          <a:bodyPr wrap="square" rtlCol="0">
            <a:spAutoFit/>
          </a:bodyPr>
          <a:lstStyle/>
          <a:p>
            <a:r>
              <a:rPr lang="en-US" sz="1000" b="0" i="0" dirty="0">
                <a:solidFill>
                  <a:srgbClr val="000000"/>
                </a:solidFill>
                <a:effectLst/>
                <a:latin typeface="Times New Roman" panose="02020603050405020304" pitchFamily="18" charset="0"/>
              </a:rPr>
              <a:t>Q1. Additional Material </a:t>
            </a:r>
          </a:p>
          <a:p>
            <a:r>
              <a:rPr lang="en-US" sz="1000" b="0" i="0" dirty="0">
                <a:solidFill>
                  <a:srgbClr val="000000"/>
                </a:solidFill>
                <a:effectLst/>
                <a:latin typeface="Times New Roman" panose="02020603050405020304" pitchFamily="18" charset="0"/>
              </a:rPr>
              <a:t>Needed ? </a:t>
            </a:r>
          </a:p>
        </p:txBody>
      </p:sp>
      <p:sp>
        <p:nvSpPr>
          <p:cNvPr id="20" name="Flowchart: Decision 19">
            <a:extLst>
              <a:ext uri="{FF2B5EF4-FFF2-40B4-BE49-F238E27FC236}">
                <a16:creationId xmlns:a16="http://schemas.microsoft.com/office/drawing/2014/main" id="{C3EC9C8A-F9A2-D705-A5DE-2657D26DD2D4}"/>
              </a:ext>
            </a:extLst>
          </p:cNvPr>
          <p:cNvSpPr/>
          <p:nvPr/>
        </p:nvSpPr>
        <p:spPr>
          <a:xfrm>
            <a:off x="6253670" y="183746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D1</a:t>
            </a:r>
          </a:p>
        </p:txBody>
      </p:sp>
      <p:sp>
        <p:nvSpPr>
          <p:cNvPr id="21" name="Flowchart: Process 20">
            <a:extLst>
              <a:ext uri="{FF2B5EF4-FFF2-40B4-BE49-F238E27FC236}">
                <a16:creationId xmlns:a16="http://schemas.microsoft.com/office/drawing/2014/main" id="{ED2F0581-29A9-3D52-A799-C796CF2B0AAD}"/>
              </a:ext>
            </a:extLst>
          </p:cNvPr>
          <p:cNvSpPr/>
          <p:nvPr/>
        </p:nvSpPr>
        <p:spPr>
          <a:xfrm>
            <a:off x="6930511" y="1404818"/>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22" name="Flowchart: Process 21">
            <a:extLst>
              <a:ext uri="{FF2B5EF4-FFF2-40B4-BE49-F238E27FC236}">
                <a16:creationId xmlns:a16="http://schemas.microsoft.com/office/drawing/2014/main" id="{5C33F0B3-2727-3109-1E13-02FAE22520E2}"/>
              </a:ext>
            </a:extLst>
          </p:cNvPr>
          <p:cNvSpPr/>
          <p:nvPr/>
        </p:nvSpPr>
        <p:spPr>
          <a:xfrm>
            <a:off x="6930511" y="2495182"/>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23" name="Flowchart: Decision 22">
            <a:extLst>
              <a:ext uri="{FF2B5EF4-FFF2-40B4-BE49-F238E27FC236}">
                <a16:creationId xmlns:a16="http://schemas.microsoft.com/office/drawing/2014/main" id="{7C7521AE-16B6-7835-975E-4419844A806C}"/>
              </a:ext>
            </a:extLst>
          </p:cNvPr>
          <p:cNvSpPr/>
          <p:nvPr/>
        </p:nvSpPr>
        <p:spPr>
          <a:xfrm>
            <a:off x="1516309" y="4646776"/>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D2</a:t>
            </a:r>
          </a:p>
        </p:txBody>
      </p:sp>
      <p:sp>
        <p:nvSpPr>
          <p:cNvPr id="26" name="Rectangle 25">
            <a:extLst>
              <a:ext uri="{FF2B5EF4-FFF2-40B4-BE49-F238E27FC236}">
                <a16:creationId xmlns:a16="http://schemas.microsoft.com/office/drawing/2014/main" id="{C6F3AC53-A78C-AEC1-CA1D-3D9BD125FAA0}"/>
              </a:ext>
            </a:extLst>
          </p:cNvPr>
          <p:cNvSpPr/>
          <p:nvPr/>
        </p:nvSpPr>
        <p:spPr>
          <a:xfrm>
            <a:off x="906236" y="1676134"/>
            <a:ext cx="1377450" cy="81017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000000"/>
                </a:solidFill>
                <a:effectLst/>
                <a:latin typeface="Times New Roman" panose="02020603050405020304" pitchFamily="18" charset="0"/>
              </a:rPr>
              <a:t>S1.Appointment is Scheduled for Trouble Service</a:t>
            </a:r>
          </a:p>
        </p:txBody>
      </p:sp>
      <p:cxnSp>
        <p:nvCxnSpPr>
          <p:cNvPr id="27" name="Straight Arrow Connector 26">
            <a:extLst>
              <a:ext uri="{FF2B5EF4-FFF2-40B4-BE49-F238E27FC236}">
                <a16:creationId xmlns:a16="http://schemas.microsoft.com/office/drawing/2014/main" id="{04549B9E-EECD-58A5-3E39-66E7751519C6}"/>
              </a:ext>
            </a:extLst>
          </p:cNvPr>
          <p:cNvCxnSpPr>
            <a:cxnSpLocks/>
            <a:stCxn id="26" idx="3"/>
            <a:endCxn id="6" idx="1"/>
          </p:cNvCxnSpPr>
          <p:nvPr/>
        </p:nvCxnSpPr>
        <p:spPr>
          <a:xfrm>
            <a:off x="2283686" y="2081221"/>
            <a:ext cx="356328"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DDECE26-6222-E476-25E3-E37CDF79E250}"/>
              </a:ext>
            </a:extLst>
          </p:cNvPr>
          <p:cNvCxnSpPr>
            <a:cxnSpLocks/>
            <a:stCxn id="7" idx="3"/>
            <a:endCxn id="20" idx="1"/>
          </p:cNvCxnSpPr>
          <p:nvPr/>
        </p:nvCxnSpPr>
        <p:spPr>
          <a:xfrm>
            <a:off x="5671721" y="2081222"/>
            <a:ext cx="581949" cy="6968"/>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33A250C7-9A5E-0EB2-E32E-A1CD96C90137}"/>
              </a:ext>
            </a:extLst>
          </p:cNvPr>
          <p:cNvSpPr/>
          <p:nvPr/>
        </p:nvSpPr>
        <p:spPr>
          <a:xfrm>
            <a:off x="3286175" y="4042399"/>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D3</a:t>
            </a:r>
          </a:p>
        </p:txBody>
      </p:sp>
      <p:cxnSp>
        <p:nvCxnSpPr>
          <p:cNvPr id="32" name="Connector: Elbow 31">
            <a:extLst>
              <a:ext uri="{FF2B5EF4-FFF2-40B4-BE49-F238E27FC236}">
                <a16:creationId xmlns:a16="http://schemas.microsoft.com/office/drawing/2014/main" id="{AB2699B7-621C-EDA5-C1EB-BCA5E744D0F2}"/>
              </a:ext>
            </a:extLst>
          </p:cNvPr>
          <p:cNvCxnSpPr>
            <a:cxnSpLocks/>
            <a:stCxn id="23" idx="0"/>
            <a:endCxn id="88" idx="1"/>
          </p:cNvCxnSpPr>
          <p:nvPr/>
        </p:nvCxnSpPr>
        <p:spPr>
          <a:xfrm rot="5400000" flipH="1" flipV="1">
            <a:off x="1925101" y="4179506"/>
            <a:ext cx="358363" cy="576178"/>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2C669C6-1D1C-08C4-FE32-9AB6DAE3A847}"/>
              </a:ext>
            </a:extLst>
          </p:cNvPr>
          <p:cNvSpPr txBox="1"/>
          <p:nvPr/>
        </p:nvSpPr>
        <p:spPr>
          <a:xfrm>
            <a:off x="2759917" y="3297491"/>
            <a:ext cx="1269104" cy="900246"/>
          </a:xfrm>
          <a:prstGeom prst="rect">
            <a:avLst/>
          </a:prstGeom>
          <a:noFill/>
        </p:spPr>
        <p:txBody>
          <a:bodyPr wrap="square" rtlCol="0">
            <a:spAutoFit/>
          </a:bodyPr>
          <a:lstStyle/>
          <a:p>
            <a:r>
              <a:rPr lang="en-US" sz="1050" b="0" i="0" dirty="0">
                <a:solidFill>
                  <a:srgbClr val="000000"/>
                </a:solidFill>
                <a:effectLst/>
                <a:latin typeface="Times New Roman" panose="02020603050405020304" pitchFamily="18" charset="0"/>
              </a:rPr>
              <a:t>Q3. Can The Additional Work Be Completed </a:t>
            </a:r>
          </a:p>
          <a:p>
            <a:r>
              <a:rPr lang="en-US" sz="1050" b="0" i="0" dirty="0">
                <a:solidFill>
                  <a:srgbClr val="000000"/>
                </a:solidFill>
                <a:effectLst/>
                <a:latin typeface="Times New Roman" panose="02020603050405020304" pitchFamily="18" charset="0"/>
              </a:rPr>
              <a:t>At That </a:t>
            </a:r>
          </a:p>
          <a:p>
            <a:r>
              <a:rPr lang="en-US" sz="1050" b="0" i="0" dirty="0">
                <a:solidFill>
                  <a:srgbClr val="000000"/>
                </a:solidFill>
                <a:effectLst/>
                <a:latin typeface="Times New Roman" panose="02020603050405020304" pitchFamily="18" charset="0"/>
              </a:rPr>
              <a:t>Time ? </a:t>
            </a:r>
          </a:p>
        </p:txBody>
      </p:sp>
      <p:sp>
        <p:nvSpPr>
          <p:cNvPr id="34" name="Flowchart: Predefined Process 33">
            <a:extLst>
              <a:ext uri="{FF2B5EF4-FFF2-40B4-BE49-F238E27FC236}">
                <a16:creationId xmlns:a16="http://schemas.microsoft.com/office/drawing/2014/main" id="{4CDCF0F8-EADF-518C-1A43-D45B757DD2DD}"/>
              </a:ext>
            </a:extLst>
          </p:cNvPr>
          <p:cNvSpPr/>
          <p:nvPr/>
        </p:nvSpPr>
        <p:spPr>
          <a:xfrm>
            <a:off x="4751743" y="4599956"/>
            <a:ext cx="2138709" cy="634225"/>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Calibri" panose="020F0502020204030204"/>
              </a:rPr>
              <a:t>S7. Change Status to indicate </a:t>
            </a:r>
            <a:r>
              <a:rPr lang="en-US" sz="1400" b="1" dirty="0">
                <a:solidFill>
                  <a:prstClr val="black"/>
                </a:solidFill>
                <a:latin typeface="Calibri" panose="020F0502020204030204"/>
              </a:rPr>
              <a:t>Call Back service </a:t>
            </a:r>
          </a:p>
        </p:txBody>
      </p:sp>
      <p:cxnSp>
        <p:nvCxnSpPr>
          <p:cNvPr id="35" name="Connector: Elbow 34">
            <a:extLst>
              <a:ext uri="{FF2B5EF4-FFF2-40B4-BE49-F238E27FC236}">
                <a16:creationId xmlns:a16="http://schemas.microsoft.com/office/drawing/2014/main" id="{C9D09104-B521-366C-AF06-A22F0A9FAAFA}"/>
              </a:ext>
            </a:extLst>
          </p:cNvPr>
          <p:cNvCxnSpPr>
            <a:cxnSpLocks/>
            <a:stCxn id="29" idx="2"/>
            <a:endCxn id="75" idx="1"/>
          </p:cNvCxnSpPr>
          <p:nvPr/>
        </p:nvCxnSpPr>
        <p:spPr>
          <a:xfrm rot="16200000" flipH="1">
            <a:off x="3607996" y="4521910"/>
            <a:ext cx="370306" cy="41418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E34194D-ACAB-A9C4-723C-49DE63DE1B0D}"/>
              </a:ext>
            </a:extLst>
          </p:cNvPr>
          <p:cNvCxnSpPr>
            <a:cxnSpLocks/>
            <a:stCxn id="6" idx="3"/>
            <a:endCxn id="7" idx="1"/>
          </p:cNvCxnSpPr>
          <p:nvPr/>
        </p:nvCxnSpPr>
        <p:spPr>
          <a:xfrm>
            <a:off x="4155818" y="2081221"/>
            <a:ext cx="260834" cy="1"/>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37" name="Flowchart: Or 36">
            <a:extLst>
              <a:ext uri="{FF2B5EF4-FFF2-40B4-BE49-F238E27FC236}">
                <a16:creationId xmlns:a16="http://schemas.microsoft.com/office/drawing/2014/main" id="{1886743C-BA86-4465-2330-AB47708F0852}"/>
              </a:ext>
            </a:extLst>
          </p:cNvPr>
          <p:cNvSpPr/>
          <p:nvPr/>
        </p:nvSpPr>
        <p:spPr>
          <a:xfrm>
            <a:off x="9225287" y="1994642"/>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8" name="Rectangle 37">
            <a:extLst>
              <a:ext uri="{FF2B5EF4-FFF2-40B4-BE49-F238E27FC236}">
                <a16:creationId xmlns:a16="http://schemas.microsoft.com/office/drawing/2014/main" id="{8740DD0B-A0F8-D6BC-3920-D9F43170B22F}"/>
              </a:ext>
            </a:extLst>
          </p:cNvPr>
          <p:cNvSpPr/>
          <p:nvPr/>
        </p:nvSpPr>
        <p:spPr>
          <a:xfrm>
            <a:off x="6706846" y="1808969"/>
            <a:ext cx="950887" cy="98014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sp>
        <p:nvSpPr>
          <p:cNvPr id="2" name="-M1. Mst_Tech_M">
            <a:extLst>
              <a:ext uri="{FF2B5EF4-FFF2-40B4-BE49-F238E27FC236}">
                <a16:creationId xmlns:a16="http://schemas.microsoft.com/office/drawing/2014/main" id="{42CC0C1E-3385-AD94-B81B-93BA483ADADE}"/>
              </a:ext>
            </a:extLst>
          </p:cNvPr>
          <p:cNvSpPr>
            <a:spLocks noGrp="1"/>
          </p:cNvSpPr>
          <p:nvPr>
            <p:ph type="title"/>
          </p:nvPr>
        </p:nvSpPr>
        <p:spPr>
          <a:xfrm>
            <a:off x="838200" y="134217"/>
            <a:ext cx="10515600" cy="613930"/>
          </a:xfrm>
        </p:spPr>
        <p:txBody>
          <a:bodyPr/>
          <a:lstStyle/>
          <a:p>
            <a:pPr algn="ctr"/>
            <a:r>
              <a:rPr lang="en-US" dirty="0"/>
              <a:t>N1. No, Additional material is needed -  Tech Mobile – at PPS</a:t>
            </a:r>
          </a:p>
        </p:txBody>
      </p:sp>
      <p:cxnSp>
        <p:nvCxnSpPr>
          <p:cNvPr id="60" name="Connector: Elbow 59">
            <a:extLst>
              <a:ext uri="{FF2B5EF4-FFF2-40B4-BE49-F238E27FC236}">
                <a16:creationId xmlns:a16="http://schemas.microsoft.com/office/drawing/2014/main" id="{10C66C9E-03E0-FC59-8AA6-DC84D4072D2A}"/>
              </a:ext>
            </a:extLst>
          </p:cNvPr>
          <p:cNvCxnSpPr>
            <a:cxnSpLocks/>
            <a:stCxn id="22" idx="3"/>
            <a:endCxn id="37" idx="4"/>
          </p:cNvCxnSpPr>
          <p:nvPr/>
        </p:nvCxnSpPr>
        <p:spPr>
          <a:xfrm flipV="1">
            <a:off x="7284859" y="2174274"/>
            <a:ext cx="2032691" cy="391242"/>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83C353BC-0FCD-0301-A349-B317AEE74477}"/>
              </a:ext>
            </a:extLst>
          </p:cNvPr>
          <p:cNvCxnSpPr>
            <a:cxnSpLocks/>
            <a:stCxn id="21" idx="3"/>
            <a:endCxn id="9" idx="1"/>
          </p:cNvCxnSpPr>
          <p:nvPr/>
        </p:nvCxnSpPr>
        <p:spPr>
          <a:xfrm flipV="1">
            <a:off x="7272625" y="1485089"/>
            <a:ext cx="238516" cy="3407"/>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74" name="Flowchart: Process 73">
            <a:extLst>
              <a:ext uri="{FF2B5EF4-FFF2-40B4-BE49-F238E27FC236}">
                <a16:creationId xmlns:a16="http://schemas.microsoft.com/office/drawing/2014/main" id="{36087E09-E9D7-CDA3-4CAF-03C51F4C6B13}"/>
              </a:ext>
            </a:extLst>
          </p:cNvPr>
          <p:cNvSpPr/>
          <p:nvPr/>
        </p:nvSpPr>
        <p:spPr>
          <a:xfrm>
            <a:off x="4060419" y="378942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75" name="Flowchart: Process 74">
            <a:extLst>
              <a:ext uri="{FF2B5EF4-FFF2-40B4-BE49-F238E27FC236}">
                <a16:creationId xmlns:a16="http://schemas.microsoft.com/office/drawing/2014/main" id="{9C78EF74-EC0E-5C65-268A-211853A798A6}"/>
              </a:ext>
            </a:extLst>
          </p:cNvPr>
          <p:cNvSpPr/>
          <p:nvPr/>
        </p:nvSpPr>
        <p:spPr>
          <a:xfrm>
            <a:off x="4000239" y="484381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cxnSp>
        <p:nvCxnSpPr>
          <p:cNvPr id="77" name="Straight Arrow Connector 76">
            <a:extLst>
              <a:ext uri="{FF2B5EF4-FFF2-40B4-BE49-F238E27FC236}">
                <a16:creationId xmlns:a16="http://schemas.microsoft.com/office/drawing/2014/main" id="{D78F63DF-062E-64CA-DA45-DF447D633D89}"/>
              </a:ext>
            </a:extLst>
          </p:cNvPr>
          <p:cNvCxnSpPr>
            <a:cxnSpLocks/>
            <a:stCxn id="74" idx="3"/>
            <a:endCxn id="16" idx="1"/>
          </p:cNvCxnSpPr>
          <p:nvPr/>
        </p:nvCxnSpPr>
        <p:spPr>
          <a:xfrm>
            <a:off x="4402533" y="3873103"/>
            <a:ext cx="579217" cy="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41">
            <a:extLst>
              <a:ext uri="{FF2B5EF4-FFF2-40B4-BE49-F238E27FC236}">
                <a16:creationId xmlns:a16="http://schemas.microsoft.com/office/drawing/2014/main" id="{05C4C31D-23D8-2B8D-B4E0-3783AAF97D56}"/>
              </a:ext>
            </a:extLst>
          </p:cNvPr>
          <p:cNvCxnSpPr>
            <a:cxnSpLocks/>
            <a:stCxn id="75" idx="3"/>
            <a:endCxn id="34" idx="1"/>
          </p:cNvCxnSpPr>
          <p:nvPr/>
        </p:nvCxnSpPr>
        <p:spPr>
          <a:xfrm>
            <a:off x="4354587" y="4914153"/>
            <a:ext cx="397156" cy="2916"/>
          </a:xfrm>
          <a:prstGeom prst="straightConnector1">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Flowchart: Process 87">
            <a:extLst>
              <a:ext uri="{FF2B5EF4-FFF2-40B4-BE49-F238E27FC236}">
                <a16:creationId xmlns:a16="http://schemas.microsoft.com/office/drawing/2014/main" id="{56032FA7-FB30-2776-4679-858A1B4E960F}"/>
              </a:ext>
            </a:extLst>
          </p:cNvPr>
          <p:cNvSpPr/>
          <p:nvPr/>
        </p:nvSpPr>
        <p:spPr>
          <a:xfrm>
            <a:off x="2392371" y="4204735"/>
            <a:ext cx="342114" cy="167356"/>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89" name="Flowchart: Process 88">
            <a:extLst>
              <a:ext uri="{FF2B5EF4-FFF2-40B4-BE49-F238E27FC236}">
                <a16:creationId xmlns:a16="http://schemas.microsoft.com/office/drawing/2014/main" id="{846EC2C9-5443-FF61-6B97-4F955F27F458}"/>
              </a:ext>
            </a:extLst>
          </p:cNvPr>
          <p:cNvSpPr/>
          <p:nvPr/>
        </p:nvSpPr>
        <p:spPr>
          <a:xfrm>
            <a:off x="2325469" y="5818089"/>
            <a:ext cx="354348" cy="140667"/>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cxnSp>
        <p:nvCxnSpPr>
          <p:cNvPr id="90" name="Straight Arrow Connector 89">
            <a:extLst>
              <a:ext uri="{FF2B5EF4-FFF2-40B4-BE49-F238E27FC236}">
                <a16:creationId xmlns:a16="http://schemas.microsoft.com/office/drawing/2014/main" id="{FCEF0F42-5C65-B32B-AC5F-27E612BE7201}"/>
              </a:ext>
            </a:extLst>
          </p:cNvPr>
          <p:cNvCxnSpPr>
            <a:cxnSpLocks/>
            <a:stCxn id="88" idx="3"/>
            <a:endCxn id="29" idx="1"/>
          </p:cNvCxnSpPr>
          <p:nvPr/>
        </p:nvCxnSpPr>
        <p:spPr>
          <a:xfrm>
            <a:off x="2734485" y="4288413"/>
            <a:ext cx="551690" cy="4710"/>
          </a:xfrm>
          <a:prstGeom prst="straightConnector1">
            <a:avLst/>
          </a:prstGeom>
          <a:ln w="38100" cmpd="dbl">
            <a:tailEnd type="triangle"/>
          </a:ln>
        </p:spPr>
        <p:style>
          <a:lnRef idx="1">
            <a:schemeClr val="accent1"/>
          </a:lnRef>
          <a:fillRef idx="0">
            <a:schemeClr val="accent1"/>
          </a:fillRef>
          <a:effectRef idx="0">
            <a:schemeClr val="accent1"/>
          </a:effectRef>
          <a:fontRef idx="minor">
            <a:schemeClr val="tx1"/>
          </a:fontRef>
        </p:style>
      </p:cxnSp>
      <p:sp>
        <p:nvSpPr>
          <p:cNvPr id="97" name="Parlance">
            <a:extLst>
              <a:ext uri="{FF2B5EF4-FFF2-40B4-BE49-F238E27FC236}">
                <a16:creationId xmlns:a16="http://schemas.microsoft.com/office/drawing/2014/main" id="{5B4868CF-D536-6A58-A818-B2EB61488569}"/>
              </a:ext>
            </a:extLst>
          </p:cNvPr>
          <p:cNvSpPr txBox="1"/>
          <p:nvPr/>
        </p:nvSpPr>
        <p:spPr>
          <a:xfrm>
            <a:off x="4700756" y="869925"/>
            <a:ext cx="2810385" cy="246221"/>
          </a:xfrm>
          <a:prstGeom prst="rect">
            <a:avLst/>
          </a:prstGeom>
          <a:noFill/>
        </p:spPr>
        <p:txBody>
          <a:bodyPr wrap="none" rtlCol="0">
            <a:spAutoFit/>
          </a:bodyPr>
          <a:lstStyle/>
          <a:p>
            <a:r>
              <a:rPr lang="en-US" sz="1000" dirty="0">
                <a:solidFill>
                  <a:schemeClr val="bg1"/>
                </a:solidFill>
              </a:rPr>
              <a:t>This was produced during the CRP at Palco in 2024</a:t>
            </a:r>
          </a:p>
        </p:txBody>
      </p:sp>
      <p:cxnSp>
        <p:nvCxnSpPr>
          <p:cNvPr id="113" name="Straight Arrow Connector 112">
            <a:extLst>
              <a:ext uri="{FF2B5EF4-FFF2-40B4-BE49-F238E27FC236}">
                <a16:creationId xmlns:a16="http://schemas.microsoft.com/office/drawing/2014/main" id="{9EA577DF-D140-FC83-79EC-6FE5CBD3BDAF}"/>
              </a:ext>
            </a:extLst>
          </p:cNvPr>
          <p:cNvCxnSpPr>
            <a:cxnSpLocks/>
            <a:stCxn id="164" idx="6"/>
            <a:endCxn id="11" idx="1"/>
          </p:cNvCxnSpPr>
          <p:nvPr/>
        </p:nvCxnSpPr>
        <p:spPr>
          <a:xfrm>
            <a:off x="7450730" y="4359863"/>
            <a:ext cx="540485" cy="18"/>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15" name="Flowchart: Terminator 114">
            <a:extLst>
              <a:ext uri="{FF2B5EF4-FFF2-40B4-BE49-F238E27FC236}">
                <a16:creationId xmlns:a16="http://schemas.microsoft.com/office/drawing/2014/main" id="{8AB87D51-74AC-4C33-24BB-13C8A175EAFA}"/>
              </a:ext>
            </a:extLst>
          </p:cNvPr>
          <p:cNvSpPr/>
          <p:nvPr/>
        </p:nvSpPr>
        <p:spPr>
          <a:xfrm>
            <a:off x="9874129" y="5284956"/>
            <a:ext cx="1294616" cy="405087"/>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000000"/>
                </a:solidFill>
                <a:latin typeface="Times New Roman" panose="02020603050405020304" pitchFamily="18" charset="0"/>
              </a:rPr>
              <a:t>S999. via S998.</a:t>
            </a:r>
            <a:br>
              <a:rPr lang="en-US" sz="1100" dirty="0">
                <a:solidFill>
                  <a:srgbClr val="000000"/>
                </a:solidFill>
                <a:latin typeface="Times New Roman" panose="02020603050405020304" pitchFamily="18" charset="0"/>
              </a:rPr>
            </a:br>
            <a:r>
              <a:rPr lang="en-US" sz="1100" dirty="0">
                <a:solidFill>
                  <a:srgbClr val="000000"/>
                </a:solidFill>
                <a:latin typeface="Times New Roman" panose="02020603050405020304" pitchFamily="18" charset="0"/>
              </a:rPr>
              <a:t>END</a:t>
            </a:r>
          </a:p>
        </p:txBody>
      </p:sp>
      <p:sp>
        <p:nvSpPr>
          <p:cNvPr id="117" name="TextBox 116">
            <a:extLst>
              <a:ext uri="{FF2B5EF4-FFF2-40B4-BE49-F238E27FC236}">
                <a16:creationId xmlns:a16="http://schemas.microsoft.com/office/drawing/2014/main" id="{61931808-B517-87AC-8C9C-7C02C5F3389B}"/>
              </a:ext>
            </a:extLst>
          </p:cNvPr>
          <p:cNvSpPr txBox="1"/>
          <p:nvPr/>
        </p:nvSpPr>
        <p:spPr>
          <a:xfrm>
            <a:off x="1336146" y="6213005"/>
            <a:ext cx="1888747"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or separate SOP</a:t>
            </a:r>
          </a:p>
        </p:txBody>
      </p:sp>
      <p:cxnSp>
        <p:nvCxnSpPr>
          <p:cNvPr id="143" name="Connector: Elbow 142">
            <a:extLst>
              <a:ext uri="{FF2B5EF4-FFF2-40B4-BE49-F238E27FC236}">
                <a16:creationId xmlns:a16="http://schemas.microsoft.com/office/drawing/2014/main" id="{641A25CE-9692-F489-A21F-FB7FF3EA5632}"/>
              </a:ext>
            </a:extLst>
          </p:cNvPr>
          <p:cNvCxnSpPr>
            <a:cxnSpLocks/>
            <a:stCxn id="34" idx="3"/>
            <a:endCxn id="164" idx="4"/>
          </p:cNvCxnSpPr>
          <p:nvPr/>
        </p:nvCxnSpPr>
        <p:spPr>
          <a:xfrm flipV="1">
            <a:off x="6890452" y="4449679"/>
            <a:ext cx="468015" cy="467390"/>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4" name="Flowchart: Or 163">
            <a:extLst>
              <a:ext uri="{FF2B5EF4-FFF2-40B4-BE49-F238E27FC236}">
                <a16:creationId xmlns:a16="http://schemas.microsoft.com/office/drawing/2014/main" id="{2DAFD5CB-15BD-9E50-0F3A-30087B207C92}"/>
              </a:ext>
            </a:extLst>
          </p:cNvPr>
          <p:cNvSpPr/>
          <p:nvPr/>
        </p:nvSpPr>
        <p:spPr>
          <a:xfrm>
            <a:off x="7266204" y="4270047"/>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169" name="Connector: Elbow 168">
            <a:extLst>
              <a:ext uri="{FF2B5EF4-FFF2-40B4-BE49-F238E27FC236}">
                <a16:creationId xmlns:a16="http://schemas.microsoft.com/office/drawing/2014/main" id="{829B5A2B-8802-5B25-5148-9CAE99265D4D}"/>
              </a:ext>
            </a:extLst>
          </p:cNvPr>
          <p:cNvCxnSpPr>
            <a:cxnSpLocks/>
            <a:stCxn id="16" idx="3"/>
            <a:endCxn id="164" idx="0"/>
          </p:cNvCxnSpPr>
          <p:nvPr/>
        </p:nvCxnSpPr>
        <p:spPr>
          <a:xfrm>
            <a:off x="6556546" y="3873103"/>
            <a:ext cx="801921" cy="396944"/>
          </a:xfrm>
          <a:prstGeom prst="bentConnector2">
            <a:avLst/>
          </a:prstGeom>
          <a:ln w="38100" cmpd="dbl">
            <a:tailEnd type="triangle"/>
          </a:ln>
        </p:spPr>
        <p:style>
          <a:lnRef idx="1">
            <a:schemeClr val="accent1"/>
          </a:lnRef>
          <a:fillRef idx="0">
            <a:schemeClr val="accent1"/>
          </a:fillRef>
          <a:effectRef idx="0">
            <a:schemeClr val="accent1"/>
          </a:effectRef>
          <a:fontRef idx="minor">
            <a:schemeClr val="tx1"/>
          </a:fontRef>
        </p:style>
      </p:cxnSp>
      <p:cxnSp>
        <p:nvCxnSpPr>
          <p:cNvPr id="179" name="Connector: Elbow 178">
            <a:extLst>
              <a:ext uri="{FF2B5EF4-FFF2-40B4-BE49-F238E27FC236}">
                <a16:creationId xmlns:a16="http://schemas.microsoft.com/office/drawing/2014/main" id="{B7962540-5595-CA0D-8A00-124F71CAF5B2}"/>
              </a:ext>
            </a:extLst>
          </p:cNvPr>
          <p:cNvCxnSpPr>
            <a:cxnSpLocks/>
            <a:stCxn id="89" idx="3"/>
            <a:endCxn id="164" idx="4"/>
          </p:cNvCxnSpPr>
          <p:nvPr/>
        </p:nvCxnSpPr>
        <p:spPr>
          <a:xfrm flipV="1">
            <a:off x="2679817" y="4449679"/>
            <a:ext cx="4678650" cy="1438744"/>
          </a:xfrm>
          <a:prstGeom prst="bentConnector2">
            <a:avLst/>
          </a:prstGeom>
          <a:ln w="381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80C963C6-EBD7-8375-9CAE-0DCDFCF53C18}"/>
              </a:ext>
            </a:extLst>
          </p:cNvPr>
          <p:cNvCxnSpPr>
            <a:cxnSpLocks/>
            <a:stCxn id="11" idx="2"/>
            <a:endCxn id="12" idx="0"/>
          </p:cNvCxnSpPr>
          <p:nvPr/>
        </p:nvCxnSpPr>
        <p:spPr>
          <a:xfrm flipH="1">
            <a:off x="8640790" y="4669314"/>
            <a:ext cx="3802" cy="471750"/>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8073C070-89A6-217B-169E-5B6D6C4697A4}"/>
              </a:ext>
            </a:extLst>
          </p:cNvPr>
          <p:cNvCxnSpPr>
            <a:cxnSpLocks/>
            <a:stCxn id="12" idx="3"/>
            <a:endCxn id="115" idx="1"/>
          </p:cNvCxnSpPr>
          <p:nvPr/>
        </p:nvCxnSpPr>
        <p:spPr>
          <a:xfrm flipV="1">
            <a:off x="9406855" y="5487500"/>
            <a:ext cx="467274" cy="1"/>
          </a:xfrm>
          <a:prstGeom prst="straightConnector1">
            <a:avLst/>
          </a:prstGeom>
          <a:ln w="34925"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0AE998A-CB55-D7C3-3D8B-2BC40F9F0C72}"/>
              </a:ext>
            </a:extLst>
          </p:cNvPr>
          <p:cNvSpPr txBox="1"/>
          <p:nvPr/>
        </p:nvSpPr>
        <p:spPr>
          <a:xfrm>
            <a:off x="3841763" y="6188396"/>
            <a:ext cx="4823813" cy="430887"/>
          </a:xfrm>
          <a:prstGeom prst="rect">
            <a:avLst/>
          </a:prstGeom>
          <a:noFill/>
        </p:spPr>
        <p:txBody>
          <a:bodyPr wrap="square" rtlCol="0">
            <a:spAutoFit/>
          </a:bodyPr>
          <a:lstStyle/>
          <a:p>
            <a:r>
              <a:rPr lang="en-US" sz="1100" dirty="0"/>
              <a:t>Note the steps S4 – S8 – to the end were shown in path for Yes Y3 However should choose to follow it in this path the next slide provides the option</a:t>
            </a:r>
          </a:p>
        </p:txBody>
      </p:sp>
    </p:spTree>
    <p:extLst>
      <p:ext uri="{BB962C8B-B14F-4D97-AF65-F5344CB8AC3E}">
        <p14:creationId xmlns:p14="http://schemas.microsoft.com/office/powerpoint/2010/main" val="1069932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6719-165D-1D25-7B49-91DCB0AA7430}"/>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F59EA7F4-F814-7F98-F0A5-F0F9769CF921}"/>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66002620-702F-602F-55FE-FB8036875616}"/>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22" name="TextBox 21">
            <a:extLst>
              <a:ext uri="{FF2B5EF4-FFF2-40B4-BE49-F238E27FC236}">
                <a16:creationId xmlns:a16="http://schemas.microsoft.com/office/drawing/2014/main" id="{FE847696-4E14-3C69-03C9-8CEF01E61813}"/>
              </a:ext>
            </a:extLst>
          </p:cNvPr>
          <p:cNvSpPr txBox="1"/>
          <p:nvPr/>
        </p:nvSpPr>
        <p:spPr>
          <a:xfrm>
            <a:off x="2566711" y="5088131"/>
            <a:ext cx="8782086" cy="1615827"/>
          </a:xfrm>
          <a:prstGeom prst="rect">
            <a:avLst/>
          </a:prstGeom>
          <a:noFill/>
        </p:spPr>
        <p:txBody>
          <a:bodyPr wrap="square" rtlCol="0">
            <a:spAutoFit/>
          </a:bodyPr>
          <a:lstStyle/>
          <a:p>
            <a:pPr algn="ctr"/>
            <a:r>
              <a:rPr lang="en-US" sz="1100" b="1" dirty="0"/>
              <a:t>While you have reached the end of a path it would be beneficial to follow an alternate path by selecting one of decision points from the Bread Crumb above however if you have traversed all the paths and would like to go to the end of this SOP do so by Clicking on S999, indicating you have completed this simulation for the Tech Mobile SOP </a:t>
            </a:r>
          </a:p>
          <a:p>
            <a:pPr algn="ctr"/>
            <a:endParaRPr lang="en-US" sz="1100" b="1" dirty="0"/>
          </a:p>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br>
              <a:rPr lang="en-US" sz="1100" b="1" dirty="0"/>
            </a:br>
            <a:r>
              <a:rPr lang="en-US" sz="1100" b="1" dirty="0"/>
              <a:t>As one becomes more proficient in this system it behooves us to share that knowledge and help other so the Company can  achieve its destiny </a:t>
            </a:r>
          </a:p>
        </p:txBody>
      </p:sp>
      <p:sp>
        <p:nvSpPr>
          <p:cNvPr id="6" name="TextBox 5">
            <a:extLst>
              <a:ext uri="{FF2B5EF4-FFF2-40B4-BE49-F238E27FC236}">
                <a16:creationId xmlns:a16="http://schemas.microsoft.com/office/drawing/2014/main" id="{28C5458E-A590-AD19-BBC4-9691B606730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26 01 12 1400</a:t>
            </a:r>
          </a:p>
        </p:txBody>
      </p:sp>
      <p:sp>
        <p:nvSpPr>
          <p:cNvPr id="3" name="- S998. You have come to the end of the path selected">
            <a:extLst>
              <a:ext uri="{FF2B5EF4-FFF2-40B4-BE49-F238E27FC236}">
                <a16:creationId xmlns:a16="http://schemas.microsoft.com/office/drawing/2014/main" id="{1585B386-B677-C81D-50D5-F7F3F7CFE58D}"/>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S998d. You have come to the end of the path selected in the – Tech Mobile Process</a:t>
            </a:r>
          </a:p>
        </p:txBody>
      </p:sp>
      <p:pic>
        <p:nvPicPr>
          <p:cNvPr id="8" name="Picture 7">
            <a:extLst>
              <a:ext uri="{FF2B5EF4-FFF2-40B4-BE49-F238E27FC236}">
                <a16:creationId xmlns:a16="http://schemas.microsoft.com/office/drawing/2014/main" id="{D19FBF03-1401-939B-6041-BE6B1E721EBA}"/>
              </a:ext>
            </a:extLst>
          </p:cNvPr>
          <p:cNvPicPr>
            <a:picLocks noChangeAspect="1"/>
          </p:cNvPicPr>
          <p:nvPr/>
        </p:nvPicPr>
        <p:blipFill>
          <a:blip r:embed="rId3"/>
          <a:stretch>
            <a:fillRect/>
          </a:stretch>
        </p:blipFill>
        <p:spPr>
          <a:xfrm>
            <a:off x="2127856" y="603835"/>
            <a:ext cx="8248951" cy="4041321"/>
          </a:xfrm>
          <a:prstGeom prst="rect">
            <a:avLst/>
          </a:prstGeom>
        </p:spPr>
      </p:pic>
    </p:spTree>
    <p:extLst>
      <p:ext uri="{BB962C8B-B14F-4D97-AF65-F5344CB8AC3E}">
        <p14:creationId xmlns:p14="http://schemas.microsoft.com/office/powerpoint/2010/main" val="125407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62D53-A217-E9BA-F0C5-A41E384C0E58}"/>
              </a:ext>
            </a:extLst>
          </p:cNvPr>
          <p:cNvSpPr txBox="1"/>
          <p:nvPr/>
        </p:nvSpPr>
        <p:spPr>
          <a:xfrm>
            <a:off x="1471449" y="4020110"/>
            <a:ext cx="8050924" cy="2492990"/>
          </a:xfrm>
          <a:prstGeom prst="rect">
            <a:avLst/>
          </a:prstGeom>
          <a:noFill/>
        </p:spPr>
        <p:txBody>
          <a:bodyPr wrap="square" rtlCol="0">
            <a:spAutoFit/>
          </a:bodyPr>
          <a:lstStyle/>
          <a:p>
            <a:r>
              <a:rPr lang="en-US" sz="1200" b="1" dirty="0"/>
              <a:t>Thank you for completing this module on Generator Startup Procedure SOP .</a:t>
            </a:r>
            <a:r>
              <a:rPr lang="en-US" sz="1200" dirty="0"/>
              <a:t> The ERP Project Team and Training Group appreciate your time, attention, and commitment to learning our new systems and processes.</a:t>
            </a:r>
          </a:p>
          <a:p>
            <a:endParaRPr lang="en-US" sz="1200" dirty="0"/>
          </a:p>
          <a:p>
            <a:r>
              <a:rPr lang="en-US" sz="1200" dirty="0"/>
              <a:t>To be confident in your day-to-day work—and to avoid surprises at Go Live or when you move into a new role—please set aside time to </a:t>
            </a:r>
            <a:r>
              <a:rPr lang="en-US" sz="1200" b="1" dirty="0"/>
              <a:t>practice this SOP in the training environment</a:t>
            </a:r>
            <a:r>
              <a:rPr lang="en-US" sz="1200" dirty="0"/>
              <a:t>. Working through realistic examples several times will help you:</a:t>
            </a:r>
            <a:br>
              <a:rPr lang="en-US" sz="1200" dirty="0"/>
            </a:br>
            <a:r>
              <a:rPr lang="en-US" sz="1200" dirty="0"/>
              <a:t>• Follow the steps in the correct sequence</a:t>
            </a:r>
            <a:br>
              <a:rPr lang="en-US" sz="1200" dirty="0"/>
            </a:br>
            <a:r>
              <a:rPr lang="en-US" sz="1200" dirty="0"/>
              <a:t>• Understand what the key fields and options do</a:t>
            </a:r>
            <a:br>
              <a:rPr lang="en-US" sz="1200" dirty="0"/>
            </a:br>
            <a:r>
              <a:rPr lang="en-US" sz="1200" dirty="0"/>
              <a:t>• Reduce errors when you work in the live system</a:t>
            </a:r>
            <a:br>
              <a:rPr lang="en-US" sz="1200" dirty="0"/>
            </a:br>
            <a:r>
              <a:rPr lang="en-US" sz="1200" dirty="0"/>
              <a:t>• Handle real customer and business situations with confidence</a:t>
            </a:r>
          </a:p>
          <a:p>
            <a:endParaRPr lang="en-US" sz="1200" dirty="0"/>
          </a:p>
          <a:p>
            <a:r>
              <a:rPr lang="en-US" sz="1200" dirty="0"/>
              <a:t>The </a:t>
            </a:r>
            <a:r>
              <a:rPr lang="en-US" sz="1200" b="1" dirty="0"/>
              <a:t>training environment is the safest place to practice</a:t>
            </a:r>
            <a:r>
              <a:rPr lang="en-US" sz="1200" dirty="0"/>
              <a:t>, ask questions, and learn from missteps etc.—before they affect real orders, inventory, equipment, or customers. The more you use the training environment now, the smoother your work will be later in the live system.</a:t>
            </a:r>
          </a:p>
        </p:txBody>
      </p:sp>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3" name="-S999. You have successfully completed this SOP">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a:t>
            </a:r>
          </a:p>
        </p:txBody>
      </p:sp>
      <p:pic>
        <p:nvPicPr>
          <p:cNvPr id="4" name="Picture 3">
            <a:extLst>
              <a:ext uri="{FF2B5EF4-FFF2-40B4-BE49-F238E27FC236}">
                <a16:creationId xmlns:a16="http://schemas.microsoft.com/office/drawing/2014/main" id="{B5329733-3449-656A-5C1D-1F46E206803C}"/>
              </a:ext>
            </a:extLst>
          </p:cNvPr>
          <p:cNvPicPr>
            <a:picLocks noChangeAspect="1"/>
          </p:cNvPicPr>
          <p:nvPr/>
        </p:nvPicPr>
        <p:blipFill>
          <a:blip r:embed="rId3"/>
          <a:stretch>
            <a:fillRect/>
          </a:stretch>
        </p:blipFill>
        <p:spPr>
          <a:xfrm>
            <a:off x="2127856" y="603836"/>
            <a:ext cx="6754887" cy="3309350"/>
          </a:xfrm>
          <a:prstGeom prst="rect">
            <a:avLst/>
          </a:prstGeom>
        </p:spPr>
      </p:pic>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709</TotalTime>
  <Words>5495</Words>
  <Application>Microsoft Office PowerPoint</Application>
  <PresentationFormat>Widescreen</PresentationFormat>
  <Paragraphs>963</Paragraphs>
  <Slides>30</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Calibri</vt:lpstr>
      <vt:lpstr>Calibri Light</vt:lpstr>
      <vt:lpstr>Times New Roman</vt:lpstr>
      <vt:lpstr>Office Theme</vt:lpstr>
      <vt:lpstr>1_Office Theme</vt:lpstr>
      <vt:lpstr>PowerPoint Presentation</vt:lpstr>
      <vt:lpstr> S001. About Palco Power Systems and Scott Electric  and  a Welcome to Training</vt:lpstr>
      <vt:lpstr>PowerPoint Presentation</vt:lpstr>
      <vt:lpstr>PowerPoint Presentation</vt:lpstr>
      <vt:lpstr>M1. – Tech Mobile </vt:lpstr>
      <vt:lpstr>S1. Appoint Scheduled for Technician -  Tech Mobile – at PPS</vt:lpstr>
      <vt:lpstr>S2. Technician clocks in and travels to Site-  Tech Mobile – at PPS</vt:lpstr>
      <vt:lpstr>S3. Technician starts the on-site service -  Tech Mobile – at PPS</vt:lpstr>
      <vt:lpstr>D1. A Decision, Is additional material needed ?-  Tech Mobile – at PPS</vt:lpstr>
      <vt:lpstr>Y1. Yes, Additional material is needed -  Tech Mobile – at PPS</vt:lpstr>
      <vt:lpstr>S4. Additional material is added OPM -  Tech Mobile – at PPS</vt:lpstr>
      <vt:lpstr>D2. Decision is Additional work needed ?-  Tech Mobile – at PPS</vt:lpstr>
      <vt:lpstr>Y2. Yes, Additional Work needs to be performed-  Tech Mobile – at PPS</vt:lpstr>
      <vt:lpstr>D3. Decision, Can the additional work be performed during this visit?  -  Tech Mobile – at PPS</vt:lpstr>
      <vt:lpstr>Y3. Yes the Additional work can be performed during this visit  -  Tech Mobile – at PPS</vt:lpstr>
      <vt:lpstr>S5. Create a new SRO OPM  -  Tech Mobile – at PPS</vt:lpstr>
      <vt:lpstr>S6. Travel (from) Leaving Site OPM  -  Tech Mobile – at PPS</vt:lpstr>
      <vt:lpstr>S8. Close the SRO OPM  -  Tech Mobile – at PPS</vt:lpstr>
      <vt:lpstr>S998a. You have come to the end of the path selected in the – Tech Mobile Process</vt:lpstr>
      <vt:lpstr>D3a. Decision, Can the additional work be performed during this visit?  -  Tech Mobile – at PPS</vt:lpstr>
      <vt:lpstr>N3. No, the  Additional work can not be performed during this visit  -  Tech Mobile – at PPS</vt:lpstr>
      <vt:lpstr>S7. Change the status of SRO Indicating “ Call Back” OPM  -  Tech Mobile – at PPS</vt:lpstr>
      <vt:lpstr>S998b. You have come to the end of the path selected in the – Tech Mobile Process</vt:lpstr>
      <vt:lpstr>D2a. Decision is Additional work needed ?-  Tech Mobile – at PPS</vt:lpstr>
      <vt:lpstr>N2. No, Additional Work needs to be performed-  Tech Mobile – at PPS</vt:lpstr>
      <vt:lpstr>S998c. You have come to the end of the path selected in the – Tech Mobile Process</vt:lpstr>
      <vt:lpstr>D1a. A Decision, Is additional material needed ?-  Tech Mobile – at PPS</vt:lpstr>
      <vt:lpstr>N1. No, Additional material is needed -  Tech Mobile – at PPS</vt:lpstr>
      <vt:lpstr>S998d. You have come to the end of the path selected in the – Tech Mobile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21</cp:revision>
  <dcterms:created xsi:type="dcterms:W3CDTF">2025-06-03T13:31:39Z</dcterms:created>
  <dcterms:modified xsi:type="dcterms:W3CDTF">2026-01-12T19:50:43Z</dcterms:modified>
</cp:coreProperties>
</file>