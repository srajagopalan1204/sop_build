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3"/>
  </p:notesMasterIdLst>
  <p:sldIdLst>
    <p:sldId id="542" r:id="rId3"/>
    <p:sldId id="547" r:id="rId4"/>
    <p:sldId id="579" r:id="rId5"/>
    <p:sldId id="596" r:id="rId6"/>
    <p:sldId id="571" r:id="rId7"/>
    <p:sldId id="523" r:id="rId8"/>
    <p:sldId id="524" r:id="rId9"/>
    <p:sldId id="525" r:id="rId10"/>
    <p:sldId id="526" r:id="rId11"/>
    <p:sldId id="527" r:id="rId12"/>
    <p:sldId id="528" r:id="rId13"/>
    <p:sldId id="529" r:id="rId14"/>
    <p:sldId id="530" r:id="rId15"/>
    <p:sldId id="531" r:id="rId16"/>
    <p:sldId id="532" r:id="rId17"/>
    <p:sldId id="533" r:id="rId18"/>
    <p:sldId id="534" r:id="rId19"/>
    <p:sldId id="535" r:id="rId20"/>
    <p:sldId id="536" r:id="rId21"/>
    <p:sldId id="537" r:id="rId22"/>
    <p:sldId id="593" r:id="rId23"/>
    <p:sldId id="541" r:id="rId24"/>
    <p:sldId id="538" r:id="rId25"/>
    <p:sldId id="594" r:id="rId26"/>
    <p:sldId id="595" r:id="rId27"/>
    <p:sldId id="581" r:id="rId28"/>
    <p:sldId id="539" r:id="rId29"/>
    <p:sldId id="540" r:id="rId30"/>
    <p:sldId id="592" r:id="rId31"/>
    <p:sldId id="570"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644" autoAdjust="0"/>
    <p:restoredTop sz="94660"/>
  </p:normalViewPr>
  <p:slideViewPr>
    <p:cSldViewPr snapToGrid="0">
      <p:cViewPr varScale="1">
        <p:scale>
          <a:sx n="73" d="100"/>
          <a:sy n="73" d="100"/>
        </p:scale>
        <p:origin x="492"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F2812B-38D3-4B49-B99D-BAAF95AC82AF}" type="datetimeFigureOut">
              <a:rPr lang="en-US" smtClean="0"/>
              <a:t>12/29/2025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D03784-C198-49B1-BBEF-9EB2D7F83474}" type="slidenum">
              <a:rPr lang="en-US" smtClean="0"/>
              <a:t>‹#›</a:t>
            </a:fld>
            <a:endParaRPr lang="en-US"/>
          </a:p>
        </p:txBody>
      </p:sp>
    </p:spTree>
    <p:extLst>
      <p:ext uri="{BB962C8B-B14F-4D97-AF65-F5344CB8AC3E}">
        <p14:creationId xmlns:p14="http://schemas.microsoft.com/office/powerpoint/2010/main" val="37197245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r>
              <a:rPr lang="en-US" dirty="0"/>
              <a:t>.</a:t>
            </a:r>
          </a:p>
          <a:p>
            <a:endParaRPr lang="en-US" dirty="0"/>
          </a:p>
          <a:p>
            <a:endParaRPr lang="en-US" dirty="0"/>
          </a:p>
          <a:p>
            <a:endParaRPr lang="en-US" dirty="0"/>
          </a:p>
          <a:p>
            <a:r>
              <a:rPr lang="en-US" dirty="0"/>
              <a:t>This was updated by SR on 1122 11 23 2025 with input from TS VM and TD</a:t>
            </a:r>
          </a:p>
          <a:p>
            <a:endParaRPr lang="en-US" dirty="0"/>
          </a:p>
          <a:p>
            <a:r>
              <a:rPr lang="en-US" dirty="0"/>
              <a:t>OGN</a:t>
            </a:r>
          </a:p>
          <a:p>
            <a:endParaRPr lang="en-US" dirty="0"/>
          </a:p>
          <a:p>
            <a:endParaRPr lang="en-US" dirty="0"/>
          </a:p>
          <a:p>
            <a:endParaRPr lang="en-US" dirty="0"/>
          </a:p>
          <a:p>
            <a:endParaRPr lang="en-US" dirty="0"/>
          </a:p>
          <a:p>
            <a:r>
              <a:rPr lang="en-US" dirty="0"/>
              <a:t>OGN</a:t>
            </a:r>
          </a:p>
        </p:txBody>
      </p:sp>
      <p:sp>
        <p:nvSpPr>
          <p:cNvPr id="4" name="Slide Number Placeholder 3"/>
          <p:cNvSpPr>
            <a:spLocks noGrp="1"/>
          </p:cNvSpPr>
          <p:nvPr>
            <p:ph type="sldNum" sz="quarter" idx="5"/>
          </p:nvPr>
        </p:nvSpPr>
        <p:spPr/>
        <p:txBody>
          <a:bodyPr/>
          <a:lstStyle/>
          <a:p>
            <a:fld id="{5FD2EF15-161C-458A-BBAC-40A3953D9DA9}" type="slidenum">
              <a:rPr lang="en-US" smtClean="0"/>
              <a:t>3</a:t>
            </a:fld>
            <a:endParaRPr lang="en-US"/>
          </a:p>
        </p:txBody>
      </p:sp>
    </p:spTree>
    <p:extLst>
      <p:ext uri="{BB962C8B-B14F-4D97-AF65-F5344CB8AC3E}">
        <p14:creationId xmlns:p14="http://schemas.microsoft.com/office/powerpoint/2010/main" val="38740101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r>
              <a:rPr lang="en-US" dirty="0"/>
              <a:t>This is a static slide to introduce the user to the overall picture </a:t>
            </a:r>
          </a:p>
          <a:p>
            <a:r>
              <a:rPr lang="en-US" dirty="0"/>
              <a:t>OGN</a:t>
            </a:r>
          </a:p>
        </p:txBody>
      </p:sp>
      <p:sp>
        <p:nvSpPr>
          <p:cNvPr id="4" name="Slide Number Placeholder 3"/>
          <p:cNvSpPr>
            <a:spLocks noGrp="1"/>
          </p:cNvSpPr>
          <p:nvPr>
            <p:ph type="sldNum" sz="quarter" idx="5"/>
          </p:nvPr>
        </p:nvSpPr>
        <p:spPr/>
        <p:txBody>
          <a:bodyPr/>
          <a:lstStyle/>
          <a:p>
            <a:fld id="{5FD2EF15-161C-458A-BBAC-40A3953D9DA9}" type="slidenum">
              <a:rPr lang="en-US" smtClean="0"/>
              <a:t>4</a:t>
            </a:fld>
            <a:endParaRPr lang="en-US"/>
          </a:p>
        </p:txBody>
      </p:sp>
    </p:spTree>
    <p:extLst>
      <p:ext uri="{BB962C8B-B14F-4D97-AF65-F5344CB8AC3E}">
        <p14:creationId xmlns:p14="http://schemas.microsoft.com/office/powerpoint/2010/main" val="37509128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45930-401B-E1EF-94E9-27A210BF29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1E343-3315-5B46-0578-0866FFF1F2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DDB688-BAC7-8E4E-44E9-7529EA99B7CE}"/>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7BE92EF6-D14C-935B-399E-C7277EDF66EE}"/>
              </a:ext>
            </a:extLst>
          </p:cNvPr>
          <p:cNvSpPr>
            <a:spLocks noGrp="1"/>
          </p:cNvSpPr>
          <p:nvPr>
            <p:ph type="sldNum" sz="quarter" idx="5"/>
          </p:nvPr>
        </p:nvSpPr>
        <p:spPr/>
        <p:txBody>
          <a:bodyPr/>
          <a:lstStyle/>
          <a:p>
            <a:fld id="{5FD2EF15-161C-458A-BBAC-40A3953D9DA9}" type="slidenum">
              <a:rPr lang="en-US" smtClean="0"/>
              <a:t>5</a:t>
            </a:fld>
            <a:endParaRPr lang="en-US"/>
          </a:p>
        </p:txBody>
      </p:sp>
    </p:spTree>
    <p:extLst>
      <p:ext uri="{BB962C8B-B14F-4D97-AF65-F5344CB8AC3E}">
        <p14:creationId xmlns:p14="http://schemas.microsoft.com/office/powerpoint/2010/main" val="32775604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12F89-590A-EDD3-55BF-63E577C3D6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BA7499-E695-1EBB-1B33-6A6FD579AD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125D3-97DB-A0C9-896A-E4701F358911}"/>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Making of the master and creating the sub slides for the transition story took 1 hour on a Saturday </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OGN </a:t>
            </a:r>
          </a:p>
          <a:p>
            <a:endParaRPr lang="en-US" dirty="0"/>
          </a:p>
        </p:txBody>
      </p:sp>
      <p:sp>
        <p:nvSpPr>
          <p:cNvPr id="4" name="Slide Number Placeholder 3">
            <a:extLst>
              <a:ext uri="{FF2B5EF4-FFF2-40B4-BE49-F238E27FC236}">
                <a16:creationId xmlns:a16="http://schemas.microsoft.com/office/drawing/2014/main" id="{4B3E0833-D04A-FF54-9F2E-0B8A458F277B}"/>
              </a:ext>
            </a:extLst>
          </p:cNvPr>
          <p:cNvSpPr>
            <a:spLocks noGrp="1"/>
          </p:cNvSpPr>
          <p:nvPr>
            <p:ph type="sldNum" sz="quarter" idx="5"/>
          </p:nvPr>
        </p:nvSpPr>
        <p:spPr/>
        <p:txBody>
          <a:bodyPr/>
          <a:lstStyle/>
          <a:p>
            <a:fld id="{73D03784-C198-49B1-BBEF-9EB2D7F83474}" type="slidenum">
              <a:rPr lang="en-US" smtClean="0"/>
              <a:t>21</a:t>
            </a:fld>
            <a:endParaRPr lang="en-US" dirty="0"/>
          </a:p>
        </p:txBody>
      </p:sp>
    </p:spTree>
    <p:extLst>
      <p:ext uri="{BB962C8B-B14F-4D97-AF65-F5344CB8AC3E}">
        <p14:creationId xmlns:p14="http://schemas.microsoft.com/office/powerpoint/2010/main" val="6043662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F8A1E-1973-65EB-7EDB-C9F0B59CE4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A99C56-542D-9D7F-C5B9-7BAD8E84C2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73D746-8259-0E9C-014A-0ABC63E7CC22}"/>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Making of the master and creating the sub slides for the transition story took 1 hour on a Saturday </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OGN </a:t>
            </a:r>
          </a:p>
          <a:p>
            <a:endParaRPr lang="en-US" dirty="0"/>
          </a:p>
        </p:txBody>
      </p:sp>
      <p:sp>
        <p:nvSpPr>
          <p:cNvPr id="4" name="Slide Number Placeholder 3">
            <a:extLst>
              <a:ext uri="{FF2B5EF4-FFF2-40B4-BE49-F238E27FC236}">
                <a16:creationId xmlns:a16="http://schemas.microsoft.com/office/drawing/2014/main" id="{D69C15BA-7E69-6672-5B8A-DA5DC87934CF}"/>
              </a:ext>
            </a:extLst>
          </p:cNvPr>
          <p:cNvSpPr>
            <a:spLocks noGrp="1"/>
          </p:cNvSpPr>
          <p:nvPr>
            <p:ph type="sldNum" sz="quarter" idx="5"/>
          </p:nvPr>
        </p:nvSpPr>
        <p:spPr/>
        <p:txBody>
          <a:bodyPr/>
          <a:lstStyle/>
          <a:p>
            <a:fld id="{73D03784-C198-49B1-BBEF-9EB2D7F83474}" type="slidenum">
              <a:rPr lang="en-US" smtClean="0"/>
              <a:t>25</a:t>
            </a:fld>
            <a:endParaRPr lang="en-US" dirty="0"/>
          </a:p>
        </p:txBody>
      </p:sp>
    </p:spTree>
    <p:extLst>
      <p:ext uri="{BB962C8B-B14F-4D97-AF65-F5344CB8AC3E}">
        <p14:creationId xmlns:p14="http://schemas.microsoft.com/office/powerpoint/2010/main" val="11554787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3609D-F8CB-F38A-4937-D245A06EEF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0D84F4-2987-3476-89AC-3D5E9613B3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A9C708-D2D0-F239-6510-C233F0BE8BA7}"/>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Making of the master and creating the sub slides for the transition story took 1 hour on a Saturday </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OGN </a:t>
            </a:r>
          </a:p>
          <a:p>
            <a:endParaRPr lang="en-US" dirty="0"/>
          </a:p>
        </p:txBody>
      </p:sp>
      <p:sp>
        <p:nvSpPr>
          <p:cNvPr id="4" name="Slide Number Placeholder 3">
            <a:extLst>
              <a:ext uri="{FF2B5EF4-FFF2-40B4-BE49-F238E27FC236}">
                <a16:creationId xmlns:a16="http://schemas.microsoft.com/office/drawing/2014/main" id="{396CDF9B-70E3-F620-4BF1-3E6157A85F64}"/>
              </a:ext>
            </a:extLst>
          </p:cNvPr>
          <p:cNvSpPr>
            <a:spLocks noGrp="1"/>
          </p:cNvSpPr>
          <p:nvPr>
            <p:ph type="sldNum" sz="quarter" idx="5"/>
          </p:nvPr>
        </p:nvSpPr>
        <p:spPr/>
        <p:txBody>
          <a:bodyPr/>
          <a:lstStyle/>
          <a:p>
            <a:fld id="{73D03784-C198-49B1-BBEF-9EB2D7F83474}" type="slidenum">
              <a:rPr lang="en-US" smtClean="0"/>
              <a:t>29</a:t>
            </a:fld>
            <a:endParaRPr lang="en-US" dirty="0"/>
          </a:p>
        </p:txBody>
      </p:sp>
    </p:spTree>
    <p:extLst>
      <p:ext uri="{BB962C8B-B14F-4D97-AF65-F5344CB8AC3E}">
        <p14:creationId xmlns:p14="http://schemas.microsoft.com/office/powerpoint/2010/main" val="365425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0050F-28DA-C678-4764-2C11B3297C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2BDCEC-34F9-92EA-BE71-517C7A955D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97749A-1B1D-9A1C-3500-1CECDACEBBDC}"/>
              </a:ext>
            </a:extLst>
          </p:cNvPr>
          <p:cNvSpPr>
            <a:spLocks noGrp="1"/>
          </p:cNvSpPr>
          <p:nvPr>
            <p:ph type="body" idx="1"/>
          </p:nvPr>
        </p:nvSpPr>
        <p:spPr/>
        <p:txBody>
          <a:bodyPr/>
          <a:lstStyle/>
          <a:p>
            <a:r>
              <a:rPr lang="en-US" dirty="0"/>
              <a:t>.</a:t>
            </a:r>
          </a:p>
          <a:p>
            <a:endParaRPr lang="en-US" dirty="0"/>
          </a:p>
          <a:p>
            <a:endParaRPr lang="en-US" dirty="0"/>
          </a:p>
          <a:p>
            <a:endParaRPr lang="en-US" dirty="0"/>
          </a:p>
          <a:p>
            <a:r>
              <a:rPr lang="en-US" sz="1200" dirty="0"/>
              <a:t>Current thoughts as on 02 13 2025 are</a:t>
            </a:r>
          </a:p>
          <a:p>
            <a:pPr marL="228600" indent="-228600">
              <a:buFont typeface="+mj-lt"/>
              <a:buAutoNum type="arabicPeriod"/>
            </a:pPr>
            <a:r>
              <a:rPr lang="en-US" sz="1200" dirty="0"/>
              <a:t> that all orders are entered as quotes this way the stock availability can be determined and the sourcing function used when needed (need to see how demand is being booked) triggered by a review of fulfillment order and forms</a:t>
            </a:r>
          </a:p>
          <a:p>
            <a:pPr marL="228600" indent="-228600">
              <a:buFont typeface="+mj-lt"/>
              <a:buAutoNum type="arabicPeriod"/>
            </a:pPr>
            <a:endParaRPr lang="en-US" sz="1200" dirty="0"/>
          </a:p>
          <a:p>
            <a:r>
              <a:rPr lang="en-US" sz="1200" dirty="0"/>
              <a:t>Current thoughts as on 02 13 2025 are</a:t>
            </a:r>
          </a:p>
          <a:p>
            <a:pPr marL="228600" indent="-228600">
              <a:buFont typeface="+mj-lt"/>
              <a:buAutoNum type="arabicPeriod"/>
            </a:pPr>
            <a:r>
              <a:rPr lang="en-US" sz="1200" dirty="0"/>
              <a:t>List various Sales order scenarios </a:t>
            </a:r>
          </a:p>
          <a:p>
            <a:pPr marL="228600" indent="-228600">
              <a:buFont typeface="+mj-lt"/>
              <a:buAutoNum type="arabicPeriod"/>
            </a:pPr>
            <a:r>
              <a:rPr lang="en-US" sz="1200" dirty="0"/>
              <a:t>Stock orders</a:t>
            </a:r>
          </a:p>
          <a:p>
            <a:pPr marL="228600" indent="-228600">
              <a:buFont typeface="+mj-lt"/>
              <a:buAutoNum type="arabicPeriod"/>
            </a:pPr>
            <a:r>
              <a:rPr lang="en-US" sz="1200" dirty="0"/>
              <a:t>Non stock order</a:t>
            </a:r>
          </a:p>
          <a:p>
            <a:pPr marL="228600" indent="-228600">
              <a:buFont typeface="+mj-lt"/>
              <a:buAutoNum type="arabicPeriod"/>
            </a:pPr>
            <a:r>
              <a:rPr lang="en-US" sz="1200" dirty="0"/>
              <a:t>Storage orders </a:t>
            </a:r>
          </a:p>
          <a:p>
            <a:pPr marL="228600" indent="-228600">
              <a:buFont typeface="+mj-lt"/>
              <a:buAutoNum type="arabicPeriod"/>
            </a:pPr>
            <a:r>
              <a:rPr lang="en-US" sz="1200" dirty="0"/>
              <a:t>Lot priced </a:t>
            </a:r>
            <a:br>
              <a:rPr lang="en-US" sz="1200" dirty="0"/>
            </a:br>
            <a:r>
              <a:rPr lang="en-US" sz="1200" dirty="0"/>
              <a:t>VA orders</a:t>
            </a:r>
          </a:p>
          <a:p>
            <a:pPr marL="228600" indent="-228600">
              <a:buFont typeface="+mj-lt"/>
              <a:buAutoNum type="arabicPeriod"/>
            </a:pPr>
            <a:r>
              <a:rPr lang="en-US" sz="1200" dirty="0"/>
              <a:t>Blanket orders</a:t>
            </a:r>
          </a:p>
          <a:p>
            <a:pPr marL="228600" indent="-228600">
              <a:buFont typeface="+mj-lt"/>
              <a:buAutoNum type="arabicPeriod"/>
            </a:pPr>
            <a:r>
              <a:rPr lang="en-US" sz="1200" dirty="0"/>
              <a:t>Shopping list </a:t>
            </a:r>
            <a:br>
              <a:rPr lang="en-US" sz="1200" dirty="0"/>
            </a:br>
            <a:r>
              <a:rPr lang="en-US" sz="1200" dirty="0"/>
              <a:t>Wire orders</a:t>
            </a:r>
          </a:p>
          <a:p>
            <a:endParaRPr lang="en-US" dirty="0"/>
          </a:p>
          <a:p>
            <a:r>
              <a:rPr lang="en-US" dirty="0"/>
              <a:t>OGN</a:t>
            </a:r>
          </a:p>
        </p:txBody>
      </p:sp>
      <p:sp>
        <p:nvSpPr>
          <p:cNvPr id="4" name="Slide Number Placeholder 3">
            <a:extLst>
              <a:ext uri="{FF2B5EF4-FFF2-40B4-BE49-F238E27FC236}">
                <a16:creationId xmlns:a16="http://schemas.microsoft.com/office/drawing/2014/main" id="{87ED209F-AD1B-D13B-5BDF-80907AF653F3}"/>
              </a:ext>
            </a:extLst>
          </p:cNvPr>
          <p:cNvSpPr>
            <a:spLocks noGrp="1"/>
          </p:cNvSpPr>
          <p:nvPr>
            <p:ph type="sldNum" sz="quarter" idx="5"/>
          </p:nvPr>
        </p:nvSpPr>
        <p:spPr/>
        <p:txBody>
          <a:bodyPr/>
          <a:lstStyle/>
          <a:p>
            <a:fld id="{5FD2EF15-161C-458A-BBAC-40A3953D9DA9}" type="slidenum">
              <a:rPr lang="en-US" smtClean="0"/>
              <a:t>30</a:t>
            </a:fld>
            <a:endParaRPr lang="en-US"/>
          </a:p>
        </p:txBody>
      </p:sp>
    </p:spTree>
    <p:extLst>
      <p:ext uri="{BB962C8B-B14F-4D97-AF65-F5344CB8AC3E}">
        <p14:creationId xmlns:p14="http://schemas.microsoft.com/office/powerpoint/2010/main" val="29671837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645C8-50CF-415A-F008-0541068DA1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27D5AEA-3323-48FA-BD11-1ADBDDE777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B3A9AA9-C036-BFD9-A6BA-FB090DC12E65}"/>
              </a:ext>
            </a:extLst>
          </p:cNvPr>
          <p:cNvSpPr>
            <a:spLocks noGrp="1"/>
          </p:cNvSpPr>
          <p:nvPr>
            <p:ph type="dt" sz="half" idx="10"/>
          </p:nvPr>
        </p:nvSpPr>
        <p:spPr/>
        <p:txBody>
          <a:bodyPr/>
          <a:lstStyle/>
          <a:p>
            <a:fld id="{0967D8AE-1B8B-4D2F-BD23-DE7C5E143A50}" type="datetimeFigureOut">
              <a:rPr lang="en-US" smtClean="0"/>
              <a:t>12/29/2025</a:t>
            </a:fld>
            <a:endParaRPr lang="en-US"/>
          </a:p>
        </p:txBody>
      </p:sp>
      <p:sp>
        <p:nvSpPr>
          <p:cNvPr id="5" name="Footer Placeholder 4">
            <a:extLst>
              <a:ext uri="{FF2B5EF4-FFF2-40B4-BE49-F238E27FC236}">
                <a16:creationId xmlns:a16="http://schemas.microsoft.com/office/drawing/2014/main" id="{1BFF9165-C9B7-6890-911F-5E9B60317B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BFB95A-E7F1-5CEF-9017-D6370EFE1C66}"/>
              </a:ext>
            </a:extLst>
          </p:cNvPr>
          <p:cNvSpPr>
            <a:spLocks noGrp="1"/>
          </p:cNvSpPr>
          <p:nvPr>
            <p:ph type="sldNum" sz="quarter" idx="12"/>
          </p:nvPr>
        </p:nvSpPr>
        <p:spPr/>
        <p:txBody>
          <a:bodyPr/>
          <a:lstStyle/>
          <a:p>
            <a:fld id="{5DA9287B-8D1C-4A7C-9DA1-7D5302A44AAD}" type="slidenum">
              <a:rPr lang="en-US" smtClean="0"/>
              <a:t>‹#›</a:t>
            </a:fld>
            <a:endParaRPr lang="en-US"/>
          </a:p>
        </p:txBody>
      </p:sp>
    </p:spTree>
    <p:extLst>
      <p:ext uri="{BB962C8B-B14F-4D97-AF65-F5344CB8AC3E}">
        <p14:creationId xmlns:p14="http://schemas.microsoft.com/office/powerpoint/2010/main" val="26237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F8C69-0836-D57F-A1D1-0AD128EE6552}"/>
              </a:ext>
            </a:extLst>
          </p:cNvPr>
          <p:cNvSpPr>
            <a:spLocks noGrp="1"/>
          </p:cNvSpPr>
          <p:nvPr>
            <p:ph type="title"/>
          </p:nvPr>
        </p:nvSpPr>
        <p:spPr>
          <a:xfrm>
            <a:off x="838200" y="365125"/>
            <a:ext cx="10515600" cy="641639"/>
          </a:xfrm>
        </p:spPr>
        <p:txBody>
          <a:bodyP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3C217BDA-76E6-BB3E-B3E1-151E3CCFAB2B}"/>
              </a:ext>
            </a:extLst>
          </p:cNvPr>
          <p:cNvSpPr>
            <a:spLocks noGrp="1"/>
          </p:cNvSpPr>
          <p:nvPr>
            <p:ph idx="1"/>
          </p:nvPr>
        </p:nvSpPr>
        <p:spPr>
          <a:xfrm>
            <a:off x="838200" y="1136073"/>
            <a:ext cx="10515600" cy="50408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F1672A-7349-F091-635B-C81F4457E1AB}"/>
              </a:ext>
            </a:extLst>
          </p:cNvPr>
          <p:cNvSpPr>
            <a:spLocks noGrp="1"/>
          </p:cNvSpPr>
          <p:nvPr>
            <p:ph type="dt" sz="half" idx="10"/>
          </p:nvPr>
        </p:nvSpPr>
        <p:spPr/>
        <p:txBody>
          <a:bodyPr/>
          <a:lstStyle/>
          <a:p>
            <a:fld id="{0967D8AE-1B8B-4D2F-BD23-DE7C5E143A50}" type="datetimeFigureOut">
              <a:rPr lang="en-US" smtClean="0"/>
              <a:t>12/29/2025</a:t>
            </a:fld>
            <a:endParaRPr lang="en-US"/>
          </a:p>
        </p:txBody>
      </p:sp>
      <p:sp>
        <p:nvSpPr>
          <p:cNvPr id="5" name="Footer Placeholder 4">
            <a:extLst>
              <a:ext uri="{FF2B5EF4-FFF2-40B4-BE49-F238E27FC236}">
                <a16:creationId xmlns:a16="http://schemas.microsoft.com/office/drawing/2014/main" id="{9BC155B3-0013-6CB3-3C52-AA819CD7B6C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470BAB0-7EE3-7141-51D1-831FE4DDE3A7}"/>
              </a:ext>
            </a:extLst>
          </p:cNvPr>
          <p:cNvSpPr>
            <a:spLocks noGrp="1"/>
          </p:cNvSpPr>
          <p:nvPr>
            <p:ph type="sldNum" sz="quarter" idx="12"/>
          </p:nvPr>
        </p:nvSpPr>
        <p:spPr/>
        <p:txBody>
          <a:bodyPr/>
          <a:lstStyle>
            <a:lvl1pPr>
              <a:defRPr/>
            </a:lvl1pPr>
          </a:lstStyle>
          <a:p>
            <a:fld id="{0099ECAC-965E-4A1B-8C35-92C0E7A8F938}" type="slidenum">
              <a:rPr lang="en-US" smtClean="0"/>
              <a:pPr/>
              <a:t>‹#›</a:t>
            </a:fld>
            <a:fld id="{85065064-5DB3-4099-8DC9-1EBF0BFFFD01}" type="slidenum">
              <a:rPr lang="en-US" smtClean="0"/>
              <a:pPr/>
              <a:t>‹#›</a:t>
            </a:fld>
            <a:endParaRPr lang="en-US" dirty="0"/>
          </a:p>
        </p:txBody>
      </p:sp>
    </p:spTree>
    <p:extLst>
      <p:ext uri="{BB962C8B-B14F-4D97-AF65-F5344CB8AC3E}">
        <p14:creationId xmlns:p14="http://schemas.microsoft.com/office/powerpoint/2010/main" val="11456394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C1B5A-36F5-0561-8044-B157426604E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EDD5348-FD4B-EC5A-395C-4EAA5808D3B3}"/>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Om Gurubhyo Namaha</a:t>
            </a:r>
          </a:p>
        </p:txBody>
      </p:sp>
      <p:sp>
        <p:nvSpPr>
          <p:cNvPr id="4" name="Date Placeholder 3">
            <a:extLst>
              <a:ext uri="{FF2B5EF4-FFF2-40B4-BE49-F238E27FC236}">
                <a16:creationId xmlns:a16="http://schemas.microsoft.com/office/drawing/2014/main" id="{17895131-E548-8CA2-4BC6-CA6C7C5819CD}"/>
              </a:ext>
            </a:extLst>
          </p:cNvPr>
          <p:cNvSpPr>
            <a:spLocks noGrp="1"/>
          </p:cNvSpPr>
          <p:nvPr>
            <p:ph type="dt" sz="half" idx="10"/>
          </p:nvPr>
        </p:nvSpPr>
        <p:spPr/>
        <p:txBody>
          <a:bodyPr/>
          <a:lstStyle/>
          <a:p>
            <a:fld id="{0967D8AE-1B8B-4D2F-BD23-DE7C5E143A50}" type="datetimeFigureOut">
              <a:rPr lang="en-US" smtClean="0"/>
              <a:t>12/29/2025</a:t>
            </a:fld>
            <a:endParaRPr lang="en-US"/>
          </a:p>
        </p:txBody>
      </p:sp>
      <p:sp>
        <p:nvSpPr>
          <p:cNvPr id="5" name="Footer Placeholder 4">
            <a:extLst>
              <a:ext uri="{FF2B5EF4-FFF2-40B4-BE49-F238E27FC236}">
                <a16:creationId xmlns:a16="http://schemas.microsoft.com/office/drawing/2014/main" id="{3B5555FE-F203-B760-6BC5-637F0B00DA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C21015-E66D-15A8-078C-D8605B10EDF3}"/>
              </a:ext>
            </a:extLst>
          </p:cNvPr>
          <p:cNvSpPr>
            <a:spLocks noGrp="1"/>
          </p:cNvSpPr>
          <p:nvPr>
            <p:ph type="sldNum" sz="quarter" idx="12"/>
          </p:nvPr>
        </p:nvSpPr>
        <p:spPr/>
        <p:txBody>
          <a:bodyPr/>
          <a:lstStyle/>
          <a:p>
            <a:fld id="{5DA9287B-8D1C-4A7C-9DA1-7D5302A44AAD}" type="slidenum">
              <a:rPr lang="en-US" smtClean="0"/>
              <a:t>‹#›</a:t>
            </a:fld>
            <a:endParaRPr lang="en-US"/>
          </a:p>
        </p:txBody>
      </p:sp>
    </p:spTree>
    <p:extLst>
      <p:ext uri="{BB962C8B-B14F-4D97-AF65-F5344CB8AC3E}">
        <p14:creationId xmlns:p14="http://schemas.microsoft.com/office/powerpoint/2010/main" val="25544073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1BA64-C5EF-5A2A-D2F9-AA9982D752F1}"/>
              </a:ext>
            </a:extLst>
          </p:cNvPr>
          <p:cNvSpPr>
            <a:spLocks noGrp="1"/>
          </p:cNvSpPr>
          <p:nvPr>
            <p:ph type="title"/>
          </p:nvPr>
        </p:nvSpPr>
        <p:spPr>
          <a:xfrm>
            <a:off x="838200" y="365125"/>
            <a:ext cx="10515600" cy="660111"/>
          </a:xfrm>
        </p:spPr>
        <p:txBody>
          <a:bodyP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EBF971D1-B7FF-2430-A0EE-1FF7DD10A3BE}"/>
              </a:ext>
            </a:extLst>
          </p:cNvPr>
          <p:cNvSpPr>
            <a:spLocks noGrp="1"/>
          </p:cNvSpPr>
          <p:nvPr>
            <p:ph sz="half" idx="1"/>
          </p:nvPr>
        </p:nvSpPr>
        <p:spPr>
          <a:xfrm>
            <a:off x="838200" y="1099127"/>
            <a:ext cx="5181600" cy="50778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2A7C53B-A6C5-3F9C-C349-65D4DBD732AB}"/>
              </a:ext>
            </a:extLst>
          </p:cNvPr>
          <p:cNvSpPr>
            <a:spLocks noGrp="1"/>
          </p:cNvSpPr>
          <p:nvPr>
            <p:ph sz="half" idx="2"/>
          </p:nvPr>
        </p:nvSpPr>
        <p:spPr>
          <a:xfrm>
            <a:off x="6172200" y="1204623"/>
            <a:ext cx="5181600" cy="49723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5E7017F-B782-A90A-0FFA-E5265B52BF28}"/>
              </a:ext>
            </a:extLst>
          </p:cNvPr>
          <p:cNvSpPr>
            <a:spLocks noGrp="1"/>
          </p:cNvSpPr>
          <p:nvPr>
            <p:ph type="dt" sz="half" idx="10"/>
          </p:nvPr>
        </p:nvSpPr>
        <p:spPr/>
        <p:txBody>
          <a:bodyPr/>
          <a:lstStyle/>
          <a:p>
            <a:fld id="{0967D8AE-1B8B-4D2F-BD23-DE7C5E143A50}" type="datetimeFigureOut">
              <a:rPr lang="en-US" smtClean="0"/>
              <a:t>12/29/2025</a:t>
            </a:fld>
            <a:endParaRPr lang="en-US"/>
          </a:p>
        </p:txBody>
      </p:sp>
      <p:sp>
        <p:nvSpPr>
          <p:cNvPr id="6" name="Footer Placeholder 5">
            <a:extLst>
              <a:ext uri="{FF2B5EF4-FFF2-40B4-BE49-F238E27FC236}">
                <a16:creationId xmlns:a16="http://schemas.microsoft.com/office/drawing/2014/main" id="{334C2B15-8DFF-1DE6-6A7C-FF0A144E89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3BC1BC-C419-38F2-7D1A-A20AC606E8DE}"/>
              </a:ext>
            </a:extLst>
          </p:cNvPr>
          <p:cNvSpPr>
            <a:spLocks noGrp="1"/>
          </p:cNvSpPr>
          <p:nvPr>
            <p:ph type="sldNum" sz="quarter" idx="12"/>
          </p:nvPr>
        </p:nvSpPr>
        <p:spPr/>
        <p:txBody>
          <a:bodyPr/>
          <a:lstStyle/>
          <a:p>
            <a:fld id="{5DA9287B-8D1C-4A7C-9DA1-7D5302A44AAD}" type="slidenum">
              <a:rPr lang="en-US" smtClean="0"/>
              <a:t>‹#›</a:t>
            </a:fld>
            <a:endParaRPr lang="en-US"/>
          </a:p>
        </p:txBody>
      </p:sp>
    </p:spTree>
    <p:extLst>
      <p:ext uri="{BB962C8B-B14F-4D97-AF65-F5344CB8AC3E}">
        <p14:creationId xmlns:p14="http://schemas.microsoft.com/office/powerpoint/2010/main" val="7362054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41A86-2FAC-2FF8-C3D3-180CCFDF87A6}"/>
              </a:ext>
            </a:extLst>
          </p:cNvPr>
          <p:cNvSpPr>
            <a:spLocks noGrp="1"/>
          </p:cNvSpPr>
          <p:nvPr>
            <p:ph type="title"/>
          </p:nvPr>
        </p:nvSpPr>
        <p:spPr>
          <a:xfrm>
            <a:off x="839788" y="365125"/>
            <a:ext cx="10515600" cy="1325563"/>
          </a:xfrm>
        </p:spPr>
        <p:txBody>
          <a:bodyPr vert="horz" lIns="91440" tIns="45720" rIns="91440" bIns="45720" rtlCol="0">
            <a:normAutofit/>
          </a:bodyPr>
          <a:lstStyle>
            <a:lvl1pPr>
              <a:defRPr lang="en-US" sz="2800">
                <a:latin typeface="+mn-lt"/>
                <a:ea typeface="+mn-ea"/>
                <a:cs typeface="+mn-cs"/>
              </a:defRPr>
            </a:lvl1pPr>
          </a:lstStyle>
          <a:p>
            <a:pPr marL="228600" lvl="0" indent="-228600">
              <a:spcBef>
                <a:spcPts val="1000"/>
              </a:spcBef>
              <a:buFont typeface="Arial" panose="020B0604020202020204" pitchFamily="34" charset="0"/>
              <a:buChar char="•"/>
            </a:pPr>
            <a:r>
              <a:rPr lang="en-US"/>
              <a:t>Click to edit Master title style</a:t>
            </a:r>
          </a:p>
        </p:txBody>
      </p:sp>
      <p:sp>
        <p:nvSpPr>
          <p:cNvPr id="3" name="Text Placeholder 2">
            <a:extLst>
              <a:ext uri="{FF2B5EF4-FFF2-40B4-BE49-F238E27FC236}">
                <a16:creationId xmlns:a16="http://schemas.microsoft.com/office/drawing/2014/main" id="{FBBDC75F-12A6-F58E-99C0-0CF1184380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6D06EF7-7BAE-BB9D-7AB7-7F0F5BD774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1440FC7-08A4-AE46-8C95-E996A7A09E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C67CFAB-7D5B-B1DF-79BE-BF0035F9FEC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9B629BA-9088-21C7-B39F-6887B00FF456}"/>
              </a:ext>
            </a:extLst>
          </p:cNvPr>
          <p:cNvSpPr>
            <a:spLocks noGrp="1"/>
          </p:cNvSpPr>
          <p:nvPr>
            <p:ph type="dt" sz="half" idx="10"/>
          </p:nvPr>
        </p:nvSpPr>
        <p:spPr/>
        <p:txBody>
          <a:bodyPr/>
          <a:lstStyle/>
          <a:p>
            <a:fld id="{0967D8AE-1B8B-4D2F-BD23-DE7C5E143A50}" type="datetimeFigureOut">
              <a:rPr lang="en-US" smtClean="0"/>
              <a:t>12/29/2025</a:t>
            </a:fld>
            <a:endParaRPr lang="en-US"/>
          </a:p>
        </p:txBody>
      </p:sp>
      <p:sp>
        <p:nvSpPr>
          <p:cNvPr id="8" name="Footer Placeholder 7">
            <a:extLst>
              <a:ext uri="{FF2B5EF4-FFF2-40B4-BE49-F238E27FC236}">
                <a16:creationId xmlns:a16="http://schemas.microsoft.com/office/drawing/2014/main" id="{B9DEA092-026A-7CF8-47E4-3DE1BD3DBFD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8D5890D-168E-4CD5-6766-DF6D944AA00C}"/>
              </a:ext>
            </a:extLst>
          </p:cNvPr>
          <p:cNvSpPr>
            <a:spLocks noGrp="1"/>
          </p:cNvSpPr>
          <p:nvPr>
            <p:ph type="sldNum" sz="quarter" idx="12"/>
          </p:nvPr>
        </p:nvSpPr>
        <p:spPr/>
        <p:txBody>
          <a:bodyPr/>
          <a:lstStyle/>
          <a:p>
            <a:fld id="{5DA9287B-8D1C-4A7C-9DA1-7D5302A44AAD}" type="slidenum">
              <a:rPr lang="en-US" smtClean="0"/>
              <a:t>‹#›</a:t>
            </a:fld>
            <a:endParaRPr lang="en-US"/>
          </a:p>
        </p:txBody>
      </p:sp>
    </p:spTree>
    <p:extLst>
      <p:ext uri="{BB962C8B-B14F-4D97-AF65-F5344CB8AC3E}">
        <p14:creationId xmlns:p14="http://schemas.microsoft.com/office/powerpoint/2010/main" val="305724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28478-E4BB-F911-B561-AEAFA0CFCB7C}"/>
              </a:ext>
            </a:extLst>
          </p:cNvPr>
          <p:cNvSpPr>
            <a:spLocks noGrp="1"/>
          </p:cNvSpPr>
          <p:nvPr>
            <p:ph type="title"/>
          </p:nvPr>
        </p:nvSpPr>
        <p:spPr>
          <a:xfrm>
            <a:off x="838200" y="365126"/>
            <a:ext cx="10515600" cy="613930"/>
          </a:xfrm>
        </p:spPr>
        <p:txBody>
          <a:bodyPr vert="horz" lIns="91440" tIns="45720" rIns="91440" bIns="45720" rtlCol="0">
            <a:normAutofit/>
          </a:bodyPr>
          <a:lstStyle>
            <a:lvl1pPr>
              <a:defRPr lang="en-US" sz="2800">
                <a:latin typeface="+mn-lt"/>
                <a:ea typeface="+mn-ea"/>
                <a:cs typeface="+mn-cs"/>
              </a:defRPr>
            </a:lvl1pPr>
          </a:lstStyle>
          <a:p>
            <a:pPr marL="228600" lvl="0" indent="-228600">
              <a:spcBef>
                <a:spcPts val="1000"/>
              </a:spcBef>
              <a:buFont typeface="Arial" panose="020B0604020202020204" pitchFamily="34" charset="0"/>
              <a:buChar char="•"/>
            </a:pPr>
            <a:r>
              <a:rPr lang="en-US"/>
              <a:t>Click to edit Master title style</a:t>
            </a:r>
          </a:p>
        </p:txBody>
      </p:sp>
      <p:sp>
        <p:nvSpPr>
          <p:cNvPr id="3" name="Date Placeholder 2">
            <a:extLst>
              <a:ext uri="{FF2B5EF4-FFF2-40B4-BE49-F238E27FC236}">
                <a16:creationId xmlns:a16="http://schemas.microsoft.com/office/drawing/2014/main" id="{489B5571-61EB-9992-AD52-82D2C10C225F}"/>
              </a:ext>
            </a:extLst>
          </p:cNvPr>
          <p:cNvSpPr>
            <a:spLocks noGrp="1"/>
          </p:cNvSpPr>
          <p:nvPr>
            <p:ph type="dt" sz="half" idx="10"/>
          </p:nvPr>
        </p:nvSpPr>
        <p:spPr/>
        <p:txBody>
          <a:bodyPr/>
          <a:lstStyle/>
          <a:p>
            <a:fld id="{0967D8AE-1B8B-4D2F-BD23-DE7C5E143A50}" type="datetimeFigureOut">
              <a:rPr lang="en-US" smtClean="0"/>
              <a:t>12/29/2025</a:t>
            </a:fld>
            <a:endParaRPr lang="en-US"/>
          </a:p>
        </p:txBody>
      </p:sp>
      <p:sp>
        <p:nvSpPr>
          <p:cNvPr id="4" name="Footer Placeholder 3">
            <a:extLst>
              <a:ext uri="{FF2B5EF4-FFF2-40B4-BE49-F238E27FC236}">
                <a16:creationId xmlns:a16="http://schemas.microsoft.com/office/drawing/2014/main" id="{2F361BD8-C049-6E41-BF02-8629DBFFE06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25FA10D-2130-2EEB-F88A-6FB28F7B459E}"/>
              </a:ext>
            </a:extLst>
          </p:cNvPr>
          <p:cNvSpPr>
            <a:spLocks noGrp="1"/>
          </p:cNvSpPr>
          <p:nvPr>
            <p:ph type="sldNum" sz="quarter" idx="12"/>
          </p:nvPr>
        </p:nvSpPr>
        <p:spPr/>
        <p:txBody>
          <a:bodyPr/>
          <a:lstStyle/>
          <a:p>
            <a:fld id="{5DA9287B-8D1C-4A7C-9DA1-7D5302A44AAD}" type="slidenum">
              <a:rPr lang="en-US" smtClean="0"/>
              <a:t>‹#›</a:t>
            </a:fld>
            <a:endParaRPr lang="en-US"/>
          </a:p>
        </p:txBody>
      </p:sp>
    </p:spTree>
    <p:extLst>
      <p:ext uri="{BB962C8B-B14F-4D97-AF65-F5344CB8AC3E}">
        <p14:creationId xmlns:p14="http://schemas.microsoft.com/office/powerpoint/2010/main" val="17277397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17C35C-2F83-9112-3D05-5D79D98A72E4}"/>
              </a:ext>
            </a:extLst>
          </p:cNvPr>
          <p:cNvSpPr>
            <a:spLocks noGrp="1"/>
          </p:cNvSpPr>
          <p:nvPr>
            <p:ph type="dt" sz="half" idx="10"/>
          </p:nvPr>
        </p:nvSpPr>
        <p:spPr/>
        <p:txBody>
          <a:bodyPr/>
          <a:lstStyle/>
          <a:p>
            <a:fld id="{0967D8AE-1B8B-4D2F-BD23-DE7C5E143A50}" type="datetimeFigureOut">
              <a:rPr lang="en-US" smtClean="0"/>
              <a:t>12/29/2025</a:t>
            </a:fld>
            <a:endParaRPr lang="en-US"/>
          </a:p>
        </p:txBody>
      </p:sp>
      <p:sp>
        <p:nvSpPr>
          <p:cNvPr id="3" name="Footer Placeholder 2">
            <a:extLst>
              <a:ext uri="{FF2B5EF4-FFF2-40B4-BE49-F238E27FC236}">
                <a16:creationId xmlns:a16="http://schemas.microsoft.com/office/drawing/2014/main" id="{2892D01F-2FBC-F3CF-2CDE-F3792EBA13C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0633B84-88E9-F70F-96B2-2E989B558C79}"/>
              </a:ext>
            </a:extLst>
          </p:cNvPr>
          <p:cNvSpPr>
            <a:spLocks noGrp="1"/>
          </p:cNvSpPr>
          <p:nvPr>
            <p:ph type="sldNum" sz="quarter" idx="12"/>
          </p:nvPr>
        </p:nvSpPr>
        <p:spPr/>
        <p:txBody>
          <a:bodyPr/>
          <a:lstStyle/>
          <a:p>
            <a:fld id="{5DA9287B-8D1C-4A7C-9DA1-7D5302A44AAD}" type="slidenum">
              <a:rPr lang="en-US" smtClean="0"/>
              <a:t>‹#›</a:t>
            </a:fld>
            <a:endParaRPr lang="en-US"/>
          </a:p>
        </p:txBody>
      </p:sp>
    </p:spTree>
    <p:extLst>
      <p:ext uri="{BB962C8B-B14F-4D97-AF65-F5344CB8AC3E}">
        <p14:creationId xmlns:p14="http://schemas.microsoft.com/office/powerpoint/2010/main" val="62421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4BC4D-52EC-C1E3-353A-C54658AC40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842485-065D-E13E-0BCE-15FC989A0E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8A0DA83-20BF-C343-1644-A3DFCA41F7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3DCEB9-B60E-4C38-CB6C-3AC8E00A1C0C}"/>
              </a:ext>
            </a:extLst>
          </p:cNvPr>
          <p:cNvSpPr>
            <a:spLocks noGrp="1"/>
          </p:cNvSpPr>
          <p:nvPr>
            <p:ph type="dt" sz="half" idx="10"/>
          </p:nvPr>
        </p:nvSpPr>
        <p:spPr/>
        <p:txBody>
          <a:bodyPr/>
          <a:lstStyle/>
          <a:p>
            <a:fld id="{0967D8AE-1B8B-4D2F-BD23-DE7C5E143A50}" type="datetimeFigureOut">
              <a:rPr lang="en-US" smtClean="0"/>
              <a:t>12/29/2025</a:t>
            </a:fld>
            <a:endParaRPr lang="en-US"/>
          </a:p>
        </p:txBody>
      </p:sp>
      <p:sp>
        <p:nvSpPr>
          <p:cNvPr id="6" name="Footer Placeholder 5">
            <a:extLst>
              <a:ext uri="{FF2B5EF4-FFF2-40B4-BE49-F238E27FC236}">
                <a16:creationId xmlns:a16="http://schemas.microsoft.com/office/drawing/2014/main" id="{B1AA4633-70FB-7CE5-CE9E-4DEB2B7AC8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9371AF-944F-586D-BE5A-6BCFCFF73CE9}"/>
              </a:ext>
            </a:extLst>
          </p:cNvPr>
          <p:cNvSpPr>
            <a:spLocks noGrp="1"/>
          </p:cNvSpPr>
          <p:nvPr>
            <p:ph type="sldNum" sz="quarter" idx="12"/>
          </p:nvPr>
        </p:nvSpPr>
        <p:spPr/>
        <p:txBody>
          <a:bodyPr/>
          <a:lstStyle/>
          <a:p>
            <a:fld id="{5DA9287B-8D1C-4A7C-9DA1-7D5302A44AAD}" type="slidenum">
              <a:rPr lang="en-US" smtClean="0"/>
              <a:t>‹#›</a:t>
            </a:fld>
            <a:endParaRPr lang="en-US"/>
          </a:p>
        </p:txBody>
      </p:sp>
    </p:spTree>
    <p:extLst>
      <p:ext uri="{BB962C8B-B14F-4D97-AF65-F5344CB8AC3E}">
        <p14:creationId xmlns:p14="http://schemas.microsoft.com/office/powerpoint/2010/main" val="1102211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7206D-FAD5-741A-D949-1550EBB6A2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C111A9A-0F52-650A-D7FA-2AA795CF57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EB9386B6-83F8-C5EB-C9EE-B00DCA4CCB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0DEDE3-14CF-04CD-19C2-EA856223F2F7}"/>
              </a:ext>
            </a:extLst>
          </p:cNvPr>
          <p:cNvSpPr>
            <a:spLocks noGrp="1"/>
          </p:cNvSpPr>
          <p:nvPr>
            <p:ph type="dt" sz="half" idx="10"/>
          </p:nvPr>
        </p:nvSpPr>
        <p:spPr/>
        <p:txBody>
          <a:bodyPr/>
          <a:lstStyle/>
          <a:p>
            <a:fld id="{0967D8AE-1B8B-4D2F-BD23-DE7C5E143A50}" type="datetimeFigureOut">
              <a:rPr lang="en-US" smtClean="0"/>
              <a:t>12/29/2025</a:t>
            </a:fld>
            <a:endParaRPr lang="en-US"/>
          </a:p>
        </p:txBody>
      </p:sp>
      <p:sp>
        <p:nvSpPr>
          <p:cNvPr id="6" name="Footer Placeholder 5">
            <a:extLst>
              <a:ext uri="{FF2B5EF4-FFF2-40B4-BE49-F238E27FC236}">
                <a16:creationId xmlns:a16="http://schemas.microsoft.com/office/drawing/2014/main" id="{13472B4D-2904-9AA9-FEA0-6502A85BDA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315FCF-52CE-48CA-9004-E3C9DA0906B1}"/>
              </a:ext>
            </a:extLst>
          </p:cNvPr>
          <p:cNvSpPr>
            <a:spLocks noGrp="1"/>
          </p:cNvSpPr>
          <p:nvPr>
            <p:ph type="sldNum" sz="quarter" idx="12"/>
          </p:nvPr>
        </p:nvSpPr>
        <p:spPr/>
        <p:txBody>
          <a:bodyPr/>
          <a:lstStyle/>
          <a:p>
            <a:fld id="{5DA9287B-8D1C-4A7C-9DA1-7D5302A44AAD}" type="slidenum">
              <a:rPr lang="en-US" smtClean="0"/>
              <a:t>‹#›</a:t>
            </a:fld>
            <a:endParaRPr lang="en-US"/>
          </a:p>
        </p:txBody>
      </p:sp>
    </p:spTree>
    <p:extLst>
      <p:ext uri="{BB962C8B-B14F-4D97-AF65-F5344CB8AC3E}">
        <p14:creationId xmlns:p14="http://schemas.microsoft.com/office/powerpoint/2010/main" val="22120694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B3659-7E4A-C6A9-E0BE-966BF3F04B9C}"/>
              </a:ext>
            </a:extLst>
          </p:cNvPr>
          <p:cNvSpPr>
            <a:spLocks noGrp="1"/>
          </p:cNvSpPr>
          <p:nvPr>
            <p:ph type="title"/>
          </p:nvPr>
        </p:nvSpPr>
        <p:spPr>
          <a:xfrm>
            <a:off x="838200" y="365126"/>
            <a:ext cx="10515600" cy="734002"/>
          </a:xfrm>
        </p:spPr>
        <p:txBody>
          <a:bodyPr vert="horz" lIns="91440" tIns="45720" rIns="91440" bIns="45720" rtlCol="0">
            <a:normAutofit/>
          </a:bodyPr>
          <a:lstStyle>
            <a:lvl1pPr>
              <a:defRPr lang="en-US" sz="2800">
                <a:latin typeface="+mn-lt"/>
                <a:ea typeface="+mn-ea"/>
                <a:cs typeface="+mn-cs"/>
              </a:defRPr>
            </a:lvl1pPr>
          </a:lstStyle>
          <a:p>
            <a:pPr marL="228600" lvl="0" indent="-228600">
              <a:spcBef>
                <a:spcPts val="1000"/>
              </a:spcBef>
              <a:buFont typeface="Arial" panose="020B0604020202020204" pitchFamily="34" charset="0"/>
              <a:buChar char="•"/>
            </a:pPr>
            <a:r>
              <a:rPr lang="en-US"/>
              <a:t>Click to edit Master title style</a:t>
            </a:r>
          </a:p>
        </p:txBody>
      </p:sp>
      <p:sp>
        <p:nvSpPr>
          <p:cNvPr id="3" name="Vertical Text Placeholder 2">
            <a:extLst>
              <a:ext uri="{FF2B5EF4-FFF2-40B4-BE49-F238E27FC236}">
                <a16:creationId xmlns:a16="http://schemas.microsoft.com/office/drawing/2014/main" id="{A8F577EF-EF7C-B0E1-B78D-8E86EC5DE414}"/>
              </a:ext>
            </a:extLst>
          </p:cNvPr>
          <p:cNvSpPr>
            <a:spLocks noGrp="1"/>
          </p:cNvSpPr>
          <p:nvPr>
            <p:ph type="body" orient="vert" idx="1"/>
          </p:nvPr>
        </p:nvSpPr>
        <p:spPr>
          <a:xfrm>
            <a:off x="838200" y="1302327"/>
            <a:ext cx="10515600" cy="487463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853754-6FEB-1368-094C-D3C7E08A208B}"/>
              </a:ext>
            </a:extLst>
          </p:cNvPr>
          <p:cNvSpPr>
            <a:spLocks noGrp="1"/>
          </p:cNvSpPr>
          <p:nvPr>
            <p:ph type="dt" sz="half" idx="10"/>
          </p:nvPr>
        </p:nvSpPr>
        <p:spPr/>
        <p:txBody>
          <a:bodyPr/>
          <a:lstStyle/>
          <a:p>
            <a:fld id="{0967D8AE-1B8B-4D2F-BD23-DE7C5E143A50}" type="datetimeFigureOut">
              <a:rPr lang="en-US" smtClean="0"/>
              <a:t>12/29/2025</a:t>
            </a:fld>
            <a:endParaRPr lang="en-US"/>
          </a:p>
        </p:txBody>
      </p:sp>
      <p:sp>
        <p:nvSpPr>
          <p:cNvPr id="5" name="Footer Placeholder 4">
            <a:extLst>
              <a:ext uri="{FF2B5EF4-FFF2-40B4-BE49-F238E27FC236}">
                <a16:creationId xmlns:a16="http://schemas.microsoft.com/office/drawing/2014/main" id="{6321C6AF-F657-77DA-7BBA-66686DCB0C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5ED93A-DD25-5B55-758E-117717D6FF6E}"/>
              </a:ext>
            </a:extLst>
          </p:cNvPr>
          <p:cNvSpPr>
            <a:spLocks noGrp="1"/>
          </p:cNvSpPr>
          <p:nvPr>
            <p:ph type="sldNum" sz="quarter" idx="12"/>
          </p:nvPr>
        </p:nvSpPr>
        <p:spPr/>
        <p:txBody>
          <a:bodyPr/>
          <a:lstStyle/>
          <a:p>
            <a:fld id="{5DA9287B-8D1C-4A7C-9DA1-7D5302A44AAD}" type="slidenum">
              <a:rPr lang="en-US" smtClean="0"/>
              <a:t>‹#›</a:t>
            </a:fld>
            <a:endParaRPr lang="en-US"/>
          </a:p>
        </p:txBody>
      </p:sp>
    </p:spTree>
    <p:extLst>
      <p:ext uri="{BB962C8B-B14F-4D97-AF65-F5344CB8AC3E}">
        <p14:creationId xmlns:p14="http://schemas.microsoft.com/office/powerpoint/2010/main" val="8828502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C90E42-68AF-C485-0EC1-318D5A8E736A}"/>
              </a:ext>
            </a:extLst>
          </p:cNvPr>
          <p:cNvSpPr>
            <a:spLocks noGrp="1"/>
          </p:cNvSpPr>
          <p:nvPr>
            <p:ph type="title" orient="vert"/>
          </p:nvPr>
        </p:nvSpPr>
        <p:spPr>
          <a:xfrm>
            <a:off x="9550400" y="365125"/>
            <a:ext cx="1803400" cy="5811838"/>
          </a:xfrm>
        </p:spPr>
        <p:txBody>
          <a:bodyPr vert="horz" lIns="91440" tIns="45720" rIns="91440" bIns="45720" rtlCol="0">
            <a:normAutofit/>
          </a:bodyPr>
          <a:lstStyle>
            <a:lvl1pPr>
              <a:defRPr lang="en-US" sz="2800">
                <a:latin typeface="+mn-lt"/>
                <a:ea typeface="+mn-ea"/>
                <a:cs typeface="+mn-cs"/>
              </a:defRPr>
            </a:lvl1pPr>
          </a:lstStyle>
          <a:p>
            <a:pPr marL="228600" lvl="0" indent="-228600">
              <a:spcBef>
                <a:spcPts val="1000"/>
              </a:spcBef>
              <a:buFont typeface="Arial" panose="020B0604020202020204" pitchFamily="34" charset="0"/>
              <a:buChar char="•"/>
            </a:pPr>
            <a:r>
              <a:rPr lang="en-US"/>
              <a:t>Click to edit Master title style</a:t>
            </a:r>
          </a:p>
        </p:txBody>
      </p:sp>
      <p:sp>
        <p:nvSpPr>
          <p:cNvPr id="3" name="Vertical Text Placeholder 2">
            <a:extLst>
              <a:ext uri="{FF2B5EF4-FFF2-40B4-BE49-F238E27FC236}">
                <a16:creationId xmlns:a16="http://schemas.microsoft.com/office/drawing/2014/main" id="{1974279A-D88C-37A8-DA7E-A4D0FE362930}"/>
              </a:ext>
            </a:extLst>
          </p:cNvPr>
          <p:cNvSpPr>
            <a:spLocks noGrp="1"/>
          </p:cNvSpPr>
          <p:nvPr>
            <p:ph type="body" orient="vert" idx="1"/>
          </p:nvPr>
        </p:nvSpPr>
        <p:spPr>
          <a:xfrm>
            <a:off x="838200" y="365125"/>
            <a:ext cx="87122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01AAF4-F208-5074-690E-8B10AFC9EC6F}"/>
              </a:ext>
            </a:extLst>
          </p:cNvPr>
          <p:cNvSpPr>
            <a:spLocks noGrp="1"/>
          </p:cNvSpPr>
          <p:nvPr>
            <p:ph type="dt" sz="half" idx="10"/>
          </p:nvPr>
        </p:nvSpPr>
        <p:spPr/>
        <p:txBody>
          <a:bodyPr/>
          <a:lstStyle/>
          <a:p>
            <a:fld id="{0967D8AE-1B8B-4D2F-BD23-DE7C5E143A50}" type="datetimeFigureOut">
              <a:rPr lang="en-US" smtClean="0"/>
              <a:t>12/29/2025</a:t>
            </a:fld>
            <a:endParaRPr lang="en-US"/>
          </a:p>
        </p:txBody>
      </p:sp>
      <p:sp>
        <p:nvSpPr>
          <p:cNvPr id="5" name="Footer Placeholder 4">
            <a:extLst>
              <a:ext uri="{FF2B5EF4-FFF2-40B4-BE49-F238E27FC236}">
                <a16:creationId xmlns:a16="http://schemas.microsoft.com/office/drawing/2014/main" id="{407C460B-1688-0DE9-9D5C-5D9DAF1FF7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475034-F447-EE34-3299-88C8BC402653}"/>
              </a:ext>
            </a:extLst>
          </p:cNvPr>
          <p:cNvSpPr>
            <a:spLocks noGrp="1"/>
          </p:cNvSpPr>
          <p:nvPr>
            <p:ph type="sldNum" sz="quarter" idx="12"/>
          </p:nvPr>
        </p:nvSpPr>
        <p:spPr/>
        <p:txBody>
          <a:bodyPr/>
          <a:lstStyle/>
          <a:p>
            <a:fld id="{5DA9287B-8D1C-4A7C-9DA1-7D5302A44AAD}" type="slidenum">
              <a:rPr lang="en-US" smtClean="0"/>
              <a:t>‹#›</a:t>
            </a:fld>
            <a:endParaRPr lang="en-US"/>
          </a:p>
        </p:txBody>
      </p:sp>
    </p:spTree>
    <p:extLst>
      <p:ext uri="{BB962C8B-B14F-4D97-AF65-F5344CB8AC3E}">
        <p14:creationId xmlns:p14="http://schemas.microsoft.com/office/powerpoint/2010/main" val="42046388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26A0F-D80C-CCE3-AB15-4783AD923E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F9EB6E9-CD61-61D0-8A2A-827A5B94CD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B5B8389-146C-96C2-C745-C1D493ABD160}"/>
              </a:ext>
            </a:extLst>
          </p:cNvPr>
          <p:cNvSpPr>
            <a:spLocks noGrp="1"/>
          </p:cNvSpPr>
          <p:nvPr>
            <p:ph type="dt" sz="half" idx="10"/>
          </p:nvPr>
        </p:nvSpPr>
        <p:spPr/>
        <p:txBody>
          <a:bodyPr/>
          <a:lstStyle/>
          <a:p>
            <a:fld id="{BF92DE7D-D2CB-4B16-9AC8-54D9C54416BF}" type="datetimeFigureOut">
              <a:rPr lang="en-US" smtClean="0"/>
              <a:t>12/29/2025</a:t>
            </a:fld>
            <a:endParaRPr lang="en-US" dirty="0"/>
          </a:p>
        </p:txBody>
      </p:sp>
      <p:sp>
        <p:nvSpPr>
          <p:cNvPr id="5" name="Footer Placeholder 4">
            <a:extLst>
              <a:ext uri="{FF2B5EF4-FFF2-40B4-BE49-F238E27FC236}">
                <a16:creationId xmlns:a16="http://schemas.microsoft.com/office/drawing/2014/main" id="{5CDD1293-2D74-169C-9E53-694A5B789B9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EDACD38-B4E5-EE42-4884-723589B257E7}"/>
              </a:ext>
            </a:extLst>
          </p:cNvPr>
          <p:cNvSpPr>
            <a:spLocks noGrp="1"/>
          </p:cNvSpPr>
          <p:nvPr>
            <p:ph type="sldNum" sz="quarter" idx="12"/>
          </p:nvPr>
        </p:nvSpPr>
        <p:spPr/>
        <p:txBody>
          <a:bodyPr/>
          <a:lstStyle/>
          <a:p>
            <a:fld id="{24E8E03B-08E9-4E47-AE19-F54F98104A83}" type="slidenum">
              <a:rPr lang="en-US" smtClean="0"/>
              <a:t>‹#›</a:t>
            </a:fld>
            <a:endParaRPr lang="en-US" dirty="0"/>
          </a:p>
        </p:txBody>
      </p:sp>
    </p:spTree>
    <p:extLst>
      <p:ext uri="{BB962C8B-B14F-4D97-AF65-F5344CB8AC3E}">
        <p14:creationId xmlns:p14="http://schemas.microsoft.com/office/powerpoint/2010/main" val="16889477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5C9CA-3F53-F2FD-F8D9-39864F70CE68}"/>
              </a:ext>
            </a:extLst>
          </p:cNvPr>
          <p:cNvSpPr>
            <a:spLocks noGrp="1"/>
          </p:cNvSpPr>
          <p:nvPr>
            <p:ph type="title"/>
          </p:nvPr>
        </p:nvSpPr>
        <p:spPr>
          <a:xfrm>
            <a:off x="838200" y="365125"/>
            <a:ext cx="10515600" cy="616247"/>
          </a:xfrm>
        </p:spPr>
        <p:txBody>
          <a:bodyPr>
            <a:normAutofit/>
          </a:bodyPr>
          <a:lstStyle>
            <a:lvl1pPr>
              <a:defRPr sz="2400"/>
            </a:lvl1pPr>
          </a:lstStyle>
          <a:p>
            <a:r>
              <a:rPr lang="en-US" dirty="0"/>
              <a:t>Click to edit Master title style</a:t>
            </a:r>
          </a:p>
        </p:txBody>
      </p:sp>
      <p:sp>
        <p:nvSpPr>
          <p:cNvPr id="3" name="Content Placeholder 2">
            <a:extLst>
              <a:ext uri="{FF2B5EF4-FFF2-40B4-BE49-F238E27FC236}">
                <a16:creationId xmlns:a16="http://schemas.microsoft.com/office/drawing/2014/main" id="{B20F1BE9-4D6F-913B-9039-67062033BD5D}"/>
              </a:ext>
            </a:extLst>
          </p:cNvPr>
          <p:cNvSpPr>
            <a:spLocks noGrp="1"/>
          </p:cNvSpPr>
          <p:nvPr>
            <p:ph idx="1"/>
          </p:nvPr>
        </p:nvSpPr>
        <p:spPr>
          <a:xfrm>
            <a:off x="838200" y="1225800"/>
            <a:ext cx="10515600" cy="4951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A8B3D8-762E-7074-723D-97BF15F1CFA4}"/>
              </a:ext>
            </a:extLst>
          </p:cNvPr>
          <p:cNvSpPr>
            <a:spLocks noGrp="1"/>
          </p:cNvSpPr>
          <p:nvPr>
            <p:ph type="dt" sz="half" idx="10"/>
          </p:nvPr>
        </p:nvSpPr>
        <p:spPr/>
        <p:txBody>
          <a:bodyPr/>
          <a:lstStyle/>
          <a:p>
            <a:fld id="{BF92DE7D-D2CB-4B16-9AC8-54D9C54416BF}" type="datetimeFigureOut">
              <a:rPr lang="en-US" smtClean="0"/>
              <a:t>12/29/2025</a:t>
            </a:fld>
            <a:endParaRPr lang="en-US" dirty="0"/>
          </a:p>
        </p:txBody>
      </p:sp>
      <p:sp>
        <p:nvSpPr>
          <p:cNvPr id="5" name="Footer Placeholder 4">
            <a:extLst>
              <a:ext uri="{FF2B5EF4-FFF2-40B4-BE49-F238E27FC236}">
                <a16:creationId xmlns:a16="http://schemas.microsoft.com/office/drawing/2014/main" id="{031D5FC8-6DF0-00F7-2160-0E5A6D5E877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3D882BD-A8A2-BFC3-A911-A4EF600C10EF}"/>
              </a:ext>
            </a:extLst>
          </p:cNvPr>
          <p:cNvSpPr>
            <a:spLocks noGrp="1"/>
          </p:cNvSpPr>
          <p:nvPr>
            <p:ph type="sldNum" sz="quarter" idx="12"/>
          </p:nvPr>
        </p:nvSpPr>
        <p:spPr/>
        <p:txBody>
          <a:bodyPr/>
          <a:lstStyle/>
          <a:p>
            <a:fld id="{24E8E03B-08E9-4E47-AE19-F54F98104A83}" type="slidenum">
              <a:rPr lang="en-US" smtClean="0"/>
              <a:t>‹#›</a:t>
            </a:fld>
            <a:endParaRPr lang="en-US" dirty="0"/>
          </a:p>
        </p:txBody>
      </p:sp>
      <p:cxnSp>
        <p:nvCxnSpPr>
          <p:cNvPr id="7" name="Connector: Elbow 6">
            <a:extLst>
              <a:ext uri="{FF2B5EF4-FFF2-40B4-BE49-F238E27FC236}">
                <a16:creationId xmlns:a16="http://schemas.microsoft.com/office/drawing/2014/main" id="{EBAB159C-2028-2BD0-2BF1-70269BBB08E2}"/>
              </a:ext>
            </a:extLst>
          </p:cNvPr>
          <p:cNvCxnSpPr>
            <a:cxnSpLocks/>
          </p:cNvCxnSpPr>
          <p:nvPr userDrawn="1"/>
        </p:nvCxnSpPr>
        <p:spPr>
          <a:xfrm>
            <a:off x="9792218" y="2232504"/>
            <a:ext cx="643655" cy="368710"/>
          </a:xfrm>
          <a:prstGeom prst="bentConnector3">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4739026-2AB4-B8E9-D9E1-0B1FE103E04A}"/>
              </a:ext>
            </a:extLst>
          </p:cNvPr>
          <p:cNvCxnSpPr>
            <a:cxnSpLocks/>
          </p:cNvCxnSpPr>
          <p:nvPr userDrawn="1"/>
        </p:nvCxnSpPr>
        <p:spPr>
          <a:xfrm>
            <a:off x="9724766" y="2099829"/>
            <a:ext cx="65876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9" name="Flowchart: Process 8">
            <a:extLst>
              <a:ext uri="{FF2B5EF4-FFF2-40B4-BE49-F238E27FC236}">
                <a16:creationId xmlns:a16="http://schemas.microsoft.com/office/drawing/2014/main" id="{A7FC00BF-29D0-616C-736D-09D0003D8650}"/>
              </a:ext>
            </a:extLst>
          </p:cNvPr>
          <p:cNvSpPr/>
          <p:nvPr userDrawn="1"/>
        </p:nvSpPr>
        <p:spPr>
          <a:xfrm>
            <a:off x="9792218" y="3377190"/>
            <a:ext cx="818714" cy="59976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0" name="Flowchart: Predefined Process 9">
            <a:extLst>
              <a:ext uri="{FF2B5EF4-FFF2-40B4-BE49-F238E27FC236}">
                <a16:creationId xmlns:a16="http://schemas.microsoft.com/office/drawing/2014/main" id="{DD210F9B-5A58-AECF-3AF9-AF74DA2186B5}"/>
              </a:ext>
            </a:extLst>
          </p:cNvPr>
          <p:cNvSpPr/>
          <p:nvPr userDrawn="1"/>
        </p:nvSpPr>
        <p:spPr>
          <a:xfrm>
            <a:off x="9791277" y="2687733"/>
            <a:ext cx="818714" cy="59976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test</a:t>
            </a:r>
          </a:p>
        </p:txBody>
      </p:sp>
      <p:grpSp>
        <p:nvGrpSpPr>
          <p:cNvPr id="11" name="Group 10">
            <a:extLst>
              <a:ext uri="{FF2B5EF4-FFF2-40B4-BE49-F238E27FC236}">
                <a16:creationId xmlns:a16="http://schemas.microsoft.com/office/drawing/2014/main" id="{02EF29D5-D592-F4EF-C0F8-0D0068B61D92}"/>
              </a:ext>
            </a:extLst>
          </p:cNvPr>
          <p:cNvGrpSpPr/>
          <p:nvPr userDrawn="1"/>
        </p:nvGrpSpPr>
        <p:grpSpPr>
          <a:xfrm>
            <a:off x="9836105" y="4029532"/>
            <a:ext cx="619432" cy="643638"/>
            <a:chOff x="5063613" y="1984029"/>
            <a:chExt cx="619432" cy="643638"/>
          </a:xfrm>
        </p:grpSpPr>
        <p:sp>
          <p:nvSpPr>
            <p:cNvPr id="12" name="Flowchart: Decision 11">
              <a:extLst>
                <a:ext uri="{FF2B5EF4-FFF2-40B4-BE49-F238E27FC236}">
                  <a16:creationId xmlns:a16="http://schemas.microsoft.com/office/drawing/2014/main" id="{24AA1AEC-072C-4C3C-3ED2-3B61B79707B6}"/>
                </a:ext>
              </a:extLst>
            </p:cNvPr>
            <p:cNvSpPr/>
            <p:nvPr/>
          </p:nvSpPr>
          <p:spPr>
            <a:xfrm>
              <a:off x="5073445" y="2064771"/>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3" name="Flowchart: Process 12">
              <a:extLst>
                <a:ext uri="{FF2B5EF4-FFF2-40B4-BE49-F238E27FC236}">
                  <a16:creationId xmlns:a16="http://schemas.microsoft.com/office/drawing/2014/main" id="{B76CDF6D-0209-CA35-7049-C9462C72B20F}"/>
                </a:ext>
              </a:extLst>
            </p:cNvPr>
            <p:cNvSpPr/>
            <p:nvPr/>
          </p:nvSpPr>
          <p:spPr>
            <a:xfrm>
              <a:off x="5447071" y="1984029"/>
              <a:ext cx="235974" cy="246222"/>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14" name="Flowchart: Process 13">
              <a:extLst>
                <a:ext uri="{FF2B5EF4-FFF2-40B4-BE49-F238E27FC236}">
                  <a16:creationId xmlns:a16="http://schemas.microsoft.com/office/drawing/2014/main" id="{E63BCD9C-3431-5832-089E-34005BEF9947}"/>
                </a:ext>
              </a:extLst>
            </p:cNvPr>
            <p:cNvSpPr/>
            <p:nvPr/>
          </p:nvSpPr>
          <p:spPr>
            <a:xfrm>
              <a:off x="5063613" y="2381445"/>
              <a:ext cx="235974" cy="246222"/>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grpSp>
      <p:sp>
        <p:nvSpPr>
          <p:cNvPr id="15" name="Flowchart: Terminator 14">
            <a:extLst>
              <a:ext uri="{FF2B5EF4-FFF2-40B4-BE49-F238E27FC236}">
                <a16:creationId xmlns:a16="http://schemas.microsoft.com/office/drawing/2014/main" id="{88899EA2-6BCB-9DE8-F25D-BA3A48FAB970}"/>
              </a:ext>
            </a:extLst>
          </p:cNvPr>
          <p:cNvSpPr/>
          <p:nvPr userDrawn="1"/>
        </p:nvSpPr>
        <p:spPr>
          <a:xfrm>
            <a:off x="10137310" y="49756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6" name="Flowchart: Or 15">
            <a:extLst>
              <a:ext uri="{FF2B5EF4-FFF2-40B4-BE49-F238E27FC236}">
                <a16:creationId xmlns:a16="http://schemas.microsoft.com/office/drawing/2014/main" id="{5DC37016-2D9B-2B62-07CD-D8B0914498C5}"/>
              </a:ext>
            </a:extLst>
          </p:cNvPr>
          <p:cNvSpPr/>
          <p:nvPr userDrawn="1"/>
        </p:nvSpPr>
        <p:spPr>
          <a:xfrm>
            <a:off x="10153373" y="5385978"/>
            <a:ext cx="265471" cy="24622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7" name="TextBox 16">
            <a:extLst>
              <a:ext uri="{FF2B5EF4-FFF2-40B4-BE49-F238E27FC236}">
                <a16:creationId xmlns:a16="http://schemas.microsoft.com/office/drawing/2014/main" id="{A363C889-7A6E-8DF1-CCEC-0F3C05C946AF}"/>
              </a:ext>
            </a:extLst>
          </p:cNvPr>
          <p:cNvSpPr txBox="1"/>
          <p:nvPr userDrawn="1"/>
        </p:nvSpPr>
        <p:spPr>
          <a:xfrm>
            <a:off x="9954092" y="5862854"/>
            <a:ext cx="501445" cy="246222"/>
          </a:xfrm>
          <a:prstGeom prst="rect">
            <a:avLst/>
          </a:prstGeom>
          <a:noFill/>
        </p:spPr>
        <p:txBody>
          <a:bodyPr wrap="square">
            <a:spAutoFit/>
          </a:bodyPr>
          <a:lstStyle/>
          <a:p>
            <a:r>
              <a:rPr lang="en-US" sz="1000" b="1" dirty="0">
                <a:solidFill>
                  <a:schemeClr val="tx1"/>
                </a:solidFill>
                <a:hlinkClick r:id="" action="ppaction://noaction"/>
              </a:rPr>
              <a:t>Link 1</a:t>
            </a:r>
            <a:endParaRPr lang="en-US" sz="1000" b="1" dirty="0"/>
          </a:p>
        </p:txBody>
      </p:sp>
    </p:spTree>
    <p:extLst>
      <p:ext uri="{BB962C8B-B14F-4D97-AF65-F5344CB8AC3E}">
        <p14:creationId xmlns:p14="http://schemas.microsoft.com/office/powerpoint/2010/main" val="22324704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D9770-E023-9410-C871-143F43C4331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9A41C4A-E66E-D2AE-35D0-92AE7D4E103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F759C4-BE68-F12A-CDDE-9751ED86FBA6}"/>
              </a:ext>
            </a:extLst>
          </p:cNvPr>
          <p:cNvSpPr>
            <a:spLocks noGrp="1"/>
          </p:cNvSpPr>
          <p:nvPr>
            <p:ph type="dt" sz="half" idx="10"/>
          </p:nvPr>
        </p:nvSpPr>
        <p:spPr/>
        <p:txBody>
          <a:bodyPr/>
          <a:lstStyle/>
          <a:p>
            <a:fld id="{BF92DE7D-D2CB-4B16-9AC8-54D9C54416BF}" type="datetimeFigureOut">
              <a:rPr lang="en-US" smtClean="0"/>
              <a:t>12/29/2025</a:t>
            </a:fld>
            <a:endParaRPr lang="en-US" dirty="0"/>
          </a:p>
        </p:txBody>
      </p:sp>
      <p:sp>
        <p:nvSpPr>
          <p:cNvPr id="5" name="Footer Placeholder 4">
            <a:extLst>
              <a:ext uri="{FF2B5EF4-FFF2-40B4-BE49-F238E27FC236}">
                <a16:creationId xmlns:a16="http://schemas.microsoft.com/office/drawing/2014/main" id="{62772BB6-FD27-E76C-46F3-89556968979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181350A-9626-1197-4373-D237813733FB}"/>
              </a:ext>
            </a:extLst>
          </p:cNvPr>
          <p:cNvSpPr>
            <a:spLocks noGrp="1"/>
          </p:cNvSpPr>
          <p:nvPr>
            <p:ph type="sldNum" sz="quarter" idx="12"/>
          </p:nvPr>
        </p:nvSpPr>
        <p:spPr/>
        <p:txBody>
          <a:bodyPr/>
          <a:lstStyle/>
          <a:p>
            <a:fld id="{24E8E03B-08E9-4E47-AE19-F54F98104A83}" type="slidenum">
              <a:rPr lang="en-US" smtClean="0"/>
              <a:t>‹#›</a:t>
            </a:fld>
            <a:endParaRPr lang="en-US" dirty="0"/>
          </a:p>
        </p:txBody>
      </p:sp>
    </p:spTree>
    <p:extLst>
      <p:ext uri="{BB962C8B-B14F-4D97-AF65-F5344CB8AC3E}">
        <p14:creationId xmlns:p14="http://schemas.microsoft.com/office/powerpoint/2010/main" val="33001680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3A45F-F35C-647A-26D9-003C8303739B}"/>
              </a:ext>
            </a:extLst>
          </p:cNvPr>
          <p:cNvSpPr>
            <a:spLocks noGrp="1"/>
          </p:cNvSpPr>
          <p:nvPr>
            <p:ph type="title"/>
          </p:nvPr>
        </p:nvSpPr>
        <p:spPr>
          <a:xfrm>
            <a:off x="838200" y="365126"/>
            <a:ext cx="10515600" cy="676496"/>
          </a:xfrm>
        </p:spPr>
        <p:txBody>
          <a:bodyP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3F30E324-C87F-0589-C891-E1DDAF756061}"/>
              </a:ext>
            </a:extLst>
          </p:cNvPr>
          <p:cNvSpPr>
            <a:spLocks noGrp="1"/>
          </p:cNvSpPr>
          <p:nvPr>
            <p:ph sz="half" idx="1"/>
          </p:nvPr>
        </p:nvSpPr>
        <p:spPr>
          <a:xfrm>
            <a:off x="838200" y="1288111"/>
            <a:ext cx="5181600" cy="48888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A1F60C7-D973-AFC7-A0F5-CE7C8F2C8E4E}"/>
              </a:ext>
            </a:extLst>
          </p:cNvPr>
          <p:cNvSpPr>
            <a:spLocks noGrp="1"/>
          </p:cNvSpPr>
          <p:nvPr>
            <p:ph sz="half" idx="2"/>
          </p:nvPr>
        </p:nvSpPr>
        <p:spPr>
          <a:xfrm>
            <a:off x="6172200" y="1288111"/>
            <a:ext cx="5181600" cy="48888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12E4289-FEA8-BF2C-99D6-0BF68C2B904F}"/>
              </a:ext>
            </a:extLst>
          </p:cNvPr>
          <p:cNvSpPr>
            <a:spLocks noGrp="1"/>
          </p:cNvSpPr>
          <p:nvPr>
            <p:ph type="dt" sz="half" idx="10"/>
          </p:nvPr>
        </p:nvSpPr>
        <p:spPr/>
        <p:txBody>
          <a:bodyPr/>
          <a:lstStyle/>
          <a:p>
            <a:fld id="{BF92DE7D-D2CB-4B16-9AC8-54D9C54416BF}" type="datetimeFigureOut">
              <a:rPr lang="en-US" smtClean="0"/>
              <a:t>12/29/2025</a:t>
            </a:fld>
            <a:endParaRPr lang="en-US" dirty="0"/>
          </a:p>
        </p:txBody>
      </p:sp>
      <p:sp>
        <p:nvSpPr>
          <p:cNvPr id="6" name="Footer Placeholder 5">
            <a:extLst>
              <a:ext uri="{FF2B5EF4-FFF2-40B4-BE49-F238E27FC236}">
                <a16:creationId xmlns:a16="http://schemas.microsoft.com/office/drawing/2014/main" id="{48B9C200-3D24-3465-1DA6-85F109357E8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D8E8B51-D1D3-6390-47D8-DCC16F2E3CAB}"/>
              </a:ext>
            </a:extLst>
          </p:cNvPr>
          <p:cNvSpPr>
            <a:spLocks noGrp="1"/>
          </p:cNvSpPr>
          <p:nvPr>
            <p:ph type="sldNum" sz="quarter" idx="12"/>
          </p:nvPr>
        </p:nvSpPr>
        <p:spPr/>
        <p:txBody>
          <a:bodyPr/>
          <a:lstStyle/>
          <a:p>
            <a:fld id="{24E8E03B-08E9-4E47-AE19-F54F98104A83}" type="slidenum">
              <a:rPr lang="en-US" smtClean="0"/>
              <a:t>‹#›</a:t>
            </a:fld>
            <a:endParaRPr lang="en-US" dirty="0"/>
          </a:p>
        </p:txBody>
      </p:sp>
    </p:spTree>
    <p:extLst>
      <p:ext uri="{BB962C8B-B14F-4D97-AF65-F5344CB8AC3E}">
        <p14:creationId xmlns:p14="http://schemas.microsoft.com/office/powerpoint/2010/main" val="13321012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3B4E3-D4F7-CC8E-464D-5D298DD313C6}"/>
              </a:ext>
            </a:extLst>
          </p:cNvPr>
          <p:cNvSpPr>
            <a:spLocks noGrp="1"/>
          </p:cNvSpPr>
          <p:nvPr>
            <p:ph type="title"/>
          </p:nvPr>
        </p:nvSpPr>
        <p:spPr>
          <a:xfrm>
            <a:off x="839788" y="365125"/>
            <a:ext cx="10515600" cy="620837"/>
          </a:xfrm>
        </p:spPr>
        <p:txBody>
          <a:bodyPr>
            <a:noAutofit/>
          </a:bodyPr>
          <a:lstStyle>
            <a:lvl1pPr>
              <a:defRPr sz="2400"/>
            </a:lvl1pPr>
          </a:lstStyle>
          <a:p>
            <a:r>
              <a:rPr lang="en-US"/>
              <a:t>Click to edit Master title style</a:t>
            </a:r>
          </a:p>
        </p:txBody>
      </p:sp>
      <p:sp>
        <p:nvSpPr>
          <p:cNvPr id="3" name="Text Placeholder 2">
            <a:extLst>
              <a:ext uri="{FF2B5EF4-FFF2-40B4-BE49-F238E27FC236}">
                <a16:creationId xmlns:a16="http://schemas.microsoft.com/office/drawing/2014/main" id="{A39ECF25-E39B-9601-65BA-93B93D42C00C}"/>
              </a:ext>
            </a:extLst>
          </p:cNvPr>
          <p:cNvSpPr>
            <a:spLocks noGrp="1"/>
          </p:cNvSpPr>
          <p:nvPr>
            <p:ph type="body" idx="1"/>
          </p:nvPr>
        </p:nvSpPr>
        <p:spPr>
          <a:xfrm>
            <a:off x="839788" y="1152649"/>
            <a:ext cx="5157787" cy="135242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FE1E5F9-D04B-CD74-63D9-F61CB8ED71B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A4F9FD6-E78A-C4F8-EAF6-B812BB3E82B2}"/>
              </a:ext>
            </a:extLst>
          </p:cNvPr>
          <p:cNvSpPr>
            <a:spLocks noGrp="1"/>
          </p:cNvSpPr>
          <p:nvPr>
            <p:ph type="body" sz="quarter" idx="3"/>
          </p:nvPr>
        </p:nvSpPr>
        <p:spPr>
          <a:xfrm>
            <a:off x="6172200" y="1152649"/>
            <a:ext cx="5183188" cy="135242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C3319CD-420D-696D-9AAA-148FEC58EC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B992367-5D7E-2712-8BFB-3084888D503E}"/>
              </a:ext>
            </a:extLst>
          </p:cNvPr>
          <p:cNvSpPr>
            <a:spLocks noGrp="1"/>
          </p:cNvSpPr>
          <p:nvPr>
            <p:ph type="dt" sz="half" idx="10"/>
          </p:nvPr>
        </p:nvSpPr>
        <p:spPr/>
        <p:txBody>
          <a:bodyPr/>
          <a:lstStyle/>
          <a:p>
            <a:fld id="{BF92DE7D-D2CB-4B16-9AC8-54D9C54416BF}" type="datetimeFigureOut">
              <a:rPr lang="en-US" smtClean="0"/>
              <a:t>12/29/2025</a:t>
            </a:fld>
            <a:endParaRPr lang="en-US" dirty="0"/>
          </a:p>
        </p:txBody>
      </p:sp>
      <p:sp>
        <p:nvSpPr>
          <p:cNvPr id="8" name="Footer Placeholder 7">
            <a:extLst>
              <a:ext uri="{FF2B5EF4-FFF2-40B4-BE49-F238E27FC236}">
                <a16:creationId xmlns:a16="http://schemas.microsoft.com/office/drawing/2014/main" id="{5139E9A8-8F5A-B094-C6C4-9A79DAFEA82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FC0890FE-5675-AC73-A77C-596908FB5EBD}"/>
              </a:ext>
            </a:extLst>
          </p:cNvPr>
          <p:cNvSpPr>
            <a:spLocks noGrp="1"/>
          </p:cNvSpPr>
          <p:nvPr>
            <p:ph type="sldNum" sz="quarter" idx="12"/>
          </p:nvPr>
        </p:nvSpPr>
        <p:spPr/>
        <p:txBody>
          <a:bodyPr/>
          <a:lstStyle/>
          <a:p>
            <a:fld id="{24E8E03B-08E9-4E47-AE19-F54F98104A83}" type="slidenum">
              <a:rPr lang="en-US" smtClean="0"/>
              <a:t>‹#›</a:t>
            </a:fld>
            <a:endParaRPr lang="en-US" dirty="0"/>
          </a:p>
        </p:txBody>
      </p:sp>
    </p:spTree>
    <p:extLst>
      <p:ext uri="{BB962C8B-B14F-4D97-AF65-F5344CB8AC3E}">
        <p14:creationId xmlns:p14="http://schemas.microsoft.com/office/powerpoint/2010/main" val="18255115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7584C-1A3B-40C7-7210-08A7B73218BC}"/>
              </a:ext>
            </a:extLst>
          </p:cNvPr>
          <p:cNvSpPr>
            <a:spLocks noGrp="1"/>
          </p:cNvSpPr>
          <p:nvPr>
            <p:ph type="title"/>
          </p:nvPr>
        </p:nvSpPr>
        <p:spPr>
          <a:xfrm>
            <a:off x="838200" y="365126"/>
            <a:ext cx="10515600" cy="711528"/>
          </a:xfrm>
        </p:spPr>
        <p:txBody>
          <a:bodyPr>
            <a:normAutofit/>
          </a:bodyPr>
          <a:lstStyle>
            <a:lvl1pPr>
              <a:defRPr sz="2400"/>
            </a:lvl1pPr>
          </a:lstStyle>
          <a:p>
            <a:r>
              <a:rPr lang="en-US"/>
              <a:t>Click to edit Master title style</a:t>
            </a:r>
          </a:p>
        </p:txBody>
      </p:sp>
      <p:sp>
        <p:nvSpPr>
          <p:cNvPr id="3" name="Date Placeholder 2">
            <a:extLst>
              <a:ext uri="{FF2B5EF4-FFF2-40B4-BE49-F238E27FC236}">
                <a16:creationId xmlns:a16="http://schemas.microsoft.com/office/drawing/2014/main" id="{F520EFFE-758A-CBDD-383F-663159469BB1}"/>
              </a:ext>
            </a:extLst>
          </p:cNvPr>
          <p:cNvSpPr>
            <a:spLocks noGrp="1"/>
          </p:cNvSpPr>
          <p:nvPr>
            <p:ph type="dt" sz="half" idx="10"/>
          </p:nvPr>
        </p:nvSpPr>
        <p:spPr/>
        <p:txBody>
          <a:bodyPr/>
          <a:lstStyle/>
          <a:p>
            <a:fld id="{BF92DE7D-D2CB-4B16-9AC8-54D9C54416BF}" type="datetimeFigureOut">
              <a:rPr lang="en-US" smtClean="0"/>
              <a:t>12/29/2025</a:t>
            </a:fld>
            <a:endParaRPr lang="en-US" dirty="0"/>
          </a:p>
        </p:txBody>
      </p:sp>
      <p:sp>
        <p:nvSpPr>
          <p:cNvPr id="4" name="Footer Placeholder 3">
            <a:extLst>
              <a:ext uri="{FF2B5EF4-FFF2-40B4-BE49-F238E27FC236}">
                <a16:creationId xmlns:a16="http://schemas.microsoft.com/office/drawing/2014/main" id="{41B5C464-9436-8292-82C4-58C692C44181}"/>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5A800F54-3083-50BD-631C-045269AB8B27}"/>
              </a:ext>
            </a:extLst>
          </p:cNvPr>
          <p:cNvSpPr>
            <a:spLocks noGrp="1"/>
          </p:cNvSpPr>
          <p:nvPr>
            <p:ph type="sldNum" sz="quarter" idx="12"/>
          </p:nvPr>
        </p:nvSpPr>
        <p:spPr/>
        <p:txBody>
          <a:bodyPr/>
          <a:lstStyle/>
          <a:p>
            <a:fld id="{24E8E03B-08E9-4E47-AE19-F54F98104A83}" type="slidenum">
              <a:rPr lang="en-US" smtClean="0"/>
              <a:t>‹#›</a:t>
            </a:fld>
            <a:endParaRPr lang="en-US" dirty="0"/>
          </a:p>
        </p:txBody>
      </p:sp>
      <p:cxnSp>
        <p:nvCxnSpPr>
          <p:cNvPr id="6" name="Connector: Elbow 5">
            <a:extLst>
              <a:ext uri="{FF2B5EF4-FFF2-40B4-BE49-F238E27FC236}">
                <a16:creationId xmlns:a16="http://schemas.microsoft.com/office/drawing/2014/main" id="{CADB9EB1-13A2-12BF-CE55-2D04B72BCFEB}"/>
              </a:ext>
            </a:extLst>
          </p:cNvPr>
          <p:cNvCxnSpPr>
            <a:cxnSpLocks/>
          </p:cNvCxnSpPr>
          <p:nvPr userDrawn="1"/>
        </p:nvCxnSpPr>
        <p:spPr>
          <a:xfrm>
            <a:off x="11263209" y="833283"/>
            <a:ext cx="643655" cy="368710"/>
          </a:xfrm>
          <a:prstGeom prst="bentConnector3">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A2C8F782-7310-7DAD-8E86-A5788CFCFB37}"/>
              </a:ext>
            </a:extLst>
          </p:cNvPr>
          <p:cNvCxnSpPr>
            <a:cxnSpLocks/>
          </p:cNvCxnSpPr>
          <p:nvPr userDrawn="1"/>
        </p:nvCxnSpPr>
        <p:spPr>
          <a:xfrm>
            <a:off x="11248103" y="668595"/>
            <a:ext cx="65876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8" name="Flowchart: Process 7">
            <a:extLst>
              <a:ext uri="{FF2B5EF4-FFF2-40B4-BE49-F238E27FC236}">
                <a16:creationId xmlns:a16="http://schemas.microsoft.com/office/drawing/2014/main" id="{0FCCC052-341D-FEFB-7A64-36125CF6B220}"/>
              </a:ext>
            </a:extLst>
          </p:cNvPr>
          <p:cNvSpPr/>
          <p:nvPr userDrawn="1"/>
        </p:nvSpPr>
        <p:spPr>
          <a:xfrm>
            <a:off x="11248103" y="2327785"/>
            <a:ext cx="818714" cy="59976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9" name="Flowchart: Predefined Process 8">
            <a:extLst>
              <a:ext uri="{FF2B5EF4-FFF2-40B4-BE49-F238E27FC236}">
                <a16:creationId xmlns:a16="http://schemas.microsoft.com/office/drawing/2014/main" id="{57042A46-CAB6-42B1-AD9C-EA585273EDE6}"/>
              </a:ext>
            </a:extLst>
          </p:cNvPr>
          <p:cNvSpPr/>
          <p:nvPr userDrawn="1"/>
        </p:nvSpPr>
        <p:spPr>
          <a:xfrm>
            <a:off x="11307096" y="1465007"/>
            <a:ext cx="818714" cy="59976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test</a:t>
            </a:r>
          </a:p>
        </p:txBody>
      </p:sp>
      <p:grpSp>
        <p:nvGrpSpPr>
          <p:cNvPr id="10" name="Group 9">
            <a:extLst>
              <a:ext uri="{FF2B5EF4-FFF2-40B4-BE49-F238E27FC236}">
                <a16:creationId xmlns:a16="http://schemas.microsoft.com/office/drawing/2014/main" id="{140E25AA-B86E-55A7-9210-AABDB2AEDE93}"/>
              </a:ext>
            </a:extLst>
          </p:cNvPr>
          <p:cNvGrpSpPr/>
          <p:nvPr userDrawn="1"/>
        </p:nvGrpSpPr>
        <p:grpSpPr>
          <a:xfrm>
            <a:off x="11307096" y="3107181"/>
            <a:ext cx="619432" cy="643638"/>
            <a:chOff x="5063613" y="1984029"/>
            <a:chExt cx="619432" cy="643638"/>
          </a:xfrm>
        </p:grpSpPr>
        <p:sp>
          <p:nvSpPr>
            <p:cNvPr id="11" name="Flowchart: Decision 10">
              <a:extLst>
                <a:ext uri="{FF2B5EF4-FFF2-40B4-BE49-F238E27FC236}">
                  <a16:creationId xmlns:a16="http://schemas.microsoft.com/office/drawing/2014/main" id="{FF730E09-FF83-C9AA-3902-A4CC0008DF9A}"/>
                </a:ext>
              </a:extLst>
            </p:cNvPr>
            <p:cNvSpPr/>
            <p:nvPr/>
          </p:nvSpPr>
          <p:spPr>
            <a:xfrm>
              <a:off x="5073445" y="2064771"/>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2" name="Flowchart: Process 11">
              <a:extLst>
                <a:ext uri="{FF2B5EF4-FFF2-40B4-BE49-F238E27FC236}">
                  <a16:creationId xmlns:a16="http://schemas.microsoft.com/office/drawing/2014/main" id="{45A5E134-0ACB-03FA-B286-F8CB5B35D826}"/>
                </a:ext>
              </a:extLst>
            </p:cNvPr>
            <p:cNvSpPr/>
            <p:nvPr/>
          </p:nvSpPr>
          <p:spPr>
            <a:xfrm>
              <a:off x="5447071" y="1984029"/>
              <a:ext cx="235974" cy="246222"/>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13" name="Flowchart: Process 12">
              <a:extLst>
                <a:ext uri="{FF2B5EF4-FFF2-40B4-BE49-F238E27FC236}">
                  <a16:creationId xmlns:a16="http://schemas.microsoft.com/office/drawing/2014/main" id="{4055C0C7-BB24-6FEA-4154-F4A8A6C9C8B6}"/>
                </a:ext>
              </a:extLst>
            </p:cNvPr>
            <p:cNvSpPr/>
            <p:nvPr/>
          </p:nvSpPr>
          <p:spPr>
            <a:xfrm>
              <a:off x="5063613" y="2381445"/>
              <a:ext cx="235974" cy="246222"/>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grpSp>
      <p:sp>
        <p:nvSpPr>
          <p:cNvPr id="14" name="Flowchart: Terminator 13">
            <a:extLst>
              <a:ext uri="{FF2B5EF4-FFF2-40B4-BE49-F238E27FC236}">
                <a16:creationId xmlns:a16="http://schemas.microsoft.com/office/drawing/2014/main" id="{C4D6068A-EF05-DED2-7FB5-A05D4E9FF5C9}"/>
              </a:ext>
            </a:extLst>
          </p:cNvPr>
          <p:cNvSpPr/>
          <p:nvPr userDrawn="1"/>
        </p:nvSpPr>
        <p:spPr>
          <a:xfrm>
            <a:off x="11608301" y="4053341"/>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5" name="Flowchart: Or 14">
            <a:extLst>
              <a:ext uri="{FF2B5EF4-FFF2-40B4-BE49-F238E27FC236}">
                <a16:creationId xmlns:a16="http://schemas.microsoft.com/office/drawing/2014/main" id="{E3CBF5DC-0A57-DB25-4086-720F2BB2D5C7}"/>
              </a:ext>
            </a:extLst>
          </p:cNvPr>
          <p:cNvSpPr/>
          <p:nvPr userDrawn="1"/>
        </p:nvSpPr>
        <p:spPr>
          <a:xfrm>
            <a:off x="11624364" y="4463627"/>
            <a:ext cx="265471" cy="24622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6" name="TextBox 15">
            <a:extLst>
              <a:ext uri="{FF2B5EF4-FFF2-40B4-BE49-F238E27FC236}">
                <a16:creationId xmlns:a16="http://schemas.microsoft.com/office/drawing/2014/main" id="{BA98C35E-05D4-FC16-284D-1FE0A740A24F}"/>
              </a:ext>
            </a:extLst>
          </p:cNvPr>
          <p:cNvSpPr txBox="1"/>
          <p:nvPr userDrawn="1"/>
        </p:nvSpPr>
        <p:spPr>
          <a:xfrm>
            <a:off x="11425083" y="4940503"/>
            <a:ext cx="501445" cy="246222"/>
          </a:xfrm>
          <a:prstGeom prst="rect">
            <a:avLst/>
          </a:prstGeom>
          <a:noFill/>
        </p:spPr>
        <p:txBody>
          <a:bodyPr wrap="square">
            <a:spAutoFit/>
          </a:bodyPr>
          <a:lstStyle/>
          <a:p>
            <a:r>
              <a:rPr lang="en-US" sz="1000" b="1" dirty="0">
                <a:solidFill>
                  <a:schemeClr val="tx1"/>
                </a:solidFill>
                <a:hlinkClick r:id="" action="ppaction://noaction"/>
              </a:rPr>
              <a:t>Link 1</a:t>
            </a:r>
            <a:endParaRPr lang="en-US" sz="1000" b="1" dirty="0"/>
          </a:p>
        </p:txBody>
      </p:sp>
    </p:spTree>
    <p:extLst>
      <p:ext uri="{BB962C8B-B14F-4D97-AF65-F5344CB8AC3E}">
        <p14:creationId xmlns:p14="http://schemas.microsoft.com/office/powerpoint/2010/main" val="8989297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04013F-69ED-5FD6-54E1-F66CD07D9DC5}"/>
              </a:ext>
            </a:extLst>
          </p:cNvPr>
          <p:cNvSpPr>
            <a:spLocks noGrp="1"/>
          </p:cNvSpPr>
          <p:nvPr>
            <p:ph type="dt" sz="half" idx="10"/>
          </p:nvPr>
        </p:nvSpPr>
        <p:spPr/>
        <p:txBody>
          <a:bodyPr/>
          <a:lstStyle/>
          <a:p>
            <a:fld id="{BF92DE7D-D2CB-4B16-9AC8-54D9C54416BF}" type="datetimeFigureOut">
              <a:rPr lang="en-US" smtClean="0"/>
              <a:t>12/29/2025</a:t>
            </a:fld>
            <a:endParaRPr lang="en-US" dirty="0"/>
          </a:p>
        </p:txBody>
      </p:sp>
      <p:sp>
        <p:nvSpPr>
          <p:cNvPr id="3" name="Footer Placeholder 2">
            <a:extLst>
              <a:ext uri="{FF2B5EF4-FFF2-40B4-BE49-F238E27FC236}">
                <a16:creationId xmlns:a16="http://schemas.microsoft.com/office/drawing/2014/main" id="{5405AC58-0E18-109A-C336-B200265BD5F3}"/>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CBB270DC-51B8-B8FA-FCE8-28E5E542E2E4}"/>
              </a:ext>
            </a:extLst>
          </p:cNvPr>
          <p:cNvSpPr>
            <a:spLocks noGrp="1"/>
          </p:cNvSpPr>
          <p:nvPr>
            <p:ph type="sldNum" sz="quarter" idx="12"/>
          </p:nvPr>
        </p:nvSpPr>
        <p:spPr/>
        <p:txBody>
          <a:bodyPr/>
          <a:lstStyle/>
          <a:p>
            <a:fld id="{24E8E03B-08E9-4E47-AE19-F54F98104A83}" type="slidenum">
              <a:rPr lang="en-US" smtClean="0"/>
              <a:t>‹#›</a:t>
            </a:fld>
            <a:endParaRPr lang="en-US" dirty="0"/>
          </a:p>
        </p:txBody>
      </p:sp>
      <p:cxnSp>
        <p:nvCxnSpPr>
          <p:cNvPr id="5" name="Connector: Elbow 4">
            <a:extLst>
              <a:ext uri="{FF2B5EF4-FFF2-40B4-BE49-F238E27FC236}">
                <a16:creationId xmlns:a16="http://schemas.microsoft.com/office/drawing/2014/main" id="{0C22BC47-DA0C-DC9F-1613-DECB093C048C}"/>
              </a:ext>
            </a:extLst>
          </p:cNvPr>
          <p:cNvCxnSpPr>
            <a:cxnSpLocks/>
          </p:cNvCxnSpPr>
          <p:nvPr userDrawn="1"/>
        </p:nvCxnSpPr>
        <p:spPr>
          <a:xfrm>
            <a:off x="11263209" y="833283"/>
            <a:ext cx="643655" cy="368710"/>
          </a:xfrm>
          <a:prstGeom prst="bentConnector3">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08CF4AE6-0DAC-7807-2D0C-6BF45FF6D40F}"/>
              </a:ext>
            </a:extLst>
          </p:cNvPr>
          <p:cNvCxnSpPr>
            <a:cxnSpLocks/>
          </p:cNvCxnSpPr>
          <p:nvPr userDrawn="1"/>
        </p:nvCxnSpPr>
        <p:spPr>
          <a:xfrm>
            <a:off x="11248103" y="668595"/>
            <a:ext cx="65876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 name="Flowchart: Process 6">
            <a:extLst>
              <a:ext uri="{FF2B5EF4-FFF2-40B4-BE49-F238E27FC236}">
                <a16:creationId xmlns:a16="http://schemas.microsoft.com/office/drawing/2014/main" id="{9A4769C0-5B8A-5727-0295-805812DCC991}"/>
              </a:ext>
            </a:extLst>
          </p:cNvPr>
          <p:cNvSpPr/>
          <p:nvPr userDrawn="1"/>
        </p:nvSpPr>
        <p:spPr>
          <a:xfrm>
            <a:off x="11248103" y="2327785"/>
            <a:ext cx="818714" cy="59976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8" name="Flowchart: Predefined Process 7">
            <a:extLst>
              <a:ext uri="{FF2B5EF4-FFF2-40B4-BE49-F238E27FC236}">
                <a16:creationId xmlns:a16="http://schemas.microsoft.com/office/drawing/2014/main" id="{BC110A3E-E08E-4F72-C915-04035FC069BC}"/>
              </a:ext>
            </a:extLst>
          </p:cNvPr>
          <p:cNvSpPr/>
          <p:nvPr userDrawn="1"/>
        </p:nvSpPr>
        <p:spPr>
          <a:xfrm>
            <a:off x="11307096" y="1465007"/>
            <a:ext cx="818714" cy="59976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test</a:t>
            </a:r>
          </a:p>
        </p:txBody>
      </p:sp>
      <p:grpSp>
        <p:nvGrpSpPr>
          <p:cNvPr id="9" name="Group 8">
            <a:extLst>
              <a:ext uri="{FF2B5EF4-FFF2-40B4-BE49-F238E27FC236}">
                <a16:creationId xmlns:a16="http://schemas.microsoft.com/office/drawing/2014/main" id="{7BB12E86-0A43-C8F0-B71B-051D97E2F7A8}"/>
              </a:ext>
            </a:extLst>
          </p:cNvPr>
          <p:cNvGrpSpPr/>
          <p:nvPr userDrawn="1"/>
        </p:nvGrpSpPr>
        <p:grpSpPr>
          <a:xfrm>
            <a:off x="11307096" y="3107181"/>
            <a:ext cx="619432" cy="643638"/>
            <a:chOff x="5063613" y="1984029"/>
            <a:chExt cx="619432" cy="643638"/>
          </a:xfrm>
        </p:grpSpPr>
        <p:sp>
          <p:nvSpPr>
            <p:cNvPr id="10" name="Flowchart: Decision 9">
              <a:extLst>
                <a:ext uri="{FF2B5EF4-FFF2-40B4-BE49-F238E27FC236}">
                  <a16:creationId xmlns:a16="http://schemas.microsoft.com/office/drawing/2014/main" id="{9FF152DB-562A-6101-BB35-46DAB8C33640}"/>
                </a:ext>
              </a:extLst>
            </p:cNvPr>
            <p:cNvSpPr/>
            <p:nvPr/>
          </p:nvSpPr>
          <p:spPr>
            <a:xfrm>
              <a:off x="5073445" y="2064771"/>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1" name="Flowchart: Process 10">
              <a:extLst>
                <a:ext uri="{FF2B5EF4-FFF2-40B4-BE49-F238E27FC236}">
                  <a16:creationId xmlns:a16="http://schemas.microsoft.com/office/drawing/2014/main" id="{341A865C-58A7-5C95-8E1D-A0F2EB5449DA}"/>
                </a:ext>
              </a:extLst>
            </p:cNvPr>
            <p:cNvSpPr/>
            <p:nvPr/>
          </p:nvSpPr>
          <p:spPr>
            <a:xfrm>
              <a:off x="5447071" y="1984029"/>
              <a:ext cx="235974" cy="246222"/>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12" name="Flowchart: Process 11">
              <a:extLst>
                <a:ext uri="{FF2B5EF4-FFF2-40B4-BE49-F238E27FC236}">
                  <a16:creationId xmlns:a16="http://schemas.microsoft.com/office/drawing/2014/main" id="{51600EB1-F2BD-B7F2-D64E-D5E439186E5C}"/>
                </a:ext>
              </a:extLst>
            </p:cNvPr>
            <p:cNvSpPr/>
            <p:nvPr/>
          </p:nvSpPr>
          <p:spPr>
            <a:xfrm>
              <a:off x="5063613" y="2381445"/>
              <a:ext cx="235974" cy="246222"/>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grpSp>
      <p:sp>
        <p:nvSpPr>
          <p:cNvPr id="13" name="Flowchart: Terminator 12">
            <a:extLst>
              <a:ext uri="{FF2B5EF4-FFF2-40B4-BE49-F238E27FC236}">
                <a16:creationId xmlns:a16="http://schemas.microsoft.com/office/drawing/2014/main" id="{2B1F4DD4-D02F-332E-54B5-0A008A0EC2D1}"/>
              </a:ext>
            </a:extLst>
          </p:cNvPr>
          <p:cNvSpPr/>
          <p:nvPr userDrawn="1"/>
        </p:nvSpPr>
        <p:spPr>
          <a:xfrm>
            <a:off x="11608301" y="4053341"/>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4" name="Flowchart: Or 13">
            <a:extLst>
              <a:ext uri="{FF2B5EF4-FFF2-40B4-BE49-F238E27FC236}">
                <a16:creationId xmlns:a16="http://schemas.microsoft.com/office/drawing/2014/main" id="{802B57CA-B632-436C-6FE6-1E5A42B6203B}"/>
              </a:ext>
            </a:extLst>
          </p:cNvPr>
          <p:cNvSpPr/>
          <p:nvPr userDrawn="1"/>
        </p:nvSpPr>
        <p:spPr>
          <a:xfrm>
            <a:off x="11624364" y="4463627"/>
            <a:ext cx="265471" cy="24622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5" name="TextBox 14">
            <a:extLst>
              <a:ext uri="{FF2B5EF4-FFF2-40B4-BE49-F238E27FC236}">
                <a16:creationId xmlns:a16="http://schemas.microsoft.com/office/drawing/2014/main" id="{50B1507D-3E08-930D-9474-4DCC4DFA5D4B}"/>
              </a:ext>
            </a:extLst>
          </p:cNvPr>
          <p:cNvSpPr txBox="1"/>
          <p:nvPr userDrawn="1"/>
        </p:nvSpPr>
        <p:spPr>
          <a:xfrm>
            <a:off x="11425083" y="4940503"/>
            <a:ext cx="501445" cy="246222"/>
          </a:xfrm>
          <a:prstGeom prst="rect">
            <a:avLst/>
          </a:prstGeom>
          <a:noFill/>
        </p:spPr>
        <p:txBody>
          <a:bodyPr wrap="square">
            <a:spAutoFit/>
          </a:bodyPr>
          <a:lstStyle/>
          <a:p>
            <a:r>
              <a:rPr lang="en-US" sz="1000" b="1" dirty="0">
                <a:solidFill>
                  <a:schemeClr val="tx1"/>
                </a:solidFill>
                <a:hlinkClick r:id="" action="ppaction://noaction"/>
              </a:rPr>
              <a:t>Link 1</a:t>
            </a:r>
            <a:endParaRPr lang="en-US" sz="1000" b="1" dirty="0"/>
          </a:p>
        </p:txBody>
      </p:sp>
    </p:spTree>
    <p:extLst>
      <p:ext uri="{BB962C8B-B14F-4D97-AF65-F5344CB8AC3E}">
        <p14:creationId xmlns:p14="http://schemas.microsoft.com/office/powerpoint/2010/main" val="25483308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60790-0DA3-0A21-E4F7-7D8BA40BBD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3D6C797-24CB-8C02-FD9A-7B4A1A5FCA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20AEEE-F22F-2A4D-EB9F-3E11FB0ECC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246557-3779-414E-9334-8CB4A554AC1D}"/>
              </a:ext>
            </a:extLst>
          </p:cNvPr>
          <p:cNvSpPr>
            <a:spLocks noGrp="1"/>
          </p:cNvSpPr>
          <p:nvPr>
            <p:ph type="dt" sz="half" idx="10"/>
          </p:nvPr>
        </p:nvSpPr>
        <p:spPr/>
        <p:txBody>
          <a:bodyPr/>
          <a:lstStyle/>
          <a:p>
            <a:fld id="{BF92DE7D-D2CB-4B16-9AC8-54D9C54416BF}" type="datetimeFigureOut">
              <a:rPr lang="en-US" smtClean="0"/>
              <a:t>12/29/2025</a:t>
            </a:fld>
            <a:endParaRPr lang="en-US" dirty="0"/>
          </a:p>
        </p:txBody>
      </p:sp>
      <p:sp>
        <p:nvSpPr>
          <p:cNvPr id="6" name="Footer Placeholder 5">
            <a:extLst>
              <a:ext uri="{FF2B5EF4-FFF2-40B4-BE49-F238E27FC236}">
                <a16:creationId xmlns:a16="http://schemas.microsoft.com/office/drawing/2014/main" id="{E3959753-C4E1-3085-3ADB-AB70F0243DB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F949135-50CB-5B42-D981-7603A670CF3D}"/>
              </a:ext>
            </a:extLst>
          </p:cNvPr>
          <p:cNvSpPr>
            <a:spLocks noGrp="1"/>
          </p:cNvSpPr>
          <p:nvPr>
            <p:ph type="sldNum" sz="quarter" idx="12"/>
          </p:nvPr>
        </p:nvSpPr>
        <p:spPr/>
        <p:txBody>
          <a:bodyPr/>
          <a:lstStyle/>
          <a:p>
            <a:fld id="{24E8E03B-08E9-4E47-AE19-F54F98104A83}" type="slidenum">
              <a:rPr lang="en-US" smtClean="0"/>
              <a:t>‹#›</a:t>
            </a:fld>
            <a:endParaRPr lang="en-US" dirty="0"/>
          </a:p>
        </p:txBody>
      </p:sp>
    </p:spTree>
    <p:extLst>
      <p:ext uri="{BB962C8B-B14F-4D97-AF65-F5344CB8AC3E}">
        <p14:creationId xmlns:p14="http://schemas.microsoft.com/office/powerpoint/2010/main" val="42726883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F223E-20B0-FBBE-E2A2-77E27B06F8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01CC382-E2ED-8228-67B0-E68056FD9AB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917E72B3-04DF-AEBD-DF86-6704D969E5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AD0BB4-9E6A-BF1A-FC02-361C15CCB06D}"/>
              </a:ext>
            </a:extLst>
          </p:cNvPr>
          <p:cNvSpPr>
            <a:spLocks noGrp="1"/>
          </p:cNvSpPr>
          <p:nvPr>
            <p:ph type="dt" sz="half" idx="10"/>
          </p:nvPr>
        </p:nvSpPr>
        <p:spPr/>
        <p:txBody>
          <a:bodyPr/>
          <a:lstStyle/>
          <a:p>
            <a:fld id="{BF92DE7D-D2CB-4B16-9AC8-54D9C54416BF}" type="datetimeFigureOut">
              <a:rPr lang="en-US" smtClean="0"/>
              <a:t>12/29/2025</a:t>
            </a:fld>
            <a:endParaRPr lang="en-US" dirty="0"/>
          </a:p>
        </p:txBody>
      </p:sp>
      <p:sp>
        <p:nvSpPr>
          <p:cNvPr id="6" name="Footer Placeholder 5">
            <a:extLst>
              <a:ext uri="{FF2B5EF4-FFF2-40B4-BE49-F238E27FC236}">
                <a16:creationId xmlns:a16="http://schemas.microsoft.com/office/drawing/2014/main" id="{FE3E8D7E-C9F3-2D80-B414-CF280177508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CF75762-828F-7884-A027-1D4499B232B5}"/>
              </a:ext>
            </a:extLst>
          </p:cNvPr>
          <p:cNvSpPr>
            <a:spLocks noGrp="1"/>
          </p:cNvSpPr>
          <p:nvPr>
            <p:ph type="sldNum" sz="quarter" idx="12"/>
          </p:nvPr>
        </p:nvSpPr>
        <p:spPr/>
        <p:txBody>
          <a:bodyPr/>
          <a:lstStyle/>
          <a:p>
            <a:fld id="{24E8E03B-08E9-4E47-AE19-F54F98104A83}" type="slidenum">
              <a:rPr lang="en-US" smtClean="0"/>
              <a:t>‹#›</a:t>
            </a:fld>
            <a:endParaRPr lang="en-US" dirty="0"/>
          </a:p>
        </p:txBody>
      </p:sp>
    </p:spTree>
    <p:extLst>
      <p:ext uri="{BB962C8B-B14F-4D97-AF65-F5344CB8AC3E}">
        <p14:creationId xmlns:p14="http://schemas.microsoft.com/office/powerpoint/2010/main" val="38729296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D2BA1-EFB8-3CB2-A131-6BE468BC8EA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DCA4406-A093-5FDF-2923-FC9E8BFD155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DA4ADA-A401-227F-4E0E-2E5F2DABE91B}"/>
              </a:ext>
            </a:extLst>
          </p:cNvPr>
          <p:cNvSpPr>
            <a:spLocks noGrp="1"/>
          </p:cNvSpPr>
          <p:nvPr>
            <p:ph type="dt" sz="half" idx="10"/>
          </p:nvPr>
        </p:nvSpPr>
        <p:spPr/>
        <p:txBody>
          <a:bodyPr/>
          <a:lstStyle/>
          <a:p>
            <a:fld id="{BF92DE7D-D2CB-4B16-9AC8-54D9C54416BF}" type="datetimeFigureOut">
              <a:rPr lang="en-US" smtClean="0"/>
              <a:t>12/29/2025</a:t>
            </a:fld>
            <a:endParaRPr lang="en-US" dirty="0"/>
          </a:p>
        </p:txBody>
      </p:sp>
      <p:sp>
        <p:nvSpPr>
          <p:cNvPr id="5" name="Footer Placeholder 4">
            <a:extLst>
              <a:ext uri="{FF2B5EF4-FFF2-40B4-BE49-F238E27FC236}">
                <a16:creationId xmlns:a16="http://schemas.microsoft.com/office/drawing/2014/main" id="{7F918D7D-122A-2704-C650-EBCAA5CE14D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471FD94-7043-047F-C788-B0CA3C9CC388}"/>
              </a:ext>
            </a:extLst>
          </p:cNvPr>
          <p:cNvSpPr>
            <a:spLocks noGrp="1"/>
          </p:cNvSpPr>
          <p:nvPr>
            <p:ph type="sldNum" sz="quarter" idx="12"/>
          </p:nvPr>
        </p:nvSpPr>
        <p:spPr/>
        <p:txBody>
          <a:bodyPr/>
          <a:lstStyle/>
          <a:p>
            <a:fld id="{24E8E03B-08E9-4E47-AE19-F54F98104A83}" type="slidenum">
              <a:rPr lang="en-US" smtClean="0"/>
              <a:t>‹#›</a:t>
            </a:fld>
            <a:endParaRPr lang="en-US" dirty="0"/>
          </a:p>
        </p:txBody>
      </p:sp>
    </p:spTree>
    <p:extLst>
      <p:ext uri="{BB962C8B-B14F-4D97-AF65-F5344CB8AC3E}">
        <p14:creationId xmlns:p14="http://schemas.microsoft.com/office/powerpoint/2010/main" val="16699853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19D2F1-0AF8-72C7-06AC-61204D29371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A2A0608-744C-A09B-61F8-CD867253C65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699943-6690-4FF9-2395-D6F303CEE7ED}"/>
              </a:ext>
            </a:extLst>
          </p:cNvPr>
          <p:cNvSpPr>
            <a:spLocks noGrp="1"/>
          </p:cNvSpPr>
          <p:nvPr>
            <p:ph type="dt" sz="half" idx="10"/>
          </p:nvPr>
        </p:nvSpPr>
        <p:spPr/>
        <p:txBody>
          <a:bodyPr/>
          <a:lstStyle/>
          <a:p>
            <a:fld id="{BF92DE7D-D2CB-4B16-9AC8-54D9C54416BF}" type="datetimeFigureOut">
              <a:rPr lang="en-US" smtClean="0"/>
              <a:t>12/29/2025</a:t>
            </a:fld>
            <a:endParaRPr lang="en-US" dirty="0"/>
          </a:p>
        </p:txBody>
      </p:sp>
      <p:sp>
        <p:nvSpPr>
          <p:cNvPr id="5" name="Footer Placeholder 4">
            <a:extLst>
              <a:ext uri="{FF2B5EF4-FFF2-40B4-BE49-F238E27FC236}">
                <a16:creationId xmlns:a16="http://schemas.microsoft.com/office/drawing/2014/main" id="{626E97E0-DCF0-6E59-272E-6B2BCC0A89C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6B02065-8D7B-FF3C-4AD2-57643EC58B9F}"/>
              </a:ext>
            </a:extLst>
          </p:cNvPr>
          <p:cNvSpPr>
            <a:spLocks noGrp="1"/>
          </p:cNvSpPr>
          <p:nvPr>
            <p:ph type="sldNum" sz="quarter" idx="12"/>
          </p:nvPr>
        </p:nvSpPr>
        <p:spPr/>
        <p:txBody>
          <a:bodyPr/>
          <a:lstStyle/>
          <a:p>
            <a:fld id="{24E8E03B-08E9-4E47-AE19-F54F98104A83}" type="slidenum">
              <a:rPr lang="en-US" smtClean="0"/>
              <a:t>‹#›</a:t>
            </a:fld>
            <a:endParaRPr lang="en-US" dirty="0"/>
          </a:p>
        </p:txBody>
      </p:sp>
    </p:spTree>
    <p:extLst>
      <p:ext uri="{BB962C8B-B14F-4D97-AF65-F5344CB8AC3E}">
        <p14:creationId xmlns:p14="http://schemas.microsoft.com/office/powerpoint/2010/main" val="39701289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460F18-5629-0D57-B902-6F25B881BB47}"/>
              </a:ext>
            </a:extLst>
          </p:cNvPr>
          <p:cNvSpPr>
            <a:spLocks noGrp="1"/>
          </p:cNvSpPr>
          <p:nvPr>
            <p:ph type="title"/>
          </p:nvPr>
        </p:nvSpPr>
        <p:spPr>
          <a:xfrm>
            <a:off x="838200" y="365126"/>
            <a:ext cx="10515600" cy="5308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42A2B6F-B892-B035-22BD-F2AE28418166}"/>
              </a:ext>
            </a:extLst>
          </p:cNvPr>
          <p:cNvSpPr>
            <a:spLocks noGrp="1"/>
          </p:cNvSpPr>
          <p:nvPr>
            <p:ph type="body" idx="1"/>
          </p:nvPr>
        </p:nvSpPr>
        <p:spPr>
          <a:xfrm>
            <a:off x="838200" y="1025236"/>
            <a:ext cx="10515600" cy="515172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90170D-6031-F3E8-BD71-046009B5A4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67D8AE-1B8B-4D2F-BD23-DE7C5E143A50}" type="datetimeFigureOut">
              <a:rPr lang="en-US" smtClean="0"/>
              <a:t>12/29/2025</a:t>
            </a:fld>
            <a:endParaRPr lang="en-US"/>
          </a:p>
        </p:txBody>
      </p:sp>
      <p:sp>
        <p:nvSpPr>
          <p:cNvPr id="5" name="Footer Placeholder 4">
            <a:extLst>
              <a:ext uri="{FF2B5EF4-FFF2-40B4-BE49-F238E27FC236}">
                <a16:creationId xmlns:a16="http://schemas.microsoft.com/office/drawing/2014/main" id="{53669B18-D71E-2EAF-2F4E-6B62A24E6A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F453912-E807-3190-9E86-A51EB92029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A9287B-8D1C-4A7C-9DA1-7D5302A44AAD}" type="slidenum">
              <a:rPr lang="en-US" smtClean="0"/>
              <a:t>‹#›</a:t>
            </a:fld>
            <a:endParaRPr lang="en-US"/>
          </a:p>
        </p:txBody>
      </p:sp>
    </p:spTree>
    <p:extLst>
      <p:ext uri="{BB962C8B-B14F-4D97-AF65-F5344CB8AC3E}">
        <p14:creationId xmlns:p14="http://schemas.microsoft.com/office/powerpoint/2010/main" val="5541544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2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40070D5-6246-80E4-B3A4-99839E6257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9153570-B867-214D-40CD-49325DBA86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FD805C-53B7-73C9-F512-E43FB7F601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92DE7D-D2CB-4B16-9AC8-54D9C54416BF}" type="datetimeFigureOut">
              <a:rPr lang="en-US" smtClean="0"/>
              <a:t>12/29/2025</a:t>
            </a:fld>
            <a:endParaRPr lang="en-US" dirty="0"/>
          </a:p>
        </p:txBody>
      </p:sp>
      <p:sp>
        <p:nvSpPr>
          <p:cNvPr id="5" name="Footer Placeholder 4">
            <a:extLst>
              <a:ext uri="{FF2B5EF4-FFF2-40B4-BE49-F238E27FC236}">
                <a16:creationId xmlns:a16="http://schemas.microsoft.com/office/drawing/2014/main" id="{BDAD53F1-7C45-79A4-867D-A996F16BB9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F40BD18F-5B41-A223-E775-418217CDF4B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E8E03B-08E9-4E47-AE19-F54F98104A83}" type="slidenum">
              <a:rPr lang="en-US" smtClean="0"/>
              <a:t>‹#›</a:t>
            </a:fld>
            <a:endParaRPr lang="en-US" dirty="0"/>
          </a:p>
        </p:txBody>
      </p:sp>
    </p:spTree>
    <p:extLst>
      <p:ext uri="{BB962C8B-B14F-4D97-AF65-F5344CB8AC3E}">
        <p14:creationId xmlns:p14="http://schemas.microsoft.com/office/powerpoint/2010/main" val="31988304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DA1F8BA6-9CAE-8F1B-CE02-5C6FF0007B6F}"/>
              </a:ext>
            </a:extLst>
          </p:cNvPr>
          <p:cNvSpPr txBox="1">
            <a:spLocks/>
          </p:cNvSpPr>
          <p:nvPr/>
        </p:nvSpPr>
        <p:spPr>
          <a:xfrm>
            <a:off x="1524000" y="4158193"/>
            <a:ext cx="9144000" cy="349219"/>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solidFill>
                  <a:schemeClr val="bg1"/>
                </a:solidFill>
              </a:rPr>
              <a:t>Om Gurubhyo Namaha</a:t>
            </a:r>
          </a:p>
        </p:txBody>
      </p:sp>
      <p:sp>
        <p:nvSpPr>
          <p:cNvPr id="3" name="Rectangle 2">
            <a:extLst>
              <a:ext uri="{FF2B5EF4-FFF2-40B4-BE49-F238E27FC236}">
                <a16:creationId xmlns:a16="http://schemas.microsoft.com/office/drawing/2014/main" id="{86EEAC1A-1FE8-426E-CC66-530CFBF801D6}"/>
              </a:ext>
            </a:extLst>
          </p:cNvPr>
          <p:cNvSpPr/>
          <p:nvPr/>
        </p:nvSpPr>
        <p:spPr>
          <a:xfrm>
            <a:off x="1524000" y="2200273"/>
            <a:ext cx="9465734" cy="9990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tx1"/>
                </a:solidFill>
              </a:rPr>
              <a:t>PPS – Service – Generator Startup SOP</a:t>
            </a:r>
          </a:p>
        </p:txBody>
      </p:sp>
      <p:sp>
        <p:nvSpPr>
          <p:cNvPr id="5" name="- S000. Opening Slide for Sales Order Line Entry Deck">
            <a:extLst>
              <a:ext uri="{FF2B5EF4-FFF2-40B4-BE49-F238E27FC236}">
                <a16:creationId xmlns:a16="http://schemas.microsoft.com/office/drawing/2014/main" id="{9CCAB26E-CA08-A585-5150-232BBE540447}"/>
              </a:ext>
            </a:extLst>
          </p:cNvPr>
          <p:cNvSpPr txBox="1">
            <a:spLocks/>
          </p:cNvSpPr>
          <p:nvPr/>
        </p:nvSpPr>
        <p:spPr>
          <a:xfrm>
            <a:off x="838200" y="0"/>
            <a:ext cx="10515600" cy="728133"/>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endParaRPr lang="en-US" sz="1400" b="1" dirty="0"/>
          </a:p>
          <a:p>
            <a:pPr algn="ctr"/>
            <a:r>
              <a:rPr lang="en-US" sz="1400" b="1" dirty="0"/>
              <a:t>S000. Opening Slide for PPS – Service – Generator Startup Deck</a:t>
            </a:r>
          </a:p>
        </p:txBody>
      </p:sp>
    </p:spTree>
    <p:extLst>
      <p:ext uri="{BB962C8B-B14F-4D97-AF65-F5344CB8AC3E}">
        <p14:creationId xmlns:p14="http://schemas.microsoft.com/office/powerpoint/2010/main" val="27830096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88B34-2261-391E-E96D-08388362C7EF}"/>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B0503C8C-1DFA-B676-309A-74B9D91E5C01}"/>
              </a:ext>
            </a:extLst>
          </p:cNvPr>
          <p:cNvSpPr txBox="1"/>
          <p:nvPr/>
        </p:nvSpPr>
        <p:spPr>
          <a:xfrm>
            <a:off x="853439" y="1478278"/>
            <a:ext cx="10792022" cy="4893647"/>
          </a:xfrm>
          <a:prstGeom prst="rect">
            <a:avLst/>
          </a:prstGeom>
          <a:noFill/>
        </p:spPr>
        <p:txBody>
          <a:bodyPr wrap="square" rtlCol="0">
            <a:spAutoFit/>
          </a:bodyPr>
          <a:lstStyle/>
          <a:p>
            <a:r>
              <a:rPr lang="en-US" sz="1200" b="1" dirty="0"/>
              <a:t>Palco Power Systems</a:t>
            </a:r>
            <a:r>
              <a:rPr lang="en-US" sz="1200" dirty="0"/>
              <a:t> is a specialized power solutions provider and an authorized </a:t>
            </a:r>
            <a:r>
              <a:rPr lang="en-US" sz="1200" b="1" dirty="0"/>
              <a:t>KOHLER</a:t>
            </a:r>
            <a:r>
              <a:rPr lang="en-US" sz="1200" dirty="0"/>
              <a:t> distributor, serving customers across </a:t>
            </a:r>
            <a:r>
              <a:rPr lang="en-US" sz="1200" b="1" dirty="0"/>
              <a:t>western Pennsylvania, West Virginia, and western Maryland</a:t>
            </a:r>
            <a:r>
              <a:rPr lang="en-US" sz="1200" dirty="0"/>
              <a:t>. Since </a:t>
            </a:r>
            <a:r>
              <a:rPr lang="en-US" sz="1200" b="1" dirty="0"/>
              <a:t>1972</a:t>
            </a:r>
            <a:r>
              <a:rPr lang="en-US" sz="1200" dirty="0"/>
              <a:t>, Palco has supplied reliable generator systems and power equipment to </a:t>
            </a:r>
            <a:r>
              <a:rPr lang="en-US" sz="1200" b="1" dirty="0"/>
              <a:t>industrial, commercial, municipal, healthcare, and residential</a:t>
            </a:r>
            <a:r>
              <a:rPr lang="en-US" sz="1200" dirty="0"/>
              <a:t> customers who depend on </a:t>
            </a:r>
            <a:r>
              <a:rPr lang="en-US" sz="1200" b="1" dirty="0"/>
              <a:t>uninterrupted power</a:t>
            </a:r>
            <a:r>
              <a:rPr lang="en-US" sz="1200" dirty="0"/>
              <a:t>.</a:t>
            </a:r>
          </a:p>
          <a:p>
            <a:r>
              <a:rPr lang="en-US" sz="1200" dirty="0"/>
              <a:t>As part of the </a:t>
            </a:r>
            <a:r>
              <a:rPr lang="en-US" sz="1200" b="1" dirty="0"/>
              <a:t>Scott Electric</a:t>
            </a:r>
            <a:r>
              <a:rPr lang="en-US" sz="1200" dirty="0"/>
              <a:t> family since </a:t>
            </a:r>
            <a:r>
              <a:rPr lang="en-US" sz="1200" b="1" dirty="0"/>
              <a:t>1993</a:t>
            </a:r>
            <a:r>
              <a:rPr lang="en-US" sz="1200" dirty="0"/>
              <a:t>, Palco Power Systems combines </a:t>
            </a:r>
            <a:r>
              <a:rPr lang="en-US" sz="1200" b="1" dirty="0"/>
              <a:t>deep technical expertise</a:t>
            </a:r>
            <a:r>
              <a:rPr lang="en-US" sz="1200" dirty="0"/>
              <a:t> with the broader resources of a </a:t>
            </a:r>
            <a:r>
              <a:rPr lang="en-US" sz="1200" b="1" dirty="0"/>
              <a:t>leading independent electrical distributor</a:t>
            </a:r>
            <a:r>
              <a:rPr lang="en-US" sz="1200" dirty="0"/>
              <a:t>. Our portfolio includes </a:t>
            </a:r>
            <a:r>
              <a:rPr lang="en-US" sz="1200" b="1" dirty="0"/>
              <a:t>KOHLER industrial, mobile (towable), residential, and portable generator systems</a:t>
            </a:r>
            <a:r>
              <a:rPr lang="en-US" sz="1200" dirty="0"/>
              <a:t>; </a:t>
            </a:r>
            <a:r>
              <a:rPr lang="en-US" sz="1200" b="1" dirty="0"/>
              <a:t>pumps</a:t>
            </a:r>
            <a:r>
              <a:rPr lang="en-US" sz="1200" dirty="0"/>
              <a:t>; </a:t>
            </a:r>
            <a:r>
              <a:rPr lang="en-US" sz="1200" b="1" dirty="0"/>
              <a:t>other power systems and components</a:t>
            </a:r>
            <a:r>
              <a:rPr lang="en-US" sz="1200" dirty="0"/>
              <a:t>; </a:t>
            </a:r>
            <a:r>
              <a:rPr lang="en-US" sz="1200" b="1" dirty="0"/>
              <a:t>Honda</a:t>
            </a:r>
            <a:r>
              <a:rPr lang="en-US" sz="1200" dirty="0"/>
              <a:t> portable units; </a:t>
            </a:r>
            <a:r>
              <a:rPr lang="en-US" sz="1200" b="1" dirty="0"/>
              <a:t>transfer equipment</a:t>
            </a:r>
            <a:r>
              <a:rPr lang="en-US" sz="1200" dirty="0"/>
              <a:t>; and related accessories, including </a:t>
            </a:r>
            <a:r>
              <a:rPr lang="en-US" sz="1200" b="1" dirty="0"/>
              <a:t>ASCO</a:t>
            </a:r>
            <a:r>
              <a:rPr lang="en-US" sz="1200" dirty="0"/>
              <a:t> and </a:t>
            </a:r>
            <a:r>
              <a:rPr lang="en-US" sz="1200" b="1" dirty="0"/>
              <a:t>PSP</a:t>
            </a:r>
            <a:r>
              <a:rPr lang="en-US" sz="1200" dirty="0"/>
              <a:t> components.</a:t>
            </a:r>
          </a:p>
          <a:p>
            <a:r>
              <a:rPr lang="en-US" sz="1200" dirty="0"/>
              <a:t>Over the years, Palco’s territory and responsibilities have grown along with its reputation:</a:t>
            </a:r>
            <a:br>
              <a:rPr lang="en-US" sz="1200" dirty="0"/>
            </a:br>
            <a:r>
              <a:rPr lang="en-US" sz="1200" dirty="0"/>
              <a:t>• </a:t>
            </a:r>
            <a:r>
              <a:rPr lang="en-US" sz="1200" b="1" dirty="0"/>
              <a:t>1972</a:t>
            </a:r>
            <a:r>
              <a:rPr lang="en-US" sz="1200" dirty="0"/>
              <a:t> – Palco becomes an authorized KOHLER distributor in western Pennsylvania.</a:t>
            </a:r>
            <a:br>
              <a:rPr lang="en-US" sz="1200" dirty="0"/>
            </a:br>
            <a:r>
              <a:rPr lang="en-US" sz="1200" dirty="0"/>
              <a:t>• </a:t>
            </a:r>
            <a:r>
              <a:rPr lang="en-US" sz="1200" b="1" dirty="0"/>
              <a:t>1984</a:t>
            </a:r>
            <a:r>
              <a:rPr lang="en-US" sz="1200" dirty="0"/>
              <a:t> – Territory expands to include West Virginia and western Maryland.</a:t>
            </a:r>
            <a:br>
              <a:rPr lang="en-US" sz="1200" dirty="0"/>
            </a:br>
            <a:r>
              <a:rPr lang="en-US" sz="1200" dirty="0"/>
              <a:t>• </a:t>
            </a:r>
            <a:r>
              <a:rPr lang="en-US" sz="1200" b="1" dirty="0"/>
              <a:t>1989</a:t>
            </a:r>
            <a:r>
              <a:rPr lang="en-US" sz="1200" dirty="0"/>
              <a:t> – Area of responsibility further expands to include western New York State.</a:t>
            </a:r>
            <a:br>
              <a:rPr lang="en-US" sz="1200" dirty="0"/>
            </a:br>
            <a:r>
              <a:rPr lang="en-US" sz="1200" dirty="0"/>
              <a:t>• </a:t>
            </a:r>
            <a:r>
              <a:rPr lang="en-US" sz="1200" b="1" dirty="0"/>
              <a:t>1993</a:t>
            </a:r>
            <a:r>
              <a:rPr lang="en-US" sz="1200" dirty="0"/>
              <a:t> – Scott Electric Company acquires Palco.</a:t>
            </a:r>
            <a:br>
              <a:rPr lang="en-US" sz="1200" dirty="0"/>
            </a:br>
            <a:r>
              <a:rPr lang="en-US" sz="1200" dirty="0"/>
              <a:t>• </a:t>
            </a:r>
            <a:r>
              <a:rPr lang="en-US" sz="1200" b="1" dirty="0"/>
              <a:t>2001</a:t>
            </a:r>
            <a:r>
              <a:rPr lang="en-US" sz="1200" dirty="0"/>
              <a:t> – Territory is adjusted with the removal of western New York State.</a:t>
            </a:r>
          </a:p>
          <a:p>
            <a:r>
              <a:rPr lang="en-US" sz="1200" dirty="0"/>
              <a:t>Most recently, </a:t>
            </a:r>
            <a:r>
              <a:rPr lang="en-US" sz="1200" b="1" dirty="0"/>
              <a:t>Palco Power Systems was the first Scott Electric division to host a Conference Room Pilot (CRP) for the new Infor </a:t>
            </a:r>
            <a:r>
              <a:rPr lang="en-US" sz="1200" b="1" dirty="0" err="1"/>
              <a:t>CloudSuite</a:t>
            </a:r>
            <a:r>
              <a:rPr lang="en-US" sz="1200" b="1" dirty="0"/>
              <a:t> software</a:t>
            </a:r>
            <a:r>
              <a:rPr lang="en-US" sz="1200" dirty="0"/>
              <a:t>, demonstrating </a:t>
            </a:r>
            <a:r>
              <a:rPr lang="en-US" sz="1200" b="1" dirty="0"/>
              <a:t>leadership and innovation</a:t>
            </a:r>
            <a:r>
              <a:rPr lang="en-US" sz="1200" dirty="0"/>
              <a:t> in how we use technology to support customers and internal operations. This work reflects the dedication of the </a:t>
            </a:r>
            <a:r>
              <a:rPr lang="en-US" sz="1200" b="1" dirty="0"/>
              <a:t>Palco team</a:t>
            </a:r>
            <a:r>
              <a:rPr lang="en-US" sz="1200" dirty="0"/>
              <a:t>—including </a:t>
            </a:r>
            <a:r>
              <a:rPr lang="en-US" sz="1200" b="1" dirty="0"/>
              <a:t>Tanner Schwartz, Valerie Markish, Tim Drop, Jen Schlegel, and Subi Rajagopalan</a:t>
            </a:r>
            <a:r>
              <a:rPr lang="en-US" sz="1200" dirty="0"/>
              <a:t>—along with support from the broader </a:t>
            </a:r>
            <a:r>
              <a:rPr lang="en-US" sz="1200" b="1" dirty="0"/>
              <a:t>ERP project</a:t>
            </a:r>
            <a:r>
              <a:rPr lang="en-US" sz="1200" dirty="0"/>
              <a:t>, </a:t>
            </a:r>
            <a:r>
              <a:rPr lang="en-US" sz="1200" b="1" dirty="0"/>
              <a:t>Champions</a:t>
            </a:r>
            <a:r>
              <a:rPr lang="en-US" sz="1200" dirty="0"/>
              <a:t>, and </a:t>
            </a:r>
            <a:r>
              <a:rPr lang="en-US" sz="1200" b="1" dirty="0"/>
              <a:t>Executive Sponsors</a:t>
            </a:r>
            <a:r>
              <a:rPr lang="en-US" sz="1200" dirty="0"/>
              <a:t>. </a:t>
            </a:r>
            <a:r>
              <a:rPr lang="en-US" sz="1200" b="1" dirty="0"/>
              <a:t>The management teams at Palco Power Systems and Scott Electric continue to support these efforts by prioritizing training, process improvement, and the successful adoption of the new system.</a:t>
            </a:r>
            <a:endParaRPr lang="en-US" sz="1200" dirty="0"/>
          </a:p>
          <a:p>
            <a:endParaRPr lang="en-US" sz="1200" dirty="0"/>
          </a:p>
          <a:p>
            <a:r>
              <a:rPr lang="en-US" sz="1200" b="1" dirty="0"/>
              <a:t>Welcome to the Palco Power Systems Training Site.</a:t>
            </a:r>
            <a:endParaRPr lang="en-US" sz="1200" dirty="0"/>
          </a:p>
          <a:p>
            <a:r>
              <a:rPr lang="en-US" sz="1200" dirty="0"/>
              <a:t>This section of the </a:t>
            </a:r>
            <a:r>
              <a:rPr lang="en-US" sz="1200" b="1" dirty="0"/>
              <a:t>Scott Electric Training Site</a:t>
            </a:r>
            <a:r>
              <a:rPr lang="en-US" sz="1200" dirty="0"/>
              <a:t> is designed to help you </a:t>
            </a:r>
            <a:r>
              <a:rPr lang="en-US" sz="1200" b="1" dirty="0"/>
              <a:t>build the knowledge and skills</a:t>
            </a:r>
            <a:r>
              <a:rPr lang="en-US" sz="1200" dirty="0"/>
              <a:t> needed to support our power systems customers </a:t>
            </a:r>
            <a:r>
              <a:rPr lang="en-US" sz="1200" b="1" dirty="0"/>
              <a:t>safely, accurately, and efficiently</a:t>
            </a:r>
            <a:r>
              <a:rPr lang="en-US" sz="1200" dirty="0"/>
              <a:t>—whether you work in </a:t>
            </a:r>
            <a:r>
              <a:rPr lang="en-US" sz="1200" b="1" dirty="0"/>
              <a:t>sales, service, parts, rentals, administration, or support</a:t>
            </a:r>
            <a:r>
              <a:rPr lang="en-US" sz="1200" dirty="0"/>
              <a:t>. Here you will find </a:t>
            </a:r>
            <a:r>
              <a:rPr lang="en-US" sz="1200" b="1" dirty="0"/>
              <a:t>guided learning, reference materials, and role-based courses</a:t>
            </a:r>
            <a:r>
              <a:rPr lang="en-US" sz="1200" dirty="0"/>
              <a:t> tailored to the work we do every day at Palco: </a:t>
            </a:r>
            <a:r>
              <a:rPr lang="en-US" sz="1200" b="1" dirty="0"/>
              <a:t>sizing and selecting generators, supporting projects, coordinating installations, servicing equipment, and taking care of customers before, during, and after the sale.</a:t>
            </a:r>
            <a:endParaRPr lang="en-US" sz="1200" dirty="0"/>
          </a:p>
          <a:p>
            <a:endParaRPr lang="en-US" sz="1200" b="1" dirty="0"/>
          </a:p>
          <a:p>
            <a:r>
              <a:rPr lang="en-US" sz="1200" b="1" dirty="0"/>
              <a:t>Thank you for investing your time in training.</a:t>
            </a:r>
            <a:r>
              <a:rPr lang="en-US" sz="1200" dirty="0"/>
              <a:t> Your commitment to </a:t>
            </a:r>
            <a:r>
              <a:rPr lang="en-US" sz="1200" b="1" dirty="0"/>
              <a:t>learning and continuous improvement</a:t>
            </a:r>
            <a:r>
              <a:rPr lang="en-US" sz="1200" dirty="0"/>
              <a:t> helps keep </a:t>
            </a:r>
            <a:r>
              <a:rPr lang="en-US" sz="1200" b="1" dirty="0"/>
              <a:t>Palco Power Systems—and Scott Electric as a whole—reliable, responsive, and growing as we continue our customer-focused operations.</a:t>
            </a:r>
            <a:endParaRPr lang="en-US" sz="1200" dirty="0"/>
          </a:p>
        </p:txBody>
      </p:sp>
      <p:sp>
        <p:nvSpPr>
          <p:cNvPr id="6" name="- S00a. About Palco Power Systems and Scott Electric -and  a Welcome to Training">
            <a:extLst>
              <a:ext uri="{FF2B5EF4-FFF2-40B4-BE49-F238E27FC236}">
                <a16:creationId xmlns:a16="http://schemas.microsoft.com/office/drawing/2014/main" id="{7C902527-DA10-578D-9B51-B45F4D419FF0}"/>
              </a:ext>
            </a:extLst>
          </p:cNvPr>
          <p:cNvSpPr>
            <a:spLocks noGrp="1"/>
          </p:cNvSpPr>
          <p:nvPr>
            <p:ph type="ctrTitle"/>
          </p:nvPr>
        </p:nvSpPr>
        <p:spPr>
          <a:xfrm>
            <a:off x="678179" y="815339"/>
            <a:ext cx="11142541" cy="441959"/>
          </a:xfrm>
        </p:spPr>
        <p:txBody>
          <a:bodyPr>
            <a:noAutofit/>
          </a:bodyPr>
          <a:lstStyle/>
          <a:p>
            <a:r>
              <a:rPr lang="en-US" sz="2000" b="1" dirty="0"/>
              <a:t>S001. About Palco Power Systems and Scott Electric -and  a Welcome to Training</a:t>
            </a:r>
            <a:endParaRPr lang="en-US" sz="2000" dirty="0"/>
          </a:p>
        </p:txBody>
      </p:sp>
      <p:cxnSp>
        <p:nvCxnSpPr>
          <p:cNvPr id="4" name="Straight Connector 3">
            <a:extLst>
              <a:ext uri="{FF2B5EF4-FFF2-40B4-BE49-F238E27FC236}">
                <a16:creationId xmlns:a16="http://schemas.microsoft.com/office/drawing/2014/main" id="{92F1030D-57A9-24FA-20D7-0E2431AA99F7}"/>
              </a:ext>
            </a:extLst>
          </p:cNvPr>
          <p:cNvCxnSpPr/>
          <p:nvPr/>
        </p:nvCxnSpPr>
        <p:spPr>
          <a:xfrm>
            <a:off x="1421564" y="1131425"/>
            <a:ext cx="98755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 name="- S00a. About Palco Power Systems and Scott Electric -and  a Welcome to Training">
            <a:extLst>
              <a:ext uri="{FF2B5EF4-FFF2-40B4-BE49-F238E27FC236}">
                <a16:creationId xmlns:a16="http://schemas.microsoft.com/office/drawing/2014/main" id="{5554A2A9-AD9B-8AFD-E02A-941BD77D6D91}"/>
              </a:ext>
            </a:extLst>
          </p:cNvPr>
          <p:cNvSpPr txBox="1">
            <a:spLocks/>
          </p:cNvSpPr>
          <p:nvPr/>
        </p:nvSpPr>
        <p:spPr>
          <a:xfrm>
            <a:off x="502920" y="209549"/>
            <a:ext cx="11142541" cy="44195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000" b="1" dirty="0">
                <a:solidFill>
                  <a:schemeClr val="bg1"/>
                </a:solidFill>
              </a:rPr>
              <a:t>S00a. About Palco Power Systems and Scott Electric -and  a Welcome to Training</a:t>
            </a:r>
            <a:endParaRPr lang="en-US" sz="2000" dirty="0">
              <a:solidFill>
                <a:schemeClr val="bg1"/>
              </a:solidFill>
            </a:endParaRPr>
          </a:p>
        </p:txBody>
      </p:sp>
    </p:spTree>
    <p:extLst>
      <p:ext uri="{BB962C8B-B14F-4D97-AF65-F5344CB8AC3E}">
        <p14:creationId xmlns:p14="http://schemas.microsoft.com/office/powerpoint/2010/main" val="19575726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BD1C1-5A4A-335C-5818-CB1BB4C6F0E3}"/>
            </a:ext>
          </a:extLst>
        </p:cNvPr>
        <p:cNvGrpSpPr/>
        <p:nvPr/>
      </p:nvGrpSpPr>
      <p:grpSpPr>
        <a:xfrm>
          <a:off x="0" y="0"/>
          <a:ext cx="0" cy="0"/>
          <a:chOff x="0" y="0"/>
          <a:chExt cx="0" cy="0"/>
        </a:xfrm>
      </p:grpSpPr>
      <p:sp>
        <p:nvSpPr>
          <p:cNvPr id="15" name="Flowchart: Process 14">
            <a:extLst>
              <a:ext uri="{FF2B5EF4-FFF2-40B4-BE49-F238E27FC236}">
                <a16:creationId xmlns:a16="http://schemas.microsoft.com/office/drawing/2014/main" id="{AC37CE5D-F619-AC3B-8885-D1BCABD46896}"/>
              </a:ext>
            </a:extLst>
          </p:cNvPr>
          <p:cNvSpPr/>
          <p:nvPr/>
        </p:nvSpPr>
        <p:spPr>
          <a:xfrm>
            <a:off x="485638" y="3199496"/>
            <a:ext cx="10974514" cy="2280323"/>
          </a:xfrm>
          <a:prstGeom prst="flowChartProcess">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rPr>
              <a:t>What</a:t>
            </a:r>
          </a:p>
        </p:txBody>
      </p:sp>
      <p:sp>
        <p:nvSpPr>
          <p:cNvPr id="4" name="Flowchart: Process 3">
            <a:extLst>
              <a:ext uri="{FF2B5EF4-FFF2-40B4-BE49-F238E27FC236}">
                <a16:creationId xmlns:a16="http://schemas.microsoft.com/office/drawing/2014/main" id="{4EA2E690-702D-C063-D9F6-AA2A184410D5}"/>
              </a:ext>
            </a:extLst>
          </p:cNvPr>
          <p:cNvSpPr/>
          <p:nvPr/>
        </p:nvSpPr>
        <p:spPr>
          <a:xfrm>
            <a:off x="536691" y="648294"/>
            <a:ext cx="10974514" cy="1049413"/>
          </a:xfrm>
          <a:prstGeom prst="flowChartProcess">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rPr>
              <a:t>Who</a:t>
            </a:r>
          </a:p>
        </p:txBody>
      </p:sp>
      <p:sp>
        <p:nvSpPr>
          <p:cNvPr id="2" name="TextBox 1">
            <a:extLst>
              <a:ext uri="{FF2B5EF4-FFF2-40B4-BE49-F238E27FC236}">
                <a16:creationId xmlns:a16="http://schemas.microsoft.com/office/drawing/2014/main" id="{44F1D0D7-4B73-F9F0-D885-9C949875253A}"/>
              </a:ext>
            </a:extLst>
          </p:cNvPr>
          <p:cNvSpPr txBox="1"/>
          <p:nvPr/>
        </p:nvSpPr>
        <p:spPr>
          <a:xfrm>
            <a:off x="1238838" y="665168"/>
            <a:ext cx="1050288" cy="1015663"/>
          </a:xfrm>
          <a:prstGeom prst="rect">
            <a:avLst/>
          </a:prstGeom>
          <a:noFill/>
        </p:spPr>
        <p:txBody>
          <a:bodyPr wrap="none" rtlCol="0">
            <a:spAutoFit/>
          </a:bodyPr>
          <a:lstStyle/>
          <a:p>
            <a:r>
              <a:rPr lang="en-US" sz="1200" dirty="0"/>
              <a:t>Out side sales</a:t>
            </a:r>
          </a:p>
          <a:p>
            <a:r>
              <a:rPr lang="en-US" sz="1200" dirty="0"/>
              <a:t>Inside sales </a:t>
            </a:r>
          </a:p>
          <a:p>
            <a:r>
              <a:rPr lang="en-US" sz="1200" dirty="0"/>
              <a:t>Fax </a:t>
            </a:r>
          </a:p>
          <a:p>
            <a:r>
              <a:rPr lang="en-US" sz="1200" dirty="0"/>
              <a:t>Email </a:t>
            </a:r>
          </a:p>
          <a:p>
            <a:r>
              <a:rPr lang="en-US" sz="1200" dirty="0"/>
              <a:t>Phone</a:t>
            </a:r>
          </a:p>
        </p:txBody>
      </p:sp>
      <p:sp>
        <p:nvSpPr>
          <p:cNvPr id="8" name="Arrow: Chevron 7">
            <a:extLst>
              <a:ext uri="{FF2B5EF4-FFF2-40B4-BE49-F238E27FC236}">
                <a16:creationId xmlns:a16="http://schemas.microsoft.com/office/drawing/2014/main" id="{1D0031BD-4C2B-E5CE-F045-8B6A5150635D}"/>
              </a:ext>
            </a:extLst>
          </p:cNvPr>
          <p:cNvSpPr/>
          <p:nvPr/>
        </p:nvSpPr>
        <p:spPr>
          <a:xfrm>
            <a:off x="485638" y="1869353"/>
            <a:ext cx="2900462" cy="1246238"/>
          </a:xfrm>
          <a:prstGeom prst="chevron">
            <a:avLst>
              <a:gd name="adj" fmla="val 71893"/>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dirty="0">
                <a:solidFill>
                  <a:schemeClr val="bg1"/>
                </a:solidFill>
              </a:rPr>
              <a:t>Customer Requests Service Or is scheduled for one</a:t>
            </a:r>
          </a:p>
        </p:txBody>
      </p:sp>
      <p:sp>
        <p:nvSpPr>
          <p:cNvPr id="9" name="Arrow: Chevron 8">
            <a:extLst>
              <a:ext uri="{FF2B5EF4-FFF2-40B4-BE49-F238E27FC236}">
                <a16:creationId xmlns:a16="http://schemas.microsoft.com/office/drawing/2014/main" id="{FC5C348B-0097-0C12-7C08-EAF19306732C}"/>
              </a:ext>
            </a:extLst>
          </p:cNvPr>
          <p:cNvSpPr/>
          <p:nvPr/>
        </p:nvSpPr>
        <p:spPr>
          <a:xfrm>
            <a:off x="2257197" y="1862040"/>
            <a:ext cx="3122141" cy="1245333"/>
          </a:xfrm>
          <a:prstGeom prst="chevron">
            <a:avLst>
              <a:gd name="adj" fmla="val 71893"/>
            </a:avLst>
          </a:prstGeom>
          <a:solidFill>
            <a:schemeClr val="accent6">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dirty="0">
                <a:solidFill>
                  <a:schemeClr val="bg1"/>
                </a:solidFill>
              </a:rPr>
              <a:t>Based Type of service SRO (Service Request Order) is Created</a:t>
            </a:r>
            <a:endParaRPr lang="en-US" sz="1050" b="1" dirty="0">
              <a:solidFill>
                <a:schemeClr val="bg1"/>
              </a:solidFill>
            </a:endParaRPr>
          </a:p>
        </p:txBody>
      </p:sp>
      <p:sp>
        <p:nvSpPr>
          <p:cNvPr id="10" name="Arrow: Chevron 9">
            <a:extLst>
              <a:ext uri="{FF2B5EF4-FFF2-40B4-BE49-F238E27FC236}">
                <a16:creationId xmlns:a16="http://schemas.microsoft.com/office/drawing/2014/main" id="{5908C1B1-10CD-2E56-1758-9D18BB847537}"/>
              </a:ext>
            </a:extLst>
          </p:cNvPr>
          <p:cNvSpPr/>
          <p:nvPr/>
        </p:nvSpPr>
        <p:spPr>
          <a:xfrm>
            <a:off x="3867876" y="1869203"/>
            <a:ext cx="2900462" cy="1246238"/>
          </a:xfrm>
          <a:prstGeom prst="chevron">
            <a:avLst>
              <a:gd name="adj" fmla="val 71893"/>
            </a:avLst>
          </a:prstGeom>
          <a:solidFill>
            <a:schemeClr val="accent4">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dirty="0">
                <a:solidFill>
                  <a:srgbClr val="FFFF00"/>
                </a:solidFill>
              </a:rPr>
              <a:t>Based on Assessment and acceptance from Customer a  Service is planned and  scheduled </a:t>
            </a:r>
            <a:endParaRPr lang="en-US" sz="1050" b="1" dirty="0">
              <a:solidFill>
                <a:srgbClr val="FFFF00"/>
              </a:solidFill>
            </a:endParaRPr>
          </a:p>
        </p:txBody>
      </p:sp>
      <p:sp>
        <p:nvSpPr>
          <p:cNvPr id="11" name="Arrow: Chevron 10">
            <a:extLst>
              <a:ext uri="{FF2B5EF4-FFF2-40B4-BE49-F238E27FC236}">
                <a16:creationId xmlns:a16="http://schemas.microsoft.com/office/drawing/2014/main" id="{653CBCA3-A0AC-94A0-51D6-8D2640B0C5DC}"/>
              </a:ext>
            </a:extLst>
          </p:cNvPr>
          <p:cNvSpPr/>
          <p:nvPr/>
        </p:nvSpPr>
        <p:spPr>
          <a:xfrm>
            <a:off x="5700666" y="1869203"/>
            <a:ext cx="2900462" cy="1246238"/>
          </a:xfrm>
          <a:prstGeom prst="chevron">
            <a:avLst>
              <a:gd name="adj" fmla="val 71893"/>
            </a:avLst>
          </a:prstGeom>
          <a:solidFill>
            <a:schemeClr val="tx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dirty="0">
                <a:solidFill>
                  <a:schemeClr val="tx1">
                    <a:lumMod val="85000"/>
                    <a:lumOff val="15000"/>
                  </a:schemeClr>
                </a:solidFill>
              </a:rPr>
              <a:t>Performs service at the site very rarely is service performed at PALCO </a:t>
            </a:r>
            <a:endParaRPr lang="en-US" sz="1050" b="1" dirty="0">
              <a:solidFill>
                <a:schemeClr val="tx1">
                  <a:lumMod val="85000"/>
                  <a:lumOff val="15000"/>
                </a:schemeClr>
              </a:solidFill>
            </a:endParaRPr>
          </a:p>
        </p:txBody>
      </p:sp>
      <p:sp>
        <p:nvSpPr>
          <p:cNvPr id="13" name="TextBox 12">
            <a:extLst>
              <a:ext uri="{FF2B5EF4-FFF2-40B4-BE49-F238E27FC236}">
                <a16:creationId xmlns:a16="http://schemas.microsoft.com/office/drawing/2014/main" id="{1391036B-E0CB-3ED6-612A-2FE673EBCEA6}"/>
              </a:ext>
            </a:extLst>
          </p:cNvPr>
          <p:cNvSpPr txBox="1"/>
          <p:nvPr/>
        </p:nvSpPr>
        <p:spPr>
          <a:xfrm>
            <a:off x="6178683" y="697993"/>
            <a:ext cx="839461" cy="276999"/>
          </a:xfrm>
          <a:prstGeom prst="rect">
            <a:avLst/>
          </a:prstGeom>
          <a:noFill/>
        </p:spPr>
        <p:txBody>
          <a:bodyPr wrap="none" rtlCol="0">
            <a:spAutoFit/>
          </a:bodyPr>
          <a:lstStyle/>
          <a:p>
            <a:r>
              <a:rPr lang="en-US" sz="1200" dirty="0"/>
              <a:t>Technician</a:t>
            </a:r>
          </a:p>
        </p:txBody>
      </p:sp>
      <p:sp>
        <p:nvSpPr>
          <p:cNvPr id="14" name="TextBox 13">
            <a:extLst>
              <a:ext uri="{FF2B5EF4-FFF2-40B4-BE49-F238E27FC236}">
                <a16:creationId xmlns:a16="http://schemas.microsoft.com/office/drawing/2014/main" id="{32CEFF2D-80C8-6AD7-0AE0-E6ECABAC7F2A}"/>
              </a:ext>
            </a:extLst>
          </p:cNvPr>
          <p:cNvSpPr txBox="1"/>
          <p:nvPr/>
        </p:nvSpPr>
        <p:spPr>
          <a:xfrm>
            <a:off x="4630799" y="678953"/>
            <a:ext cx="1287213" cy="830997"/>
          </a:xfrm>
          <a:prstGeom prst="rect">
            <a:avLst/>
          </a:prstGeom>
          <a:noFill/>
        </p:spPr>
        <p:txBody>
          <a:bodyPr wrap="square" rtlCol="0">
            <a:spAutoFit/>
          </a:bodyPr>
          <a:lstStyle/>
          <a:p>
            <a:r>
              <a:rPr lang="en-US" sz="1200" dirty="0"/>
              <a:t>Parts Personnel</a:t>
            </a:r>
          </a:p>
          <a:p>
            <a:r>
              <a:rPr lang="en-US" sz="1200" dirty="0"/>
              <a:t>Technicians</a:t>
            </a:r>
          </a:p>
          <a:p>
            <a:r>
              <a:rPr lang="en-US" sz="1200" dirty="0"/>
              <a:t>Manufacturer’s Guide</a:t>
            </a:r>
          </a:p>
        </p:txBody>
      </p:sp>
      <p:sp>
        <p:nvSpPr>
          <p:cNvPr id="16" name="TextBox 15">
            <a:extLst>
              <a:ext uri="{FF2B5EF4-FFF2-40B4-BE49-F238E27FC236}">
                <a16:creationId xmlns:a16="http://schemas.microsoft.com/office/drawing/2014/main" id="{0CC4D5E9-C5BC-EB68-5061-54FC08BA82F4}"/>
              </a:ext>
            </a:extLst>
          </p:cNvPr>
          <p:cNvSpPr txBox="1"/>
          <p:nvPr/>
        </p:nvSpPr>
        <p:spPr>
          <a:xfrm>
            <a:off x="9465568" y="697993"/>
            <a:ext cx="1126462" cy="461665"/>
          </a:xfrm>
          <a:prstGeom prst="rect">
            <a:avLst/>
          </a:prstGeom>
          <a:noFill/>
        </p:spPr>
        <p:txBody>
          <a:bodyPr wrap="none" rtlCol="0">
            <a:spAutoFit/>
          </a:bodyPr>
          <a:lstStyle/>
          <a:p>
            <a:r>
              <a:rPr lang="en-US" sz="1200" dirty="0"/>
              <a:t>Invoicing  Clerk</a:t>
            </a:r>
          </a:p>
          <a:p>
            <a:r>
              <a:rPr lang="en-US" sz="1200" dirty="0"/>
              <a:t>AR</a:t>
            </a:r>
          </a:p>
        </p:txBody>
      </p:sp>
      <p:sp>
        <p:nvSpPr>
          <p:cNvPr id="17" name="TextBox 16">
            <a:extLst>
              <a:ext uri="{FF2B5EF4-FFF2-40B4-BE49-F238E27FC236}">
                <a16:creationId xmlns:a16="http://schemas.microsoft.com/office/drawing/2014/main" id="{8E4426EB-797F-1006-F108-1BEB02BD6226}"/>
              </a:ext>
            </a:extLst>
          </p:cNvPr>
          <p:cNvSpPr txBox="1"/>
          <p:nvPr/>
        </p:nvSpPr>
        <p:spPr>
          <a:xfrm>
            <a:off x="7683820" y="680401"/>
            <a:ext cx="1451035" cy="830997"/>
          </a:xfrm>
          <a:prstGeom prst="rect">
            <a:avLst/>
          </a:prstGeom>
          <a:noFill/>
        </p:spPr>
        <p:txBody>
          <a:bodyPr wrap="square" rtlCol="0">
            <a:spAutoFit/>
          </a:bodyPr>
          <a:lstStyle/>
          <a:p>
            <a:r>
              <a:rPr lang="en-US" sz="1200" dirty="0"/>
              <a:t>Warranty Processor</a:t>
            </a:r>
          </a:p>
          <a:p>
            <a:r>
              <a:rPr lang="en-US" sz="1200" dirty="0"/>
              <a:t>Or Service Supervisor/ Manager</a:t>
            </a:r>
          </a:p>
        </p:txBody>
      </p:sp>
      <p:sp>
        <p:nvSpPr>
          <p:cNvPr id="18" name="Flowchart: Process 17">
            <a:extLst>
              <a:ext uri="{FF2B5EF4-FFF2-40B4-BE49-F238E27FC236}">
                <a16:creationId xmlns:a16="http://schemas.microsoft.com/office/drawing/2014/main" id="{AA547DF0-52CE-331B-D4CE-5B27A9DC6B22}"/>
              </a:ext>
            </a:extLst>
          </p:cNvPr>
          <p:cNvSpPr/>
          <p:nvPr/>
        </p:nvSpPr>
        <p:spPr>
          <a:xfrm>
            <a:off x="1484101" y="3503782"/>
            <a:ext cx="1440211" cy="345873"/>
          </a:xfrm>
          <a:prstGeom prst="flowChartProcess">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Customer details entered checked</a:t>
            </a:r>
          </a:p>
        </p:txBody>
      </p:sp>
      <p:sp>
        <p:nvSpPr>
          <p:cNvPr id="20" name="Flowchart: Process 19">
            <a:extLst>
              <a:ext uri="{FF2B5EF4-FFF2-40B4-BE49-F238E27FC236}">
                <a16:creationId xmlns:a16="http://schemas.microsoft.com/office/drawing/2014/main" id="{AEEBB177-4110-E815-CBC5-84224F7293E1}"/>
              </a:ext>
            </a:extLst>
          </p:cNvPr>
          <p:cNvSpPr/>
          <p:nvPr/>
        </p:nvSpPr>
        <p:spPr>
          <a:xfrm>
            <a:off x="1491104" y="3948958"/>
            <a:ext cx="1433208" cy="712331"/>
          </a:xfrm>
          <a:prstGeom prst="flowChartProcess">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Generator information Gathered and verified</a:t>
            </a:r>
          </a:p>
        </p:txBody>
      </p:sp>
      <p:sp>
        <p:nvSpPr>
          <p:cNvPr id="21" name="Flowchart: Process 20">
            <a:extLst>
              <a:ext uri="{FF2B5EF4-FFF2-40B4-BE49-F238E27FC236}">
                <a16:creationId xmlns:a16="http://schemas.microsoft.com/office/drawing/2014/main" id="{252FEE82-8A17-5DA0-49A6-48261E6C57E9}"/>
              </a:ext>
            </a:extLst>
          </p:cNvPr>
          <p:cNvSpPr/>
          <p:nvPr/>
        </p:nvSpPr>
        <p:spPr>
          <a:xfrm>
            <a:off x="3137471" y="3479068"/>
            <a:ext cx="1433208" cy="807196"/>
          </a:xfrm>
          <a:prstGeom prst="flowChartProcess">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Based on serial number all  service records are reviewed and current issue is noted</a:t>
            </a:r>
          </a:p>
        </p:txBody>
      </p:sp>
      <p:sp>
        <p:nvSpPr>
          <p:cNvPr id="23" name="Flowchart: Process 22">
            <a:extLst>
              <a:ext uri="{FF2B5EF4-FFF2-40B4-BE49-F238E27FC236}">
                <a16:creationId xmlns:a16="http://schemas.microsoft.com/office/drawing/2014/main" id="{6A697C49-E232-514C-8791-0525E55C7275}"/>
              </a:ext>
            </a:extLst>
          </p:cNvPr>
          <p:cNvSpPr/>
          <p:nvPr/>
        </p:nvSpPr>
        <p:spPr>
          <a:xfrm>
            <a:off x="3137468" y="4303137"/>
            <a:ext cx="1433209" cy="675698"/>
          </a:xfrm>
          <a:prstGeom prst="flowChartProcess">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Estimate is created </a:t>
            </a:r>
          </a:p>
          <a:p>
            <a:pPr algn="ctr"/>
            <a:r>
              <a:rPr lang="en-US" sz="1100" b="1" dirty="0">
                <a:solidFill>
                  <a:schemeClr val="tx1"/>
                </a:solidFill>
              </a:rPr>
              <a:t>And acceptance of Service and Payment terms is received</a:t>
            </a:r>
          </a:p>
        </p:txBody>
      </p:sp>
      <p:sp>
        <p:nvSpPr>
          <p:cNvPr id="24" name="Flowchart: Process 23">
            <a:extLst>
              <a:ext uri="{FF2B5EF4-FFF2-40B4-BE49-F238E27FC236}">
                <a16:creationId xmlns:a16="http://schemas.microsoft.com/office/drawing/2014/main" id="{0E59E359-5D55-532C-2CC2-97E532D901A6}"/>
              </a:ext>
            </a:extLst>
          </p:cNvPr>
          <p:cNvSpPr/>
          <p:nvPr/>
        </p:nvSpPr>
        <p:spPr>
          <a:xfrm>
            <a:off x="3137470" y="5055148"/>
            <a:ext cx="1433208" cy="345873"/>
          </a:xfrm>
          <a:prstGeom prst="flowChartProcess">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Planned list of Parts added to SRO </a:t>
            </a:r>
          </a:p>
        </p:txBody>
      </p:sp>
      <p:sp>
        <p:nvSpPr>
          <p:cNvPr id="25" name="Flowchart: Process 24">
            <a:extLst>
              <a:ext uri="{FF2B5EF4-FFF2-40B4-BE49-F238E27FC236}">
                <a16:creationId xmlns:a16="http://schemas.microsoft.com/office/drawing/2014/main" id="{21822B76-5A4D-2A84-5985-AB56ED06C8C9}"/>
              </a:ext>
            </a:extLst>
          </p:cNvPr>
          <p:cNvSpPr/>
          <p:nvPr/>
        </p:nvSpPr>
        <p:spPr>
          <a:xfrm>
            <a:off x="4702837" y="4696483"/>
            <a:ext cx="1318936" cy="717330"/>
          </a:xfrm>
          <a:prstGeom prst="flowChartProcess">
            <a:avLst/>
          </a:prstGeom>
          <a:solidFill>
            <a:schemeClr val="accent4">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Items required for the SRO are delivered to the truck</a:t>
            </a:r>
          </a:p>
        </p:txBody>
      </p:sp>
      <p:sp>
        <p:nvSpPr>
          <p:cNvPr id="26" name="Flowchart: Process 25">
            <a:extLst>
              <a:ext uri="{FF2B5EF4-FFF2-40B4-BE49-F238E27FC236}">
                <a16:creationId xmlns:a16="http://schemas.microsoft.com/office/drawing/2014/main" id="{1CE046A7-E7B4-0CA1-20C2-EADA48DD8843}"/>
              </a:ext>
            </a:extLst>
          </p:cNvPr>
          <p:cNvSpPr/>
          <p:nvPr/>
        </p:nvSpPr>
        <p:spPr>
          <a:xfrm>
            <a:off x="4695039" y="4309893"/>
            <a:ext cx="1289220" cy="327961"/>
          </a:xfrm>
          <a:prstGeom prst="flowChartProcess">
            <a:avLst/>
          </a:prstGeom>
          <a:solidFill>
            <a:schemeClr val="accent4">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Tech is scheduled </a:t>
            </a:r>
          </a:p>
        </p:txBody>
      </p:sp>
      <p:sp>
        <p:nvSpPr>
          <p:cNvPr id="27" name="Flowchart: Process 26">
            <a:extLst>
              <a:ext uri="{FF2B5EF4-FFF2-40B4-BE49-F238E27FC236}">
                <a16:creationId xmlns:a16="http://schemas.microsoft.com/office/drawing/2014/main" id="{FCB0BF7C-78ED-2A84-37EF-98829BA8F128}"/>
              </a:ext>
            </a:extLst>
          </p:cNvPr>
          <p:cNvSpPr/>
          <p:nvPr/>
        </p:nvSpPr>
        <p:spPr>
          <a:xfrm>
            <a:off x="6276962" y="3436895"/>
            <a:ext cx="1436195" cy="1935093"/>
          </a:xfrm>
          <a:prstGeom prst="flowChartProcess">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Technician performs service as planed, notes if  a Call back is needed or additional much needed service can be performed at that time</a:t>
            </a:r>
          </a:p>
        </p:txBody>
      </p:sp>
      <p:sp>
        <p:nvSpPr>
          <p:cNvPr id="29" name="Flowchart: Process 28">
            <a:extLst>
              <a:ext uri="{FF2B5EF4-FFF2-40B4-BE49-F238E27FC236}">
                <a16:creationId xmlns:a16="http://schemas.microsoft.com/office/drawing/2014/main" id="{89D48BAA-722D-3F69-52B6-BD7C85207243}"/>
              </a:ext>
            </a:extLst>
          </p:cNvPr>
          <p:cNvSpPr/>
          <p:nvPr/>
        </p:nvSpPr>
        <p:spPr>
          <a:xfrm>
            <a:off x="9437755" y="3461149"/>
            <a:ext cx="1543070" cy="717331"/>
          </a:xfrm>
          <a:prstGeom prst="flowChartProcess">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Invoice is processed as per the terms (Credit card/ on account)</a:t>
            </a:r>
          </a:p>
        </p:txBody>
      </p:sp>
      <p:sp>
        <p:nvSpPr>
          <p:cNvPr id="30" name="Flowchart: Process 29">
            <a:extLst>
              <a:ext uri="{FF2B5EF4-FFF2-40B4-BE49-F238E27FC236}">
                <a16:creationId xmlns:a16="http://schemas.microsoft.com/office/drawing/2014/main" id="{C1CC1862-B8B0-0099-5444-76EFC7DD0E12}"/>
              </a:ext>
            </a:extLst>
          </p:cNvPr>
          <p:cNvSpPr/>
          <p:nvPr/>
        </p:nvSpPr>
        <p:spPr>
          <a:xfrm>
            <a:off x="9437755" y="4290240"/>
            <a:ext cx="1543070" cy="345873"/>
          </a:xfrm>
          <a:prstGeom prst="flowChartProcess">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Payment Collection</a:t>
            </a:r>
          </a:p>
        </p:txBody>
      </p:sp>
      <p:sp>
        <p:nvSpPr>
          <p:cNvPr id="31" name="Flowchart: Process 30">
            <a:extLst>
              <a:ext uri="{FF2B5EF4-FFF2-40B4-BE49-F238E27FC236}">
                <a16:creationId xmlns:a16="http://schemas.microsoft.com/office/drawing/2014/main" id="{8B261F88-C24A-ADA1-5EEF-7B6C724D66E5}"/>
              </a:ext>
            </a:extLst>
          </p:cNvPr>
          <p:cNvSpPr/>
          <p:nvPr/>
        </p:nvSpPr>
        <p:spPr>
          <a:xfrm>
            <a:off x="462109" y="5652358"/>
            <a:ext cx="10974514" cy="1049413"/>
          </a:xfrm>
          <a:prstGeom prst="flowChartProcess">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rPr>
              <a:t>Where</a:t>
            </a:r>
          </a:p>
        </p:txBody>
      </p:sp>
      <p:sp>
        <p:nvSpPr>
          <p:cNvPr id="32" name="TextBox 31">
            <a:extLst>
              <a:ext uri="{FF2B5EF4-FFF2-40B4-BE49-F238E27FC236}">
                <a16:creationId xmlns:a16="http://schemas.microsoft.com/office/drawing/2014/main" id="{245206B2-7C95-14AE-6BD9-344E5ED282D9}"/>
              </a:ext>
            </a:extLst>
          </p:cNvPr>
          <p:cNvSpPr txBox="1"/>
          <p:nvPr/>
        </p:nvSpPr>
        <p:spPr>
          <a:xfrm>
            <a:off x="1579459" y="5643732"/>
            <a:ext cx="1419334" cy="1015663"/>
          </a:xfrm>
          <a:prstGeom prst="rect">
            <a:avLst/>
          </a:prstGeom>
          <a:noFill/>
        </p:spPr>
        <p:txBody>
          <a:bodyPr wrap="square" rtlCol="0">
            <a:spAutoFit/>
          </a:bodyPr>
          <a:lstStyle/>
          <a:p>
            <a:r>
              <a:rPr lang="en-US" sz="1200" b="1" dirty="0"/>
              <a:t>Outside salesman </a:t>
            </a:r>
            <a:r>
              <a:rPr lang="en-US" sz="1200" dirty="0"/>
              <a:t>Laptop</a:t>
            </a:r>
          </a:p>
          <a:p>
            <a:r>
              <a:rPr lang="en-US" sz="1200" b="1" dirty="0"/>
              <a:t>Inside Service </a:t>
            </a:r>
            <a:r>
              <a:rPr lang="en-US" sz="1200" dirty="0"/>
              <a:t>Create Incident or SRO </a:t>
            </a:r>
          </a:p>
        </p:txBody>
      </p:sp>
      <p:sp>
        <p:nvSpPr>
          <p:cNvPr id="33" name="TextBox 32">
            <a:extLst>
              <a:ext uri="{FF2B5EF4-FFF2-40B4-BE49-F238E27FC236}">
                <a16:creationId xmlns:a16="http://schemas.microsoft.com/office/drawing/2014/main" id="{E5433C48-DE39-64B6-5AAC-830877BD5480}"/>
              </a:ext>
            </a:extLst>
          </p:cNvPr>
          <p:cNvSpPr txBox="1"/>
          <p:nvPr/>
        </p:nvSpPr>
        <p:spPr>
          <a:xfrm>
            <a:off x="3229653" y="5669235"/>
            <a:ext cx="1401146" cy="1015663"/>
          </a:xfrm>
          <a:prstGeom prst="rect">
            <a:avLst/>
          </a:prstGeom>
          <a:noFill/>
        </p:spPr>
        <p:txBody>
          <a:bodyPr wrap="square" rtlCol="0">
            <a:spAutoFit/>
          </a:bodyPr>
          <a:lstStyle/>
          <a:p>
            <a:r>
              <a:rPr lang="en-US" sz="1200" dirty="0"/>
              <a:t>On ISM module of CSD, Manufacturers trouble shooting Guide. </a:t>
            </a:r>
          </a:p>
        </p:txBody>
      </p:sp>
      <p:sp>
        <p:nvSpPr>
          <p:cNvPr id="35" name="TextBox 34">
            <a:extLst>
              <a:ext uri="{FF2B5EF4-FFF2-40B4-BE49-F238E27FC236}">
                <a16:creationId xmlns:a16="http://schemas.microsoft.com/office/drawing/2014/main" id="{74D943FE-3ECE-D73D-DDD7-BB677C3E398D}"/>
              </a:ext>
            </a:extLst>
          </p:cNvPr>
          <p:cNvSpPr txBox="1"/>
          <p:nvPr/>
        </p:nvSpPr>
        <p:spPr>
          <a:xfrm>
            <a:off x="9516178" y="5761567"/>
            <a:ext cx="1924573" cy="461665"/>
          </a:xfrm>
          <a:prstGeom prst="rect">
            <a:avLst/>
          </a:prstGeom>
          <a:noFill/>
        </p:spPr>
        <p:txBody>
          <a:bodyPr wrap="square" rtlCol="0">
            <a:spAutoFit/>
          </a:bodyPr>
          <a:lstStyle/>
          <a:p>
            <a:r>
              <a:rPr lang="en-US" sz="1200" dirty="0"/>
              <a:t>CSD </a:t>
            </a:r>
            <a:br>
              <a:rPr lang="en-US" sz="1200" dirty="0"/>
            </a:br>
            <a:r>
              <a:rPr lang="en-US" sz="1200" dirty="0"/>
              <a:t>Credit card Processing</a:t>
            </a:r>
          </a:p>
        </p:txBody>
      </p:sp>
      <p:sp>
        <p:nvSpPr>
          <p:cNvPr id="36" name="TextBox 35">
            <a:extLst>
              <a:ext uri="{FF2B5EF4-FFF2-40B4-BE49-F238E27FC236}">
                <a16:creationId xmlns:a16="http://schemas.microsoft.com/office/drawing/2014/main" id="{D943F870-5E59-554B-2A3F-0323924397F9}"/>
              </a:ext>
            </a:extLst>
          </p:cNvPr>
          <p:cNvSpPr txBox="1"/>
          <p:nvPr/>
        </p:nvSpPr>
        <p:spPr>
          <a:xfrm>
            <a:off x="7784751" y="5661455"/>
            <a:ext cx="1632754" cy="1015663"/>
          </a:xfrm>
          <a:prstGeom prst="rect">
            <a:avLst/>
          </a:prstGeom>
          <a:noFill/>
        </p:spPr>
        <p:txBody>
          <a:bodyPr wrap="square" rtlCol="0">
            <a:spAutoFit/>
          </a:bodyPr>
          <a:lstStyle/>
          <a:p>
            <a:r>
              <a:rPr lang="en-US" sz="1200" dirty="0"/>
              <a:t>Based on prevailing Warranty a warranty claim is entered in the Manufacturer’s system</a:t>
            </a:r>
          </a:p>
          <a:p>
            <a:r>
              <a:rPr lang="en-US" sz="1200" dirty="0"/>
              <a:t>ISM /CSD</a:t>
            </a:r>
          </a:p>
        </p:txBody>
      </p:sp>
      <p:sp>
        <p:nvSpPr>
          <p:cNvPr id="3" name="Flowchart: Process 2">
            <a:extLst>
              <a:ext uri="{FF2B5EF4-FFF2-40B4-BE49-F238E27FC236}">
                <a16:creationId xmlns:a16="http://schemas.microsoft.com/office/drawing/2014/main" id="{0CD03DFF-88C7-51B7-CDF8-AEB7D0CC75DF}"/>
              </a:ext>
            </a:extLst>
          </p:cNvPr>
          <p:cNvSpPr/>
          <p:nvPr/>
        </p:nvSpPr>
        <p:spPr>
          <a:xfrm>
            <a:off x="1491104" y="4675364"/>
            <a:ext cx="1433208" cy="712332"/>
          </a:xfrm>
          <a:prstGeom prst="flowChartProcess">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Warranty PMA status etc determined</a:t>
            </a:r>
          </a:p>
        </p:txBody>
      </p:sp>
      <p:sp>
        <p:nvSpPr>
          <p:cNvPr id="5" name="Flowchart: Process 4">
            <a:extLst>
              <a:ext uri="{FF2B5EF4-FFF2-40B4-BE49-F238E27FC236}">
                <a16:creationId xmlns:a16="http://schemas.microsoft.com/office/drawing/2014/main" id="{6B478F17-8A55-7C4B-A6FD-D175382B0ECC}"/>
              </a:ext>
            </a:extLst>
          </p:cNvPr>
          <p:cNvSpPr/>
          <p:nvPr/>
        </p:nvSpPr>
        <p:spPr>
          <a:xfrm>
            <a:off x="4702837" y="3464820"/>
            <a:ext cx="1318937" cy="751063"/>
          </a:xfrm>
          <a:prstGeom prst="flowChartProcess">
            <a:avLst/>
          </a:prstGeom>
          <a:solidFill>
            <a:schemeClr val="accent4">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solidFill>
                  <a:schemeClr val="tx1"/>
                </a:solidFill>
              </a:rPr>
              <a:t>If parts are not carried in stock, they are picked up from Part stores or ordered </a:t>
            </a:r>
          </a:p>
        </p:txBody>
      </p:sp>
      <p:sp>
        <p:nvSpPr>
          <p:cNvPr id="6" name="TextBox 5">
            <a:extLst>
              <a:ext uri="{FF2B5EF4-FFF2-40B4-BE49-F238E27FC236}">
                <a16:creationId xmlns:a16="http://schemas.microsoft.com/office/drawing/2014/main" id="{525134E9-642D-2CEC-3A64-F91A61D5A177}"/>
              </a:ext>
            </a:extLst>
          </p:cNvPr>
          <p:cNvSpPr txBox="1"/>
          <p:nvPr/>
        </p:nvSpPr>
        <p:spPr>
          <a:xfrm>
            <a:off x="4644208" y="5661456"/>
            <a:ext cx="1377565" cy="830997"/>
          </a:xfrm>
          <a:prstGeom prst="rect">
            <a:avLst/>
          </a:prstGeom>
          <a:noFill/>
        </p:spPr>
        <p:txBody>
          <a:bodyPr wrap="square" rtlCol="0">
            <a:spAutoFit/>
          </a:bodyPr>
          <a:lstStyle/>
          <a:p>
            <a:r>
              <a:rPr lang="en-US" sz="1200" dirty="0"/>
              <a:t>Parts in SD and ISM</a:t>
            </a:r>
          </a:p>
          <a:p>
            <a:r>
              <a:rPr lang="en-US" sz="1200" dirty="0"/>
              <a:t>ISM Tech Mobile</a:t>
            </a:r>
          </a:p>
          <a:p>
            <a:r>
              <a:rPr lang="en-US" sz="1200" dirty="0"/>
              <a:t>CSD</a:t>
            </a:r>
          </a:p>
        </p:txBody>
      </p:sp>
      <p:sp>
        <p:nvSpPr>
          <p:cNvPr id="19" name="TextBox 18">
            <a:extLst>
              <a:ext uri="{FF2B5EF4-FFF2-40B4-BE49-F238E27FC236}">
                <a16:creationId xmlns:a16="http://schemas.microsoft.com/office/drawing/2014/main" id="{AF2F8D8B-E3A0-4398-2AF5-5D30AB3F8107}"/>
              </a:ext>
            </a:extLst>
          </p:cNvPr>
          <p:cNvSpPr txBox="1"/>
          <p:nvPr/>
        </p:nvSpPr>
        <p:spPr>
          <a:xfrm>
            <a:off x="2864990" y="677505"/>
            <a:ext cx="1126270" cy="830997"/>
          </a:xfrm>
          <a:prstGeom prst="rect">
            <a:avLst/>
          </a:prstGeom>
          <a:noFill/>
        </p:spPr>
        <p:txBody>
          <a:bodyPr wrap="none" rtlCol="0">
            <a:spAutoFit/>
          </a:bodyPr>
          <a:lstStyle/>
          <a:p>
            <a:r>
              <a:rPr lang="en-US" sz="1200" dirty="0"/>
              <a:t>Service Writers</a:t>
            </a:r>
          </a:p>
          <a:p>
            <a:r>
              <a:rPr lang="en-US" sz="1200" dirty="0"/>
              <a:t>Coordinator</a:t>
            </a:r>
          </a:p>
          <a:p>
            <a:r>
              <a:rPr lang="en-US" sz="1200" dirty="0"/>
              <a:t>Supervisor</a:t>
            </a:r>
          </a:p>
          <a:p>
            <a:r>
              <a:rPr lang="en-US" sz="1200" dirty="0"/>
              <a:t>Manager</a:t>
            </a:r>
          </a:p>
        </p:txBody>
      </p:sp>
      <p:sp>
        <p:nvSpPr>
          <p:cNvPr id="22" name="Arrow: Chevron 21">
            <a:extLst>
              <a:ext uri="{FF2B5EF4-FFF2-40B4-BE49-F238E27FC236}">
                <a16:creationId xmlns:a16="http://schemas.microsoft.com/office/drawing/2014/main" id="{3DA32B5D-6D78-87F5-51FA-77BA6F200AD6}"/>
              </a:ext>
            </a:extLst>
          </p:cNvPr>
          <p:cNvSpPr/>
          <p:nvPr/>
        </p:nvSpPr>
        <p:spPr>
          <a:xfrm>
            <a:off x="7382242" y="1869203"/>
            <a:ext cx="2758454" cy="1246238"/>
          </a:xfrm>
          <a:prstGeom prst="chevron">
            <a:avLst>
              <a:gd name="adj" fmla="val 71893"/>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dirty="0">
                <a:solidFill>
                  <a:schemeClr val="accent6">
                    <a:lumMod val="50000"/>
                  </a:schemeClr>
                </a:solidFill>
              </a:rPr>
              <a:t>Warranty Coverage Verified or Billed accordingly</a:t>
            </a:r>
          </a:p>
        </p:txBody>
      </p:sp>
      <p:sp>
        <p:nvSpPr>
          <p:cNvPr id="12" name="Arrow: Chevron 11">
            <a:extLst>
              <a:ext uri="{FF2B5EF4-FFF2-40B4-BE49-F238E27FC236}">
                <a16:creationId xmlns:a16="http://schemas.microsoft.com/office/drawing/2014/main" id="{5B580A3B-5307-713B-1DC0-5CA2033EDE2A}"/>
              </a:ext>
            </a:extLst>
          </p:cNvPr>
          <p:cNvSpPr/>
          <p:nvPr/>
        </p:nvSpPr>
        <p:spPr>
          <a:xfrm>
            <a:off x="9034570" y="1869203"/>
            <a:ext cx="2402053" cy="1246238"/>
          </a:xfrm>
          <a:prstGeom prst="chevron">
            <a:avLst>
              <a:gd name="adj" fmla="val 71893"/>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dirty="0">
                <a:solidFill>
                  <a:srgbClr val="FFFF00"/>
                </a:solidFill>
              </a:rPr>
              <a:t>Payment received and applied</a:t>
            </a:r>
            <a:endParaRPr lang="en-US" sz="1050" b="1" dirty="0">
              <a:solidFill>
                <a:srgbClr val="FFFF00"/>
              </a:solidFill>
            </a:endParaRPr>
          </a:p>
        </p:txBody>
      </p:sp>
      <p:sp>
        <p:nvSpPr>
          <p:cNvPr id="28" name="Flowchart: Process 27">
            <a:extLst>
              <a:ext uri="{FF2B5EF4-FFF2-40B4-BE49-F238E27FC236}">
                <a16:creationId xmlns:a16="http://schemas.microsoft.com/office/drawing/2014/main" id="{8CB82E60-21AF-C03A-6355-9B4245146E0D}"/>
              </a:ext>
            </a:extLst>
          </p:cNvPr>
          <p:cNvSpPr/>
          <p:nvPr/>
        </p:nvSpPr>
        <p:spPr>
          <a:xfrm>
            <a:off x="7857358" y="3429000"/>
            <a:ext cx="1436195" cy="1935093"/>
          </a:xfrm>
          <a:prstGeom prst="flowChartProcess">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accent6">
                    <a:lumMod val="50000"/>
                  </a:schemeClr>
                </a:solidFill>
              </a:rPr>
              <a:t>Warranty claim is processed if applicable and applied if accepted else billing is finalized  </a:t>
            </a:r>
          </a:p>
        </p:txBody>
      </p:sp>
      <p:sp>
        <p:nvSpPr>
          <p:cNvPr id="34" name="TextBox 33">
            <a:extLst>
              <a:ext uri="{FF2B5EF4-FFF2-40B4-BE49-F238E27FC236}">
                <a16:creationId xmlns:a16="http://schemas.microsoft.com/office/drawing/2014/main" id="{F4C0EF1F-618B-673E-D91D-2BD731E3DAFB}"/>
              </a:ext>
            </a:extLst>
          </p:cNvPr>
          <p:cNvSpPr txBox="1"/>
          <p:nvPr/>
        </p:nvSpPr>
        <p:spPr>
          <a:xfrm>
            <a:off x="6157347" y="5661455"/>
            <a:ext cx="1377565" cy="1015663"/>
          </a:xfrm>
          <a:prstGeom prst="rect">
            <a:avLst/>
          </a:prstGeom>
          <a:noFill/>
        </p:spPr>
        <p:txBody>
          <a:bodyPr wrap="square" rtlCol="0">
            <a:spAutoFit/>
          </a:bodyPr>
          <a:lstStyle/>
          <a:p>
            <a:r>
              <a:rPr lang="en-US" sz="1200" dirty="0"/>
              <a:t>Tech Mobile </a:t>
            </a:r>
            <a:br>
              <a:rPr lang="en-US" sz="1200" dirty="0"/>
            </a:br>
            <a:r>
              <a:rPr lang="en-US" sz="1200" dirty="0"/>
              <a:t>on Laptop etc </a:t>
            </a:r>
            <a:br>
              <a:rPr lang="en-US" sz="1200" dirty="0"/>
            </a:br>
            <a:r>
              <a:rPr lang="en-US" sz="1200" dirty="0"/>
              <a:t>tech Mobile on </a:t>
            </a:r>
            <a:br>
              <a:rPr lang="en-US" sz="1200" dirty="0"/>
            </a:br>
            <a:r>
              <a:rPr lang="en-US" sz="1200" dirty="0"/>
              <a:t>Tablet</a:t>
            </a:r>
          </a:p>
          <a:p>
            <a:endParaRPr lang="en-US" sz="1200" dirty="0"/>
          </a:p>
        </p:txBody>
      </p:sp>
      <p:sp>
        <p:nvSpPr>
          <p:cNvPr id="7" name="-S002. Sales to Cash Work Flow">
            <a:extLst>
              <a:ext uri="{FF2B5EF4-FFF2-40B4-BE49-F238E27FC236}">
                <a16:creationId xmlns:a16="http://schemas.microsoft.com/office/drawing/2014/main" id="{15D4CFEC-12CD-A728-AFCA-B09CB89C40BA}"/>
              </a:ext>
            </a:extLst>
          </p:cNvPr>
          <p:cNvSpPr txBox="1">
            <a:spLocks/>
          </p:cNvSpPr>
          <p:nvPr/>
        </p:nvSpPr>
        <p:spPr>
          <a:xfrm>
            <a:off x="1004697" y="277291"/>
            <a:ext cx="10515600" cy="26140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solidFill>
                  <a:schemeClr val="bg1"/>
                </a:solidFill>
              </a:rPr>
              <a:t>S00b. Palco Power </a:t>
            </a:r>
            <a:r>
              <a:rPr lang="en-US" sz="1600" b="1" dirty="0">
                <a:solidFill>
                  <a:schemeClr val="bg1"/>
                </a:solidFill>
              </a:rPr>
              <a:t>S</a:t>
            </a:r>
            <a:r>
              <a:rPr lang="en-US" sz="1400" b="1" dirty="0">
                <a:solidFill>
                  <a:schemeClr val="bg1"/>
                </a:solidFill>
              </a:rPr>
              <a:t>ystems – Service to Cash Work Flow</a:t>
            </a:r>
          </a:p>
        </p:txBody>
      </p:sp>
      <p:sp>
        <p:nvSpPr>
          <p:cNvPr id="38" name="-S002. Sales to Cash Work Flow">
            <a:extLst>
              <a:ext uri="{FF2B5EF4-FFF2-40B4-BE49-F238E27FC236}">
                <a16:creationId xmlns:a16="http://schemas.microsoft.com/office/drawing/2014/main" id="{EA19C26B-4EC6-258D-0D30-C6E6E49A97BA}"/>
              </a:ext>
            </a:extLst>
          </p:cNvPr>
          <p:cNvSpPr txBox="1">
            <a:spLocks/>
          </p:cNvSpPr>
          <p:nvPr/>
        </p:nvSpPr>
        <p:spPr>
          <a:xfrm>
            <a:off x="1019162" y="80581"/>
            <a:ext cx="10515600" cy="26140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latin typeface="+mn-lt"/>
              </a:rPr>
              <a:t>S002. Palco Power </a:t>
            </a:r>
            <a:r>
              <a:rPr lang="en-US" sz="1600" b="1" dirty="0">
                <a:latin typeface="+mn-lt"/>
              </a:rPr>
              <a:t>S</a:t>
            </a:r>
            <a:r>
              <a:rPr lang="en-US" sz="1400" b="1" dirty="0">
                <a:latin typeface="+mn-lt"/>
              </a:rPr>
              <a:t>ystems – Service to Cash Work Flow</a:t>
            </a:r>
          </a:p>
        </p:txBody>
      </p:sp>
    </p:spTree>
    <p:extLst>
      <p:ext uri="{BB962C8B-B14F-4D97-AF65-F5344CB8AC3E}">
        <p14:creationId xmlns:p14="http://schemas.microsoft.com/office/powerpoint/2010/main" val="17797143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134AD-68CC-CCE0-4FE3-381B94AD157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943DE6-37F9-9F5E-EC7B-7653240E7C10}"/>
              </a:ext>
            </a:extLst>
          </p:cNvPr>
          <p:cNvSpPr txBox="1"/>
          <p:nvPr/>
        </p:nvSpPr>
        <p:spPr>
          <a:xfrm>
            <a:off x="67762" y="5881044"/>
            <a:ext cx="994285" cy="338554"/>
          </a:xfrm>
          <a:prstGeom prst="rect">
            <a:avLst/>
          </a:prstGeom>
          <a:noFill/>
        </p:spPr>
        <p:txBody>
          <a:bodyPr wrap="square" rtlCol="0">
            <a:spAutoFit/>
          </a:bodyPr>
          <a:lstStyle/>
          <a:p>
            <a:r>
              <a:rPr lang="en-US" sz="800" dirty="0"/>
              <a:t>Draft completed on 02 15 2025 19 10</a:t>
            </a:r>
          </a:p>
        </p:txBody>
      </p:sp>
      <p:sp>
        <p:nvSpPr>
          <p:cNvPr id="3" name="TextBox 2">
            <a:extLst>
              <a:ext uri="{FF2B5EF4-FFF2-40B4-BE49-F238E27FC236}">
                <a16:creationId xmlns:a16="http://schemas.microsoft.com/office/drawing/2014/main" id="{C9B7EB14-303C-41D6-C490-A682348F05C8}"/>
              </a:ext>
            </a:extLst>
          </p:cNvPr>
          <p:cNvSpPr txBox="1"/>
          <p:nvPr/>
        </p:nvSpPr>
        <p:spPr>
          <a:xfrm>
            <a:off x="67762" y="6282898"/>
            <a:ext cx="1015649" cy="461665"/>
          </a:xfrm>
          <a:prstGeom prst="rect">
            <a:avLst/>
          </a:prstGeom>
          <a:noFill/>
        </p:spPr>
        <p:txBody>
          <a:bodyPr wrap="square" rtlCol="0">
            <a:spAutoFit/>
          </a:bodyPr>
          <a:lstStyle/>
          <a:p>
            <a:r>
              <a:rPr lang="en-US" sz="800" dirty="0"/>
              <a:t>Train Slide updated by TS VM SR TD MS</a:t>
            </a:r>
          </a:p>
          <a:p>
            <a:r>
              <a:rPr lang="en-US" sz="800" dirty="0"/>
              <a:t> 25 11 12 1203</a:t>
            </a:r>
          </a:p>
        </p:txBody>
      </p:sp>
      <p:sp>
        <p:nvSpPr>
          <p:cNvPr id="21" name="TextBox 20">
            <a:extLst>
              <a:ext uri="{FF2B5EF4-FFF2-40B4-BE49-F238E27FC236}">
                <a16:creationId xmlns:a16="http://schemas.microsoft.com/office/drawing/2014/main" id="{3A8628C4-F9C0-ADD2-DE6E-9063C1AD40F4}"/>
              </a:ext>
            </a:extLst>
          </p:cNvPr>
          <p:cNvSpPr txBox="1"/>
          <p:nvPr/>
        </p:nvSpPr>
        <p:spPr>
          <a:xfrm>
            <a:off x="1597397" y="5972202"/>
            <a:ext cx="1015649" cy="471755"/>
          </a:xfrm>
          <a:prstGeom prst="flowChartInternalStorage">
            <a:avLst/>
          </a:prstGeom>
          <a:solidFill>
            <a:srgbClr val="FFFF00"/>
          </a:solidFill>
          <a:ln>
            <a:solidFill>
              <a:schemeClr val="tx1"/>
            </a:solidFill>
          </a:ln>
        </p:spPr>
        <p:txBody>
          <a:bodyPr wrap="square" rtlCol="0">
            <a:spAutoFit/>
          </a:bodyPr>
          <a:lstStyle/>
          <a:p>
            <a:pPr algn="ctr"/>
            <a:r>
              <a:rPr lang="en-US" sz="1050" b="1" dirty="0"/>
              <a:t>Represents a Sub SOP</a:t>
            </a:r>
          </a:p>
        </p:txBody>
      </p:sp>
      <p:sp>
        <p:nvSpPr>
          <p:cNvPr id="55" name="TextBox 54">
            <a:extLst>
              <a:ext uri="{FF2B5EF4-FFF2-40B4-BE49-F238E27FC236}">
                <a16:creationId xmlns:a16="http://schemas.microsoft.com/office/drawing/2014/main" id="{84CFC4A8-FF05-93A7-16B0-E5C732CB5305}"/>
              </a:ext>
            </a:extLst>
          </p:cNvPr>
          <p:cNvSpPr txBox="1"/>
          <p:nvPr/>
        </p:nvSpPr>
        <p:spPr>
          <a:xfrm>
            <a:off x="2073152" y="4745267"/>
            <a:ext cx="8462326" cy="830997"/>
          </a:xfrm>
          <a:prstGeom prst="rect">
            <a:avLst/>
          </a:prstGeom>
          <a:noFill/>
        </p:spPr>
        <p:txBody>
          <a:bodyPr wrap="square" rtlCol="0">
            <a:spAutoFit/>
          </a:bodyPr>
          <a:lstStyle/>
          <a:p>
            <a:pPr algn="ctr"/>
            <a:r>
              <a:rPr lang="en-US" sz="1600" b="1" dirty="0"/>
              <a:t>It is important to understand that every action in any part of this has an impact on other areas so it behooves  each  and one of us to  practice daily and diligently as trainees in other areas need your input to train .</a:t>
            </a:r>
          </a:p>
        </p:txBody>
      </p:sp>
      <p:grpSp>
        <p:nvGrpSpPr>
          <p:cNvPr id="66" name="Group 65">
            <a:extLst>
              <a:ext uri="{FF2B5EF4-FFF2-40B4-BE49-F238E27FC236}">
                <a16:creationId xmlns:a16="http://schemas.microsoft.com/office/drawing/2014/main" id="{D3423085-2497-ED5F-ED1C-6C73948C6016}"/>
              </a:ext>
            </a:extLst>
          </p:cNvPr>
          <p:cNvGrpSpPr/>
          <p:nvPr/>
        </p:nvGrpSpPr>
        <p:grpSpPr>
          <a:xfrm>
            <a:off x="1062047" y="1319348"/>
            <a:ext cx="9679873" cy="3173182"/>
            <a:chOff x="1597397" y="1895816"/>
            <a:chExt cx="9144523" cy="3173182"/>
          </a:xfrm>
        </p:grpSpPr>
        <p:sp>
          <p:nvSpPr>
            <p:cNvPr id="18" name="Flowchart: Process 17">
              <a:extLst>
                <a:ext uri="{FF2B5EF4-FFF2-40B4-BE49-F238E27FC236}">
                  <a16:creationId xmlns:a16="http://schemas.microsoft.com/office/drawing/2014/main" id="{6E15E37E-B4B8-018E-F8C3-64A83B59F4B7}"/>
                </a:ext>
              </a:extLst>
            </p:cNvPr>
            <p:cNvSpPr/>
            <p:nvPr/>
          </p:nvSpPr>
          <p:spPr>
            <a:xfrm>
              <a:off x="7852012" y="4002981"/>
              <a:ext cx="1791208" cy="1049413"/>
            </a:xfrm>
            <a:prstGeom prst="flowChartProcess">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tx1"/>
                  </a:solidFill>
                </a:rPr>
                <a:t>Fin. plan to Report</a:t>
              </a:r>
            </a:p>
          </p:txBody>
        </p:sp>
        <p:sp>
          <p:nvSpPr>
            <p:cNvPr id="17" name="Flowchart: Process 16">
              <a:extLst>
                <a:ext uri="{FF2B5EF4-FFF2-40B4-BE49-F238E27FC236}">
                  <a16:creationId xmlns:a16="http://schemas.microsoft.com/office/drawing/2014/main" id="{E1902368-1EAD-67DB-350B-7EB56EDDA487}"/>
                </a:ext>
              </a:extLst>
            </p:cNvPr>
            <p:cNvSpPr/>
            <p:nvPr/>
          </p:nvSpPr>
          <p:spPr>
            <a:xfrm>
              <a:off x="5666126" y="4010695"/>
              <a:ext cx="1791208" cy="1049413"/>
            </a:xfrm>
            <a:prstGeom prst="flowChartProcess">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tx1"/>
                  </a:solidFill>
                </a:rPr>
                <a:t>Count to Adjust</a:t>
              </a:r>
            </a:p>
          </p:txBody>
        </p:sp>
        <p:sp>
          <p:nvSpPr>
            <p:cNvPr id="16" name="Flowchart: Process 15">
              <a:extLst>
                <a:ext uri="{FF2B5EF4-FFF2-40B4-BE49-F238E27FC236}">
                  <a16:creationId xmlns:a16="http://schemas.microsoft.com/office/drawing/2014/main" id="{687794C2-BB51-EFBE-3B96-E382FFCE6A14}"/>
                </a:ext>
              </a:extLst>
            </p:cNvPr>
            <p:cNvSpPr/>
            <p:nvPr/>
          </p:nvSpPr>
          <p:spPr>
            <a:xfrm>
              <a:off x="3375789" y="4019585"/>
              <a:ext cx="1791208" cy="1049413"/>
            </a:xfrm>
            <a:prstGeom prst="flowChartProcess">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tx1"/>
                  </a:solidFill>
                </a:rPr>
                <a:t>Procure to Pay</a:t>
              </a:r>
            </a:p>
          </p:txBody>
        </p:sp>
        <p:sp>
          <p:nvSpPr>
            <p:cNvPr id="15" name="Flowchart: Process 14">
              <a:extLst>
                <a:ext uri="{FF2B5EF4-FFF2-40B4-BE49-F238E27FC236}">
                  <a16:creationId xmlns:a16="http://schemas.microsoft.com/office/drawing/2014/main" id="{B4A817C9-AAD9-C5B7-E924-0B7A6FC4B3F6}"/>
                </a:ext>
              </a:extLst>
            </p:cNvPr>
            <p:cNvSpPr/>
            <p:nvPr/>
          </p:nvSpPr>
          <p:spPr>
            <a:xfrm>
              <a:off x="1597397" y="1895816"/>
              <a:ext cx="9144523" cy="1049413"/>
            </a:xfrm>
            <a:prstGeom prst="flowChartProcess">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rPr>
                <a:t>Quote to Cash</a:t>
              </a:r>
            </a:p>
          </p:txBody>
        </p:sp>
        <p:sp>
          <p:nvSpPr>
            <p:cNvPr id="6" name="TextBox 5">
              <a:extLst>
                <a:ext uri="{FF2B5EF4-FFF2-40B4-BE49-F238E27FC236}">
                  <a16:creationId xmlns:a16="http://schemas.microsoft.com/office/drawing/2014/main" id="{BF7AD1D1-0ABE-DF39-DB03-AA0D5DDC75B8}"/>
                </a:ext>
              </a:extLst>
            </p:cNvPr>
            <p:cNvSpPr txBox="1"/>
            <p:nvPr/>
          </p:nvSpPr>
          <p:spPr>
            <a:xfrm>
              <a:off x="2882317" y="2162494"/>
              <a:ext cx="1285363"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1.Quote to Service Order</a:t>
              </a:r>
            </a:p>
          </p:txBody>
        </p:sp>
        <p:sp>
          <p:nvSpPr>
            <p:cNvPr id="7" name="TextBox 6">
              <a:extLst>
                <a:ext uri="{FF2B5EF4-FFF2-40B4-BE49-F238E27FC236}">
                  <a16:creationId xmlns:a16="http://schemas.microsoft.com/office/drawing/2014/main" id="{4F30204D-DAB0-84E5-FA64-273F7758AF49}"/>
                </a:ext>
              </a:extLst>
            </p:cNvPr>
            <p:cNvSpPr txBox="1"/>
            <p:nvPr/>
          </p:nvSpPr>
          <p:spPr>
            <a:xfrm>
              <a:off x="4338690" y="2162494"/>
              <a:ext cx="1339751"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2.Service order to Picking Scheduling</a:t>
              </a:r>
            </a:p>
          </p:txBody>
        </p:sp>
        <p:sp>
          <p:nvSpPr>
            <p:cNvPr id="9" name="TextBox 8">
              <a:extLst>
                <a:ext uri="{FF2B5EF4-FFF2-40B4-BE49-F238E27FC236}">
                  <a16:creationId xmlns:a16="http://schemas.microsoft.com/office/drawing/2014/main" id="{CB7F143A-38D2-1FB8-2250-0A85D8D71B15}"/>
                </a:ext>
              </a:extLst>
            </p:cNvPr>
            <p:cNvSpPr txBox="1"/>
            <p:nvPr/>
          </p:nvSpPr>
          <p:spPr>
            <a:xfrm>
              <a:off x="5879060" y="2162493"/>
              <a:ext cx="1339751"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3.Picking/ Serving to Invoicing</a:t>
              </a:r>
            </a:p>
          </p:txBody>
        </p:sp>
        <p:sp>
          <p:nvSpPr>
            <p:cNvPr id="10" name="TextBox 9">
              <a:extLst>
                <a:ext uri="{FF2B5EF4-FFF2-40B4-BE49-F238E27FC236}">
                  <a16:creationId xmlns:a16="http://schemas.microsoft.com/office/drawing/2014/main" id="{57F032FF-851B-BB0B-5395-0A83643D7A97}"/>
                </a:ext>
              </a:extLst>
            </p:cNvPr>
            <p:cNvSpPr txBox="1"/>
            <p:nvPr/>
          </p:nvSpPr>
          <p:spPr>
            <a:xfrm>
              <a:off x="7449507" y="2162492"/>
              <a:ext cx="1015649"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4.Invoicing to Cash</a:t>
              </a:r>
            </a:p>
          </p:txBody>
        </p:sp>
        <p:sp>
          <p:nvSpPr>
            <p:cNvPr id="11" name="TextBox 10">
              <a:extLst>
                <a:ext uri="{FF2B5EF4-FFF2-40B4-BE49-F238E27FC236}">
                  <a16:creationId xmlns:a16="http://schemas.microsoft.com/office/drawing/2014/main" id="{C59B5FD6-B9A8-1B55-9512-780C0437C239}"/>
                </a:ext>
              </a:extLst>
            </p:cNvPr>
            <p:cNvSpPr txBox="1"/>
            <p:nvPr/>
          </p:nvSpPr>
          <p:spPr>
            <a:xfrm>
              <a:off x="8796027" y="2162884"/>
              <a:ext cx="1015649"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5.Return to Credit</a:t>
              </a:r>
            </a:p>
          </p:txBody>
        </p:sp>
        <p:sp>
          <p:nvSpPr>
            <p:cNvPr id="12" name="TextBox 11">
              <a:extLst>
                <a:ext uri="{FF2B5EF4-FFF2-40B4-BE49-F238E27FC236}">
                  <a16:creationId xmlns:a16="http://schemas.microsoft.com/office/drawing/2014/main" id="{AA0A5D5D-75F1-69CF-F372-641ECA1F7108}"/>
                </a:ext>
              </a:extLst>
            </p:cNvPr>
            <p:cNvSpPr txBox="1"/>
            <p:nvPr/>
          </p:nvSpPr>
          <p:spPr>
            <a:xfrm>
              <a:off x="3699947" y="4483755"/>
              <a:ext cx="1237577"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Replenishment Re com. to Pay</a:t>
              </a:r>
            </a:p>
          </p:txBody>
        </p:sp>
        <p:sp>
          <p:nvSpPr>
            <p:cNvPr id="13" name="TextBox 12">
              <a:extLst>
                <a:ext uri="{FF2B5EF4-FFF2-40B4-BE49-F238E27FC236}">
                  <a16:creationId xmlns:a16="http://schemas.microsoft.com/office/drawing/2014/main" id="{AC2EA72D-8410-4BFC-7371-96941DFF8A52}"/>
                </a:ext>
              </a:extLst>
            </p:cNvPr>
            <p:cNvSpPr txBox="1"/>
            <p:nvPr/>
          </p:nvSpPr>
          <p:spPr>
            <a:xfrm>
              <a:off x="5820220" y="4504772"/>
              <a:ext cx="1339537"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Physical Cycle Count to Update</a:t>
              </a:r>
            </a:p>
          </p:txBody>
        </p:sp>
        <p:sp>
          <p:nvSpPr>
            <p:cNvPr id="14" name="TextBox 13">
              <a:extLst>
                <a:ext uri="{FF2B5EF4-FFF2-40B4-BE49-F238E27FC236}">
                  <a16:creationId xmlns:a16="http://schemas.microsoft.com/office/drawing/2014/main" id="{642EC26B-7F62-2C3A-8555-1EEEB1AA1937}"/>
                </a:ext>
              </a:extLst>
            </p:cNvPr>
            <p:cNvSpPr txBox="1"/>
            <p:nvPr/>
          </p:nvSpPr>
          <p:spPr>
            <a:xfrm>
              <a:off x="8074427" y="4385810"/>
              <a:ext cx="1339537"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Month end Processing</a:t>
              </a:r>
            </a:p>
          </p:txBody>
        </p:sp>
        <p:cxnSp>
          <p:nvCxnSpPr>
            <p:cNvPr id="19" name="Connector: Elbow 18">
              <a:extLst>
                <a:ext uri="{FF2B5EF4-FFF2-40B4-BE49-F238E27FC236}">
                  <a16:creationId xmlns:a16="http://schemas.microsoft.com/office/drawing/2014/main" id="{6C04CA20-B252-FD12-FA34-EFF4BE96AF2A}"/>
                </a:ext>
              </a:extLst>
            </p:cNvPr>
            <p:cNvCxnSpPr>
              <a:cxnSpLocks/>
              <a:stCxn id="7" idx="2"/>
              <a:endCxn id="4" idx="0"/>
            </p:cNvCxnSpPr>
            <p:nvPr/>
          </p:nvCxnSpPr>
          <p:spPr>
            <a:xfrm rot="5400000">
              <a:off x="4175013" y="2724983"/>
              <a:ext cx="924286" cy="742820"/>
            </a:xfrm>
            <a:prstGeom prst="bentConnector3">
              <a:avLst>
                <a:gd name="adj1" fmla="val 50000"/>
              </a:avLst>
            </a:prstGeom>
            <a:ln w="38100" cmpd="dbl">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Connector: Elbow 42">
              <a:extLst>
                <a:ext uri="{FF2B5EF4-FFF2-40B4-BE49-F238E27FC236}">
                  <a16:creationId xmlns:a16="http://schemas.microsoft.com/office/drawing/2014/main" id="{C7E3A957-7CC8-0E57-A798-3D8C18051441}"/>
                </a:ext>
              </a:extLst>
            </p:cNvPr>
            <p:cNvCxnSpPr>
              <a:cxnSpLocks/>
              <a:stCxn id="9" idx="2"/>
              <a:endCxn id="4" idx="0"/>
            </p:cNvCxnSpPr>
            <p:nvPr/>
          </p:nvCxnSpPr>
          <p:spPr>
            <a:xfrm rot="5400000">
              <a:off x="4945198" y="1954797"/>
              <a:ext cx="924287" cy="2283190"/>
            </a:xfrm>
            <a:prstGeom prst="bentConnector3">
              <a:avLst>
                <a:gd name="adj1" fmla="val 50000"/>
              </a:avLst>
            </a:prstGeom>
            <a:ln w="38100" cmpd="dbl">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Connector: Elbow 56">
              <a:extLst>
                <a:ext uri="{FF2B5EF4-FFF2-40B4-BE49-F238E27FC236}">
                  <a16:creationId xmlns:a16="http://schemas.microsoft.com/office/drawing/2014/main" id="{DAD9F0D4-2F75-08AD-8111-C2E8AFA5FDFA}"/>
                </a:ext>
              </a:extLst>
            </p:cNvPr>
            <p:cNvCxnSpPr>
              <a:cxnSpLocks/>
              <a:stCxn id="9" idx="2"/>
              <a:endCxn id="31" idx="0"/>
            </p:cNvCxnSpPr>
            <p:nvPr/>
          </p:nvCxnSpPr>
          <p:spPr>
            <a:xfrm rot="16200000" flipH="1">
              <a:off x="7178065" y="2005118"/>
              <a:ext cx="924287" cy="2182547"/>
            </a:xfrm>
            <a:prstGeom prst="bentConnector3">
              <a:avLst>
                <a:gd name="adj1" fmla="val 50000"/>
              </a:avLst>
            </a:prstGeom>
            <a:ln w="381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7" name="Connector: Elbow 76">
              <a:extLst>
                <a:ext uri="{FF2B5EF4-FFF2-40B4-BE49-F238E27FC236}">
                  <a16:creationId xmlns:a16="http://schemas.microsoft.com/office/drawing/2014/main" id="{CD59BCEE-3236-6B1F-9391-0E65D5031B28}"/>
                </a:ext>
              </a:extLst>
            </p:cNvPr>
            <p:cNvCxnSpPr>
              <a:cxnSpLocks/>
              <a:stCxn id="10" idx="2"/>
              <a:endCxn id="31" idx="0"/>
            </p:cNvCxnSpPr>
            <p:nvPr/>
          </p:nvCxnSpPr>
          <p:spPr>
            <a:xfrm rot="16200000" flipH="1">
              <a:off x="7882262" y="2709316"/>
              <a:ext cx="924288" cy="774149"/>
            </a:xfrm>
            <a:prstGeom prst="bentConnector3">
              <a:avLst>
                <a:gd name="adj1" fmla="val 48588"/>
              </a:avLst>
            </a:prstGeom>
            <a:ln w="381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4F220391-FCA0-D276-615C-331F8F81B411}"/>
                </a:ext>
              </a:extLst>
            </p:cNvPr>
            <p:cNvCxnSpPr>
              <a:cxnSpLocks/>
              <a:stCxn id="6" idx="3"/>
              <a:endCxn id="7" idx="1"/>
            </p:cNvCxnSpPr>
            <p:nvPr/>
          </p:nvCxnSpPr>
          <p:spPr>
            <a:xfrm>
              <a:off x="4167679" y="2398372"/>
              <a:ext cx="171010" cy="0"/>
            </a:xfrm>
            <a:prstGeom prst="straightConnector1">
              <a:avLst/>
            </a:prstGeom>
            <a:ln w="38100" cmpd="dbl">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2CDB6DDB-77CD-539D-C549-D2D5C77D9B2A}"/>
                </a:ext>
              </a:extLst>
            </p:cNvPr>
            <p:cNvCxnSpPr>
              <a:cxnSpLocks/>
              <a:stCxn id="7" idx="3"/>
              <a:endCxn id="9" idx="1"/>
            </p:cNvCxnSpPr>
            <p:nvPr/>
          </p:nvCxnSpPr>
          <p:spPr>
            <a:xfrm flipV="1">
              <a:off x="5678440" y="2398371"/>
              <a:ext cx="200619" cy="1"/>
            </a:xfrm>
            <a:prstGeom prst="straightConnector1">
              <a:avLst/>
            </a:prstGeom>
            <a:ln w="38100" cmpd="dbl">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6D438D13-1ECD-B757-E58A-C08E2FABB0C4}"/>
                </a:ext>
              </a:extLst>
            </p:cNvPr>
            <p:cNvCxnSpPr>
              <a:cxnSpLocks/>
              <a:stCxn id="9" idx="3"/>
              <a:endCxn id="10" idx="1"/>
            </p:cNvCxnSpPr>
            <p:nvPr/>
          </p:nvCxnSpPr>
          <p:spPr>
            <a:xfrm flipV="1">
              <a:off x="7218810" y="2398370"/>
              <a:ext cx="230696" cy="1"/>
            </a:xfrm>
            <a:prstGeom prst="straightConnector1">
              <a:avLst/>
            </a:prstGeom>
            <a:ln w="38100" cmpd="dbl">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A1F48C98-92AE-3E16-2D8A-573FC9763A00}"/>
                </a:ext>
              </a:extLst>
            </p:cNvPr>
            <p:cNvCxnSpPr>
              <a:cxnSpLocks/>
              <a:stCxn id="10" idx="3"/>
              <a:endCxn id="11" idx="1"/>
            </p:cNvCxnSpPr>
            <p:nvPr/>
          </p:nvCxnSpPr>
          <p:spPr>
            <a:xfrm>
              <a:off x="8465156" y="2398370"/>
              <a:ext cx="330871" cy="392"/>
            </a:xfrm>
            <a:prstGeom prst="straightConnector1">
              <a:avLst/>
            </a:prstGeom>
            <a:ln w="38100" cmpd="dbl">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4" name="Flowchart: Or 3">
              <a:extLst>
                <a:ext uri="{FF2B5EF4-FFF2-40B4-BE49-F238E27FC236}">
                  <a16:creationId xmlns:a16="http://schemas.microsoft.com/office/drawing/2014/main" id="{CF5F4D7A-0626-7ECA-B571-E9ED54D6AB44}"/>
                </a:ext>
              </a:extLst>
            </p:cNvPr>
            <p:cNvSpPr/>
            <p:nvPr/>
          </p:nvSpPr>
          <p:spPr>
            <a:xfrm>
              <a:off x="4192801" y="3558535"/>
              <a:ext cx="145888" cy="127099"/>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30" name="Flowchart: Or 29">
              <a:extLst>
                <a:ext uri="{FF2B5EF4-FFF2-40B4-BE49-F238E27FC236}">
                  <a16:creationId xmlns:a16="http://schemas.microsoft.com/office/drawing/2014/main" id="{EC7D781A-E01C-C640-AF6A-65C7E5F18E9A}"/>
                </a:ext>
              </a:extLst>
            </p:cNvPr>
            <p:cNvSpPr/>
            <p:nvPr/>
          </p:nvSpPr>
          <p:spPr>
            <a:xfrm>
              <a:off x="6482833" y="3558535"/>
              <a:ext cx="145888" cy="127099"/>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31" name="Flowchart: Or 30">
              <a:extLst>
                <a:ext uri="{FF2B5EF4-FFF2-40B4-BE49-F238E27FC236}">
                  <a16:creationId xmlns:a16="http://schemas.microsoft.com/office/drawing/2014/main" id="{7774CC16-0D9C-181B-C808-4447CC0891AC}"/>
                </a:ext>
              </a:extLst>
            </p:cNvPr>
            <p:cNvSpPr/>
            <p:nvPr/>
          </p:nvSpPr>
          <p:spPr>
            <a:xfrm>
              <a:off x="8658537" y="3558535"/>
              <a:ext cx="145888" cy="127099"/>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4" name="Straight Arrow Connector 43">
              <a:extLst>
                <a:ext uri="{FF2B5EF4-FFF2-40B4-BE49-F238E27FC236}">
                  <a16:creationId xmlns:a16="http://schemas.microsoft.com/office/drawing/2014/main" id="{95AC9BAE-AAA1-4FD9-D48F-BF4890C1891A}"/>
                </a:ext>
              </a:extLst>
            </p:cNvPr>
            <p:cNvCxnSpPr>
              <a:cxnSpLocks/>
              <a:stCxn id="4" idx="4"/>
              <a:endCxn id="16" idx="0"/>
            </p:cNvCxnSpPr>
            <p:nvPr/>
          </p:nvCxnSpPr>
          <p:spPr>
            <a:xfrm>
              <a:off x="4265745" y="3685634"/>
              <a:ext cx="5648" cy="333951"/>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E678BC69-7C9F-EBA9-5B82-2DB47F0A2D37}"/>
                </a:ext>
              </a:extLst>
            </p:cNvPr>
            <p:cNvCxnSpPr>
              <a:cxnSpLocks/>
              <a:stCxn id="30" idx="4"/>
              <a:endCxn id="17" idx="0"/>
            </p:cNvCxnSpPr>
            <p:nvPr/>
          </p:nvCxnSpPr>
          <p:spPr>
            <a:xfrm>
              <a:off x="6555777" y="3685634"/>
              <a:ext cx="5953" cy="325061"/>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773DE5B3-ADA7-451E-B9A2-124087B0A1CD}"/>
                </a:ext>
              </a:extLst>
            </p:cNvPr>
            <p:cNvCxnSpPr>
              <a:cxnSpLocks/>
              <a:stCxn id="31" idx="4"/>
              <a:endCxn id="18" idx="0"/>
            </p:cNvCxnSpPr>
            <p:nvPr/>
          </p:nvCxnSpPr>
          <p:spPr>
            <a:xfrm>
              <a:off x="8731481" y="3685634"/>
              <a:ext cx="16135" cy="317347"/>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7153DD68-FC69-D716-5BA0-43FE1E4F47FA}"/>
                </a:ext>
              </a:extLst>
            </p:cNvPr>
            <p:cNvCxnSpPr>
              <a:cxnSpLocks/>
              <a:stCxn id="9" idx="2"/>
              <a:endCxn id="30" idx="0"/>
            </p:cNvCxnSpPr>
            <p:nvPr/>
          </p:nvCxnSpPr>
          <p:spPr>
            <a:xfrm>
              <a:off x="6548935" y="2634248"/>
              <a:ext cx="6842" cy="924287"/>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68" name="Parlance">
            <a:extLst>
              <a:ext uri="{FF2B5EF4-FFF2-40B4-BE49-F238E27FC236}">
                <a16:creationId xmlns:a16="http://schemas.microsoft.com/office/drawing/2014/main" id="{B9B76DB0-4CF9-4923-00C7-7A01803034F1}"/>
              </a:ext>
            </a:extLst>
          </p:cNvPr>
          <p:cNvSpPr txBox="1"/>
          <p:nvPr/>
        </p:nvSpPr>
        <p:spPr>
          <a:xfrm>
            <a:off x="1835315" y="745372"/>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8" name="-S003. Pictoral Service to Cash Work Flow">
            <a:extLst>
              <a:ext uri="{FF2B5EF4-FFF2-40B4-BE49-F238E27FC236}">
                <a16:creationId xmlns:a16="http://schemas.microsoft.com/office/drawing/2014/main" id="{3D895848-08E7-4F21-F1D5-A21018F31E7F}"/>
              </a:ext>
            </a:extLst>
          </p:cNvPr>
          <p:cNvSpPr txBox="1">
            <a:spLocks/>
          </p:cNvSpPr>
          <p:nvPr/>
        </p:nvSpPr>
        <p:spPr>
          <a:xfrm>
            <a:off x="838198" y="162630"/>
            <a:ext cx="10515600" cy="26140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S003. Pictorial representation of  Quote/ Service Request  to Cash similar to Quote  to Cash   - At PPS Service</a:t>
            </a:r>
          </a:p>
        </p:txBody>
      </p:sp>
    </p:spTree>
    <p:extLst>
      <p:ext uri="{BB962C8B-B14F-4D97-AF65-F5344CB8AC3E}">
        <p14:creationId xmlns:p14="http://schemas.microsoft.com/office/powerpoint/2010/main" val="28405038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26E93-6BA7-5179-DA8E-8B3A544CC88E}"/>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48137958-51F7-DB79-570F-E353251D1C13}"/>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05 12 2025 19 10</a:t>
            </a:r>
          </a:p>
        </p:txBody>
      </p:sp>
      <p:sp>
        <p:nvSpPr>
          <p:cNvPr id="48" name="TextBox 47">
            <a:extLst>
              <a:ext uri="{FF2B5EF4-FFF2-40B4-BE49-F238E27FC236}">
                <a16:creationId xmlns:a16="http://schemas.microsoft.com/office/drawing/2014/main" id="{7F91CDEC-E028-F7B6-CDD2-25B52EE13918}"/>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25 12 28 0800</a:t>
            </a:r>
          </a:p>
        </p:txBody>
      </p:sp>
      <p:sp>
        <p:nvSpPr>
          <p:cNvPr id="54" name="TextBox 53">
            <a:extLst>
              <a:ext uri="{FF2B5EF4-FFF2-40B4-BE49-F238E27FC236}">
                <a16:creationId xmlns:a16="http://schemas.microsoft.com/office/drawing/2014/main" id="{1EBC9DC4-DB98-8654-7319-171C32DCBA97}"/>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19" name="Current_process indicator">
            <a:extLst>
              <a:ext uri="{FF2B5EF4-FFF2-40B4-BE49-F238E27FC236}">
                <a16:creationId xmlns:a16="http://schemas.microsoft.com/office/drawing/2014/main" id="{F7685236-7BF6-BB31-9AB3-656F3F23B920}"/>
              </a:ext>
            </a:extLst>
          </p:cNvPr>
          <p:cNvSpPr/>
          <p:nvPr/>
        </p:nvSpPr>
        <p:spPr>
          <a:xfrm>
            <a:off x="3946226" y="565301"/>
            <a:ext cx="4899578" cy="227928"/>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 name="Flowchart: Process 2">
            <a:extLst>
              <a:ext uri="{FF2B5EF4-FFF2-40B4-BE49-F238E27FC236}">
                <a16:creationId xmlns:a16="http://schemas.microsoft.com/office/drawing/2014/main" id="{5229C45E-783F-21B5-6C7E-467F11D02ED2}"/>
              </a:ext>
            </a:extLst>
          </p:cNvPr>
          <p:cNvSpPr/>
          <p:nvPr/>
        </p:nvSpPr>
        <p:spPr>
          <a:xfrm>
            <a:off x="713349" y="2526777"/>
            <a:ext cx="1327355" cy="42399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 Customer Calls For Start-Up</a:t>
            </a:r>
          </a:p>
        </p:txBody>
      </p:sp>
      <p:sp>
        <p:nvSpPr>
          <p:cNvPr id="5" name="Flowchart: Decision 4">
            <a:extLst>
              <a:ext uri="{FF2B5EF4-FFF2-40B4-BE49-F238E27FC236}">
                <a16:creationId xmlns:a16="http://schemas.microsoft.com/office/drawing/2014/main" id="{FDB915BE-936B-59A2-8E8B-75BC1FA07EB4}"/>
              </a:ext>
            </a:extLst>
          </p:cNvPr>
          <p:cNvSpPr/>
          <p:nvPr/>
        </p:nvSpPr>
        <p:spPr>
          <a:xfrm>
            <a:off x="2967399" y="2556048"/>
            <a:ext cx="570871" cy="365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D1</a:t>
            </a:r>
          </a:p>
        </p:txBody>
      </p:sp>
      <p:sp>
        <p:nvSpPr>
          <p:cNvPr id="7" name="Flowchart: Process 6">
            <a:extLst>
              <a:ext uri="{FF2B5EF4-FFF2-40B4-BE49-F238E27FC236}">
                <a16:creationId xmlns:a16="http://schemas.microsoft.com/office/drawing/2014/main" id="{6042F67A-9260-E66B-DE5A-FF3F43C10089}"/>
              </a:ext>
            </a:extLst>
          </p:cNvPr>
          <p:cNvSpPr/>
          <p:nvPr/>
        </p:nvSpPr>
        <p:spPr>
          <a:xfrm>
            <a:off x="3323024" y="2497204"/>
            <a:ext cx="224605" cy="17944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8" name="Flowchart: Process 7">
            <a:extLst>
              <a:ext uri="{FF2B5EF4-FFF2-40B4-BE49-F238E27FC236}">
                <a16:creationId xmlns:a16="http://schemas.microsoft.com/office/drawing/2014/main" id="{71B88EDE-FF85-8490-DE50-D05200A9E6E7}"/>
              </a:ext>
            </a:extLst>
          </p:cNvPr>
          <p:cNvSpPr/>
          <p:nvPr/>
        </p:nvSpPr>
        <p:spPr>
          <a:xfrm>
            <a:off x="2958041" y="2786835"/>
            <a:ext cx="224605" cy="17944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sp>
        <p:nvSpPr>
          <p:cNvPr id="9" name="TextBox 8">
            <a:extLst>
              <a:ext uri="{FF2B5EF4-FFF2-40B4-BE49-F238E27FC236}">
                <a16:creationId xmlns:a16="http://schemas.microsoft.com/office/drawing/2014/main" id="{0AFB03A6-2C75-FA20-5650-1ED1FFA693D7}"/>
              </a:ext>
            </a:extLst>
          </p:cNvPr>
          <p:cNvSpPr txBox="1"/>
          <p:nvPr/>
        </p:nvSpPr>
        <p:spPr>
          <a:xfrm>
            <a:off x="2332800" y="2331480"/>
            <a:ext cx="948813" cy="369332"/>
          </a:xfrm>
          <a:prstGeom prst="rect">
            <a:avLst/>
          </a:prstGeom>
          <a:noFill/>
        </p:spPr>
        <p:txBody>
          <a:bodyPr wrap="square" rtlCol="0">
            <a:spAutoFit/>
          </a:bodyPr>
          <a:lstStyle/>
          <a:p>
            <a:r>
              <a:rPr lang="en-US" sz="900" dirty="0"/>
              <a:t>Q1.Did We Sell The Generator? </a:t>
            </a:r>
          </a:p>
        </p:txBody>
      </p:sp>
      <p:sp>
        <p:nvSpPr>
          <p:cNvPr id="10" name="TextBox 9">
            <a:extLst>
              <a:ext uri="{FF2B5EF4-FFF2-40B4-BE49-F238E27FC236}">
                <a16:creationId xmlns:a16="http://schemas.microsoft.com/office/drawing/2014/main" id="{D21A19CF-CE2C-CAEB-ED23-374D1597BA82}"/>
              </a:ext>
            </a:extLst>
          </p:cNvPr>
          <p:cNvSpPr txBox="1"/>
          <p:nvPr/>
        </p:nvSpPr>
        <p:spPr>
          <a:xfrm>
            <a:off x="8765349" y="3220771"/>
            <a:ext cx="1721329"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S7. Service Order Process at charge SOP</a:t>
            </a:r>
          </a:p>
        </p:txBody>
      </p:sp>
      <p:cxnSp>
        <p:nvCxnSpPr>
          <p:cNvPr id="11" name="Connector: Elbow 10">
            <a:extLst>
              <a:ext uri="{FF2B5EF4-FFF2-40B4-BE49-F238E27FC236}">
                <a16:creationId xmlns:a16="http://schemas.microsoft.com/office/drawing/2014/main" id="{AA41C003-15C4-76AF-FA7A-C6A60D48DFBC}"/>
              </a:ext>
            </a:extLst>
          </p:cNvPr>
          <p:cNvCxnSpPr>
            <a:cxnSpLocks/>
            <a:stCxn id="5" idx="2"/>
            <a:endCxn id="31" idx="1"/>
          </p:cNvCxnSpPr>
          <p:nvPr/>
        </p:nvCxnSpPr>
        <p:spPr>
          <a:xfrm rot="16200000" flipH="1">
            <a:off x="4188391" y="1985939"/>
            <a:ext cx="537107" cy="2408219"/>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Flowchart: Predefined Process 11">
            <a:extLst>
              <a:ext uri="{FF2B5EF4-FFF2-40B4-BE49-F238E27FC236}">
                <a16:creationId xmlns:a16="http://schemas.microsoft.com/office/drawing/2014/main" id="{33E2A2A2-02AC-4FC6-5663-D3C86FC70C6F}"/>
              </a:ext>
            </a:extLst>
          </p:cNvPr>
          <p:cNvSpPr/>
          <p:nvPr/>
        </p:nvSpPr>
        <p:spPr>
          <a:xfrm>
            <a:off x="5731343" y="1060541"/>
            <a:ext cx="1135627"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S2. Order Inquiry </a:t>
            </a:r>
          </a:p>
        </p:txBody>
      </p:sp>
      <p:cxnSp>
        <p:nvCxnSpPr>
          <p:cNvPr id="13" name="Connector: Elbow 12">
            <a:extLst>
              <a:ext uri="{FF2B5EF4-FFF2-40B4-BE49-F238E27FC236}">
                <a16:creationId xmlns:a16="http://schemas.microsoft.com/office/drawing/2014/main" id="{A024961E-2CE6-8357-F813-60453177D69A}"/>
              </a:ext>
            </a:extLst>
          </p:cNvPr>
          <p:cNvCxnSpPr>
            <a:cxnSpLocks/>
            <a:stCxn id="5" idx="0"/>
            <a:endCxn id="24" idx="1"/>
          </p:cNvCxnSpPr>
          <p:nvPr/>
        </p:nvCxnSpPr>
        <p:spPr>
          <a:xfrm rot="5400000" flipH="1" flipV="1">
            <a:off x="3561610" y="1589667"/>
            <a:ext cx="657606" cy="127515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14" name="Flowchart: Predefined Process 13">
            <a:extLst>
              <a:ext uri="{FF2B5EF4-FFF2-40B4-BE49-F238E27FC236}">
                <a16:creationId xmlns:a16="http://schemas.microsoft.com/office/drawing/2014/main" id="{C9F33D9D-6DFE-9ACC-C015-1910F10D1113}"/>
              </a:ext>
            </a:extLst>
          </p:cNvPr>
          <p:cNvSpPr/>
          <p:nvPr/>
        </p:nvSpPr>
        <p:spPr>
          <a:xfrm>
            <a:off x="9923907" y="1064419"/>
            <a:ext cx="1471216"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S4. Create Start-Up Incident</a:t>
            </a:r>
          </a:p>
        </p:txBody>
      </p:sp>
      <p:sp>
        <p:nvSpPr>
          <p:cNvPr id="15" name="Flowchart: Predefined Process 14">
            <a:extLst>
              <a:ext uri="{FF2B5EF4-FFF2-40B4-BE49-F238E27FC236}">
                <a16:creationId xmlns:a16="http://schemas.microsoft.com/office/drawing/2014/main" id="{13F506F5-F6FB-7E7F-BA03-15FE7B324F4E}"/>
              </a:ext>
            </a:extLst>
          </p:cNvPr>
          <p:cNvSpPr/>
          <p:nvPr/>
        </p:nvSpPr>
        <p:spPr>
          <a:xfrm>
            <a:off x="405360" y="4455642"/>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S8. Add Start-Up Notes</a:t>
            </a:r>
          </a:p>
        </p:txBody>
      </p:sp>
      <p:cxnSp>
        <p:nvCxnSpPr>
          <p:cNvPr id="16" name="Connector: Elbow 15">
            <a:extLst>
              <a:ext uri="{FF2B5EF4-FFF2-40B4-BE49-F238E27FC236}">
                <a16:creationId xmlns:a16="http://schemas.microsoft.com/office/drawing/2014/main" id="{3823F9A7-9360-82A1-E711-02BE7070322D}"/>
              </a:ext>
            </a:extLst>
          </p:cNvPr>
          <p:cNvCxnSpPr>
            <a:cxnSpLocks/>
            <a:stCxn id="14" idx="2"/>
            <a:endCxn id="15" idx="0"/>
          </p:cNvCxnSpPr>
          <p:nvPr/>
        </p:nvCxnSpPr>
        <p:spPr>
          <a:xfrm rot="5400000">
            <a:off x="4480200" y="-1723674"/>
            <a:ext cx="2922149" cy="9436483"/>
          </a:xfrm>
          <a:prstGeom prst="bentConnector3">
            <a:avLst>
              <a:gd name="adj1" fmla="val 87942"/>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Predefined Process 16">
            <a:extLst>
              <a:ext uri="{FF2B5EF4-FFF2-40B4-BE49-F238E27FC236}">
                <a16:creationId xmlns:a16="http://schemas.microsoft.com/office/drawing/2014/main" id="{E5C5D77B-6201-5D8A-8892-973E3A194787}"/>
              </a:ext>
            </a:extLst>
          </p:cNvPr>
          <p:cNvSpPr/>
          <p:nvPr/>
        </p:nvSpPr>
        <p:spPr>
          <a:xfrm>
            <a:off x="2431645" y="4448976"/>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S9. Add Line</a:t>
            </a:r>
          </a:p>
        </p:txBody>
      </p:sp>
      <p:sp>
        <p:nvSpPr>
          <p:cNvPr id="18" name="Flowchart: Predefined Process 17">
            <a:extLst>
              <a:ext uri="{FF2B5EF4-FFF2-40B4-BE49-F238E27FC236}">
                <a16:creationId xmlns:a16="http://schemas.microsoft.com/office/drawing/2014/main" id="{9FD9ABAB-DDF3-0254-A503-4D0709AF4367}"/>
              </a:ext>
            </a:extLst>
          </p:cNvPr>
          <p:cNvSpPr/>
          <p:nvPr/>
        </p:nvSpPr>
        <p:spPr>
          <a:xfrm>
            <a:off x="4426735" y="4449327"/>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S10. Convert to SRO and Schedule</a:t>
            </a:r>
          </a:p>
        </p:txBody>
      </p:sp>
      <p:sp>
        <p:nvSpPr>
          <p:cNvPr id="19" name="Flowchart: Predefined Process 18">
            <a:extLst>
              <a:ext uri="{FF2B5EF4-FFF2-40B4-BE49-F238E27FC236}">
                <a16:creationId xmlns:a16="http://schemas.microsoft.com/office/drawing/2014/main" id="{085DB94A-9BE3-6246-BB75-261AB8D2501C}"/>
              </a:ext>
            </a:extLst>
          </p:cNvPr>
          <p:cNvSpPr/>
          <p:nvPr/>
        </p:nvSpPr>
        <p:spPr>
          <a:xfrm>
            <a:off x="6576675" y="4448804"/>
            <a:ext cx="1375653" cy="438417"/>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S11. Print Pick Ticket</a:t>
            </a:r>
          </a:p>
        </p:txBody>
      </p:sp>
      <p:sp>
        <p:nvSpPr>
          <p:cNvPr id="20" name="Flowchart: Predefined Process 19">
            <a:extLst>
              <a:ext uri="{FF2B5EF4-FFF2-40B4-BE49-F238E27FC236}">
                <a16:creationId xmlns:a16="http://schemas.microsoft.com/office/drawing/2014/main" id="{0F5DAE03-37B4-7537-1B9F-C82996A98C9A}"/>
              </a:ext>
            </a:extLst>
          </p:cNvPr>
          <p:cNvSpPr/>
          <p:nvPr/>
        </p:nvSpPr>
        <p:spPr>
          <a:xfrm>
            <a:off x="8429193" y="4438973"/>
            <a:ext cx="1469923"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S12. Shipping Feedback Ship </a:t>
            </a:r>
          </a:p>
        </p:txBody>
      </p:sp>
      <p:sp>
        <p:nvSpPr>
          <p:cNvPr id="21" name="Flowchart: Process 20">
            <a:extLst>
              <a:ext uri="{FF2B5EF4-FFF2-40B4-BE49-F238E27FC236}">
                <a16:creationId xmlns:a16="http://schemas.microsoft.com/office/drawing/2014/main" id="{629F49B6-3CCF-4BAA-5A1D-C62BACC45D7B}"/>
              </a:ext>
            </a:extLst>
          </p:cNvPr>
          <p:cNvSpPr/>
          <p:nvPr/>
        </p:nvSpPr>
        <p:spPr>
          <a:xfrm>
            <a:off x="10234705" y="4422303"/>
            <a:ext cx="1327355" cy="47175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S13. Tech Performs Start-Up</a:t>
            </a:r>
          </a:p>
        </p:txBody>
      </p:sp>
      <p:sp>
        <p:nvSpPr>
          <p:cNvPr id="22" name="Flowchart: Predefined Process 21">
            <a:extLst>
              <a:ext uri="{FF2B5EF4-FFF2-40B4-BE49-F238E27FC236}">
                <a16:creationId xmlns:a16="http://schemas.microsoft.com/office/drawing/2014/main" id="{217CFC4D-2659-5B85-DC00-55B7E8356E27}"/>
              </a:ext>
            </a:extLst>
          </p:cNvPr>
          <p:cNvSpPr/>
          <p:nvPr/>
        </p:nvSpPr>
        <p:spPr>
          <a:xfrm>
            <a:off x="5661054" y="5340892"/>
            <a:ext cx="1469923"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S14. Register A Unit</a:t>
            </a:r>
          </a:p>
        </p:txBody>
      </p:sp>
      <p:cxnSp>
        <p:nvCxnSpPr>
          <p:cNvPr id="23" name="Connector: Elbow 22">
            <a:extLst>
              <a:ext uri="{FF2B5EF4-FFF2-40B4-BE49-F238E27FC236}">
                <a16:creationId xmlns:a16="http://schemas.microsoft.com/office/drawing/2014/main" id="{EE7B2100-7D01-50B0-BC94-6DAB8ADD8092}"/>
              </a:ext>
            </a:extLst>
          </p:cNvPr>
          <p:cNvCxnSpPr>
            <a:cxnSpLocks/>
            <a:stCxn id="21" idx="2"/>
            <a:endCxn id="22" idx="0"/>
          </p:cNvCxnSpPr>
          <p:nvPr/>
        </p:nvCxnSpPr>
        <p:spPr>
          <a:xfrm rot="5400000">
            <a:off x="8423783" y="2866292"/>
            <a:ext cx="446834" cy="4502367"/>
          </a:xfrm>
          <a:prstGeom prst="bentConnector3">
            <a:avLst>
              <a:gd name="adj1" fmla="val 50000"/>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24" name="Flowchart: Decision 23">
            <a:extLst>
              <a:ext uri="{FF2B5EF4-FFF2-40B4-BE49-F238E27FC236}">
                <a16:creationId xmlns:a16="http://schemas.microsoft.com/office/drawing/2014/main" id="{4768D4C9-14DF-012B-7C3A-4CE3FEA1EA5C}"/>
              </a:ext>
            </a:extLst>
          </p:cNvPr>
          <p:cNvSpPr/>
          <p:nvPr/>
        </p:nvSpPr>
        <p:spPr>
          <a:xfrm>
            <a:off x="4527992" y="1724244"/>
            <a:ext cx="435655" cy="34839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D2</a:t>
            </a:r>
          </a:p>
        </p:txBody>
      </p:sp>
      <p:sp>
        <p:nvSpPr>
          <p:cNvPr id="25" name="Flowchart: Process 24">
            <a:extLst>
              <a:ext uri="{FF2B5EF4-FFF2-40B4-BE49-F238E27FC236}">
                <a16:creationId xmlns:a16="http://schemas.microsoft.com/office/drawing/2014/main" id="{DEE35290-8EDA-FC4A-758F-E29B5E23C48A}"/>
              </a:ext>
            </a:extLst>
          </p:cNvPr>
          <p:cNvSpPr/>
          <p:nvPr/>
        </p:nvSpPr>
        <p:spPr>
          <a:xfrm>
            <a:off x="4799383" y="1668146"/>
            <a:ext cx="171405" cy="17107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26" name="Flowchart: Process 25">
            <a:extLst>
              <a:ext uri="{FF2B5EF4-FFF2-40B4-BE49-F238E27FC236}">
                <a16:creationId xmlns:a16="http://schemas.microsoft.com/office/drawing/2014/main" id="{26D783FE-828E-7DA1-8DE3-BEFF842107C6}"/>
              </a:ext>
            </a:extLst>
          </p:cNvPr>
          <p:cNvSpPr/>
          <p:nvPr/>
        </p:nvSpPr>
        <p:spPr>
          <a:xfrm>
            <a:off x="4520850" y="1944263"/>
            <a:ext cx="171405" cy="17107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sp>
        <p:nvSpPr>
          <p:cNvPr id="27" name="TextBox 26">
            <a:extLst>
              <a:ext uri="{FF2B5EF4-FFF2-40B4-BE49-F238E27FC236}">
                <a16:creationId xmlns:a16="http://schemas.microsoft.com/office/drawing/2014/main" id="{8D855F0D-4AF6-985A-2F82-15C3BB9074CA}"/>
              </a:ext>
            </a:extLst>
          </p:cNvPr>
          <p:cNvSpPr txBox="1"/>
          <p:nvPr/>
        </p:nvSpPr>
        <p:spPr>
          <a:xfrm>
            <a:off x="3882757" y="1378103"/>
            <a:ext cx="948813" cy="507831"/>
          </a:xfrm>
          <a:prstGeom prst="rect">
            <a:avLst/>
          </a:prstGeom>
          <a:noFill/>
        </p:spPr>
        <p:txBody>
          <a:bodyPr wrap="square" rtlCol="0">
            <a:spAutoFit/>
          </a:bodyPr>
          <a:lstStyle/>
          <a:p>
            <a:r>
              <a:rPr lang="en-US" sz="900" dirty="0"/>
              <a:t>Do You Know The Original Order #?</a:t>
            </a:r>
          </a:p>
        </p:txBody>
      </p:sp>
      <p:cxnSp>
        <p:nvCxnSpPr>
          <p:cNvPr id="28" name="Connector: Elbow 27">
            <a:extLst>
              <a:ext uri="{FF2B5EF4-FFF2-40B4-BE49-F238E27FC236}">
                <a16:creationId xmlns:a16="http://schemas.microsoft.com/office/drawing/2014/main" id="{04D50E96-1D10-776D-AF6C-DA6E57C22EF3}"/>
              </a:ext>
            </a:extLst>
          </p:cNvPr>
          <p:cNvCxnSpPr>
            <a:cxnSpLocks/>
            <a:stCxn id="24" idx="0"/>
            <a:endCxn id="12" idx="1"/>
          </p:cNvCxnSpPr>
          <p:nvPr/>
        </p:nvCxnSpPr>
        <p:spPr>
          <a:xfrm rot="5400000" flipH="1" flipV="1">
            <a:off x="5023998" y="1016900"/>
            <a:ext cx="429166" cy="9855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9" name="Flowchart: Predefined Process 28">
            <a:extLst>
              <a:ext uri="{FF2B5EF4-FFF2-40B4-BE49-F238E27FC236}">
                <a16:creationId xmlns:a16="http://schemas.microsoft.com/office/drawing/2014/main" id="{7CD8920B-9F69-F547-4F38-84C3D13E3586}"/>
              </a:ext>
            </a:extLst>
          </p:cNvPr>
          <p:cNvSpPr/>
          <p:nvPr/>
        </p:nvSpPr>
        <p:spPr>
          <a:xfrm>
            <a:off x="7519201" y="2231738"/>
            <a:ext cx="1944205"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S5. Order Inquiry Using Serial Number</a:t>
            </a:r>
          </a:p>
        </p:txBody>
      </p:sp>
      <p:sp>
        <p:nvSpPr>
          <p:cNvPr id="31" name="TextBox 30">
            <a:extLst>
              <a:ext uri="{FF2B5EF4-FFF2-40B4-BE49-F238E27FC236}">
                <a16:creationId xmlns:a16="http://schemas.microsoft.com/office/drawing/2014/main" id="{BE459DB1-AEFA-D19D-E9FA-56489A3D956E}"/>
              </a:ext>
            </a:extLst>
          </p:cNvPr>
          <p:cNvSpPr txBox="1"/>
          <p:nvPr/>
        </p:nvSpPr>
        <p:spPr>
          <a:xfrm>
            <a:off x="5661054" y="3222725"/>
            <a:ext cx="1205916"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S6. Create A New Unit SOP</a:t>
            </a:r>
          </a:p>
        </p:txBody>
      </p:sp>
      <p:cxnSp>
        <p:nvCxnSpPr>
          <p:cNvPr id="32" name="Connector: Elbow 31">
            <a:extLst>
              <a:ext uri="{FF2B5EF4-FFF2-40B4-BE49-F238E27FC236}">
                <a16:creationId xmlns:a16="http://schemas.microsoft.com/office/drawing/2014/main" id="{1DA35CE3-C692-ABF5-7305-981FB3654442}"/>
              </a:ext>
            </a:extLst>
          </p:cNvPr>
          <p:cNvCxnSpPr>
            <a:cxnSpLocks/>
            <a:stCxn id="24" idx="2"/>
            <a:endCxn id="29" idx="1"/>
          </p:cNvCxnSpPr>
          <p:nvPr/>
        </p:nvCxnSpPr>
        <p:spPr>
          <a:xfrm rot="16200000" flipH="1">
            <a:off x="5935693" y="882766"/>
            <a:ext cx="393635" cy="2773381"/>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Flowchart: Process 32">
            <a:extLst>
              <a:ext uri="{FF2B5EF4-FFF2-40B4-BE49-F238E27FC236}">
                <a16:creationId xmlns:a16="http://schemas.microsoft.com/office/drawing/2014/main" id="{857B26C0-A7B0-AB9A-4521-0757A19A639D}"/>
              </a:ext>
            </a:extLst>
          </p:cNvPr>
          <p:cNvSpPr/>
          <p:nvPr/>
        </p:nvSpPr>
        <p:spPr>
          <a:xfrm>
            <a:off x="7827625" y="1057821"/>
            <a:ext cx="1327355" cy="47451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S3. Check With AR To Verify Payment In Full</a:t>
            </a:r>
          </a:p>
        </p:txBody>
      </p:sp>
      <p:cxnSp>
        <p:nvCxnSpPr>
          <p:cNvPr id="34" name="Straight Arrow Connector 33">
            <a:extLst>
              <a:ext uri="{FF2B5EF4-FFF2-40B4-BE49-F238E27FC236}">
                <a16:creationId xmlns:a16="http://schemas.microsoft.com/office/drawing/2014/main" id="{26E8B30C-BF4B-3E33-9AB2-A1DCF0EA0B5D}"/>
              </a:ext>
            </a:extLst>
          </p:cNvPr>
          <p:cNvCxnSpPr>
            <a:cxnSpLocks/>
            <a:stCxn id="12" idx="3"/>
            <a:endCxn id="33" idx="1"/>
          </p:cNvCxnSpPr>
          <p:nvPr/>
        </p:nvCxnSpPr>
        <p:spPr>
          <a:xfrm>
            <a:off x="6866970" y="1295078"/>
            <a:ext cx="960655"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BDFDA4E0-D42B-9F2A-4AC5-58238A6166D7}"/>
              </a:ext>
            </a:extLst>
          </p:cNvPr>
          <p:cNvCxnSpPr>
            <a:cxnSpLocks/>
            <a:stCxn id="33" idx="3"/>
            <a:endCxn id="14" idx="1"/>
          </p:cNvCxnSpPr>
          <p:nvPr/>
        </p:nvCxnSpPr>
        <p:spPr>
          <a:xfrm>
            <a:off x="9154980" y="1295078"/>
            <a:ext cx="768927" cy="3878"/>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32CFF923-C2EA-C764-D4CF-EE270659E340}"/>
              </a:ext>
            </a:extLst>
          </p:cNvPr>
          <p:cNvCxnSpPr>
            <a:cxnSpLocks/>
            <a:stCxn id="31" idx="3"/>
            <a:endCxn id="10" idx="1"/>
          </p:cNvCxnSpPr>
          <p:nvPr/>
        </p:nvCxnSpPr>
        <p:spPr>
          <a:xfrm flipV="1">
            <a:off x="6866970" y="3456649"/>
            <a:ext cx="1898379" cy="195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61FA9FB1-25B0-3147-6FCA-3D64B0F5EA53}"/>
              </a:ext>
            </a:extLst>
          </p:cNvPr>
          <p:cNvCxnSpPr>
            <a:cxnSpLocks/>
            <a:stCxn id="15" idx="3"/>
            <a:endCxn id="17" idx="1"/>
          </p:cNvCxnSpPr>
          <p:nvPr/>
        </p:nvCxnSpPr>
        <p:spPr>
          <a:xfrm flipV="1">
            <a:off x="2040704" y="4668184"/>
            <a:ext cx="390941" cy="6666"/>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26E9119D-8E95-1055-17C3-CED375E22C73}"/>
              </a:ext>
            </a:extLst>
          </p:cNvPr>
          <p:cNvCxnSpPr>
            <a:cxnSpLocks/>
            <a:stCxn id="17" idx="3"/>
            <a:endCxn id="18" idx="1"/>
          </p:cNvCxnSpPr>
          <p:nvPr/>
        </p:nvCxnSpPr>
        <p:spPr>
          <a:xfrm>
            <a:off x="4066989" y="4668184"/>
            <a:ext cx="359746" cy="351"/>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B32BB37B-BC8D-923A-276D-0717298E0BCA}"/>
              </a:ext>
            </a:extLst>
          </p:cNvPr>
          <p:cNvCxnSpPr>
            <a:cxnSpLocks/>
            <a:stCxn id="18" idx="3"/>
            <a:endCxn id="19" idx="1"/>
          </p:cNvCxnSpPr>
          <p:nvPr/>
        </p:nvCxnSpPr>
        <p:spPr>
          <a:xfrm flipV="1">
            <a:off x="6062079" y="4668013"/>
            <a:ext cx="514596" cy="522"/>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0707321B-5557-EF36-01D7-7BFBD0D89679}"/>
              </a:ext>
            </a:extLst>
          </p:cNvPr>
          <p:cNvCxnSpPr>
            <a:cxnSpLocks/>
            <a:stCxn id="19" idx="3"/>
            <a:endCxn id="20" idx="1"/>
          </p:cNvCxnSpPr>
          <p:nvPr/>
        </p:nvCxnSpPr>
        <p:spPr>
          <a:xfrm flipV="1">
            <a:off x="7952328" y="4658181"/>
            <a:ext cx="476865" cy="9832"/>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8A499A02-FCC7-9030-4FF3-B46B6F251E72}"/>
              </a:ext>
            </a:extLst>
          </p:cNvPr>
          <p:cNvCxnSpPr>
            <a:cxnSpLocks/>
            <a:stCxn id="20" idx="3"/>
            <a:endCxn id="21" idx="1"/>
          </p:cNvCxnSpPr>
          <p:nvPr/>
        </p:nvCxnSpPr>
        <p:spPr>
          <a:xfrm>
            <a:off x="9899116" y="4658181"/>
            <a:ext cx="335589" cy="0"/>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763A7A76-D1BB-FFDF-6596-D4479A6B25F9}"/>
              </a:ext>
            </a:extLst>
          </p:cNvPr>
          <p:cNvCxnSpPr>
            <a:cxnSpLocks/>
            <a:stCxn id="3" idx="3"/>
            <a:endCxn id="5" idx="1"/>
          </p:cNvCxnSpPr>
          <p:nvPr/>
        </p:nvCxnSpPr>
        <p:spPr>
          <a:xfrm>
            <a:off x="2040704" y="2738772"/>
            <a:ext cx="926695"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03B56786-2844-700A-82FE-4D20BFBF1509}"/>
              </a:ext>
            </a:extLst>
          </p:cNvPr>
          <p:cNvSpPr txBox="1"/>
          <p:nvPr/>
        </p:nvSpPr>
        <p:spPr>
          <a:xfrm>
            <a:off x="135181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cxnSp>
        <p:nvCxnSpPr>
          <p:cNvPr id="47" name="Straight Arrow Connector 46">
            <a:extLst>
              <a:ext uri="{FF2B5EF4-FFF2-40B4-BE49-F238E27FC236}">
                <a16:creationId xmlns:a16="http://schemas.microsoft.com/office/drawing/2014/main" id="{9E464C69-3585-1296-1354-0483627836E3}"/>
              </a:ext>
            </a:extLst>
          </p:cNvPr>
          <p:cNvCxnSpPr>
            <a:cxnSpLocks/>
            <a:stCxn id="29" idx="0"/>
            <a:endCxn id="33" idx="2"/>
          </p:cNvCxnSpPr>
          <p:nvPr/>
        </p:nvCxnSpPr>
        <p:spPr>
          <a:xfrm flipH="1" flipV="1">
            <a:off x="8491303" y="1532334"/>
            <a:ext cx="1" cy="69940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 M1.  Generator Startup - At PPS Service">
            <a:extLst>
              <a:ext uri="{FF2B5EF4-FFF2-40B4-BE49-F238E27FC236}">
                <a16:creationId xmlns:a16="http://schemas.microsoft.com/office/drawing/2014/main" id="{257E3C0D-93FA-C51F-87ED-119E1C9D9E73}"/>
              </a:ext>
            </a:extLst>
          </p:cNvPr>
          <p:cNvSpPr txBox="1">
            <a:spLocks/>
          </p:cNvSpPr>
          <p:nvPr/>
        </p:nvSpPr>
        <p:spPr>
          <a:xfrm>
            <a:off x="838200" y="45733"/>
            <a:ext cx="10515600" cy="306124"/>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M1.  Generator Startup - At PPS Service</a:t>
            </a:r>
          </a:p>
        </p:txBody>
      </p:sp>
    </p:spTree>
    <p:extLst>
      <p:ext uri="{BB962C8B-B14F-4D97-AF65-F5344CB8AC3E}">
        <p14:creationId xmlns:p14="http://schemas.microsoft.com/office/powerpoint/2010/main" val="17289279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2284E-5F7C-5208-5898-790BBC4E1E29}"/>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6F200409-406F-D3F0-1896-BC63CBD5F6F3}"/>
              </a:ext>
            </a:extLst>
          </p:cNvPr>
          <p:cNvSpPr/>
          <p:nvPr/>
        </p:nvSpPr>
        <p:spPr>
          <a:xfrm>
            <a:off x="405360" y="2425632"/>
            <a:ext cx="1857251" cy="1003368"/>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sp>
        <p:nvSpPr>
          <p:cNvPr id="39" name="Flowchart: Process 38">
            <a:extLst>
              <a:ext uri="{FF2B5EF4-FFF2-40B4-BE49-F238E27FC236}">
                <a16:creationId xmlns:a16="http://schemas.microsoft.com/office/drawing/2014/main" id="{F94F74C4-9573-0F75-B396-FA69524B9AB9}"/>
              </a:ext>
            </a:extLst>
          </p:cNvPr>
          <p:cNvSpPr/>
          <p:nvPr/>
        </p:nvSpPr>
        <p:spPr>
          <a:xfrm>
            <a:off x="713349" y="2526777"/>
            <a:ext cx="1327355" cy="42399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 Customer Calls For Start-Up</a:t>
            </a:r>
          </a:p>
        </p:txBody>
      </p:sp>
      <p:sp>
        <p:nvSpPr>
          <p:cNvPr id="41" name="Flowchart: Decision 40">
            <a:extLst>
              <a:ext uri="{FF2B5EF4-FFF2-40B4-BE49-F238E27FC236}">
                <a16:creationId xmlns:a16="http://schemas.microsoft.com/office/drawing/2014/main" id="{9EB91BB0-892A-1CCB-A393-4BF548E49AFE}"/>
              </a:ext>
            </a:extLst>
          </p:cNvPr>
          <p:cNvSpPr/>
          <p:nvPr/>
        </p:nvSpPr>
        <p:spPr>
          <a:xfrm>
            <a:off x="2967399" y="2556048"/>
            <a:ext cx="570871" cy="365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D1</a:t>
            </a:r>
          </a:p>
        </p:txBody>
      </p:sp>
      <p:sp>
        <p:nvSpPr>
          <p:cNvPr id="42" name="Flowchart: Process 41">
            <a:extLst>
              <a:ext uri="{FF2B5EF4-FFF2-40B4-BE49-F238E27FC236}">
                <a16:creationId xmlns:a16="http://schemas.microsoft.com/office/drawing/2014/main" id="{0EB1911D-C473-9BC3-4129-5F05843E3F00}"/>
              </a:ext>
            </a:extLst>
          </p:cNvPr>
          <p:cNvSpPr/>
          <p:nvPr/>
        </p:nvSpPr>
        <p:spPr>
          <a:xfrm>
            <a:off x="3323024" y="2497204"/>
            <a:ext cx="224605" cy="17944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43" name="Flowchart: Process 42">
            <a:extLst>
              <a:ext uri="{FF2B5EF4-FFF2-40B4-BE49-F238E27FC236}">
                <a16:creationId xmlns:a16="http://schemas.microsoft.com/office/drawing/2014/main" id="{942DC1A9-3152-47C0-4481-35D8A5BF7528}"/>
              </a:ext>
            </a:extLst>
          </p:cNvPr>
          <p:cNvSpPr/>
          <p:nvPr/>
        </p:nvSpPr>
        <p:spPr>
          <a:xfrm>
            <a:off x="2958041" y="2786835"/>
            <a:ext cx="224605" cy="17944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sp>
        <p:nvSpPr>
          <p:cNvPr id="44" name="TextBox 43">
            <a:extLst>
              <a:ext uri="{FF2B5EF4-FFF2-40B4-BE49-F238E27FC236}">
                <a16:creationId xmlns:a16="http://schemas.microsoft.com/office/drawing/2014/main" id="{8F46F813-1A9D-2F60-E980-35C2EFD7D0F3}"/>
              </a:ext>
            </a:extLst>
          </p:cNvPr>
          <p:cNvSpPr txBox="1"/>
          <p:nvPr/>
        </p:nvSpPr>
        <p:spPr>
          <a:xfrm>
            <a:off x="2332800" y="2331480"/>
            <a:ext cx="948813" cy="369332"/>
          </a:xfrm>
          <a:prstGeom prst="rect">
            <a:avLst/>
          </a:prstGeom>
          <a:noFill/>
        </p:spPr>
        <p:txBody>
          <a:bodyPr wrap="square" rtlCol="0">
            <a:spAutoFit/>
          </a:bodyPr>
          <a:lstStyle/>
          <a:p>
            <a:r>
              <a:rPr lang="en-US" sz="900" dirty="0"/>
              <a:t>Q1.Did We Sell The Generator? </a:t>
            </a:r>
          </a:p>
        </p:txBody>
      </p:sp>
      <p:sp>
        <p:nvSpPr>
          <p:cNvPr id="45" name="TextBox 44">
            <a:extLst>
              <a:ext uri="{FF2B5EF4-FFF2-40B4-BE49-F238E27FC236}">
                <a16:creationId xmlns:a16="http://schemas.microsoft.com/office/drawing/2014/main" id="{12C8E88B-6079-2683-B9E9-18A1916C103E}"/>
              </a:ext>
            </a:extLst>
          </p:cNvPr>
          <p:cNvSpPr txBox="1"/>
          <p:nvPr/>
        </p:nvSpPr>
        <p:spPr>
          <a:xfrm>
            <a:off x="8765349" y="3220771"/>
            <a:ext cx="1721329"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S7. Service Order Process at charge SOP</a:t>
            </a:r>
          </a:p>
        </p:txBody>
      </p:sp>
      <p:cxnSp>
        <p:nvCxnSpPr>
          <p:cNvPr id="46" name="Connector: Elbow 45">
            <a:extLst>
              <a:ext uri="{FF2B5EF4-FFF2-40B4-BE49-F238E27FC236}">
                <a16:creationId xmlns:a16="http://schemas.microsoft.com/office/drawing/2014/main" id="{DAD3103C-D54F-9CA3-CDC2-EDDD707CEFD3}"/>
              </a:ext>
            </a:extLst>
          </p:cNvPr>
          <p:cNvCxnSpPr>
            <a:cxnSpLocks/>
            <a:stCxn id="41" idx="2"/>
            <a:endCxn id="66" idx="1"/>
          </p:cNvCxnSpPr>
          <p:nvPr/>
        </p:nvCxnSpPr>
        <p:spPr>
          <a:xfrm rot="16200000" flipH="1">
            <a:off x="4188391" y="1985939"/>
            <a:ext cx="537107" cy="2408219"/>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 name="Flowchart: Predefined Process 46">
            <a:extLst>
              <a:ext uri="{FF2B5EF4-FFF2-40B4-BE49-F238E27FC236}">
                <a16:creationId xmlns:a16="http://schemas.microsoft.com/office/drawing/2014/main" id="{885FB7B0-156C-6610-2F08-2C0C3B1269B0}"/>
              </a:ext>
            </a:extLst>
          </p:cNvPr>
          <p:cNvSpPr/>
          <p:nvPr/>
        </p:nvSpPr>
        <p:spPr>
          <a:xfrm>
            <a:off x="5731343" y="1060541"/>
            <a:ext cx="1135627"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S2. Order Inquiry </a:t>
            </a:r>
          </a:p>
        </p:txBody>
      </p:sp>
      <p:cxnSp>
        <p:nvCxnSpPr>
          <p:cNvPr id="48" name="Connector: Elbow 47">
            <a:extLst>
              <a:ext uri="{FF2B5EF4-FFF2-40B4-BE49-F238E27FC236}">
                <a16:creationId xmlns:a16="http://schemas.microsoft.com/office/drawing/2014/main" id="{E03CE073-1B9C-FF4F-B4AE-A51BD5A1F0B6}"/>
              </a:ext>
            </a:extLst>
          </p:cNvPr>
          <p:cNvCxnSpPr>
            <a:cxnSpLocks/>
            <a:stCxn id="41" idx="0"/>
            <a:endCxn id="60" idx="1"/>
          </p:cNvCxnSpPr>
          <p:nvPr/>
        </p:nvCxnSpPr>
        <p:spPr>
          <a:xfrm rot="5400000" flipH="1" flipV="1">
            <a:off x="3561610" y="1589667"/>
            <a:ext cx="657606" cy="127515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Flowchart: Predefined Process 48">
            <a:extLst>
              <a:ext uri="{FF2B5EF4-FFF2-40B4-BE49-F238E27FC236}">
                <a16:creationId xmlns:a16="http://schemas.microsoft.com/office/drawing/2014/main" id="{6724D2C6-C8D3-1FBF-88D3-58975078C704}"/>
              </a:ext>
            </a:extLst>
          </p:cNvPr>
          <p:cNvSpPr/>
          <p:nvPr/>
        </p:nvSpPr>
        <p:spPr>
          <a:xfrm>
            <a:off x="9923907" y="1064419"/>
            <a:ext cx="1471216"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S4. Create Start-Up Incident</a:t>
            </a:r>
          </a:p>
        </p:txBody>
      </p:sp>
      <p:sp>
        <p:nvSpPr>
          <p:cNvPr id="50" name="Flowchart: Predefined Process 49">
            <a:extLst>
              <a:ext uri="{FF2B5EF4-FFF2-40B4-BE49-F238E27FC236}">
                <a16:creationId xmlns:a16="http://schemas.microsoft.com/office/drawing/2014/main" id="{9AC9E08B-4B08-D5D1-1394-CC951E463402}"/>
              </a:ext>
            </a:extLst>
          </p:cNvPr>
          <p:cNvSpPr/>
          <p:nvPr/>
        </p:nvSpPr>
        <p:spPr>
          <a:xfrm>
            <a:off x="405360" y="4455642"/>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S8. Add Start-Up Notes</a:t>
            </a:r>
          </a:p>
        </p:txBody>
      </p:sp>
      <p:cxnSp>
        <p:nvCxnSpPr>
          <p:cNvPr id="51" name="Connector: Elbow 50">
            <a:extLst>
              <a:ext uri="{FF2B5EF4-FFF2-40B4-BE49-F238E27FC236}">
                <a16:creationId xmlns:a16="http://schemas.microsoft.com/office/drawing/2014/main" id="{41A0EF8D-FC4F-0B84-BD69-9DCE46D326E2}"/>
              </a:ext>
            </a:extLst>
          </p:cNvPr>
          <p:cNvCxnSpPr>
            <a:cxnSpLocks/>
            <a:stCxn id="49" idx="2"/>
            <a:endCxn id="50" idx="0"/>
          </p:cNvCxnSpPr>
          <p:nvPr/>
        </p:nvCxnSpPr>
        <p:spPr>
          <a:xfrm rot="5400000">
            <a:off x="4480200" y="-1723674"/>
            <a:ext cx="2922149" cy="9436483"/>
          </a:xfrm>
          <a:prstGeom prst="bentConnector3">
            <a:avLst>
              <a:gd name="adj1" fmla="val 87942"/>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52" name="Flowchart: Predefined Process 51">
            <a:extLst>
              <a:ext uri="{FF2B5EF4-FFF2-40B4-BE49-F238E27FC236}">
                <a16:creationId xmlns:a16="http://schemas.microsoft.com/office/drawing/2014/main" id="{FECC350A-38DE-1C40-D438-A52CF981829C}"/>
              </a:ext>
            </a:extLst>
          </p:cNvPr>
          <p:cNvSpPr/>
          <p:nvPr/>
        </p:nvSpPr>
        <p:spPr>
          <a:xfrm>
            <a:off x="2431645" y="4448976"/>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S9. Add Line</a:t>
            </a:r>
          </a:p>
        </p:txBody>
      </p:sp>
      <p:sp>
        <p:nvSpPr>
          <p:cNvPr id="53" name="Flowchart: Predefined Process 52">
            <a:extLst>
              <a:ext uri="{FF2B5EF4-FFF2-40B4-BE49-F238E27FC236}">
                <a16:creationId xmlns:a16="http://schemas.microsoft.com/office/drawing/2014/main" id="{D18CD219-236F-E33F-79A7-CE6022AE71BB}"/>
              </a:ext>
            </a:extLst>
          </p:cNvPr>
          <p:cNvSpPr/>
          <p:nvPr/>
        </p:nvSpPr>
        <p:spPr>
          <a:xfrm>
            <a:off x="4426735" y="4449327"/>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S10. Convert to SRO and Schedule</a:t>
            </a:r>
          </a:p>
        </p:txBody>
      </p:sp>
      <p:sp>
        <p:nvSpPr>
          <p:cNvPr id="54" name="Flowchart: Predefined Process 53">
            <a:extLst>
              <a:ext uri="{FF2B5EF4-FFF2-40B4-BE49-F238E27FC236}">
                <a16:creationId xmlns:a16="http://schemas.microsoft.com/office/drawing/2014/main" id="{F067D7E6-B317-FDD6-3BBC-B471B8221A0C}"/>
              </a:ext>
            </a:extLst>
          </p:cNvPr>
          <p:cNvSpPr/>
          <p:nvPr/>
        </p:nvSpPr>
        <p:spPr>
          <a:xfrm>
            <a:off x="6576675" y="4448804"/>
            <a:ext cx="1375653" cy="438417"/>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S11. Print Pick Ticket</a:t>
            </a:r>
          </a:p>
        </p:txBody>
      </p:sp>
      <p:sp>
        <p:nvSpPr>
          <p:cNvPr id="55" name="Flowchart: Predefined Process 54">
            <a:extLst>
              <a:ext uri="{FF2B5EF4-FFF2-40B4-BE49-F238E27FC236}">
                <a16:creationId xmlns:a16="http://schemas.microsoft.com/office/drawing/2014/main" id="{FFA96D4A-54A4-4114-36D2-4F4A5E50815E}"/>
              </a:ext>
            </a:extLst>
          </p:cNvPr>
          <p:cNvSpPr/>
          <p:nvPr/>
        </p:nvSpPr>
        <p:spPr>
          <a:xfrm>
            <a:off x="8429193" y="4438973"/>
            <a:ext cx="1469923"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S12. Shipping Feedback Ship </a:t>
            </a:r>
          </a:p>
        </p:txBody>
      </p:sp>
      <p:sp>
        <p:nvSpPr>
          <p:cNvPr id="56" name="Flowchart: Process 55">
            <a:extLst>
              <a:ext uri="{FF2B5EF4-FFF2-40B4-BE49-F238E27FC236}">
                <a16:creationId xmlns:a16="http://schemas.microsoft.com/office/drawing/2014/main" id="{2B15C599-C735-F995-6859-7D136F2E798A}"/>
              </a:ext>
            </a:extLst>
          </p:cNvPr>
          <p:cNvSpPr/>
          <p:nvPr/>
        </p:nvSpPr>
        <p:spPr>
          <a:xfrm>
            <a:off x="10234705" y="4422303"/>
            <a:ext cx="1327355" cy="47175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S13. Tech Performs Start-Up</a:t>
            </a:r>
          </a:p>
        </p:txBody>
      </p:sp>
      <p:sp>
        <p:nvSpPr>
          <p:cNvPr id="57" name="Flowchart: Predefined Process 56">
            <a:extLst>
              <a:ext uri="{FF2B5EF4-FFF2-40B4-BE49-F238E27FC236}">
                <a16:creationId xmlns:a16="http://schemas.microsoft.com/office/drawing/2014/main" id="{4AC8ABB7-53C0-0403-E752-6BC9D1700AE3}"/>
              </a:ext>
            </a:extLst>
          </p:cNvPr>
          <p:cNvSpPr/>
          <p:nvPr/>
        </p:nvSpPr>
        <p:spPr>
          <a:xfrm>
            <a:off x="5661054" y="5340892"/>
            <a:ext cx="1469923"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S14. Register A Unit</a:t>
            </a:r>
          </a:p>
        </p:txBody>
      </p:sp>
      <p:cxnSp>
        <p:nvCxnSpPr>
          <p:cNvPr id="58" name="Connector: Elbow 57">
            <a:extLst>
              <a:ext uri="{FF2B5EF4-FFF2-40B4-BE49-F238E27FC236}">
                <a16:creationId xmlns:a16="http://schemas.microsoft.com/office/drawing/2014/main" id="{E122A55B-79DA-21AC-B468-2BC0F3B4ED0C}"/>
              </a:ext>
            </a:extLst>
          </p:cNvPr>
          <p:cNvCxnSpPr>
            <a:cxnSpLocks/>
            <a:stCxn id="56" idx="2"/>
            <a:endCxn id="57" idx="0"/>
          </p:cNvCxnSpPr>
          <p:nvPr/>
        </p:nvCxnSpPr>
        <p:spPr>
          <a:xfrm rot="5400000">
            <a:off x="8423783" y="2866292"/>
            <a:ext cx="446834" cy="4502367"/>
          </a:xfrm>
          <a:prstGeom prst="bentConnector3">
            <a:avLst>
              <a:gd name="adj1" fmla="val 50000"/>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60" name="Flowchart: Decision 59">
            <a:extLst>
              <a:ext uri="{FF2B5EF4-FFF2-40B4-BE49-F238E27FC236}">
                <a16:creationId xmlns:a16="http://schemas.microsoft.com/office/drawing/2014/main" id="{0AA833D6-0F43-201C-4CB3-63161B2C2E8C}"/>
              </a:ext>
            </a:extLst>
          </p:cNvPr>
          <p:cNvSpPr/>
          <p:nvPr/>
        </p:nvSpPr>
        <p:spPr>
          <a:xfrm>
            <a:off x="4527992" y="1724244"/>
            <a:ext cx="435655" cy="34839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D2</a:t>
            </a:r>
          </a:p>
        </p:txBody>
      </p:sp>
      <p:sp>
        <p:nvSpPr>
          <p:cNvPr id="61" name="Flowchart: Process 60">
            <a:extLst>
              <a:ext uri="{FF2B5EF4-FFF2-40B4-BE49-F238E27FC236}">
                <a16:creationId xmlns:a16="http://schemas.microsoft.com/office/drawing/2014/main" id="{6478FA19-CDBF-D3CA-6157-6AB14353AABC}"/>
              </a:ext>
            </a:extLst>
          </p:cNvPr>
          <p:cNvSpPr/>
          <p:nvPr/>
        </p:nvSpPr>
        <p:spPr>
          <a:xfrm>
            <a:off x="4799383" y="1668146"/>
            <a:ext cx="171405" cy="17107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62" name="Flowchart: Process 61">
            <a:extLst>
              <a:ext uri="{FF2B5EF4-FFF2-40B4-BE49-F238E27FC236}">
                <a16:creationId xmlns:a16="http://schemas.microsoft.com/office/drawing/2014/main" id="{9EFEB251-E7CF-B7CD-6A13-37D2F8574FB5}"/>
              </a:ext>
            </a:extLst>
          </p:cNvPr>
          <p:cNvSpPr/>
          <p:nvPr/>
        </p:nvSpPr>
        <p:spPr>
          <a:xfrm>
            <a:off x="4520850" y="1944263"/>
            <a:ext cx="171405" cy="17107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sp>
        <p:nvSpPr>
          <p:cNvPr id="63" name="TextBox 62">
            <a:extLst>
              <a:ext uri="{FF2B5EF4-FFF2-40B4-BE49-F238E27FC236}">
                <a16:creationId xmlns:a16="http://schemas.microsoft.com/office/drawing/2014/main" id="{FDB71D0F-706E-5D2B-537F-0FBFE3E61630}"/>
              </a:ext>
            </a:extLst>
          </p:cNvPr>
          <p:cNvSpPr txBox="1"/>
          <p:nvPr/>
        </p:nvSpPr>
        <p:spPr>
          <a:xfrm>
            <a:off x="3882757" y="1378103"/>
            <a:ext cx="948813" cy="507831"/>
          </a:xfrm>
          <a:prstGeom prst="rect">
            <a:avLst/>
          </a:prstGeom>
          <a:noFill/>
        </p:spPr>
        <p:txBody>
          <a:bodyPr wrap="square" rtlCol="0">
            <a:spAutoFit/>
          </a:bodyPr>
          <a:lstStyle/>
          <a:p>
            <a:r>
              <a:rPr lang="en-US" sz="900" dirty="0"/>
              <a:t>Do You Know The Original Order #?</a:t>
            </a:r>
          </a:p>
        </p:txBody>
      </p:sp>
      <p:cxnSp>
        <p:nvCxnSpPr>
          <p:cNvPr id="64" name="Connector: Elbow 63">
            <a:extLst>
              <a:ext uri="{FF2B5EF4-FFF2-40B4-BE49-F238E27FC236}">
                <a16:creationId xmlns:a16="http://schemas.microsoft.com/office/drawing/2014/main" id="{36E35B8E-2633-05B1-F4E5-8E3859EC04B8}"/>
              </a:ext>
            </a:extLst>
          </p:cNvPr>
          <p:cNvCxnSpPr>
            <a:cxnSpLocks/>
            <a:stCxn id="60" idx="0"/>
            <a:endCxn id="47" idx="1"/>
          </p:cNvCxnSpPr>
          <p:nvPr/>
        </p:nvCxnSpPr>
        <p:spPr>
          <a:xfrm rot="5400000" flipH="1" flipV="1">
            <a:off x="5023998" y="1016900"/>
            <a:ext cx="429166" cy="9855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5" name="Flowchart: Predefined Process 64">
            <a:extLst>
              <a:ext uri="{FF2B5EF4-FFF2-40B4-BE49-F238E27FC236}">
                <a16:creationId xmlns:a16="http://schemas.microsoft.com/office/drawing/2014/main" id="{905FE8F1-B578-E1CB-EE22-650C28C2CB63}"/>
              </a:ext>
            </a:extLst>
          </p:cNvPr>
          <p:cNvSpPr/>
          <p:nvPr/>
        </p:nvSpPr>
        <p:spPr>
          <a:xfrm>
            <a:off x="7519201" y="2231738"/>
            <a:ext cx="1944205"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S5. Order Inquiry Using Serial Number</a:t>
            </a:r>
          </a:p>
        </p:txBody>
      </p:sp>
      <p:sp>
        <p:nvSpPr>
          <p:cNvPr id="66" name="TextBox 65">
            <a:extLst>
              <a:ext uri="{FF2B5EF4-FFF2-40B4-BE49-F238E27FC236}">
                <a16:creationId xmlns:a16="http://schemas.microsoft.com/office/drawing/2014/main" id="{D421D6B2-ED70-A459-748C-9AB27925BF74}"/>
              </a:ext>
            </a:extLst>
          </p:cNvPr>
          <p:cNvSpPr txBox="1"/>
          <p:nvPr/>
        </p:nvSpPr>
        <p:spPr>
          <a:xfrm>
            <a:off x="5661054" y="3222725"/>
            <a:ext cx="1205916"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S6. Create A New Unit SOP</a:t>
            </a:r>
          </a:p>
        </p:txBody>
      </p:sp>
      <p:cxnSp>
        <p:nvCxnSpPr>
          <p:cNvPr id="67" name="Connector: Elbow 66">
            <a:extLst>
              <a:ext uri="{FF2B5EF4-FFF2-40B4-BE49-F238E27FC236}">
                <a16:creationId xmlns:a16="http://schemas.microsoft.com/office/drawing/2014/main" id="{A2BBA5AA-208D-5EAE-EE4F-C1011F2C8680}"/>
              </a:ext>
            </a:extLst>
          </p:cNvPr>
          <p:cNvCxnSpPr>
            <a:cxnSpLocks/>
            <a:stCxn id="60" idx="2"/>
            <a:endCxn id="65" idx="1"/>
          </p:cNvCxnSpPr>
          <p:nvPr/>
        </p:nvCxnSpPr>
        <p:spPr>
          <a:xfrm rot="16200000" flipH="1">
            <a:off x="5935693" y="882766"/>
            <a:ext cx="393635" cy="2773381"/>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0" name="Flowchart: Process 69">
            <a:extLst>
              <a:ext uri="{FF2B5EF4-FFF2-40B4-BE49-F238E27FC236}">
                <a16:creationId xmlns:a16="http://schemas.microsoft.com/office/drawing/2014/main" id="{339C3937-7CDE-6FB3-F8CA-6CEB5B74E5C2}"/>
              </a:ext>
            </a:extLst>
          </p:cNvPr>
          <p:cNvSpPr/>
          <p:nvPr/>
        </p:nvSpPr>
        <p:spPr>
          <a:xfrm>
            <a:off x="7827625" y="1057821"/>
            <a:ext cx="1327355" cy="47451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S3. Check With AR To Verify Payment In Full</a:t>
            </a:r>
          </a:p>
        </p:txBody>
      </p:sp>
      <p:cxnSp>
        <p:nvCxnSpPr>
          <p:cNvPr id="71" name="Straight Arrow Connector 70">
            <a:extLst>
              <a:ext uri="{FF2B5EF4-FFF2-40B4-BE49-F238E27FC236}">
                <a16:creationId xmlns:a16="http://schemas.microsoft.com/office/drawing/2014/main" id="{289F9C06-C09B-AB4C-06BB-1E7A49F95D9A}"/>
              </a:ext>
            </a:extLst>
          </p:cNvPr>
          <p:cNvCxnSpPr>
            <a:cxnSpLocks/>
            <a:stCxn id="47" idx="3"/>
            <a:endCxn id="70" idx="1"/>
          </p:cNvCxnSpPr>
          <p:nvPr/>
        </p:nvCxnSpPr>
        <p:spPr>
          <a:xfrm>
            <a:off x="6866970" y="1295078"/>
            <a:ext cx="960655"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2BC0BFAF-BBED-971D-D970-C043B8A56127}"/>
              </a:ext>
            </a:extLst>
          </p:cNvPr>
          <p:cNvCxnSpPr>
            <a:cxnSpLocks/>
            <a:stCxn id="70" idx="3"/>
            <a:endCxn id="49" idx="1"/>
          </p:cNvCxnSpPr>
          <p:nvPr/>
        </p:nvCxnSpPr>
        <p:spPr>
          <a:xfrm>
            <a:off x="9154980" y="1295078"/>
            <a:ext cx="768927" cy="3878"/>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8318F22E-9382-B877-5C68-CCAAF4E98E69}"/>
              </a:ext>
            </a:extLst>
          </p:cNvPr>
          <p:cNvCxnSpPr>
            <a:cxnSpLocks/>
            <a:stCxn id="66" idx="3"/>
            <a:endCxn id="45" idx="1"/>
          </p:cNvCxnSpPr>
          <p:nvPr/>
        </p:nvCxnSpPr>
        <p:spPr>
          <a:xfrm flipV="1">
            <a:off x="6866970" y="3456649"/>
            <a:ext cx="1898379" cy="195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C9A42C8E-6DB1-EA7C-41FF-FF2E60A9993C}"/>
              </a:ext>
            </a:extLst>
          </p:cNvPr>
          <p:cNvCxnSpPr>
            <a:cxnSpLocks/>
            <a:stCxn id="50" idx="3"/>
            <a:endCxn id="52" idx="1"/>
          </p:cNvCxnSpPr>
          <p:nvPr/>
        </p:nvCxnSpPr>
        <p:spPr>
          <a:xfrm flipV="1">
            <a:off x="2040704" y="4668184"/>
            <a:ext cx="390941" cy="6666"/>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DF6AE25E-A135-EC82-29A8-1DBD8611FB43}"/>
              </a:ext>
            </a:extLst>
          </p:cNvPr>
          <p:cNvCxnSpPr>
            <a:cxnSpLocks/>
            <a:stCxn id="52" idx="3"/>
            <a:endCxn id="53" idx="1"/>
          </p:cNvCxnSpPr>
          <p:nvPr/>
        </p:nvCxnSpPr>
        <p:spPr>
          <a:xfrm>
            <a:off x="4066989" y="4668184"/>
            <a:ext cx="359746" cy="351"/>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7824436A-BE10-4BDD-B166-7DE19AEC94BD}"/>
              </a:ext>
            </a:extLst>
          </p:cNvPr>
          <p:cNvCxnSpPr>
            <a:cxnSpLocks/>
            <a:stCxn id="53" idx="3"/>
            <a:endCxn id="54" idx="1"/>
          </p:cNvCxnSpPr>
          <p:nvPr/>
        </p:nvCxnSpPr>
        <p:spPr>
          <a:xfrm flipV="1">
            <a:off x="6062079" y="4668013"/>
            <a:ext cx="514596" cy="522"/>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5A41AF02-4C86-787C-D8DB-5D1C403411D5}"/>
              </a:ext>
            </a:extLst>
          </p:cNvPr>
          <p:cNvCxnSpPr>
            <a:cxnSpLocks/>
            <a:stCxn id="54" idx="3"/>
            <a:endCxn id="55" idx="1"/>
          </p:cNvCxnSpPr>
          <p:nvPr/>
        </p:nvCxnSpPr>
        <p:spPr>
          <a:xfrm flipV="1">
            <a:off x="7952328" y="4658181"/>
            <a:ext cx="476865" cy="9832"/>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7D24B587-F6B3-87FA-C8CF-95942D296D28}"/>
              </a:ext>
            </a:extLst>
          </p:cNvPr>
          <p:cNvCxnSpPr>
            <a:cxnSpLocks/>
            <a:stCxn id="55" idx="3"/>
            <a:endCxn id="56" idx="1"/>
          </p:cNvCxnSpPr>
          <p:nvPr/>
        </p:nvCxnSpPr>
        <p:spPr>
          <a:xfrm>
            <a:off x="9899116" y="4658181"/>
            <a:ext cx="335589" cy="0"/>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D98F88F9-9B3F-5E3D-D91C-FB4564D4D3E4}"/>
              </a:ext>
            </a:extLst>
          </p:cNvPr>
          <p:cNvCxnSpPr>
            <a:cxnSpLocks/>
            <a:stCxn id="39" idx="3"/>
            <a:endCxn id="41" idx="1"/>
          </p:cNvCxnSpPr>
          <p:nvPr/>
        </p:nvCxnSpPr>
        <p:spPr>
          <a:xfrm>
            <a:off x="2040704" y="2738772"/>
            <a:ext cx="926695"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4FC449BF-E070-96C6-4821-CD6484938B33}"/>
              </a:ext>
            </a:extLst>
          </p:cNvPr>
          <p:cNvCxnSpPr>
            <a:cxnSpLocks/>
            <a:stCxn id="65" idx="0"/>
            <a:endCxn id="70" idx="2"/>
          </p:cNvCxnSpPr>
          <p:nvPr/>
        </p:nvCxnSpPr>
        <p:spPr>
          <a:xfrm flipH="1" flipV="1">
            <a:off x="8491303" y="1532334"/>
            <a:ext cx="1" cy="69940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A618EE-5E90-2F22-0116-7E628D3D1C1C}"/>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05 12 2025 19 10</a:t>
            </a:r>
          </a:p>
        </p:txBody>
      </p:sp>
      <p:sp>
        <p:nvSpPr>
          <p:cNvPr id="7" name="TextBox 6">
            <a:extLst>
              <a:ext uri="{FF2B5EF4-FFF2-40B4-BE49-F238E27FC236}">
                <a16:creationId xmlns:a16="http://schemas.microsoft.com/office/drawing/2014/main" id="{E0D53038-4107-B473-11F5-FB56E341A5A5}"/>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4" name="TextBox 3">
            <a:extLst>
              <a:ext uri="{FF2B5EF4-FFF2-40B4-BE49-F238E27FC236}">
                <a16:creationId xmlns:a16="http://schemas.microsoft.com/office/drawing/2014/main" id="{F7EDF58F-D4D8-4DA4-4C95-05B6B363BEE3}"/>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25 12 28 0800</a:t>
            </a:r>
          </a:p>
        </p:txBody>
      </p:sp>
      <p:sp>
        <p:nvSpPr>
          <p:cNvPr id="2" name="-S1. Call_Rcvd_Strt_Up">
            <a:extLst>
              <a:ext uri="{FF2B5EF4-FFF2-40B4-BE49-F238E27FC236}">
                <a16:creationId xmlns:a16="http://schemas.microsoft.com/office/drawing/2014/main" id="{E2E1B195-8D12-FC44-0879-F6C91D3AB9B5}"/>
              </a:ext>
            </a:extLst>
          </p:cNvPr>
          <p:cNvSpPr>
            <a:spLocks noGrp="1"/>
          </p:cNvSpPr>
          <p:nvPr>
            <p:ph type="title"/>
          </p:nvPr>
        </p:nvSpPr>
        <p:spPr>
          <a:xfrm>
            <a:off x="838200" y="314871"/>
            <a:ext cx="10515600" cy="428753"/>
          </a:xfrm>
        </p:spPr>
        <p:txBody>
          <a:bodyPr>
            <a:noAutofit/>
          </a:bodyPr>
          <a:lstStyle/>
          <a:p>
            <a:pPr algn="ctr"/>
            <a:r>
              <a:rPr lang="en-US" sz="1600" b="1" dirty="0"/>
              <a:t>S1. Customer Calls For Start Up– Startup SOP</a:t>
            </a:r>
          </a:p>
        </p:txBody>
      </p:sp>
    </p:spTree>
    <p:extLst>
      <p:ext uri="{BB962C8B-B14F-4D97-AF65-F5344CB8AC3E}">
        <p14:creationId xmlns:p14="http://schemas.microsoft.com/office/powerpoint/2010/main" val="40807860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2661C-DDC4-FFE1-6BA5-29EB6C18A0A4}"/>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94490AE8-5BB2-E5B6-CF42-24A71CDBD2DF}"/>
              </a:ext>
            </a:extLst>
          </p:cNvPr>
          <p:cNvSpPr/>
          <p:nvPr/>
        </p:nvSpPr>
        <p:spPr>
          <a:xfrm>
            <a:off x="2092094" y="2372247"/>
            <a:ext cx="1112212" cy="1327661"/>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sp>
        <p:nvSpPr>
          <p:cNvPr id="39" name="Flowchart: Process 38">
            <a:extLst>
              <a:ext uri="{FF2B5EF4-FFF2-40B4-BE49-F238E27FC236}">
                <a16:creationId xmlns:a16="http://schemas.microsoft.com/office/drawing/2014/main" id="{BEE953D0-52C1-5302-6CB0-DAAA60703A39}"/>
              </a:ext>
            </a:extLst>
          </p:cNvPr>
          <p:cNvSpPr/>
          <p:nvPr/>
        </p:nvSpPr>
        <p:spPr>
          <a:xfrm>
            <a:off x="713349" y="2526777"/>
            <a:ext cx="1327355" cy="42399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 Customer Calls For Start-Up</a:t>
            </a:r>
          </a:p>
        </p:txBody>
      </p:sp>
      <p:sp>
        <p:nvSpPr>
          <p:cNvPr id="41" name="Flowchart: Decision 40">
            <a:extLst>
              <a:ext uri="{FF2B5EF4-FFF2-40B4-BE49-F238E27FC236}">
                <a16:creationId xmlns:a16="http://schemas.microsoft.com/office/drawing/2014/main" id="{95A309EB-178D-473D-754E-76E87EB9D7B3}"/>
              </a:ext>
            </a:extLst>
          </p:cNvPr>
          <p:cNvSpPr/>
          <p:nvPr/>
        </p:nvSpPr>
        <p:spPr>
          <a:xfrm>
            <a:off x="2967399" y="2556048"/>
            <a:ext cx="570871" cy="365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D1</a:t>
            </a:r>
          </a:p>
        </p:txBody>
      </p:sp>
      <p:sp>
        <p:nvSpPr>
          <p:cNvPr id="42" name="Flowchart: Process 41">
            <a:extLst>
              <a:ext uri="{FF2B5EF4-FFF2-40B4-BE49-F238E27FC236}">
                <a16:creationId xmlns:a16="http://schemas.microsoft.com/office/drawing/2014/main" id="{6F1A4863-C7EB-FC95-9BEB-D24FD104FCE3}"/>
              </a:ext>
            </a:extLst>
          </p:cNvPr>
          <p:cNvSpPr/>
          <p:nvPr/>
        </p:nvSpPr>
        <p:spPr>
          <a:xfrm>
            <a:off x="3323024" y="2497204"/>
            <a:ext cx="224605" cy="17944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43" name="Flowchart: Process 42">
            <a:extLst>
              <a:ext uri="{FF2B5EF4-FFF2-40B4-BE49-F238E27FC236}">
                <a16:creationId xmlns:a16="http://schemas.microsoft.com/office/drawing/2014/main" id="{BFDE6C5F-9232-4032-4ACB-AECBE58ADFFC}"/>
              </a:ext>
            </a:extLst>
          </p:cNvPr>
          <p:cNvSpPr/>
          <p:nvPr/>
        </p:nvSpPr>
        <p:spPr>
          <a:xfrm>
            <a:off x="2958041" y="2786835"/>
            <a:ext cx="224605" cy="17944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sp>
        <p:nvSpPr>
          <p:cNvPr id="44" name="TextBox 43">
            <a:extLst>
              <a:ext uri="{FF2B5EF4-FFF2-40B4-BE49-F238E27FC236}">
                <a16:creationId xmlns:a16="http://schemas.microsoft.com/office/drawing/2014/main" id="{BD337D7B-5557-053A-5174-811707AEB5F5}"/>
              </a:ext>
            </a:extLst>
          </p:cNvPr>
          <p:cNvSpPr txBox="1"/>
          <p:nvPr/>
        </p:nvSpPr>
        <p:spPr>
          <a:xfrm>
            <a:off x="2332800" y="2331480"/>
            <a:ext cx="948813" cy="369332"/>
          </a:xfrm>
          <a:prstGeom prst="rect">
            <a:avLst/>
          </a:prstGeom>
          <a:noFill/>
        </p:spPr>
        <p:txBody>
          <a:bodyPr wrap="square" rtlCol="0">
            <a:spAutoFit/>
          </a:bodyPr>
          <a:lstStyle/>
          <a:p>
            <a:r>
              <a:rPr lang="en-US" sz="900" dirty="0"/>
              <a:t>Q1.Did We Sell The Generator? </a:t>
            </a:r>
          </a:p>
        </p:txBody>
      </p:sp>
      <p:sp>
        <p:nvSpPr>
          <p:cNvPr id="45" name="TextBox 44">
            <a:extLst>
              <a:ext uri="{FF2B5EF4-FFF2-40B4-BE49-F238E27FC236}">
                <a16:creationId xmlns:a16="http://schemas.microsoft.com/office/drawing/2014/main" id="{63C9C39A-0C92-ABF5-0117-8200AD7310BF}"/>
              </a:ext>
            </a:extLst>
          </p:cNvPr>
          <p:cNvSpPr txBox="1"/>
          <p:nvPr/>
        </p:nvSpPr>
        <p:spPr>
          <a:xfrm>
            <a:off x="8765349" y="3220771"/>
            <a:ext cx="1721329"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S7. Service Order Process at charge SOP</a:t>
            </a:r>
          </a:p>
        </p:txBody>
      </p:sp>
      <p:cxnSp>
        <p:nvCxnSpPr>
          <p:cNvPr id="46" name="Connector: Elbow 45">
            <a:extLst>
              <a:ext uri="{FF2B5EF4-FFF2-40B4-BE49-F238E27FC236}">
                <a16:creationId xmlns:a16="http://schemas.microsoft.com/office/drawing/2014/main" id="{0BACFFF1-7AF8-AF89-E3F8-E7531CE168B8}"/>
              </a:ext>
            </a:extLst>
          </p:cNvPr>
          <p:cNvCxnSpPr>
            <a:cxnSpLocks/>
            <a:stCxn id="41" idx="2"/>
            <a:endCxn id="66" idx="1"/>
          </p:cNvCxnSpPr>
          <p:nvPr/>
        </p:nvCxnSpPr>
        <p:spPr>
          <a:xfrm rot="16200000" flipH="1">
            <a:off x="4188391" y="1985939"/>
            <a:ext cx="537107" cy="2408219"/>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 name="Flowchart: Predefined Process 46">
            <a:extLst>
              <a:ext uri="{FF2B5EF4-FFF2-40B4-BE49-F238E27FC236}">
                <a16:creationId xmlns:a16="http://schemas.microsoft.com/office/drawing/2014/main" id="{B24DAF88-FF15-727B-1F18-F635695E1CDB}"/>
              </a:ext>
            </a:extLst>
          </p:cNvPr>
          <p:cNvSpPr/>
          <p:nvPr/>
        </p:nvSpPr>
        <p:spPr>
          <a:xfrm>
            <a:off x="5731343" y="1060541"/>
            <a:ext cx="1135627"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S2. Order Inquiry </a:t>
            </a:r>
          </a:p>
        </p:txBody>
      </p:sp>
      <p:cxnSp>
        <p:nvCxnSpPr>
          <p:cNvPr id="48" name="Connector: Elbow 47">
            <a:extLst>
              <a:ext uri="{FF2B5EF4-FFF2-40B4-BE49-F238E27FC236}">
                <a16:creationId xmlns:a16="http://schemas.microsoft.com/office/drawing/2014/main" id="{D10871B4-11A8-3E76-D5AD-969BA673FE67}"/>
              </a:ext>
            </a:extLst>
          </p:cNvPr>
          <p:cNvCxnSpPr>
            <a:cxnSpLocks/>
            <a:stCxn id="41" idx="0"/>
            <a:endCxn id="60" idx="1"/>
          </p:cNvCxnSpPr>
          <p:nvPr/>
        </p:nvCxnSpPr>
        <p:spPr>
          <a:xfrm rot="5400000" flipH="1" flipV="1">
            <a:off x="3561610" y="1589667"/>
            <a:ext cx="657606" cy="127515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Flowchart: Predefined Process 48">
            <a:extLst>
              <a:ext uri="{FF2B5EF4-FFF2-40B4-BE49-F238E27FC236}">
                <a16:creationId xmlns:a16="http://schemas.microsoft.com/office/drawing/2014/main" id="{347F9ED1-ECA9-2597-BCC5-A1747A0B4139}"/>
              </a:ext>
            </a:extLst>
          </p:cNvPr>
          <p:cNvSpPr/>
          <p:nvPr/>
        </p:nvSpPr>
        <p:spPr>
          <a:xfrm>
            <a:off x="9923907" y="1064419"/>
            <a:ext cx="1471216"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S4. Create Start-Up Incident</a:t>
            </a:r>
          </a:p>
        </p:txBody>
      </p:sp>
      <p:sp>
        <p:nvSpPr>
          <p:cNvPr id="50" name="Flowchart: Predefined Process 49">
            <a:extLst>
              <a:ext uri="{FF2B5EF4-FFF2-40B4-BE49-F238E27FC236}">
                <a16:creationId xmlns:a16="http://schemas.microsoft.com/office/drawing/2014/main" id="{C1FD5E3C-DCCB-B801-F487-D40ECD4E405A}"/>
              </a:ext>
            </a:extLst>
          </p:cNvPr>
          <p:cNvSpPr/>
          <p:nvPr/>
        </p:nvSpPr>
        <p:spPr>
          <a:xfrm>
            <a:off x="405360" y="4455642"/>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S8. Add Start-Up Notes</a:t>
            </a:r>
          </a:p>
        </p:txBody>
      </p:sp>
      <p:cxnSp>
        <p:nvCxnSpPr>
          <p:cNvPr id="51" name="Connector: Elbow 50">
            <a:extLst>
              <a:ext uri="{FF2B5EF4-FFF2-40B4-BE49-F238E27FC236}">
                <a16:creationId xmlns:a16="http://schemas.microsoft.com/office/drawing/2014/main" id="{9843E446-DD2C-CC50-10E0-B006E79DDC92}"/>
              </a:ext>
            </a:extLst>
          </p:cNvPr>
          <p:cNvCxnSpPr>
            <a:cxnSpLocks/>
            <a:stCxn id="49" idx="2"/>
            <a:endCxn id="50" idx="0"/>
          </p:cNvCxnSpPr>
          <p:nvPr/>
        </p:nvCxnSpPr>
        <p:spPr>
          <a:xfrm rot="5400000">
            <a:off x="4480200" y="-1723674"/>
            <a:ext cx="2922149" cy="9436483"/>
          </a:xfrm>
          <a:prstGeom prst="bentConnector3">
            <a:avLst>
              <a:gd name="adj1" fmla="val 87942"/>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52" name="Flowchart: Predefined Process 51">
            <a:extLst>
              <a:ext uri="{FF2B5EF4-FFF2-40B4-BE49-F238E27FC236}">
                <a16:creationId xmlns:a16="http://schemas.microsoft.com/office/drawing/2014/main" id="{E9CEB460-180E-9D93-FFDB-7BD57587C4BE}"/>
              </a:ext>
            </a:extLst>
          </p:cNvPr>
          <p:cNvSpPr/>
          <p:nvPr/>
        </p:nvSpPr>
        <p:spPr>
          <a:xfrm>
            <a:off x="2431645" y="4448976"/>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S9. Add Line</a:t>
            </a:r>
          </a:p>
        </p:txBody>
      </p:sp>
      <p:sp>
        <p:nvSpPr>
          <p:cNvPr id="53" name="Flowchart: Predefined Process 52">
            <a:extLst>
              <a:ext uri="{FF2B5EF4-FFF2-40B4-BE49-F238E27FC236}">
                <a16:creationId xmlns:a16="http://schemas.microsoft.com/office/drawing/2014/main" id="{A30D13A7-6B45-3482-4EA2-370BB2EFBE14}"/>
              </a:ext>
            </a:extLst>
          </p:cNvPr>
          <p:cNvSpPr/>
          <p:nvPr/>
        </p:nvSpPr>
        <p:spPr>
          <a:xfrm>
            <a:off x="4426735" y="4449327"/>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S10. Convert to SRO and Schedule</a:t>
            </a:r>
          </a:p>
        </p:txBody>
      </p:sp>
      <p:sp>
        <p:nvSpPr>
          <p:cNvPr id="54" name="Flowchart: Predefined Process 53">
            <a:extLst>
              <a:ext uri="{FF2B5EF4-FFF2-40B4-BE49-F238E27FC236}">
                <a16:creationId xmlns:a16="http://schemas.microsoft.com/office/drawing/2014/main" id="{5279242A-292D-2943-C1D8-A033DC398004}"/>
              </a:ext>
            </a:extLst>
          </p:cNvPr>
          <p:cNvSpPr/>
          <p:nvPr/>
        </p:nvSpPr>
        <p:spPr>
          <a:xfrm>
            <a:off x="6576675" y="4448804"/>
            <a:ext cx="1375653" cy="438417"/>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S11. Print Pick Ticket</a:t>
            </a:r>
          </a:p>
        </p:txBody>
      </p:sp>
      <p:sp>
        <p:nvSpPr>
          <p:cNvPr id="55" name="Flowchart: Predefined Process 54">
            <a:extLst>
              <a:ext uri="{FF2B5EF4-FFF2-40B4-BE49-F238E27FC236}">
                <a16:creationId xmlns:a16="http://schemas.microsoft.com/office/drawing/2014/main" id="{928A3B99-709B-C29B-1CA4-6C9F3F47C36B}"/>
              </a:ext>
            </a:extLst>
          </p:cNvPr>
          <p:cNvSpPr/>
          <p:nvPr/>
        </p:nvSpPr>
        <p:spPr>
          <a:xfrm>
            <a:off x="8429193" y="4438973"/>
            <a:ext cx="1469923"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S12. Shipping Feedback Ship </a:t>
            </a:r>
          </a:p>
        </p:txBody>
      </p:sp>
      <p:sp>
        <p:nvSpPr>
          <p:cNvPr id="56" name="Flowchart: Process 55">
            <a:extLst>
              <a:ext uri="{FF2B5EF4-FFF2-40B4-BE49-F238E27FC236}">
                <a16:creationId xmlns:a16="http://schemas.microsoft.com/office/drawing/2014/main" id="{3369173F-1CD4-E2B6-E2C8-9974D77FD80C}"/>
              </a:ext>
            </a:extLst>
          </p:cNvPr>
          <p:cNvSpPr/>
          <p:nvPr/>
        </p:nvSpPr>
        <p:spPr>
          <a:xfrm>
            <a:off x="10234705" y="4422303"/>
            <a:ext cx="1327355" cy="47175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S13. Tech Performs Start-Up</a:t>
            </a:r>
          </a:p>
        </p:txBody>
      </p:sp>
      <p:sp>
        <p:nvSpPr>
          <p:cNvPr id="57" name="Flowchart: Predefined Process 56">
            <a:extLst>
              <a:ext uri="{FF2B5EF4-FFF2-40B4-BE49-F238E27FC236}">
                <a16:creationId xmlns:a16="http://schemas.microsoft.com/office/drawing/2014/main" id="{DE1E7FA6-EA49-C808-F116-8358371436B2}"/>
              </a:ext>
            </a:extLst>
          </p:cNvPr>
          <p:cNvSpPr/>
          <p:nvPr/>
        </p:nvSpPr>
        <p:spPr>
          <a:xfrm>
            <a:off x="5661054" y="5340892"/>
            <a:ext cx="1469923"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S14. Register A Unit</a:t>
            </a:r>
          </a:p>
        </p:txBody>
      </p:sp>
      <p:cxnSp>
        <p:nvCxnSpPr>
          <p:cNvPr id="58" name="Connector: Elbow 57">
            <a:extLst>
              <a:ext uri="{FF2B5EF4-FFF2-40B4-BE49-F238E27FC236}">
                <a16:creationId xmlns:a16="http://schemas.microsoft.com/office/drawing/2014/main" id="{00647B42-9BFB-D7B4-61E8-6A6FEE415255}"/>
              </a:ext>
            </a:extLst>
          </p:cNvPr>
          <p:cNvCxnSpPr>
            <a:cxnSpLocks/>
            <a:stCxn id="56" idx="2"/>
            <a:endCxn id="57" idx="0"/>
          </p:cNvCxnSpPr>
          <p:nvPr/>
        </p:nvCxnSpPr>
        <p:spPr>
          <a:xfrm rot="5400000">
            <a:off x="8423783" y="2866292"/>
            <a:ext cx="446834" cy="4502367"/>
          </a:xfrm>
          <a:prstGeom prst="bentConnector3">
            <a:avLst>
              <a:gd name="adj1" fmla="val 50000"/>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60" name="Flowchart: Decision 59">
            <a:extLst>
              <a:ext uri="{FF2B5EF4-FFF2-40B4-BE49-F238E27FC236}">
                <a16:creationId xmlns:a16="http://schemas.microsoft.com/office/drawing/2014/main" id="{0866FD31-F1FD-5E82-38E8-4BFCB726879A}"/>
              </a:ext>
            </a:extLst>
          </p:cNvPr>
          <p:cNvSpPr/>
          <p:nvPr/>
        </p:nvSpPr>
        <p:spPr>
          <a:xfrm>
            <a:off x="4527992" y="1724244"/>
            <a:ext cx="435655" cy="34839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D2</a:t>
            </a:r>
          </a:p>
        </p:txBody>
      </p:sp>
      <p:sp>
        <p:nvSpPr>
          <p:cNvPr id="61" name="Flowchart: Process 60">
            <a:extLst>
              <a:ext uri="{FF2B5EF4-FFF2-40B4-BE49-F238E27FC236}">
                <a16:creationId xmlns:a16="http://schemas.microsoft.com/office/drawing/2014/main" id="{26E51CFC-D91E-48C6-9AB8-4903765144B0}"/>
              </a:ext>
            </a:extLst>
          </p:cNvPr>
          <p:cNvSpPr/>
          <p:nvPr/>
        </p:nvSpPr>
        <p:spPr>
          <a:xfrm>
            <a:off x="4799383" y="1668146"/>
            <a:ext cx="171405" cy="17107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62" name="Flowchart: Process 61">
            <a:extLst>
              <a:ext uri="{FF2B5EF4-FFF2-40B4-BE49-F238E27FC236}">
                <a16:creationId xmlns:a16="http://schemas.microsoft.com/office/drawing/2014/main" id="{CFDA7206-C01F-E2E1-2F6F-95D0A69F3584}"/>
              </a:ext>
            </a:extLst>
          </p:cNvPr>
          <p:cNvSpPr/>
          <p:nvPr/>
        </p:nvSpPr>
        <p:spPr>
          <a:xfrm>
            <a:off x="4520850" y="1944263"/>
            <a:ext cx="171405" cy="17107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sp>
        <p:nvSpPr>
          <p:cNvPr id="63" name="TextBox 62">
            <a:extLst>
              <a:ext uri="{FF2B5EF4-FFF2-40B4-BE49-F238E27FC236}">
                <a16:creationId xmlns:a16="http://schemas.microsoft.com/office/drawing/2014/main" id="{F7CBB0E3-22CE-AC55-B1B3-C1A777F6EE5C}"/>
              </a:ext>
            </a:extLst>
          </p:cNvPr>
          <p:cNvSpPr txBox="1"/>
          <p:nvPr/>
        </p:nvSpPr>
        <p:spPr>
          <a:xfrm>
            <a:off x="3882757" y="1378103"/>
            <a:ext cx="948813" cy="507831"/>
          </a:xfrm>
          <a:prstGeom prst="rect">
            <a:avLst/>
          </a:prstGeom>
          <a:noFill/>
        </p:spPr>
        <p:txBody>
          <a:bodyPr wrap="square" rtlCol="0">
            <a:spAutoFit/>
          </a:bodyPr>
          <a:lstStyle/>
          <a:p>
            <a:r>
              <a:rPr lang="en-US" sz="900" dirty="0"/>
              <a:t>Do You Know The Original Order #?</a:t>
            </a:r>
          </a:p>
        </p:txBody>
      </p:sp>
      <p:cxnSp>
        <p:nvCxnSpPr>
          <p:cNvPr id="64" name="Connector: Elbow 63">
            <a:extLst>
              <a:ext uri="{FF2B5EF4-FFF2-40B4-BE49-F238E27FC236}">
                <a16:creationId xmlns:a16="http://schemas.microsoft.com/office/drawing/2014/main" id="{EADA994A-D278-F51F-2BD9-5D93EA378EA6}"/>
              </a:ext>
            </a:extLst>
          </p:cNvPr>
          <p:cNvCxnSpPr>
            <a:cxnSpLocks/>
            <a:stCxn id="60" idx="0"/>
            <a:endCxn id="47" idx="1"/>
          </p:cNvCxnSpPr>
          <p:nvPr/>
        </p:nvCxnSpPr>
        <p:spPr>
          <a:xfrm rot="5400000" flipH="1" flipV="1">
            <a:off x="5023998" y="1016900"/>
            <a:ext cx="429166" cy="9855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5" name="Flowchart: Predefined Process 64">
            <a:extLst>
              <a:ext uri="{FF2B5EF4-FFF2-40B4-BE49-F238E27FC236}">
                <a16:creationId xmlns:a16="http://schemas.microsoft.com/office/drawing/2014/main" id="{F6C14ACA-8F46-BADF-0C09-7684F79E607D}"/>
              </a:ext>
            </a:extLst>
          </p:cNvPr>
          <p:cNvSpPr/>
          <p:nvPr/>
        </p:nvSpPr>
        <p:spPr>
          <a:xfrm>
            <a:off x="7519201" y="2231738"/>
            <a:ext cx="1944205"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S5. Order Inquiry Using Serial Number</a:t>
            </a:r>
          </a:p>
        </p:txBody>
      </p:sp>
      <p:sp>
        <p:nvSpPr>
          <p:cNvPr id="66" name="TextBox 65">
            <a:extLst>
              <a:ext uri="{FF2B5EF4-FFF2-40B4-BE49-F238E27FC236}">
                <a16:creationId xmlns:a16="http://schemas.microsoft.com/office/drawing/2014/main" id="{D326499D-7995-C9A1-934D-0DFF35D0E2B0}"/>
              </a:ext>
            </a:extLst>
          </p:cNvPr>
          <p:cNvSpPr txBox="1"/>
          <p:nvPr/>
        </p:nvSpPr>
        <p:spPr>
          <a:xfrm>
            <a:off x="5661054" y="3222725"/>
            <a:ext cx="1205916"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S6. Create A New Unit SOP</a:t>
            </a:r>
          </a:p>
        </p:txBody>
      </p:sp>
      <p:cxnSp>
        <p:nvCxnSpPr>
          <p:cNvPr id="67" name="Connector: Elbow 66">
            <a:extLst>
              <a:ext uri="{FF2B5EF4-FFF2-40B4-BE49-F238E27FC236}">
                <a16:creationId xmlns:a16="http://schemas.microsoft.com/office/drawing/2014/main" id="{DF1BE752-150D-93B1-EDBC-E971C2EF040A}"/>
              </a:ext>
            </a:extLst>
          </p:cNvPr>
          <p:cNvCxnSpPr>
            <a:cxnSpLocks/>
            <a:stCxn id="60" idx="2"/>
            <a:endCxn id="65" idx="1"/>
          </p:cNvCxnSpPr>
          <p:nvPr/>
        </p:nvCxnSpPr>
        <p:spPr>
          <a:xfrm rot="16200000" flipH="1">
            <a:off x="5935693" y="882766"/>
            <a:ext cx="393635" cy="2773381"/>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0" name="Flowchart: Process 69">
            <a:extLst>
              <a:ext uri="{FF2B5EF4-FFF2-40B4-BE49-F238E27FC236}">
                <a16:creationId xmlns:a16="http://schemas.microsoft.com/office/drawing/2014/main" id="{CFEF66B9-536C-9054-4752-B4B4CC0043D4}"/>
              </a:ext>
            </a:extLst>
          </p:cNvPr>
          <p:cNvSpPr/>
          <p:nvPr/>
        </p:nvSpPr>
        <p:spPr>
          <a:xfrm>
            <a:off x="7827625" y="1057821"/>
            <a:ext cx="1327355" cy="47451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S3. Check With AR To Verify Payment In Full</a:t>
            </a:r>
          </a:p>
        </p:txBody>
      </p:sp>
      <p:cxnSp>
        <p:nvCxnSpPr>
          <p:cNvPr id="71" name="Straight Arrow Connector 70">
            <a:extLst>
              <a:ext uri="{FF2B5EF4-FFF2-40B4-BE49-F238E27FC236}">
                <a16:creationId xmlns:a16="http://schemas.microsoft.com/office/drawing/2014/main" id="{C8BE5F5D-5E10-1F25-80AF-57B4B26432A6}"/>
              </a:ext>
            </a:extLst>
          </p:cNvPr>
          <p:cNvCxnSpPr>
            <a:cxnSpLocks/>
            <a:stCxn id="47" idx="3"/>
            <a:endCxn id="70" idx="1"/>
          </p:cNvCxnSpPr>
          <p:nvPr/>
        </p:nvCxnSpPr>
        <p:spPr>
          <a:xfrm>
            <a:off x="6866970" y="1295078"/>
            <a:ext cx="960655"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09592B82-0A6B-0E21-C4A2-FCE8905EC770}"/>
              </a:ext>
            </a:extLst>
          </p:cNvPr>
          <p:cNvCxnSpPr>
            <a:cxnSpLocks/>
            <a:stCxn id="70" idx="3"/>
            <a:endCxn id="49" idx="1"/>
          </p:cNvCxnSpPr>
          <p:nvPr/>
        </p:nvCxnSpPr>
        <p:spPr>
          <a:xfrm>
            <a:off x="9154980" y="1295078"/>
            <a:ext cx="768927" cy="3878"/>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345C349A-6915-B44D-EE69-87BA98437098}"/>
              </a:ext>
            </a:extLst>
          </p:cNvPr>
          <p:cNvCxnSpPr>
            <a:cxnSpLocks/>
            <a:stCxn id="66" idx="3"/>
            <a:endCxn id="45" idx="1"/>
          </p:cNvCxnSpPr>
          <p:nvPr/>
        </p:nvCxnSpPr>
        <p:spPr>
          <a:xfrm flipV="1">
            <a:off x="6866970" y="3456649"/>
            <a:ext cx="1898379" cy="195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9FE4134A-2235-46FA-BAB5-D805AF12D741}"/>
              </a:ext>
            </a:extLst>
          </p:cNvPr>
          <p:cNvCxnSpPr>
            <a:cxnSpLocks/>
            <a:stCxn id="50" idx="3"/>
            <a:endCxn id="52" idx="1"/>
          </p:cNvCxnSpPr>
          <p:nvPr/>
        </p:nvCxnSpPr>
        <p:spPr>
          <a:xfrm flipV="1">
            <a:off x="2040704" y="4668184"/>
            <a:ext cx="390941" cy="6666"/>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8A43CF51-566D-B4E3-C358-56D8A0878925}"/>
              </a:ext>
            </a:extLst>
          </p:cNvPr>
          <p:cNvCxnSpPr>
            <a:cxnSpLocks/>
            <a:stCxn id="52" idx="3"/>
            <a:endCxn id="53" idx="1"/>
          </p:cNvCxnSpPr>
          <p:nvPr/>
        </p:nvCxnSpPr>
        <p:spPr>
          <a:xfrm>
            <a:off x="4066989" y="4668184"/>
            <a:ext cx="359746" cy="351"/>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EE68EA7F-42E1-E144-1F05-CE4EBFDD3219}"/>
              </a:ext>
            </a:extLst>
          </p:cNvPr>
          <p:cNvCxnSpPr>
            <a:cxnSpLocks/>
            <a:stCxn id="53" idx="3"/>
            <a:endCxn id="54" idx="1"/>
          </p:cNvCxnSpPr>
          <p:nvPr/>
        </p:nvCxnSpPr>
        <p:spPr>
          <a:xfrm flipV="1">
            <a:off x="6062079" y="4668013"/>
            <a:ext cx="514596" cy="522"/>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ADBC1B19-CA53-6FDF-4827-D031A9F32E46}"/>
              </a:ext>
            </a:extLst>
          </p:cNvPr>
          <p:cNvCxnSpPr>
            <a:cxnSpLocks/>
            <a:stCxn id="54" idx="3"/>
            <a:endCxn id="55" idx="1"/>
          </p:cNvCxnSpPr>
          <p:nvPr/>
        </p:nvCxnSpPr>
        <p:spPr>
          <a:xfrm flipV="1">
            <a:off x="7952328" y="4658181"/>
            <a:ext cx="476865" cy="9832"/>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1B7A13A3-C6E1-1E67-9CEF-7CA613FEABB4}"/>
              </a:ext>
            </a:extLst>
          </p:cNvPr>
          <p:cNvCxnSpPr>
            <a:cxnSpLocks/>
            <a:stCxn id="55" idx="3"/>
            <a:endCxn id="56" idx="1"/>
          </p:cNvCxnSpPr>
          <p:nvPr/>
        </p:nvCxnSpPr>
        <p:spPr>
          <a:xfrm>
            <a:off x="9899116" y="4658181"/>
            <a:ext cx="335589" cy="0"/>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9464891C-41EC-BF08-F028-2DB0AEBBD6C1}"/>
              </a:ext>
            </a:extLst>
          </p:cNvPr>
          <p:cNvCxnSpPr>
            <a:cxnSpLocks/>
            <a:stCxn id="39" idx="3"/>
            <a:endCxn id="41" idx="1"/>
          </p:cNvCxnSpPr>
          <p:nvPr/>
        </p:nvCxnSpPr>
        <p:spPr>
          <a:xfrm>
            <a:off x="2040704" y="2738772"/>
            <a:ext cx="926695"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3DB97857-F8D2-3271-D3A3-510088BAC3F7}"/>
              </a:ext>
            </a:extLst>
          </p:cNvPr>
          <p:cNvCxnSpPr>
            <a:cxnSpLocks/>
            <a:stCxn id="65" idx="0"/>
            <a:endCxn id="70" idx="2"/>
          </p:cNvCxnSpPr>
          <p:nvPr/>
        </p:nvCxnSpPr>
        <p:spPr>
          <a:xfrm flipH="1" flipV="1">
            <a:off x="8491303" y="1532334"/>
            <a:ext cx="1" cy="69940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B65DFDC5-9D56-91E9-2BCC-AAA7C68F7DD2}"/>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05 12 2025 19 10</a:t>
            </a:r>
          </a:p>
        </p:txBody>
      </p:sp>
      <p:sp>
        <p:nvSpPr>
          <p:cNvPr id="7" name="TextBox 6">
            <a:extLst>
              <a:ext uri="{FF2B5EF4-FFF2-40B4-BE49-F238E27FC236}">
                <a16:creationId xmlns:a16="http://schemas.microsoft.com/office/drawing/2014/main" id="{B6B5B7D9-9234-D029-25D9-0965CDB9DC34}"/>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4" name="TextBox 3">
            <a:extLst>
              <a:ext uri="{FF2B5EF4-FFF2-40B4-BE49-F238E27FC236}">
                <a16:creationId xmlns:a16="http://schemas.microsoft.com/office/drawing/2014/main" id="{AA3FF001-2EA4-1BED-1734-1130BFB47F14}"/>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25 12 28 0800</a:t>
            </a:r>
          </a:p>
        </p:txBody>
      </p:sp>
      <p:sp>
        <p:nvSpPr>
          <p:cNvPr id="2" name="-D1. GenSet_sold_by_us">
            <a:extLst>
              <a:ext uri="{FF2B5EF4-FFF2-40B4-BE49-F238E27FC236}">
                <a16:creationId xmlns:a16="http://schemas.microsoft.com/office/drawing/2014/main" id="{A1304CEE-3BF1-13F1-86A4-68ED3B4EEF03}"/>
              </a:ext>
            </a:extLst>
          </p:cNvPr>
          <p:cNvSpPr>
            <a:spLocks noGrp="1"/>
          </p:cNvSpPr>
          <p:nvPr>
            <p:ph type="title"/>
          </p:nvPr>
        </p:nvSpPr>
        <p:spPr>
          <a:xfrm>
            <a:off x="838200" y="314871"/>
            <a:ext cx="10515600" cy="428753"/>
          </a:xfrm>
        </p:spPr>
        <p:txBody>
          <a:bodyPr>
            <a:noAutofit/>
          </a:bodyPr>
          <a:lstStyle/>
          <a:p>
            <a:pPr algn="ctr"/>
            <a:r>
              <a:rPr lang="en-US" sz="1600" b="1"/>
              <a:t>D1. </a:t>
            </a:r>
            <a:r>
              <a:rPr lang="en-US" sz="1600" b="1" dirty="0"/>
              <a:t>Genset Sold by Palco – Startup SOP</a:t>
            </a:r>
          </a:p>
        </p:txBody>
      </p:sp>
    </p:spTree>
    <p:extLst>
      <p:ext uri="{BB962C8B-B14F-4D97-AF65-F5344CB8AC3E}">
        <p14:creationId xmlns:p14="http://schemas.microsoft.com/office/powerpoint/2010/main" val="18995219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E3C2D-4D67-2B05-83E8-BB3019302155}"/>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A3034847-7CDC-17F2-2C15-F6759C7E8AF1}"/>
              </a:ext>
            </a:extLst>
          </p:cNvPr>
          <p:cNvSpPr/>
          <p:nvPr/>
        </p:nvSpPr>
        <p:spPr>
          <a:xfrm>
            <a:off x="3267598" y="1833373"/>
            <a:ext cx="1190205" cy="1327661"/>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sp>
        <p:nvSpPr>
          <p:cNvPr id="39" name="Flowchart: Process 38">
            <a:extLst>
              <a:ext uri="{FF2B5EF4-FFF2-40B4-BE49-F238E27FC236}">
                <a16:creationId xmlns:a16="http://schemas.microsoft.com/office/drawing/2014/main" id="{114AB5A2-AEF0-111E-8A97-FE015F92E8F7}"/>
              </a:ext>
            </a:extLst>
          </p:cNvPr>
          <p:cNvSpPr/>
          <p:nvPr/>
        </p:nvSpPr>
        <p:spPr>
          <a:xfrm>
            <a:off x="713349" y="2526777"/>
            <a:ext cx="1327355" cy="42399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 Customer Calls For Start-Up</a:t>
            </a:r>
          </a:p>
        </p:txBody>
      </p:sp>
      <p:sp>
        <p:nvSpPr>
          <p:cNvPr id="41" name="Flowchart: Decision 40">
            <a:extLst>
              <a:ext uri="{FF2B5EF4-FFF2-40B4-BE49-F238E27FC236}">
                <a16:creationId xmlns:a16="http://schemas.microsoft.com/office/drawing/2014/main" id="{1358B08F-7A1B-0B12-F007-93F1B6966E4A}"/>
              </a:ext>
            </a:extLst>
          </p:cNvPr>
          <p:cNvSpPr/>
          <p:nvPr/>
        </p:nvSpPr>
        <p:spPr>
          <a:xfrm>
            <a:off x="2967399" y="2556048"/>
            <a:ext cx="570871" cy="365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D1</a:t>
            </a:r>
          </a:p>
        </p:txBody>
      </p:sp>
      <p:sp>
        <p:nvSpPr>
          <p:cNvPr id="42" name="Flowchart: Process 41">
            <a:extLst>
              <a:ext uri="{FF2B5EF4-FFF2-40B4-BE49-F238E27FC236}">
                <a16:creationId xmlns:a16="http://schemas.microsoft.com/office/drawing/2014/main" id="{A070947A-F7BD-82F0-AE35-55C33C41D279}"/>
              </a:ext>
            </a:extLst>
          </p:cNvPr>
          <p:cNvSpPr/>
          <p:nvPr/>
        </p:nvSpPr>
        <p:spPr>
          <a:xfrm>
            <a:off x="3323024" y="2497204"/>
            <a:ext cx="224605" cy="17944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43" name="Flowchart: Process 42">
            <a:extLst>
              <a:ext uri="{FF2B5EF4-FFF2-40B4-BE49-F238E27FC236}">
                <a16:creationId xmlns:a16="http://schemas.microsoft.com/office/drawing/2014/main" id="{996F3FC8-11DD-0FA7-E260-1861CC79FB86}"/>
              </a:ext>
            </a:extLst>
          </p:cNvPr>
          <p:cNvSpPr/>
          <p:nvPr/>
        </p:nvSpPr>
        <p:spPr>
          <a:xfrm>
            <a:off x="2958041" y="2786835"/>
            <a:ext cx="224605" cy="17944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sp>
        <p:nvSpPr>
          <p:cNvPr id="44" name="TextBox 43">
            <a:extLst>
              <a:ext uri="{FF2B5EF4-FFF2-40B4-BE49-F238E27FC236}">
                <a16:creationId xmlns:a16="http://schemas.microsoft.com/office/drawing/2014/main" id="{6FE4C4A5-23A6-C437-D7A7-ACA992FB0B73}"/>
              </a:ext>
            </a:extLst>
          </p:cNvPr>
          <p:cNvSpPr txBox="1"/>
          <p:nvPr/>
        </p:nvSpPr>
        <p:spPr>
          <a:xfrm>
            <a:off x="2332800" y="2331480"/>
            <a:ext cx="948813" cy="369332"/>
          </a:xfrm>
          <a:prstGeom prst="rect">
            <a:avLst/>
          </a:prstGeom>
          <a:noFill/>
        </p:spPr>
        <p:txBody>
          <a:bodyPr wrap="square" rtlCol="0">
            <a:spAutoFit/>
          </a:bodyPr>
          <a:lstStyle/>
          <a:p>
            <a:r>
              <a:rPr lang="en-US" sz="900" dirty="0"/>
              <a:t>Q1.Did We Sell The Generator? </a:t>
            </a:r>
          </a:p>
        </p:txBody>
      </p:sp>
      <p:sp>
        <p:nvSpPr>
          <p:cNvPr id="45" name="TextBox 44">
            <a:extLst>
              <a:ext uri="{FF2B5EF4-FFF2-40B4-BE49-F238E27FC236}">
                <a16:creationId xmlns:a16="http://schemas.microsoft.com/office/drawing/2014/main" id="{BA89CE9A-8BBF-30EC-DC8B-21696C2F7F16}"/>
              </a:ext>
            </a:extLst>
          </p:cNvPr>
          <p:cNvSpPr txBox="1"/>
          <p:nvPr/>
        </p:nvSpPr>
        <p:spPr>
          <a:xfrm>
            <a:off x="8765349" y="3220771"/>
            <a:ext cx="1721329"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S7. Service Order Process at charge SOP</a:t>
            </a:r>
          </a:p>
        </p:txBody>
      </p:sp>
      <p:cxnSp>
        <p:nvCxnSpPr>
          <p:cNvPr id="46" name="Connector: Elbow 45">
            <a:extLst>
              <a:ext uri="{FF2B5EF4-FFF2-40B4-BE49-F238E27FC236}">
                <a16:creationId xmlns:a16="http://schemas.microsoft.com/office/drawing/2014/main" id="{A27449F6-413C-6E4B-D4C3-91937C0BA24E}"/>
              </a:ext>
            </a:extLst>
          </p:cNvPr>
          <p:cNvCxnSpPr>
            <a:cxnSpLocks/>
            <a:stCxn id="41" idx="2"/>
            <a:endCxn id="66" idx="1"/>
          </p:cNvCxnSpPr>
          <p:nvPr/>
        </p:nvCxnSpPr>
        <p:spPr>
          <a:xfrm rot="16200000" flipH="1">
            <a:off x="4188391" y="1985939"/>
            <a:ext cx="537107" cy="2408219"/>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 name="Flowchart: Predefined Process 46">
            <a:extLst>
              <a:ext uri="{FF2B5EF4-FFF2-40B4-BE49-F238E27FC236}">
                <a16:creationId xmlns:a16="http://schemas.microsoft.com/office/drawing/2014/main" id="{EDED9EDE-245D-EF8C-793A-B4796F32B650}"/>
              </a:ext>
            </a:extLst>
          </p:cNvPr>
          <p:cNvSpPr/>
          <p:nvPr/>
        </p:nvSpPr>
        <p:spPr>
          <a:xfrm>
            <a:off x="5731343" y="1060541"/>
            <a:ext cx="1135627"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S2. Order Inquiry </a:t>
            </a:r>
          </a:p>
        </p:txBody>
      </p:sp>
      <p:cxnSp>
        <p:nvCxnSpPr>
          <p:cNvPr id="48" name="Connector: Elbow 47">
            <a:extLst>
              <a:ext uri="{FF2B5EF4-FFF2-40B4-BE49-F238E27FC236}">
                <a16:creationId xmlns:a16="http://schemas.microsoft.com/office/drawing/2014/main" id="{6A82AEA7-ED73-4000-3982-B4694BDD3469}"/>
              </a:ext>
            </a:extLst>
          </p:cNvPr>
          <p:cNvCxnSpPr>
            <a:cxnSpLocks/>
            <a:stCxn id="41" idx="0"/>
            <a:endCxn id="60" idx="1"/>
          </p:cNvCxnSpPr>
          <p:nvPr/>
        </p:nvCxnSpPr>
        <p:spPr>
          <a:xfrm rot="5400000" flipH="1" flipV="1">
            <a:off x="3561610" y="1589667"/>
            <a:ext cx="657606" cy="127515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Flowchart: Predefined Process 48">
            <a:extLst>
              <a:ext uri="{FF2B5EF4-FFF2-40B4-BE49-F238E27FC236}">
                <a16:creationId xmlns:a16="http://schemas.microsoft.com/office/drawing/2014/main" id="{59624923-C30C-50B3-1A05-FE4B9A15CD05}"/>
              </a:ext>
            </a:extLst>
          </p:cNvPr>
          <p:cNvSpPr/>
          <p:nvPr/>
        </p:nvSpPr>
        <p:spPr>
          <a:xfrm>
            <a:off x="9923907" y="1064419"/>
            <a:ext cx="1471216"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S4. Create Start-Up Incident</a:t>
            </a:r>
          </a:p>
        </p:txBody>
      </p:sp>
      <p:sp>
        <p:nvSpPr>
          <p:cNvPr id="50" name="Flowchart: Predefined Process 49">
            <a:extLst>
              <a:ext uri="{FF2B5EF4-FFF2-40B4-BE49-F238E27FC236}">
                <a16:creationId xmlns:a16="http://schemas.microsoft.com/office/drawing/2014/main" id="{F072D780-9B2A-2EE7-DDF5-B901B190AE8B}"/>
              </a:ext>
            </a:extLst>
          </p:cNvPr>
          <p:cNvSpPr/>
          <p:nvPr/>
        </p:nvSpPr>
        <p:spPr>
          <a:xfrm>
            <a:off x="405360" y="4455642"/>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S8. Add Start-Up Notes</a:t>
            </a:r>
          </a:p>
        </p:txBody>
      </p:sp>
      <p:cxnSp>
        <p:nvCxnSpPr>
          <p:cNvPr id="51" name="Connector: Elbow 50">
            <a:extLst>
              <a:ext uri="{FF2B5EF4-FFF2-40B4-BE49-F238E27FC236}">
                <a16:creationId xmlns:a16="http://schemas.microsoft.com/office/drawing/2014/main" id="{2FA9556E-5A6F-F169-9CAC-EADC5937C71B}"/>
              </a:ext>
            </a:extLst>
          </p:cNvPr>
          <p:cNvCxnSpPr>
            <a:cxnSpLocks/>
            <a:stCxn id="49" idx="2"/>
            <a:endCxn id="50" idx="0"/>
          </p:cNvCxnSpPr>
          <p:nvPr/>
        </p:nvCxnSpPr>
        <p:spPr>
          <a:xfrm rot="5400000">
            <a:off x="4480200" y="-1723674"/>
            <a:ext cx="2922149" cy="9436483"/>
          </a:xfrm>
          <a:prstGeom prst="bentConnector3">
            <a:avLst>
              <a:gd name="adj1" fmla="val 87942"/>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52" name="Flowchart: Predefined Process 51">
            <a:extLst>
              <a:ext uri="{FF2B5EF4-FFF2-40B4-BE49-F238E27FC236}">
                <a16:creationId xmlns:a16="http://schemas.microsoft.com/office/drawing/2014/main" id="{3A7CF527-609E-DB76-C690-F548B2E00361}"/>
              </a:ext>
            </a:extLst>
          </p:cNvPr>
          <p:cNvSpPr/>
          <p:nvPr/>
        </p:nvSpPr>
        <p:spPr>
          <a:xfrm>
            <a:off x="2431645" y="4448976"/>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S9. Add Line</a:t>
            </a:r>
          </a:p>
        </p:txBody>
      </p:sp>
      <p:sp>
        <p:nvSpPr>
          <p:cNvPr id="53" name="Flowchart: Predefined Process 52">
            <a:extLst>
              <a:ext uri="{FF2B5EF4-FFF2-40B4-BE49-F238E27FC236}">
                <a16:creationId xmlns:a16="http://schemas.microsoft.com/office/drawing/2014/main" id="{E7D57BD6-2219-31B9-343E-D6A4E9AC9CB6}"/>
              </a:ext>
            </a:extLst>
          </p:cNvPr>
          <p:cNvSpPr/>
          <p:nvPr/>
        </p:nvSpPr>
        <p:spPr>
          <a:xfrm>
            <a:off x="4426735" y="4449327"/>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S10. Convert to SRO and Schedule</a:t>
            </a:r>
          </a:p>
        </p:txBody>
      </p:sp>
      <p:sp>
        <p:nvSpPr>
          <p:cNvPr id="54" name="Flowchart: Predefined Process 53">
            <a:extLst>
              <a:ext uri="{FF2B5EF4-FFF2-40B4-BE49-F238E27FC236}">
                <a16:creationId xmlns:a16="http://schemas.microsoft.com/office/drawing/2014/main" id="{576851EA-2F6C-B765-81C2-0565F5202349}"/>
              </a:ext>
            </a:extLst>
          </p:cNvPr>
          <p:cNvSpPr/>
          <p:nvPr/>
        </p:nvSpPr>
        <p:spPr>
          <a:xfrm>
            <a:off x="6576675" y="4448804"/>
            <a:ext cx="1375653" cy="438417"/>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S11. Print Pick Ticket</a:t>
            </a:r>
          </a:p>
        </p:txBody>
      </p:sp>
      <p:sp>
        <p:nvSpPr>
          <p:cNvPr id="55" name="Flowchart: Predefined Process 54">
            <a:extLst>
              <a:ext uri="{FF2B5EF4-FFF2-40B4-BE49-F238E27FC236}">
                <a16:creationId xmlns:a16="http://schemas.microsoft.com/office/drawing/2014/main" id="{E3E097F3-28D4-8359-D164-A4C5BA418776}"/>
              </a:ext>
            </a:extLst>
          </p:cNvPr>
          <p:cNvSpPr/>
          <p:nvPr/>
        </p:nvSpPr>
        <p:spPr>
          <a:xfrm>
            <a:off x="8429193" y="4438973"/>
            <a:ext cx="1469923"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S12. Shipping Feedback Ship </a:t>
            </a:r>
          </a:p>
        </p:txBody>
      </p:sp>
      <p:sp>
        <p:nvSpPr>
          <p:cNvPr id="56" name="Flowchart: Process 55">
            <a:extLst>
              <a:ext uri="{FF2B5EF4-FFF2-40B4-BE49-F238E27FC236}">
                <a16:creationId xmlns:a16="http://schemas.microsoft.com/office/drawing/2014/main" id="{971DE25A-0E2E-549A-AE5D-CD15A726F3D1}"/>
              </a:ext>
            </a:extLst>
          </p:cNvPr>
          <p:cNvSpPr/>
          <p:nvPr/>
        </p:nvSpPr>
        <p:spPr>
          <a:xfrm>
            <a:off x="10234705" y="4422303"/>
            <a:ext cx="1327355" cy="47175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S13. Tech Performs Start-Up</a:t>
            </a:r>
          </a:p>
        </p:txBody>
      </p:sp>
      <p:sp>
        <p:nvSpPr>
          <p:cNvPr id="57" name="Flowchart: Predefined Process 56">
            <a:extLst>
              <a:ext uri="{FF2B5EF4-FFF2-40B4-BE49-F238E27FC236}">
                <a16:creationId xmlns:a16="http://schemas.microsoft.com/office/drawing/2014/main" id="{02319C74-B39F-68CB-9E75-EF9F758B041B}"/>
              </a:ext>
            </a:extLst>
          </p:cNvPr>
          <p:cNvSpPr/>
          <p:nvPr/>
        </p:nvSpPr>
        <p:spPr>
          <a:xfrm>
            <a:off x="5661054" y="5340892"/>
            <a:ext cx="1469923"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S14. Register A Unit</a:t>
            </a:r>
          </a:p>
        </p:txBody>
      </p:sp>
      <p:cxnSp>
        <p:nvCxnSpPr>
          <p:cNvPr id="58" name="Connector: Elbow 57">
            <a:extLst>
              <a:ext uri="{FF2B5EF4-FFF2-40B4-BE49-F238E27FC236}">
                <a16:creationId xmlns:a16="http://schemas.microsoft.com/office/drawing/2014/main" id="{000E48E0-7401-B529-3140-3B56923EF480}"/>
              </a:ext>
            </a:extLst>
          </p:cNvPr>
          <p:cNvCxnSpPr>
            <a:cxnSpLocks/>
            <a:stCxn id="56" idx="2"/>
            <a:endCxn id="57" idx="0"/>
          </p:cNvCxnSpPr>
          <p:nvPr/>
        </p:nvCxnSpPr>
        <p:spPr>
          <a:xfrm rot="5400000">
            <a:off x="8423783" y="2866292"/>
            <a:ext cx="446834" cy="4502367"/>
          </a:xfrm>
          <a:prstGeom prst="bentConnector3">
            <a:avLst>
              <a:gd name="adj1" fmla="val 50000"/>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60" name="Flowchart: Decision 59">
            <a:extLst>
              <a:ext uri="{FF2B5EF4-FFF2-40B4-BE49-F238E27FC236}">
                <a16:creationId xmlns:a16="http://schemas.microsoft.com/office/drawing/2014/main" id="{5C9F7575-C9D5-361A-439A-4B8FC127913F}"/>
              </a:ext>
            </a:extLst>
          </p:cNvPr>
          <p:cNvSpPr/>
          <p:nvPr/>
        </p:nvSpPr>
        <p:spPr>
          <a:xfrm>
            <a:off x="4527992" y="1724244"/>
            <a:ext cx="435655" cy="34839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D2</a:t>
            </a:r>
          </a:p>
        </p:txBody>
      </p:sp>
      <p:sp>
        <p:nvSpPr>
          <p:cNvPr id="61" name="Flowchart: Process 60">
            <a:extLst>
              <a:ext uri="{FF2B5EF4-FFF2-40B4-BE49-F238E27FC236}">
                <a16:creationId xmlns:a16="http://schemas.microsoft.com/office/drawing/2014/main" id="{A22E237A-E83B-D269-431E-5B92FD179F6B}"/>
              </a:ext>
            </a:extLst>
          </p:cNvPr>
          <p:cNvSpPr/>
          <p:nvPr/>
        </p:nvSpPr>
        <p:spPr>
          <a:xfrm>
            <a:off x="4799383" y="1668146"/>
            <a:ext cx="171405" cy="17107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62" name="Flowchart: Process 61">
            <a:extLst>
              <a:ext uri="{FF2B5EF4-FFF2-40B4-BE49-F238E27FC236}">
                <a16:creationId xmlns:a16="http://schemas.microsoft.com/office/drawing/2014/main" id="{CE7E398D-1945-7F82-A316-6B1950232868}"/>
              </a:ext>
            </a:extLst>
          </p:cNvPr>
          <p:cNvSpPr/>
          <p:nvPr/>
        </p:nvSpPr>
        <p:spPr>
          <a:xfrm>
            <a:off x="4520850" y="1944263"/>
            <a:ext cx="171405" cy="17107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sp>
        <p:nvSpPr>
          <p:cNvPr id="63" name="TextBox 62">
            <a:extLst>
              <a:ext uri="{FF2B5EF4-FFF2-40B4-BE49-F238E27FC236}">
                <a16:creationId xmlns:a16="http://schemas.microsoft.com/office/drawing/2014/main" id="{49898565-A9E1-E90E-F84C-4FFBA8F59197}"/>
              </a:ext>
            </a:extLst>
          </p:cNvPr>
          <p:cNvSpPr txBox="1"/>
          <p:nvPr/>
        </p:nvSpPr>
        <p:spPr>
          <a:xfrm>
            <a:off x="3882757" y="1378103"/>
            <a:ext cx="948813" cy="507831"/>
          </a:xfrm>
          <a:prstGeom prst="rect">
            <a:avLst/>
          </a:prstGeom>
          <a:noFill/>
        </p:spPr>
        <p:txBody>
          <a:bodyPr wrap="square" rtlCol="0">
            <a:spAutoFit/>
          </a:bodyPr>
          <a:lstStyle/>
          <a:p>
            <a:r>
              <a:rPr lang="en-US" sz="900" dirty="0"/>
              <a:t>Do You Know The Original Order #?</a:t>
            </a:r>
          </a:p>
        </p:txBody>
      </p:sp>
      <p:cxnSp>
        <p:nvCxnSpPr>
          <p:cNvPr id="64" name="Connector: Elbow 63">
            <a:extLst>
              <a:ext uri="{FF2B5EF4-FFF2-40B4-BE49-F238E27FC236}">
                <a16:creationId xmlns:a16="http://schemas.microsoft.com/office/drawing/2014/main" id="{762FDBB5-2561-78D4-EF84-1AFFAFEE8FFA}"/>
              </a:ext>
            </a:extLst>
          </p:cNvPr>
          <p:cNvCxnSpPr>
            <a:cxnSpLocks/>
            <a:stCxn id="60" idx="0"/>
            <a:endCxn id="47" idx="1"/>
          </p:cNvCxnSpPr>
          <p:nvPr/>
        </p:nvCxnSpPr>
        <p:spPr>
          <a:xfrm rot="5400000" flipH="1" flipV="1">
            <a:off x="5023998" y="1016900"/>
            <a:ext cx="429166" cy="9855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5" name="Flowchart: Predefined Process 64">
            <a:extLst>
              <a:ext uri="{FF2B5EF4-FFF2-40B4-BE49-F238E27FC236}">
                <a16:creationId xmlns:a16="http://schemas.microsoft.com/office/drawing/2014/main" id="{3752FA7B-6A00-F304-DAD5-614C01D8E2B0}"/>
              </a:ext>
            </a:extLst>
          </p:cNvPr>
          <p:cNvSpPr/>
          <p:nvPr/>
        </p:nvSpPr>
        <p:spPr>
          <a:xfrm>
            <a:off x="7519201" y="2231738"/>
            <a:ext cx="1944205"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S5. Order Inquiry Using Serial Number</a:t>
            </a:r>
          </a:p>
        </p:txBody>
      </p:sp>
      <p:sp>
        <p:nvSpPr>
          <p:cNvPr id="66" name="TextBox 65">
            <a:extLst>
              <a:ext uri="{FF2B5EF4-FFF2-40B4-BE49-F238E27FC236}">
                <a16:creationId xmlns:a16="http://schemas.microsoft.com/office/drawing/2014/main" id="{38BAD372-EE30-997C-3BD9-E1AE0FF9AFD3}"/>
              </a:ext>
            </a:extLst>
          </p:cNvPr>
          <p:cNvSpPr txBox="1"/>
          <p:nvPr/>
        </p:nvSpPr>
        <p:spPr>
          <a:xfrm>
            <a:off x="5661054" y="3222725"/>
            <a:ext cx="1205916"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S6. Create A New Unit SOP</a:t>
            </a:r>
          </a:p>
        </p:txBody>
      </p:sp>
      <p:cxnSp>
        <p:nvCxnSpPr>
          <p:cNvPr id="67" name="Connector: Elbow 66">
            <a:extLst>
              <a:ext uri="{FF2B5EF4-FFF2-40B4-BE49-F238E27FC236}">
                <a16:creationId xmlns:a16="http://schemas.microsoft.com/office/drawing/2014/main" id="{7948FE09-9441-769D-4F23-5CE0A8271962}"/>
              </a:ext>
            </a:extLst>
          </p:cNvPr>
          <p:cNvCxnSpPr>
            <a:cxnSpLocks/>
            <a:stCxn id="60" idx="2"/>
            <a:endCxn id="65" idx="1"/>
          </p:cNvCxnSpPr>
          <p:nvPr/>
        </p:nvCxnSpPr>
        <p:spPr>
          <a:xfrm rot="16200000" flipH="1">
            <a:off x="5935693" y="882766"/>
            <a:ext cx="393635" cy="2773381"/>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0" name="Flowchart: Process 69">
            <a:extLst>
              <a:ext uri="{FF2B5EF4-FFF2-40B4-BE49-F238E27FC236}">
                <a16:creationId xmlns:a16="http://schemas.microsoft.com/office/drawing/2014/main" id="{82CD0852-9814-2860-11AC-A6CDFDA226B1}"/>
              </a:ext>
            </a:extLst>
          </p:cNvPr>
          <p:cNvSpPr/>
          <p:nvPr/>
        </p:nvSpPr>
        <p:spPr>
          <a:xfrm>
            <a:off x="7827625" y="1057821"/>
            <a:ext cx="1327355" cy="47451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S3. Check With AR To Verify Payment In Full</a:t>
            </a:r>
          </a:p>
        </p:txBody>
      </p:sp>
      <p:cxnSp>
        <p:nvCxnSpPr>
          <p:cNvPr id="71" name="Straight Arrow Connector 70">
            <a:extLst>
              <a:ext uri="{FF2B5EF4-FFF2-40B4-BE49-F238E27FC236}">
                <a16:creationId xmlns:a16="http://schemas.microsoft.com/office/drawing/2014/main" id="{5EA7FECD-085E-B082-A8EC-04E28D513D14}"/>
              </a:ext>
            </a:extLst>
          </p:cNvPr>
          <p:cNvCxnSpPr>
            <a:cxnSpLocks/>
            <a:stCxn id="47" idx="3"/>
            <a:endCxn id="70" idx="1"/>
          </p:cNvCxnSpPr>
          <p:nvPr/>
        </p:nvCxnSpPr>
        <p:spPr>
          <a:xfrm>
            <a:off x="6866970" y="1295078"/>
            <a:ext cx="960655"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3800AAF2-DDED-CC89-8303-2F1A2D9D3F2F}"/>
              </a:ext>
            </a:extLst>
          </p:cNvPr>
          <p:cNvCxnSpPr>
            <a:cxnSpLocks/>
            <a:stCxn id="70" idx="3"/>
            <a:endCxn id="49" idx="1"/>
          </p:cNvCxnSpPr>
          <p:nvPr/>
        </p:nvCxnSpPr>
        <p:spPr>
          <a:xfrm>
            <a:off x="9154980" y="1295078"/>
            <a:ext cx="768927" cy="3878"/>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BCA2B01F-97F9-30B5-F1DE-E280E94A15E8}"/>
              </a:ext>
            </a:extLst>
          </p:cNvPr>
          <p:cNvCxnSpPr>
            <a:cxnSpLocks/>
            <a:stCxn id="66" idx="3"/>
            <a:endCxn id="45" idx="1"/>
          </p:cNvCxnSpPr>
          <p:nvPr/>
        </p:nvCxnSpPr>
        <p:spPr>
          <a:xfrm flipV="1">
            <a:off x="6866970" y="3456649"/>
            <a:ext cx="1898379" cy="195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E8C0A97D-6FB3-7C23-274D-259A0AE55863}"/>
              </a:ext>
            </a:extLst>
          </p:cNvPr>
          <p:cNvCxnSpPr>
            <a:cxnSpLocks/>
            <a:stCxn id="50" idx="3"/>
            <a:endCxn id="52" idx="1"/>
          </p:cNvCxnSpPr>
          <p:nvPr/>
        </p:nvCxnSpPr>
        <p:spPr>
          <a:xfrm flipV="1">
            <a:off x="2040704" y="4668184"/>
            <a:ext cx="390941" cy="6666"/>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749CD008-1554-C333-39D4-F96BF07ED14D}"/>
              </a:ext>
            </a:extLst>
          </p:cNvPr>
          <p:cNvCxnSpPr>
            <a:cxnSpLocks/>
            <a:stCxn id="52" idx="3"/>
            <a:endCxn id="53" idx="1"/>
          </p:cNvCxnSpPr>
          <p:nvPr/>
        </p:nvCxnSpPr>
        <p:spPr>
          <a:xfrm>
            <a:off x="4066989" y="4668184"/>
            <a:ext cx="359746" cy="351"/>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151850B4-67B6-AF44-B42B-231974AB099F}"/>
              </a:ext>
            </a:extLst>
          </p:cNvPr>
          <p:cNvCxnSpPr>
            <a:cxnSpLocks/>
            <a:stCxn id="53" idx="3"/>
            <a:endCxn id="54" idx="1"/>
          </p:cNvCxnSpPr>
          <p:nvPr/>
        </p:nvCxnSpPr>
        <p:spPr>
          <a:xfrm flipV="1">
            <a:off x="6062079" y="4668013"/>
            <a:ext cx="514596" cy="522"/>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8FBAF794-F92F-F7B5-9F2D-813949424126}"/>
              </a:ext>
            </a:extLst>
          </p:cNvPr>
          <p:cNvCxnSpPr>
            <a:cxnSpLocks/>
            <a:stCxn id="54" idx="3"/>
            <a:endCxn id="55" idx="1"/>
          </p:cNvCxnSpPr>
          <p:nvPr/>
        </p:nvCxnSpPr>
        <p:spPr>
          <a:xfrm flipV="1">
            <a:off x="7952328" y="4658181"/>
            <a:ext cx="476865" cy="9832"/>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B2FBB2C1-960D-A62F-13CF-11EABEC2CE93}"/>
              </a:ext>
            </a:extLst>
          </p:cNvPr>
          <p:cNvCxnSpPr>
            <a:cxnSpLocks/>
            <a:stCxn id="55" idx="3"/>
            <a:endCxn id="56" idx="1"/>
          </p:cNvCxnSpPr>
          <p:nvPr/>
        </p:nvCxnSpPr>
        <p:spPr>
          <a:xfrm>
            <a:off x="9899116" y="4658181"/>
            <a:ext cx="335589" cy="0"/>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E993D605-FDD2-7473-2E74-C6344C028271}"/>
              </a:ext>
            </a:extLst>
          </p:cNvPr>
          <p:cNvCxnSpPr>
            <a:cxnSpLocks/>
            <a:stCxn id="39" idx="3"/>
            <a:endCxn id="41" idx="1"/>
          </p:cNvCxnSpPr>
          <p:nvPr/>
        </p:nvCxnSpPr>
        <p:spPr>
          <a:xfrm>
            <a:off x="2040704" y="2738772"/>
            <a:ext cx="926695"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47CAFDBB-19CF-504F-DB3B-928C0FF8E583}"/>
              </a:ext>
            </a:extLst>
          </p:cNvPr>
          <p:cNvCxnSpPr>
            <a:cxnSpLocks/>
            <a:stCxn id="65" idx="0"/>
            <a:endCxn id="70" idx="2"/>
          </p:cNvCxnSpPr>
          <p:nvPr/>
        </p:nvCxnSpPr>
        <p:spPr>
          <a:xfrm flipH="1" flipV="1">
            <a:off x="8491303" y="1532334"/>
            <a:ext cx="1" cy="69940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F654C121-D0CC-7930-F481-48F14B03B22A}"/>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05 12 2025 19 10</a:t>
            </a:r>
          </a:p>
        </p:txBody>
      </p:sp>
      <p:sp>
        <p:nvSpPr>
          <p:cNvPr id="7" name="TextBox 6">
            <a:extLst>
              <a:ext uri="{FF2B5EF4-FFF2-40B4-BE49-F238E27FC236}">
                <a16:creationId xmlns:a16="http://schemas.microsoft.com/office/drawing/2014/main" id="{3360DC8C-7EC6-7DDF-7ED1-EC5AEDFC972F}"/>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4" name="TextBox 3">
            <a:extLst>
              <a:ext uri="{FF2B5EF4-FFF2-40B4-BE49-F238E27FC236}">
                <a16:creationId xmlns:a16="http://schemas.microsoft.com/office/drawing/2014/main" id="{13F1C0DB-315F-B055-7E43-50F731982E77}"/>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25 12 28 0800</a:t>
            </a:r>
          </a:p>
        </p:txBody>
      </p:sp>
      <p:sp>
        <p:nvSpPr>
          <p:cNvPr id="2" name="-Y1. Yes GenSet_sold_by_us">
            <a:extLst>
              <a:ext uri="{FF2B5EF4-FFF2-40B4-BE49-F238E27FC236}">
                <a16:creationId xmlns:a16="http://schemas.microsoft.com/office/drawing/2014/main" id="{B4F6AB93-25C6-E38E-097B-712D7CA510CD}"/>
              </a:ext>
            </a:extLst>
          </p:cNvPr>
          <p:cNvSpPr>
            <a:spLocks noGrp="1"/>
          </p:cNvSpPr>
          <p:nvPr>
            <p:ph type="title"/>
          </p:nvPr>
        </p:nvSpPr>
        <p:spPr>
          <a:xfrm>
            <a:off x="838200" y="314871"/>
            <a:ext cx="10515600" cy="428753"/>
          </a:xfrm>
        </p:spPr>
        <p:txBody>
          <a:bodyPr>
            <a:noAutofit/>
          </a:bodyPr>
          <a:lstStyle/>
          <a:p>
            <a:pPr algn="ctr"/>
            <a:r>
              <a:rPr lang="en-US" sz="1600" b="1" dirty="0"/>
              <a:t>Y1. Yes Genset Sold by Palco – Startup SOP</a:t>
            </a:r>
          </a:p>
        </p:txBody>
      </p:sp>
    </p:spTree>
    <p:extLst>
      <p:ext uri="{BB962C8B-B14F-4D97-AF65-F5344CB8AC3E}">
        <p14:creationId xmlns:p14="http://schemas.microsoft.com/office/powerpoint/2010/main" val="42822893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855FE-368B-C360-B5C0-DC63B0DC43C5}"/>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48BACC05-61C1-377C-591D-0ECF868C915B}"/>
              </a:ext>
            </a:extLst>
          </p:cNvPr>
          <p:cNvSpPr/>
          <p:nvPr/>
        </p:nvSpPr>
        <p:spPr>
          <a:xfrm>
            <a:off x="3483003" y="1162085"/>
            <a:ext cx="1190205" cy="1327661"/>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sp>
        <p:nvSpPr>
          <p:cNvPr id="39" name="Flowchart: Process 38">
            <a:extLst>
              <a:ext uri="{FF2B5EF4-FFF2-40B4-BE49-F238E27FC236}">
                <a16:creationId xmlns:a16="http://schemas.microsoft.com/office/drawing/2014/main" id="{C8850682-4710-958C-6262-990AA538A039}"/>
              </a:ext>
            </a:extLst>
          </p:cNvPr>
          <p:cNvSpPr/>
          <p:nvPr/>
        </p:nvSpPr>
        <p:spPr>
          <a:xfrm>
            <a:off x="713349" y="2526777"/>
            <a:ext cx="1327355" cy="42399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 Customer Calls For Start-Up</a:t>
            </a:r>
          </a:p>
        </p:txBody>
      </p:sp>
      <p:sp>
        <p:nvSpPr>
          <p:cNvPr id="41" name="Flowchart: Decision 40">
            <a:extLst>
              <a:ext uri="{FF2B5EF4-FFF2-40B4-BE49-F238E27FC236}">
                <a16:creationId xmlns:a16="http://schemas.microsoft.com/office/drawing/2014/main" id="{888AE152-BA46-D837-590D-6B033ABEA984}"/>
              </a:ext>
            </a:extLst>
          </p:cNvPr>
          <p:cNvSpPr/>
          <p:nvPr/>
        </p:nvSpPr>
        <p:spPr>
          <a:xfrm>
            <a:off x="2967399" y="2556048"/>
            <a:ext cx="570871" cy="365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D1</a:t>
            </a:r>
          </a:p>
        </p:txBody>
      </p:sp>
      <p:sp>
        <p:nvSpPr>
          <p:cNvPr id="42" name="Flowchart: Process 41">
            <a:extLst>
              <a:ext uri="{FF2B5EF4-FFF2-40B4-BE49-F238E27FC236}">
                <a16:creationId xmlns:a16="http://schemas.microsoft.com/office/drawing/2014/main" id="{8491272C-C59B-5A2B-B737-100DB927F438}"/>
              </a:ext>
            </a:extLst>
          </p:cNvPr>
          <p:cNvSpPr/>
          <p:nvPr/>
        </p:nvSpPr>
        <p:spPr>
          <a:xfrm>
            <a:off x="3323024" y="2497204"/>
            <a:ext cx="224605" cy="17944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43" name="Flowchart: Process 42">
            <a:extLst>
              <a:ext uri="{FF2B5EF4-FFF2-40B4-BE49-F238E27FC236}">
                <a16:creationId xmlns:a16="http://schemas.microsoft.com/office/drawing/2014/main" id="{5E1F5466-4B02-441A-1816-448DDF9F43B2}"/>
              </a:ext>
            </a:extLst>
          </p:cNvPr>
          <p:cNvSpPr/>
          <p:nvPr/>
        </p:nvSpPr>
        <p:spPr>
          <a:xfrm>
            <a:off x="2958041" y="2786835"/>
            <a:ext cx="224605" cy="17944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sp>
        <p:nvSpPr>
          <p:cNvPr id="44" name="TextBox 43">
            <a:extLst>
              <a:ext uri="{FF2B5EF4-FFF2-40B4-BE49-F238E27FC236}">
                <a16:creationId xmlns:a16="http://schemas.microsoft.com/office/drawing/2014/main" id="{22C53E49-69C4-EA01-72C7-D10A8E0AFB7A}"/>
              </a:ext>
            </a:extLst>
          </p:cNvPr>
          <p:cNvSpPr txBox="1"/>
          <p:nvPr/>
        </p:nvSpPr>
        <p:spPr>
          <a:xfrm>
            <a:off x="2332800" y="2331480"/>
            <a:ext cx="948813" cy="369332"/>
          </a:xfrm>
          <a:prstGeom prst="rect">
            <a:avLst/>
          </a:prstGeom>
          <a:noFill/>
        </p:spPr>
        <p:txBody>
          <a:bodyPr wrap="square" rtlCol="0">
            <a:spAutoFit/>
          </a:bodyPr>
          <a:lstStyle/>
          <a:p>
            <a:r>
              <a:rPr lang="en-US" sz="900" dirty="0"/>
              <a:t>Q1.Did We Sell The Generator? </a:t>
            </a:r>
          </a:p>
        </p:txBody>
      </p:sp>
      <p:sp>
        <p:nvSpPr>
          <p:cNvPr id="45" name="TextBox 44">
            <a:extLst>
              <a:ext uri="{FF2B5EF4-FFF2-40B4-BE49-F238E27FC236}">
                <a16:creationId xmlns:a16="http://schemas.microsoft.com/office/drawing/2014/main" id="{8A23C053-FC8F-23F1-0308-59053322FE93}"/>
              </a:ext>
            </a:extLst>
          </p:cNvPr>
          <p:cNvSpPr txBox="1"/>
          <p:nvPr/>
        </p:nvSpPr>
        <p:spPr>
          <a:xfrm>
            <a:off x="8765349" y="3220771"/>
            <a:ext cx="1721329"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S7. Service Order Process at charge SOP</a:t>
            </a:r>
          </a:p>
        </p:txBody>
      </p:sp>
      <p:cxnSp>
        <p:nvCxnSpPr>
          <p:cNvPr id="46" name="Connector: Elbow 45">
            <a:extLst>
              <a:ext uri="{FF2B5EF4-FFF2-40B4-BE49-F238E27FC236}">
                <a16:creationId xmlns:a16="http://schemas.microsoft.com/office/drawing/2014/main" id="{359B339E-7574-DE22-071C-53D362E4793B}"/>
              </a:ext>
            </a:extLst>
          </p:cNvPr>
          <p:cNvCxnSpPr>
            <a:cxnSpLocks/>
            <a:stCxn id="41" idx="2"/>
            <a:endCxn id="66" idx="1"/>
          </p:cNvCxnSpPr>
          <p:nvPr/>
        </p:nvCxnSpPr>
        <p:spPr>
          <a:xfrm rot="16200000" flipH="1">
            <a:off x="4188391" y="1985939"/>
            <a:ext cx="537107" cy="2408219"/>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 name="Flowchart: Predefined Process 46">
            <a:extLst>
              <a:ext uri="{FF2B5EF4-FFF2-40B4-BE49-F238E27FC236}">
                <a16:creationId xmlns:a16="http://schemas.microsoft.com/office/drawing/2014/main" id="{FFBB8616-9938-0B26-B5FA-E954F68AA542}"/>
              </a:ext>
            </a:extLst>
          </p:cNvPr>
          <p:cNvSpPr/>
          <p:nvPr/>
        </p:nvSpPr>
        <p:spPr>
          <a:xfrm>
            <a:off x="5731343" y="1060541"/>
            <a:ext cx="1135627"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S2. Order Inquiry </a:t>
            </a:r>
          </a:p>
        </p:txBody>
      </p:sp>
      <p:cxnSp>
        <p:nvCxnSpPr>
          <p:cNvPr id="48" name="Connector: Elbow 47">
            <a:extLst>
              <a:ext uri="{FF2B5EF4-FFF2-40B4-BE49-F238E27FC236}">
                <a16:creationId xmlns:a16="http://schemas.microsoft.com/office/drawing/2014/main" id="{D338BE3A-5C86-3D44-7940-EBA19E8ABDB0}"/>
              </a:ext>
            </a:extLst>
          </p:cNvPr>
          <p:cNvCxnSpPr>
            <a:cxnSpLocks/>
            <a:stCxn id="41" idx="0"/>
            <a:endCxn id="60" idx="1"/>
          </p:cNvCxnSpPr>
          <p:nvPr/>
        </p:nvCxnSpPr>
        <p:spPr>
          <a:xfrm rot="5400000" flipH="1" flipV="1">
            <a:off x="3561610" y="1589667"/>
            <a:ext cx="657606" cy="127515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Flowchart: Predefined Process 48">
            <a:extLst>
              <a:ext uri="{FF2B5EF4-FFF2-40B4-BE49-F238E27FC236}">
                <a16:creationId xmlns:a16="http://schemas.microsoft.com/office/drawing/2014/main" id="{1DB1AAE2-F514-D2BC-C8B1-BDC065D369A9}"/>
              </a:ext>
            </a:extLst>
          </p:cNvPr>
          <p:cNvSpPr/>
          <p:nvPr/>
        </p:nvSpPr>
        <p:spPr>
          <a:xfrm>
            <a:off x="9923907" y="1064419"/>
            <a:ext cx="1471216"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S4. Create Start-Up Incident</a:t>
            </a:r>
          </a:p>
        </p:txBody>
      </p:sp>
      <p:sp>
        <p:nvSpPr>
          <p:cNvPr id="50" name="Flowchart: Predefined Process 49">
            <a:extLst>
              <a:ext uri="{FF2B5EF4-FFF2-40B4-BE49-F238E27FC236}">
                <a16:creationId xmlns:a16="http://schemas.microsoft.com/office/drawing/2014/main" id="{912ACC32-8218-7AA7-FFD5-C2C1F7851FF1}"/>
              </a:ext>
            </a:extLst>
          </p:cNvPr>
          <p:cNvSpPr/>
          <p:nvPr/>
        </p:nvSpPr>
        <p:spPr>
          <a:xfrm>
            <a:off x="405360" y="4455642"/>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S8. Add Start-Up Notes</a:t>
            </a:r>
          </a:p>
        </p:txBody>
      </p:sp>
      <p:cxnSp>
        <p:nvCxnSpPr>
          <p:cNvPr id="51" name="Connector: Elbow 50">
            <a:extLst>
              <a:ext uri="{FF2B5EF4-FFF2-40B4-BE49-F238E27FC236}">
                <a16:creationId xmlns:a16="http://schemas.microsoft.com/office/drawing/2014/main" id="{1C0B791E-75AB-775A-8247-AAC8A00AAD0E}"/>
              </a:ext>
            </a:extLst>
          </p:cNvPr>
          <p:cNvCxnSpPr>
            <a:cxnSpLocks/>
            <a:stCxn id="49" idx="2"/>
            <a:endCxn id="50" idx="0"/>
          </p:cNvCxnSpPr>
          <p:nvPr/>
        </p:nvCxnSpPr>
        <p:spPr>
          <a:xfrm rot="5400000">
            <a:off x="4480200" y="-1723674"/>
            <a:ext cx="2922149" cy="9436483"/>
          </a:xfrm>
          <a:prstGeom prst="bentConnector3">
            <a:avLst>
              <a:gd name="adj1" fmla="val 87942"/>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52" name="Flowchart: Predefined Process 51">
            <a:extLst>
              <a:ext uri="{FF2B5EF4-FFF2-40B4-BE49-F238E27FC236}">
                <a16:creationId xmlns:a16="http://schemas.microsoft.com/office/drawing/2014/main" id="{39E75DB8-1E95-8021-47EB-C3793073C034}"/>
              </a:ext>
            </a:extLst>
          </p:cNvPr>
          <p:cNvSpPr/>
          <p:nvPr/>
        </p:nvSpPr>
        <p:spPr>
          <a:xfrm>
            <a:off x="2431645" y="4448976"/>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S9. Add Line</a:t>
            </a:r>
          </a:p>
        </p:txBody>
      </p:sp>
      <p:sp>
        <p:nvSpPr>
          <p:cNvPr id="53" name="Flowchart: Predefined Process 52">
            <a:extLst>
              <a:ext uri="{FF2B5EF4-FFF2-40B4-BE49-F238E27FC236}">
                <a16:creationId xmlns:a16="http://schemas.microsoft.com/office/drawing/2014/main" id="{4119973D-5A65-E67E-4C88-762FE348A9E6}"/>
              </a:ext>
            </a:extLst>
          </p:cNvPr>
          <p:cNvSpPr/>
          <p:nvPr/>
        </p:nvSpPr>
        <p:spPr>
          <a:xfrm>
            <a:off x="4426735" y="4449327"/>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S10. Convert to SRO and Schedule</a:t>
            </a:r>
          </a:p>
        </p:txBody>
      </p:sp>
      <p:sp>
        <p:nvSpPr>
          <p:cNvPr id="54" name="Flowchart: Predefined Process 53">
            <a:extLst>
              <a:ext uri="{FF2B5EF4-FFF2-40B4-BE49-F238E27FC236}">
                <a16:creationId xmlns:a16="http://schemas.microsoft.com/office/drawing/2014/main" id="{256BEB54-5AFD-675F-7BB7-F11EC0D5562A}"/>
              </a:ext>
            </a:extLst>
          </p:cNvPr>
          <p:cNvSpPr/>
          <p:nvPr/>
        </p:nvSpPr>
        <p:spPr>
          <a:xfrm>
            <a:off x="6576675" y="4448804"/>
            <a:ext cx="1375653" cy="438417"/>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S11. Print Pick Ticket</a:t>
            </a:r>
          </a:p>
        </p:txBody>
      </p:sp>
      <p:sp>
        <p:nvSpPr>
          <p:cNvPr id="55" name="Flowchart: Predefined Process 54">
            <a:extLst>
              <a:ext uri="{FF2B5EF4-FFF2-40B4-BE49-F238E27FC236}">
                <a16:creationId xmlns:a16="http://schemas.microsoft.com/office/drawing/2014/main" id="{B94DFB06-B4BD-7F46-7B64-B941A9D4DDF2}"/>
              </a:ext>
            </a:extLst>
          </p:cNvPr>
          <p:cNvSpPr/>
          <p:nvPr/>
        </p:nvSpPr>
        <p:spPr>
          <a:xfrm>
            <a:off x="8429193" y="4438973"/>
            <a:ext cx="1469923"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S12. Shipping Feedback Ship </a:t>
            </a:r>
          </a:p>
        </p:txBody>
      </p:sp>
      <p:sp>
        <p:nvSpPr>
          <p:cNvPr id="56" name="Flowchart: Process 55">
            <a:extLst>
              <a:ext uri="{FF2B5EF4-FFF2-40B4-BE49-F238E27FC236}">
                <a16:creationId xmlns:a16="http://schemas.microsoft.com/office/drawing/2014/main" id="{81B2D0CD-D71B-F371-1DD8-4B2B5F1046DF}"/>
              </a:ext>
            </a:extLst>
          </p:cNvPr>
          <p:cNvSpPr/>
          <p:nvPr/>
        </p:nvSpPr>
        <p:spPr>
          <a:xfrm>
            <a:off x="10234705" y="4422303"/>
            <a:ext cx="1327355" cy="47175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S13. Tech Performs Start-Up</a:t>
            </a:r>
          </a:p>
        </p:txBody>
      </p:sp>
      <p:sp>
        <p:nvSpPr>
          <p:cNvPr id="57" name="Flowchart: Predefined Process 56">
            <a:extLst>
              <a:ext uri="{FF2B5EF4-FFF2-40B4-BE49-F238E27FC236}">
                <a16:creationId xmlns:a16="http://schemas.microsoft.com/office/drawing/2014/main" id="{96147620-E329-E334-7B97-413CCA1FF6BF}"/>
              </a:ext>
            </a:extLst>
          </p:cNvPr>
          <p:cNvSpPr/>
          <p:nvPr/>
        </p:nvSpPr>
        <p:spPr>
          <a:xfrm>
            <a:off x="5661054" y="5340892"/>
            <a:ext cx="1469923"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S14. Register A Unit</a:t>
            </a:r>
          </a:p>
        </p:txBody>
      </p:sp>
      <p:cxnSp>
        <p:nvCxnSpPr>
          <p:cNvPr id="58" name="Connector: Elbow 57">
            <a:extLst>
              <a:ext uri="{FF2B5EF4-FFF2-40B4-BE49-F238E27FC236}">
                <a16:creationId xmlns:a16="http://schemas.microsoft.com/office/drawing/2014/main" id="{52E2C959-EC1B-E74A-6A9B-533AC5457188}"/>
              </a:ext>
            </a:extLst>
          </p:cNvPr>
          <p:cNvCxnSpPr>
            <a:cxnSpLocks/>
            <a:stCxn id="56" idx="2"/>
            <a:endCxn id="57" idx="0"/>
          </p:cNvCxnSpPr>
          <p:nvPr/>
        </p:nvCxnSpPr>
        <p:spPr>
          <a:xfrm rot="5400000">
            <a:off x="8423783" y="2866292"/>
            <a:ext cx="446834" cy="4502367"/>
          </a:xfrm>
          <a:prstGeom prst="bentConnector3">
            <a:avLst>
              <a:gd name="adj1" fmla="val 50000"/>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60" name="Flowchart: Decision 59">
            <a:extLst>
              <a:ext uri="{FF2B5EF4-FFF2-40B4-BE49-F238E27FC236}">
                <a16:creationId xmlns:a16="http://schemas.microsoft.com/office/drawing/2014/main" id="{E9522D9B-B414-518D-D39F-5CDD72C7AE17}"/>
              </a:ext>
            </a:extLst>
          </p:cNvPr>
          <p:cNvSpPr/>
          <p:nvPr/>
        </p:nvSpPr>
        <p:spPr>
          <a:xfrm>
            <a:off x="4527992" y="1724244"/>
            <a:ext cx="435655" cy="34839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D2</a:t>
            </a:r>
          </a:p>
        </p:txBody>
      </p:sp>
      <p:sp>
        <p:nvSpPr>
          <p:cNvPr id="61" name="Flowchart: Process 60">
            <a:extLst>
              <a:ext uri="{FF2B5EF4-FFF2-40B4-BE49-F238E27FC236}">
                <a16:creationId xmlns:a16="http://schemas.microsoft.com/office/drawing/2014/main" id="{872131EA-FB85-9B9B-2A1F-840427CD9EE7}"/>
              </a:ext>
            </a:extLst>
          </p:cNvPr>
          <p:cNvSpPr/>
          <p:nvPr/>
        </p:nvSpPr>
        <p:spPr>
          <a:xfrm>
            <a:off x="4799383" y="1668146"/>
            <a:ext cx="171405" cy="17107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62" name="Flowchart: Process 61">
            <a:extLst>
              <a:ext uri="{FF2B5EF4-FFF2-40B4-BE49-F238E27FC236}">
                <a16:creationId xmlns:a16="http://schemas.microsoft.com/office/drawing/2014/main" id="{20F82766-389F-C163-7B88-01E6428F8806}"/>
              </a:ext>
            </a:extLst>
          </p:cNvPr>
          <p:cNvSpPr/>
          <p:nvPr/>
        </p:nvSpPr>
        <p:spPr>
          <a:xfrm>
            <a:off x="4520850" y="1944263"/>
            <a:ext cx="171405" cy="17107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sp>
        <p:nvSpPr>
          <p:cNvPr id="63" name="TextBox 62">
            <a:extLst>
              <a:ext uri="{FF2B5EF4-FFF2-40B4-BE49-F238E27FC236}">
                <a16:creationId xmlns:a16="http://schemas.microsoft.com/office/drawing/2014/main" id="{49C2E8F2-686A-08F3-C55F-5BC20B104F7E}"/>
              </a:ext>
            </a:extLst>
          </p:cNvPr>
          <p:cNvSpPr txBox="1"/>
          <p:nvPr/>
        </p:nvSpPr>
        <p:spPr>
          <a:xfrm>
            <a:off x="3882757" y="1378103"/>
            <a:ext cx="948813" cy="507831"/>
          </a:xfrm>
          <a:prstGeom prst="rect">
            <a:avLst/>
          </a:prstGeom>
          <a:noFill/>
        </p:spPr>
        <p:txBody>
          <a:bodyPr wrap="square" rtlCol="0">
            <a:spAutoFit/>
          </a:bodyPr>
          <a:lstStyle/>
          <a:p>
            <a:r>
              <a:rPr lang="en-US" sz="900" dirty="0"/>
              <a:t>Do You Know The Original Order #?</a:t>
            </a:r>
          </a:p>
        </p:txBody>
      </p:sp>
      <p:cxnSp>
        <p:nvCxnSpPr>
          <p:cNvPr id="64" name="Connector: Elbow 63">
            <a:extLst>
              <a:ext uri="{FF2B5EF4-FFF2-40B4-BE49-F238E27FC236}">
                <a16:creationId xmlns:a16="http://schemas.microsoft.com/office/drawing/2014/main" id="{1E9DECCD-793C-9ED4-50CC-2F432618A06C}"/>
              </a:ext>
            </a:extLst>
          </p:cNvPr>
          <p:cNvCxnSpPr>
            <a:cxnSpLocks/>
            <a:stCxn id="60" idx="0"/>
            <a:endCxn id="47" idx="1"/>
          </p:cNvCxnSpPr>
          <p:nvPr/>
        </p:nvCxnSpPr>
        <p:spPr>
          <a:xfrm rot="5400000" flipH="1" flipV="1">
            <a:off x="5023998" y="1016900"/>
            <a:ext cx="429166" cy="9855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5" name="Flowchart: Predefined Process 64">
            <a:extLst>
              <a:ext uri="{FF2B5EF4-FFF2-40B4-BE49-F238E27FC236}">
                <a16:creationId xmlns:a16="http://schemas.microsoft.com/office/drawing/2014/main" id="{F699C69B-BE89-25B7-D91D-A45A2F1E5788}"/>
              </a:ext>
            </a:extLst>
          </p:cNvPr>
          <p:cNvSpPr/>
          <p:nvPr/>
        </p:nvSpPr>
        <p:spPr>
          <a:xfrm>
            <a:off x="7519201" y="2231738"/>
            <a:ext cx="1944205"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S5. Order Inquiry Using Serial Number</a:t>
            </a:r>
          </a:p>
        </p:txBody>
      </p:sp>
      <p:sp>
        <p:nvSpPr>
          <p:cNvPr id="66" name="TextBox 65">
            <a:extLst>
              <a:ext uri="{FF2B5EF4-FFF2-40B4-BE49-F238E27FC236}">
                <a16:creationId xmlns:a16="http://schemas.microsoft.com/office/drawing/2014/main" id="{F5B3AABE-A57F-3008-F42E-8701285BF9B9}"/>
              </a:ext>
            </a:extLst>
          </p:cNvPr>
          <p:cNvSpPr txBox="1"/>
          <p:nvPr/>
        </p:nvSpPr>
        <p:spPr>
          <a:xfrm>
            <a:off x="5661054" y="3222725"/>
            <a:ext cx="1205916"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S6. Create A New Unit SOP</a:t>
            </a:r>
          </a:p>
        </p:txBody>
      </p:sp>
      <p:cxnSp>
        <p:nvCxnSpPr>
          <p:cNvPr id="67" name="Connector: Elbow 66">
            <a:extLst>
              <a:ext uri="{FF2B5EF4-FFF2-40B4-BE49-F238E27FC236}">
                <a16:creationId xmlns:a16="http://schemas.microsoft.com/office/drawing/2014/main" id="{BD38E654-1BE4-0509-2E50-1DC483460278}"/>
              </a:ext>
            </a:extLst>
          </p:cNvPr>
          <p:cNvCxnSpPr>
            <a:cxnSpLocks/>
            <a:stCxn id="60" idx="2"/>
            <a:endCxn id="65" idx="1"/>
          </p:cNvCxnSpPr>
          <p:nvPr/>
        </p:nvCxnSpPr>
        <p:spPr>
          <a:xfrm rot="16200000" flipH="1">
            <a:off x="5935693" y="882766"/>
            <a:ext cx="393635" cy="2773381"/>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0" name="Flowchart: Process 69">
            <a:extLst>
              <a:ext uri="{FF2B5EF4-FFF2-40B4-BE49-F238E27FC236}">
                <a16:creationId xmlns:a16="http://schemas.microsoft.com/office/drawing/2014/main" id="{95E47506-5708-2448-F13D-5B6A4FEC2475}"/>
              </a:ext>
            </a:extLst>
          </p:cNvPr>
          <p:cNvSpPr/>
          <p:nvPr/>
        </p:nvSpPr>
        <p:spPr>
          <a:xfrm>
            <a:off x="7827625" y="1057821"/>
            <a:ext cx="1327355" cy="47451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S3. Check With AR To Verify Payment In Full</a:t>
            </a:r>
          </a:p>
        </p:txBody>
      </p:sp>
      <p:cxnSp>
        <p:nvCxnSpPr>
          <p:cNvPr id="71" name="Straight Arrow Connector 70">
            <a:extLst>
              <a:ext uri="{FF2B5EF4-FFF2-40B4-BE49-F238E27FC236}">
                <a16:creationId xmlns:a16="http://schemas.microsoft.com/office/drawing/2014/main" id="{F6AD2600-E70D-CC0C-1D8A-8FC7C13AEFF5}"/>
              </a:ext>
            </a:extLst>
          </p:cNvPr>
          <p:cNvCxnSpPr>
            <a:cxnSpLocks/>
            <a:stCxn id="47" idx="3"/>
            <a:endCxn id="70" idx="1"/>
          </p:cNvCxnSpPr>
          <p:nvPr/>
        </p:nvCxnSpPr>
        <p:spPr>
          <a:xfrm>
            <a:off x="6866970" y="1295078"/>
            <a:ext cx="960655"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0802601D-2AF2-1AE8-7BAE-D98B31D5F47D}"/>
              </a:ext>
            </a:extLst>
          </p:cNvPr>
          <p:cNvCxnSpPr>
            <a:cxnSpLocks/>
            <a:stCxn id="70" idx="3"/>
            <a:endCxn id="49" idx="1"/>
          </p:cNvCxnSpPr>
          <p:nvPr/>
        </p:nvCxnSpPr>
        <p:spPr>
          <a:xfrm>
            <a:off x="9154980" y="1295078"/>
            <a:ext cx="768927" cy="3878"/>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6EA68CA1-2A88-353E-A322-1039F8740E66}"/>
              </a:ext>
            </a:extLst>
          </p:cNvPr>
          <p:cNvCxnSpPr>
            <a:cxnSpLocks/>
            <a:stCxn id="66" idx="3"/>
            <a:endCxn id="45" idx="1"/>
          </p:cNvCxnSpPr>
          <p:nvPr/>
        </p:nvCxnSpPr>
        <p:spPr>
          <a:xfrm flipV="1">
            <a:off x="6866970" y="3456649"/>
            <a:ext cx="1898379" cy="195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68021EF3-BA8D-ABFD-D4EE-E771654E25DF}"/>
              </a:ext>
            </a:extLst>
          </p:cNvPr>
          <p:cNvCxnSpPr>
            <a:cxnSpLocks/>
            <a:stCxn id="50" idx="3"/>
            <a:endCxn id="52" idx="1"/>
          </p:cNvCxnSpPr>
          <p:nvPr/>
        </p:nvCxnSpPr>
        <p:spPr>
          <a:xfrm flipV="1">
            <a:off x="2040704" y="4668184"/>
            <a:ext cx="390941" cy="6666"/>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614F0F15-6C47-C067-7CD1-A3196A8A0BAA}"/>
              </a:ext>
            </a:extLst>
          </p:cNvPr>
          <p:cNvCxnSpPr>
            <a:cxnSpLocks/>
            <a:stCxn id="52" idx="3"/>
            <a:endCxn id="53" idx="1"/>
          </p:cNvCxnSpPr>
          <p:nvPr/>
        </p:nvCxnSpPr>
        <p:spPr>
          <a:xfrm>
            <a:off x="4066989" y="4668184"/>
            <a:ext cx="359746" cy="351"/>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DB182AF9-DD9F-F0EE-0544-A6B9CEA942C0}"/>
              </a:ext>
            </a:extLst>
          </p:cNvPr>
          <p:cNvCxnSpPr>
            <a:cxnSpLocks/>
            <a:stCxn id="53" idx="3"/>
            <a:endCxn id="54" idx="1"/>
          </p:cNvCxnSpPr>
          <p:nvPr/>
        </p:nvCxnSpPr>
        <p:spPr>
          <a:xfrm flipV="1">
            <a:off x="6062079" y="4668013"/>
            <a:ext cx="514596" cy="522"/>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4FD4E3DB-1E75-ACAC-C3CF-EC1C50C8CDD6}"/>
              </a:ext>
            </a:extLst>
          </p:cNvPr>
          <p:cNvCxnSpPr>
            <a:cxnSpLocks/>
            <a:stCxn id="54" idx="3"/>
            <a:endCxn id="55" idx="1"/>
          </p:cNvCxnSpPr>
          <p:nvPr/>
        </p:nvCxnSpPr>
        <p:spPr>
          <a:xfrm flipV="1">
            <a:off x="7952328" y="4658181"/>
            <a:ext cx="476865" cy="9832"/>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55A6437A-982D-C853-E86A-5B42F4752B9F}"/>
              </a:ext>
            </a:extLst>
          </p:cNvPr>
          <p:cNvCxnSpPr>
            <a:cxnSpLocks/>
            <a:stCxn id="55" idx="3"/>
            <a:endCxn id="56" idx="1"/>
          </p:cNvCxnSpPr>
          <p:nvPr/>
        </p:nvCxnSpPr>
        <p:spPr>
          <a:xfrm>
            <a:off x="9899116" y="4658181"/>
            <a:ext cx="335589" cy="0"/>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490A458E-AC61-0C1F-624B-E8E7573010C0}"/>
              </a:ext>
            </a:extLst>
          </p:cNvPr>
          <p:cNvCxnSpPr>
            <a:cxnSpLocks/>
            <a:stCxn id="39" idx="3"/>
            <a:endCxn id="41" idx="1"/>
          </p:cNvCxnSpPr>
          <p:nvPr/>
        </p:nvCxnSpPr>
        <p:spPr>
          <a:xfrm>
            <a:off x="2040704" y="2738772"/>
            <a:ext cx="926695"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D32CBD42-E481-ACD8-33FC-02C89C7EFA1D}"/>
              </a:ext>
            </a:extLst>
          </p:cNvPr>
          <p:cNvCxnSpPr>
            <a:cxnSpLocks/>
            <a:stCxn id="65" idx="0"/>
            <a:endCxn id="70" idx="2"/>
          </p:cNvCxnSpPr>
          <p:nvPr/>
        </p:nvCxnSpPr>
        <p:spPr>
          <a:xfrm flipH="1" flipV="1">
            <a:off x="8491303" y="1532334"/>
            <a:ext cx="1" cy="69940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4BB95E2-1EF9-CFCE-1799-B886AB271305}"/>
              </a:ext>
            </a:extLst>
          </p:cNvPr>
          <p:cNvSpPr txBox="1"/>
          <p:nvPr/>
        </p:nvSpPr>
        <p:spPr>
          <a:xfrm>
            <a:off x="193862" y="5875670"/>
            <a:ext cx="994285" cy="338554"/>
          </a:xfrm>
          <a:prstGeom prst="rect">
            <a:avLst/>
          </a:prstGeom>
          <a:noFill/>
        </p:spPr>
        <p:txBody>
          <a:bodyPr wrap="square" rtlCol="0">
            <a:spAutoFit/>
          </a:bodyPr>
          <a:lstStyle/>
          <a:p>
            <a:r>
              <a:rPr lang="en-US" sz="800" dirty="0"/>
              <a:t>Draft completed on 05 12 2025 19 10</a:t>
            </a:r>
          </a:p>
        </p:txBody>
      </p:sp>
      <p:sp>
        <p:nvSpPr>
          <p:cNvPr id="7" name="TextBox 6">
            <a:extLst>
              <a:ext uri="{FF2B5EF4-FFF2-40B4-BE49-F238E27FC236}">
                <a16:creationId xmlns:a16="http://schemas.microsoft.com/office/drawing/2014/main" id="{B9C21D3A-58DA-D63C-2A9D-FDC9B63B64E4}"/>
              </a:ext>
            </a:extLst>
          </p:cNvPr>
          <p:cNvSpPr txBox="1"/>
          <p:nvPr/>
        </p:nvSpPr>
        <p:spPr>
          <a:xfrm>
            <a:off x="2000681" y="5983123"/>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4" name="TextBox 3">
            <a:extLst>
              <a:ext uri="{FF2B5EF4-FFF2-40B4-BE49-F238E27FC236}">
                <a16:creationId xmlns:a16="http://schemas.microsoft.com/office/drawing/2014/main" id="{F68BA11A-DDBF-A177-9F72-602189805361}"/>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25 12 28 0800</a:t>
            </a:r>
          </a:p>
        </p:txBody>
      </p:sp>
      <p:sp>
        <p:nvSpPr>
          <p:cNvPr id="2" name="-D2. Orig_Ord_Knwn">
            <a:extLst>
              <a:ext uri="{FF2B5EF4-FFF2-40B4-BE49-F238E27FC236}">
                <a16:creationId xmlns:a16="http://schemas.microsoft.com/office/drawing/2014/main" id="{A6E552E7-7C1E-7239-235B-1E74F39B0DCD}"/>
              </a:ext>
            </a:extLst>
          </p:cNvPr>
          <p:cNvSpPr>
            <a:spLocks noGrp="1"/>
          </p:cNvSpPr>
          <p:nvPr>
            <p:ph type="title"/>
          </p:nvPr>
        </p:nvSpPr>
        <p:spPr>
          <a:xfrm>
            <a:off x="838200" y="314871"/>
            <a:ext cx="10515600" cy="428753"/>
          </a:xfrm>
        </p:spPr>
        <p:txBody>
          <a:bodyPr>
            <a:noAutofit/>
          </a:bodyPr>
          <a:lstStyle/>
          <a:p>
            <a:pPr algn="ctr"/>
            <a:r>
              <a:rPr lang="en-US" sz="1600" b="1" dirty="0"/>
              <a:t>D2. Is Original Order Known– Startup SOP</a:t>
            </a:r>
          </a:p>
        </p:txBody>
      </p:sp>
    </p:spTree>
    <p:extLst>
      <p:ext uri="{BB962C8B-B14F-4D97-AF65-F5344CB8AC3E}">
        <p14:creationId xmlns:p14="http://schemas.microsoft.com/office/powerpoint/2010/main" val="10862205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C8129-24C3-4295-FD85-03D8FE649D9D}"/>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F69CA101-658E-CB02-9C16-E929709005FD}"/>
              </a:ext>
            </a:extLst>
          </p:cNvPr>
          <p:cNvSpPr/>
          <p:nvPr/>
        </p:nvSpPr>
        <p:spPr>
          <a:xfrm>
            <a:off x="4758203" y="851945"/>
            <a:ext cx="1068506" cy="1327661"/>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sp>
        <p:nvSpPr>
          <p:cNvPr id="39" name="Flowchart: Process 38">
            <a:extLst>
              <a:ext uri="{FF2B5EF4-FFF2-40B4-BE49-F238E27FC236}">
                <a16:creationId xmlns:a16="http://schemas.microsoft.com/office/drawing/2014/main" id="{04872A00-2A51-884F-93F9-C6541165D341}"/>
              </a:ext>
            </a:extLst>
          </p:cNvPr>
          <p:cNvSpPr/>
          <p:nvPr/>
        </p:nvSpPr>
        <p:spPr>
          <a:xfrm>
            <a:off x="713349" y="2526777"/>
            <a:ext cx="1327355" cy="42399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 Customer Calls For Start-Up</a:t>
            </a:r>
          </a:p>
        </p:txBody>
      </p:sp>
      <p:sp>
        <p:nvSpPr>
          <p:cNvPr id="41" name="Flowchart: Decision 40">
            <a:extLst>
              <a:ext uri="{FF2B5EF4-FFF2-40B4-BE49-F238E27FC236}">
                <a16:creationId xmlns:a16="http://schemas.microsoft.com/office/drawing/2014/main" id="{0EA40805-891A-BE4D-EE8E-C2FAE7C465E3}"/>
              </a:ext>
            </a:extLst>
          </p:cNvPr>
          <p:cNvSpPr/>
          <p:nvPr/>
        </p:nvSpPr>
        <p:spPr>
          <a:xfrm>
            <a:off x="2967399" y="2556048"/>
            <a:ext cx="570871" cy="365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D1</a:t>
            </a:r>
          </a:p>
        </p:txBody>
      </p:sp>
      <p:sp>
        <p:nvSpPr>
          <p:cNvPr id="42" name="Flowchart: Process 41">
            <a:extLst>
              <a:ext uri="{FF2B5EF4-FFF2-40B4-BE49-F238E27FC236}">
                <a16:creationId xmlns:a16="http://schemas.microsoft.com/office/drawing/2014/main" id="{705869E1-5210-ECF4-EBEA-BDFD10C205CB}"/>
              </a:ext>
            </a:extLst>
          </p:cNvPr>
          <p:cNvSpPr/>
          <p:nvPr/>
        </p:nvSpPr>
        <p:spPr>
          <a:xfrm>
            <a:off x="3323024" y="2497204"/>
            <a:ext cx="224605" cy="17944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43" name="Flowchart: Process 42">
            <a:extLst>
              <a:ext uri="{FF2B5EF4-FFF2-40B4-BE49-F238E27FC236}">
                <a16:creationId xmlns:a16="http://schemas.microsoft.com/office/drawing/2014/main" id="{5BCA08BE-41DE-14E0-F80E-FE5B24542F05}"/>
              </a:ext>
            </a:extLst>
          </p:cNvPr>
          <p:cNvSpPr/>
          <p:nvPr/>
        </p:nvSpPr>
        <p:spPr>
          <a:xfrm>
            <a:off x="2958041" y="2786835"/>
            <a:ext cx="224605" cy="17944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sp>
        <p:nvSpPr>
          <p:cNvPr id="44" name="TextBox 43">
            <a:extLst>
              <a:ext uri="{FF2B5EF4-FFF2-40B4-BE49-F238E27FC236}">
                <a16:creationId xmlns:a16="http://schemas.microsoft.com/office/drawing/2014/main" id="{C5BD24B2-9FAC-2DB9-8DAF-CC5374B5D01B}"/>
              </a:ext>
            </a:extLst>
          </p:cNvPr>
          <p:cNvSpPr txBox="1"/>
          <p:nvPr/>
        </p:nvSpPr>
        <p:spPr>
          <a:xfrm>
            <a:off x="2332800" y="2331480"/>
            <a:ext cx="948813" cy="369332"/>
          </a:xfrm>
          <a:prstGeom prst="rect">
            <a:avLst/>
          </a:prstGeom>
          <a:noFill/>
        </p:spPr>
        <p:txBody>
          <a:bodyPr wrap="square" rtlCol="0">
            <a:spAutoFit/>
          </a:bodyPr>
          <a:lstStyle/>
          <a:p>
            <a:r>
              <a:rPr lang="en-US" sz="900" dirty="0"/>
              <a:t>Q1.Did We Sell The Generator? </a:t>
            </a:r>
          </a:p>
        </p:txBody>
      </p:sp>
      <p:sp>
        <p:nvSpPr>
          <p:cNvPr id="45" name="TextBox 44">
            <a:extLst>
              <a:ext uri="{FF2B5EF4-FFF2-40B4-BE49-F238E27FC236}">
                <a16:creationId xmlns:a16="http://schemas.microsoft.com/office/drawing/2014/main" id="{BB08EB7A-854C-4FE2-DE1B-44FFEA849B78}"/>
              </a:ext>
            </a:extLst>
          </p:cNvPr>
          <p:cNvSpPr txBox="1"/>
          <p:nvPr/>
        </p:nvSpPr>
        <p:spPr>
          <a:xfrm>
            <a:off x="8765349" y="3220771"/>
            <a:ext cx="1721329"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S7. Service Order Process at charge SOP</a:t>
            </a:r>
          </a:p>
        </p:txBody>
      </p:sp>
      <p:cxnSp>
        <p:nvCxnSpPr>
          <p:cNvPr id="46" name="Connector: Elbow 45">
            <a:extLst>
              <a:ext uri="{FF2B5EF4-FFF2-40B4-BE49-F238E27FC236}">
                <a16:creationId xmlns:a16="http://schemas.microsoft.com/office/drawing/2014/main" id="{94DAC1B7-9A05-FA03-DCA0-D8613C4CFD3B}"/>
              </a:ext>
            </a:extLst>
          </p:cNvPr>
          <p:cNvCxnSpPr>
            <a:cxnSpLocks/>
            <a:stCxn id="41" idx="2"/>
            <a:endCxn id="66" idx="1"/>
          </p:cNvCxnSpPr>
          <p:nvPr/>
        </p:nvCxnSpPr>
        <p:spPr>
          <a:xfrm rot="16200000" flipH="1">
            <a:off x="4188391" y="1985939"/>
            <a:ext cx="537107" cy="2408219"/>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 name="Flowchart: Predefined Process 46">
            <a:extLst>
              <a:ext uri="{FF2B5EF4-FFF2-40B4-BE49-F238E27FC236}">
                <a16:creationId xmlns:a16="http://schemas.microsoft.com/office/drawing/2014/main" id="{D854A4DB-8C99-2432-D6F8-083EE40C0024}"/>
              </a:ext>
            </a:extLst>
          </p:cNvPr>
          <p:cNvSpPr/>
          <p:nvPr/>
        </p:nvSpPr>
        <p:spPr>
          <a:xfrm>
            <a:off x="5923071" y="1070001"/>
            <a:ext cx="1135627"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S2. Order Inquiry </a:t>
            </a:r>
          </a:p>
        </p:txBody>
      </p:sp>
      <p:cxnSp>
        <p:nvCxnSpPr>
          <p:cNvPr id="48" name="Connector: Elbow 47">
            <a:extLst>
              <a:ext uri="{FF2B5EF4-FFF2-40B4-BE49-F238E27FC236}">
                <a16:creationId xmlns:a16="http://schemas.microsoft.com/office/drawing/2014/main" id="{21B3CBFA-71E9-230E-DEAB-504F1E023252}"/>
              </a:ext>
            </a:extLst>
          </p:cNvPr>
          <p:cNvCxnSpPr>
            <a:cxnSpLocks/>
            <a:stCxn id="41" idx="0"/>
            <a:endCxn id="60" idx="1"/>
          </p:cNvCxnSpPr>
          <p:nvPr/>
        </p:nvCxnSpPr>
        <p:spPr>
          <a:xfrm rot="5400000" flipH="1" flipV="1">
            <a:off x="3561610" y="1589667"/>
            <a:ext cx="657606" cy="127515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Flowchart: Predefined Process 48">
            <a:extLst>
              <a:ext uri="{FF2B5EF4-FFF2-40B4-BE49-F238E27FC236}">
                <a16:creationId xmlns:a16="http://schemas.microsoft.com/office/drawing/2014/main" id="{060BCACA-B4DD-E284-DF78-9E758A8F8539}"/>
              </a:ext>
            </a:extLst>
          </p:cNvPr>
          <p:cNvSpPr/>
          <p:nvPr/>
        </p:nvSpPr>
        <p:spPr>
          <a:xfrm>
            <a:off x="9923907" y="1064419"/>
            <a:ext cx="1471216"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S4. Create Start-Up Incident</a:t>
            </a:r>
          </a:p>
        </p:txBody>
      </p:sp>
      <p:sp>
        <p:nvSpPr>
          <p:cNvPr id="50" name="Flowchart: Predefined Process 49">
            <a:extLst>
              <a:ext uri="{FF2B5EF4-FFF2-40B4-BE49-F238E27FC236}">
                <a16:creationId xmlns:a16="http://schemas.microsoft.com/office/drawing/2014/main" id="{8BDB9B39-8602-DA92-A992-D3DD12AD4EFC}"/>
              </a:ext>
            </a:extLst>
          </p:cNvPr>
          <p:cNvSpPr/>
          <p:nvPr/>
        </p:nvSpPr>
        <p:spPr>
          <a:xfrm>
            <a:off x="405360" y="4455642"/>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S8. Add Start-Up Notes</a:t>
            </a:r>
          </a:p>
        </p:txBody>
      </p:sp>
      <p:cxnSp>
        <p:nvCxnSpPr>
          <p:cNvPr id="51" name="Connector: Elbow 50">
            <a:extLst>
              <a:ext uri="{FF2B5EF4-FFF2-40B4-BE49-F238E27FC236}">
                <a16:creationId xmlns:a16="http://schemas.microsoft.com/office/drawing/2014/main" id="{96C3D85A-1D1C-E37B-8D0B-D20706B87B6E}"/>
              </a:ext>
            </a:extLst>
          </p:cNvPr>
          <p:cNvCxnSpPr>
            <a:cxnSpLocks/>
            <a:stCxn id="49" idx="2"/>
            <a:endCxn id="50" idx="0"/>
          </p:cNvCxnSpPr>
          <p:nvPr/>
        </p:nvCxnSpPr>
        <p:spPr>
          <a:xfrm rot="5400000">
            <a:off x="4480200" y="-1723674"/>
            <a:ext cx="2922149" cy="9436483"/>
          </a:xfrm>
          <a:prstGeom prst="bentConnector3">
            <a:avLst>
              <a:gd name="adj1" fmla="val 87942"/>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52" name="Flowchart: Predefined Process 51">
            <a:extLst>
              <a:ext uri="{FF2B5EF4-FFF2-40B4-BE49-F238E27FC236}">
                <a16:creationId xmlns:a16="http://schemas.microsoft.com/office/drawing/2014/main" id="{394B78C5-FFA4-81C8-FAE7-93B44796D9F6}"/>
              </a:ext>
            </a:extLst>
          </p:cNvPr>
          <p:cNvSpPr/>
          <p:nvPr/>
        </p:nvSpPr>
        <p:spPr>
          <a:xfrm>
            <a:off x="2431645" y="4448976"/>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S9. Add Line</a:t>
            </a:r>
          </a:p>
        </p:txBody>
      </p:sp>
      <p:sp>
        <p:nvSpPr>
          <p:cNvPr id="53" name="Flowchart: Predefined Process 52">
            <a:extLst>
              <a:ext uri="{FF2B5EF4-FFF2-40B4-BE49-F238E27FC236}">
                <a16:creationId xmlns:a16="http://schemas.microsoft.com/office/drawing/2014/main" id="{4CEAAC6A-06FE-F698-F596-F966EE325767}"/>
              </a:ext>
            </a:extLst>
          </p:cNvPr>
          <p:cNvSpPr/>
          <p:nvPr/>
        </p:nvSpPr>
        <p:spPr>
          <a:xfrm>
            <a:off x="4426735" y="4449327"/>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S10. Convert to SRO and Schedule</a:t>
            </a:r>
          </a:p>
        </p:txBody>
      </p:sp>
      <p:sp>
        <p:nvSpPr>
          <p:cNvPr id="54" name="Flowchart: Predefined Process 53">
            <a:extLst>
              <a:ext uri="{FF2B5EF4-FFF2-40B4-BE49-F238E27FC236}">
                <a16:creationId xmlns:a16="http://schemas.microsoft.com/office/drawing/2014/main" id="{AC266D21-F4AF-6F2E-F501-A2B254345AE1}"/>
              </a:ext>
            </a:extLst>
          </p:cNvPr>
          <p:cNvSpPr/>
          <p:nvPr/>
        </p:nvSpPr>
        <p:spPr>
          <a:xfrm>
            <a:off x="6576675" y="4448804"/>
            <a:ext cx="1375653" cy="438417"/>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S11. Print Pick Ticket</a:t>
            </a:r>
          </a:p>
        </p:txBody>
      </p:sp>
      <p:sp>
        <p:nvSpPr>
          <p:cNvPr id="55" name="Flowchart: Predefined Process 54">
            <a:extLst>
              <a:ext uri="{FF2B5EF4-FFF2-40B4-BE49-F238E27FC236}">
                <a16:creationId xmlns:a16="http://schemas.microsoft.com/office/drawing/2014/main" id="{48E9971F-CB4A-0A84-2AA5-18E2CB7E9525}"/>
              </a:ext>
            </a:extLst>
          </p:cNvPr>
          <p:cNvSpPr/>
          <p:nvPr/>
        </p:nvSpPr>
        <p:spPr>
          <a:xfrm>
            <a:off x="8429193" y="4438973"/>
            <a:ext cx="1469923"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S12. Shipping Feedback Ship </a:t>
            </a:r>
          </a:p>
        </p:txBody>
      </p:sp>
      <p:sp>
        <p:nvSpPr>
          <p:cNvPr id="56" name="Flowchart: Process 55">
            <a:extLst>
              <a:ext uri="{FF2B5EF4-FFF2-40B4-BE49-F238E27FC236}">
                <a16:creationId xmlns:a16="http://schemas.microsoft.com/office/drawing/2014/main" id="{E43DA07E-07D8-B87A-A6C8-321393E7D33E}"/>
              </a:ext>
            </a:extLst>
          </p:cNvPr>
          <p:cNvSpPr/>
          <p:nvPr/>
        </p:nvSpPr>
        <p:spPr>
          <a:xfrm>
            <a:off x="10234705" y="4422303"/>
            <a:ext cx="1327355" cy="47175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S13. Tech Performs Start-Up</a:t>
            </a:r>
          </a:p>
        </p:txBody>
      </p:sp>
      <p:sp>
        <p:nvSpPr>
          <p:cNvPr id="57" name="Flowchart: Predefined Process 56">
            <a:extLst>
              <a:ext uri="{FF2B5EF4-FFF2-40B4-BE49-F238E27FC236}">
                <a16:creationId xmlns:a16="http://schemas.microsoft.com/office/drawing/2014/main" id="{7913F548-E775-6DD0-D55B-A013B5A0F356}"/>
              </a:ext>
            </a:extLst>
          </p:cNvPr>
          <p:cNvSpPr/>
          <p:nvPr/>
        </p:nvSpPr>
        <p:spPr>
          <a:xfrm>
            <a:off x="5661054" y="5340892"/>
            <a:ext cx="1469923"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S14. Register A Unit</a:t>
            </a:r>
          </a:p>
        </p:txBody>
      </p:sp>
      <p:cxnSp>
        <p:nvCxnSpPr>
          <p:cNvPr id="58" name="Connector: Elbow 57">
            <a:extLst>
              <a:ext uri="{FF2B5EF4-FFF2-40B4-BE49-F238E27FC236}">
                <a16:creationId xmlns:a16="http://schemas.microsoft.com/office/drawing/2014/main" id="{C110159E-014F-BB53-9130-17A14F860148}"/>
              </a:ext>
            </a:extLst>
          </p:cNvPr>
          <p:cNvCxnSpPr>
            <a:cxnSpLocks/>
            <a:stCxn id="56" idx="2"/>
            <a:endCxn id="57" idx="0"/>
          </p:cNvCxnSpPr>
          <p:nvPr/>
        </p:nvCxnSpPr>
        <p:spPr>
          <a:xfrm rot="5400000">
            <a:off x="8423783" y="2866292"/>
            <a:ext cx="446834" cy="4502367"/>
          </a:xfrm>
          <a:prstGeom prst="bentConnector3">
            <a:avLst>
              <a:gd name="adj1" fmla="val 50000"/>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60" name="Flowchart: Decision 59">
            <a:extLst>
              <a:ext uri="{FF2B5EF4-FFF2-40B4-BE49-F238E27FC236}">
                <a16:creationId xmlns:a16="http://schemas.microsoft.com/office/drawing/2014/main" id="{68A5BE43-41A9-0333-41E1-751BDE61F3B3}"/>
              </a:ext>
            </a:extLst>
          </p:cNvPr>
          <p:cNvSpPr/>
          <p:nvPr/>
        </p:nvSpPr>
        <p:spPr>
          <a:xfrm>
            <a:off x="4527992" y="1724244"/>
            <a:ext cx="435655" cy="34839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D2</a:t>
            </a:r>
          </a:p>
        </p:txBody>
      </p:sp>
      <p:sp>
        <p:nvSpPr>
          <p:cNvPr id="61" name="Flowchart: Process 60">
            <a:extLst>
              <a:ext uri="{FF2B5EF4-FFF2-40B4-BE49-F238E27FC236}">
                <a16:creationId xmlns:a16="http://schemas.microsoft.com/office/drawing/2014/main" id="{9A2753E5-CF42-2031-651E-5FAE7FB170CE}"/>
              </a:ext>
            </a:extLst>
          </p:cNvPr>
          <p:cNvSpPr/>
          <p:nvPr/>
        </p:nvSpPr>
        <p:spPr>
          <a:xfrm>
            <a:off x="4799383" y="1668146"/>
            <a:ext cx="171405" cy="17107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62" name="Flowchart: Process 61">
            <a:extLst>
              <a:ext uri="{FF2B5EF4-FFF2-40B4-BE49-F238E27FC236}">
                <a16:creationId xmlns:a16="http://schemas.microsoft.com/office/drawing/2014/main" id="{476D0D34-EA1C-9BBC-5E78-8BC56399D5C0}"/>
              </a:ext>
            </a:extLst>
          </p:cNvPr>
          <p:cNvSpPr/>
          <p:nvPr/>
        </p:nvSpPr>
        <p:spPr>
          <a:xfrm>
            <a:off x="4520850" y="1944263"/>
            <a:ext cx="171405" cy="17107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sp>
        <p:nvSpPr>
          <p:cNvPr id="63" name="TextBox 62">
            <a:extLst>
              <a:ext uri="{FF2B5EF4-FFF2-40B4-BE49-F238E27FC236}">
                <a16:creationId xmlns:a16="http://schemas.microsoft.com/office/drawing/2014/main" id="{A429347D-7118-D82E-AD55-7D14DBAAC198}"/>
              </a:ext>
            </a:extLst>
          </p:cNvPr>
          <p:cNvSpPr txBox="1"/>
          <p:nvPr/>
        </p:nvSpPr>
        <p:spPr>
          <a:xfrm>
            <a:off x="3882757" y="1378103"/>
            <a:ext cx="948813" cy="507831"/>
          </a:xfrm>
          <a:prstGeom prst="rect">
            <a:avLst/>
          </a:prstGeom>
          <a:noFill/>
        </p:spPr>
        <p:txBody>
          <a:bodyPr wrap="square" rtlCol="0">
            <a:spAutoFit/>
          </a:bodyPr>
          <a:lstStyle/>
          <a:p>
            <a:r>
              <a:rPr lang="en-US" sz="900" dirty="0"/>
              <a:t>Do You Know The Original Order #?</a:t>
            </a:r>
          </a:p>
        </p:txBody>
      </p:sp>
      <p:cxnSp>
        <p:nvCxnSpPr>
          <p:cNvPr id="64" name="Connector: Elbow 63">
            <a:extLst>
              <a:ext uri="{FF2B5EF4-FFF2-40B4-BE49-F238E27FC236}">
                <a16:creationId xmlns:a16="http://schemas.microsoft.com/office/drawing/2014/main" id="{A19B1C2D-5EA4-3539-2CF3-5F4D92D8D726}"/>
              </a:ext>
            </a:extLst>
          </p:cNvPr>
          <p:cNvCxnSpPr>
            <a:cxnSpLocks/>
            <a:stCxn id="60" idx="0"/>
            <a:endCxn id="47" idx="1"/>
          </p:cNvCxnSpPr>
          <p:nvPr/>
        </p:nvCxnSpPr>
        <p:spPr>
          <a:xfrm rot="5400000" flipH="1" flipV="1">
            <a:off x="5124592" y="925766"/>
            <a:ext cx="419706" cy="117725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5" name="Flowchart: Predefined Process 64">
            <a:extLst>
              <a:ext uri="{FF2B5EF4-FFF2-40B4-BE49-F238E27FC236}">
                <a16:creationId xmlns:a16="http://schemas.microsoft.com/office/drawing/2014/main" id="{E454C8EB-89F5-236E-12E3-93D19A996ACD}"/>
              </a:ext>
            </a:extLst>
          </p:cNvPr>
          <p:cNvSpPr/>
          <p:nvPr/>
        </p:nvSpPr>
        <p:spPr>
          <a:xfrm>
            <a:off x="7519201" y="2231738"/>
            <a:ext cx="1944205"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S5. Order Inquiry Using Serial Number</a:t>
            </a:r>
          </a:p>
        </p:txBody>
      </p:sp>
      <p:sp>
        <p:nvSpPr>
          <p:cNvPr id="66" name="TextBox 65">
            <a:extLst>
              <a:ext uri="{FF2B5EF4-FFF2-40B4-BE49-F238E27FC236}">
                <a16:creationId xmlns:a16="http://schemas.microsoft.com/office/drawing/2014/main" id="{E3C53B85-400E-F83C-7E60-06CF99146525}"/>
              </a:ext>
            </a:extLst>
          </p:cNvPr>
          <p:cNvSpPr txBox="1"/>
          <p:nvPr/>
        </p:nvSpPr>
        <p:spPr>
          <a:xfrm>
            <a:off x="5661054" y="3222725"/>
            <a:ext cx="1205916"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S6. Create A New Unit SOP</a:t>
            </a:r>
          </a:p>
        </p:txBody>
      </p:sp>
      <p:cxnSp>
        <p:nvCxnSpPr>
          <p:cNvPr id="67" name="Connector: Elbow 66">
            <a:extLst>
              <a:ext uri="{FF2B5EF4-FFF2-40B4-BE49-F238E27FC236}">
                <a16:creationId xmlns:a16="http://schemas.microsoft.com/office/drawing/2014/main" id="{CD123CAA-9CEB-25F9-D06B-327E189E906A}"/>
              </a:ext>
            </a:extLst>
          </p:cNvPr>
          <p:cNvCxnSpPr>
            <a:cxnSpLocks/>
            <a:stCxn id="60" idx="2"/>
            <a:endCxn id="65" idx="1"/>
          </p:cNvCxnSpPr>
          <p:nvPr/>
        </p:nvCxnSpPr>
        <p:spPr>
          <a:xfrm rot="16200000" flipH="1">
            <a:off x="5935693" y="882766"/>
            <a:ext cx="393635" cy="2773381"/>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0" name="Flowchart: Process 69">
            <a:extLst>
              <a:ext uri="{FF2B5EF4-FFF2-40B4-BE49-F238E27FC236}">
                <a16:creationId xmlns:a16="http://schemas.microsoft.com/office/drawing/2014/main" id="{0B714DE9-4F3F-857A-AD88-563972135F34}"/>
              </a:ext>
            </a:extLst>
          </p:cNvPr>
          <p:cNvSpPr/>
          <p:nvPr/>
        </p:nvSpPr>
        <p:spPr>
          <a:xfrm>
            <a:off x="7827625" y="1057821"/>
            <a:ext cx="1327355" cy="47451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S3. Check With AR To Verify Payment In Full</a:t>
            </a:r>
          </a:p>
        </p:txBody>
      </p:sp>
      <p:cxnSp>
        <p:nvCxnSpPr>
          <p:cNvPr id="71" name="Straight Arrow Connector 70">
            <a:extLst>
              <a:ext uri="{FF2B5EF4-FFF2-40B4-BE49-F238E27FC236}">
                <a16:creationId xmlns:a16="http://schemas.microsoft.com/office/drawing/2014/main" id="{4622270F-82C9-9EB6-7CB3-468B81123418}"/>
              </a:ext>
            </a:extLst>
          </p:cNvPr>
          <p:cNvCxnSpPr>
            <a:cxnSpLocks/>
            <a:stCxn id="47" idx="3"/>
            <a:endCxn id="70" idx="1"/>
          </p:cNvCxnSpPr>
          <p:nvPr/>
        </p:nvCxnSpPr>
        <p:spPr>
          <a:xfrm flipV="1">
            <a:off x="7058698" y="1295078"/>
            <a:ext cx="768927" cy="946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333286F0-A005-E67E-C76D-B7E8E0ACC777}"/>
              </a:ext>
            </a:extLst>
          </p:cNvPr>
          <p:cNvCxnSpPr>
            <a:cxnSpLocks/>
            <a:stCxn id="70" idx="3"/>
            <a:endCxn id="49" idx="1"/>
          </p:cNvCxnSpPr>
          <p:nvPr/>
        </p:nvCxnSpPr>
        <p:spPr>
          <a:xfrm>
            <a:off x="9154980" y="1295078"/>
            <a:ext cx="768927" cy="3878"/>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54A11550-04A6-4817-7D58-A8BF7E450B67}"/>
              </a:ext>
            </a:extLst>
          </p:cNvPr>
          <p:cNvCxnSpPr>
            <a:cxnSpLocks/>
            <a:stCxn id="66" idx="3"/>
            <a:endCxn id="45" idx="1"/>
          </p:cNvCxnSpPr>
          <p:nvPr/>
        </p:nvCxnSpPr>
        <p:spPr>
          <a:xfrm flipV="1">
            <a:off x="6866970" y="3456649"/>
            <a:ext cx="1898379" cy="195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5E47F4C1-8A26-E918-FEF2-D5CF6EE59BDE}"/>
              </a:ext>
            </a:extLst>
          </p:cNvPr>
          <p:cNvCxnSpPr>
            <a:cxnSpLocks/>
            <a:stCxn id="50" idx="3"/>
            <a:endCxn id="52" idx="1"/>
          </p:cNvCxnSpPr>
          <p:nvPr/>
        </p:nvCxnSpPr>
        <p:spPr>
          <a:xfrm flipV="1">
            <a:off x="2040704" y="4668184"/>
            <a:ext cx="390941" cy="6666"/>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12A1956A-F052-921C-A28B-B724AFA87E14}"/>
              </a:ext>
            </a:extLst>
          </p:cNvPr>
          <p:cNvCxnSpPr>
            <a:cxnSpLocks/>
            <a:stCxn id="52" idx="3"/>
            <a:endCxn id="53" idx="1"/>
          </p:cNvCxnSpPr>
          <p:nvPr/>
        </p:nvCxnSpPr>
        <p:spPr>
          <a:xfrm>
            <a:off x="4066989" y="4668184"/>
            <a:ext cx="359746" cy="351"/>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DD065BE3-04FD-E5DE-6F85-499D9A06605A}"/>
              </a:ext>
            </a:extLst>
          </p:cNvPr>
          <p:cNvCxnSpPr>
            <a:cxnSpLocks/>
            <a:stCxn id="53" idx="3"/>
            <a:endCxn id="54" idx="1"/>
          </p:cNvCxnSpPr>
          <p:nvPr/>
        </p:nvCxnSpPr>
        <p:spPr>
          <a:xfrm flipV="1">
            <a:off x="6062079" y="4668013"/>
            <a:ext cx="514596" cy="522"/>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AEC5ED68-5E1C-0A32-FBD7-A85579478427}"/>
              </a:ext>
            </a:extLst>
          </p:cNvPr>
          <p:cNvCxnSpPr>
            <a:cxnSpLocks/>
            <a:stCxn id="54" idx="3"/>
            <a:endCxn id="55" idx="1"/>
          </p:cNvCxnSpPr>
          <p:nvPr/>
        </p:nvCxnSpPr>
        <p:spPr>
          <a:xfrm flipV="1">
            <a:off x="7952328" y="4658181"/>
            <a:ext cx="476865" cy="9832"/>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D040AE06-3DD8-D2FF-365D-7588DF7D46AE}"/>
              </a:ext>
            </a:extLst>
          </p:cNvPr>
          <p:cNvCxnSpPr>
            <a:cxnSpLocks/>
            <a:stCxn id="55" idx="3"/>
            <a:endCxn id="56" idx="1"/>
          </p:cNvCxnSpPr>
          <p:nvPr/>
        </p:nvCxnSpPr>
        <p:spPr>
          <a:xfrm>
            <a:off x="9899116" y="4658181"/>
            <a:ext cx="335589" cy="0"/>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D038E0EA-C230-D938-407F-035803D326A3}"/>
              </a:ext>
            </a:extLst>
          </p:cNvPr>
          <p:cNvCxnSpPr>
            <a:cxnSpLocks/>
            <a:stCxn id="39" idx="3"/>
            <a:endCxn id="41" idx="1"/>
          </p:cNvCxnSpPr>
          <p:nvPr/>
        </p:nvCxnSpPr>
        <p:spPr>
          <a:xfrm>
            <a:off x="2040704" y="2738772"/>
            <a:ext cx="926695"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3601338F-2BC0-0A11-0268-90D93E6D56D9}"/>
              </a:ext>
            </a:extLst>
          </p:cNvPr>
          <p:cNvCxnSpPr>
            <a:cxnSpLocks/>
            <a:stCxn id="65" idx="0"/>
            <a:endCxn id="70" idx="2"/>
          </p:cNvCxnSpPr>
          <p:nvPr/>
        </p:nvCxnSpPr>
        <p:spPr>
          <a:xfrm flipH="1" flipV="1">
            <a:off x="8491303" y="1532334"/>
            <a:ext cx="1" cy="69940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7271774A-64DE-AC55-B563-5F92E777F768}"/>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05 12 2025 19 10</a:t>
            </a:r>
          </a:p>
        </p:txBody>
      </p:sp>
      <p:sp>
        <p:nvSpPr>
          <p:cNvPr id="7" name="TextBox 6">
            <a:extLst>
              <a:ext uri="{FF2B5EF4-FFF2-40B4-BE49-F238E27FC236}">
                <a16:creationId xmlns:a16="http://schemas.microsoft.com/office/drawing/2014/main" id="{F605EF1B-6CD0-ACCF-6126-FB0ECC04AD0B}"/>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4" name="TextBox 3">
            <a:extLst>
              <a:ext uri="{FF2B5EF4-FFF2-40B4-BE49-F238E27FC236}">
                <a16:creationId xmlns:a16="http://schemas.microsoft.com/office/drawing/2014/main" id="{26EA1AC1-28F4-E101-4FAE-6CD71726F3BD}"/>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25 12 28 0800</a:t>
            </a:r>
          </a:p>
        </p:txBody>
      </p:sp>
      <p:sp>
        <p:nvSpPr>
          <p:cNvPr id="2" name="-Y2. Ord_Num_know">
            <a:extLst>
              <a:ext uri="{FF2B5EF4-FFF2-40B4-BE49-F238E27FC236}">
                <a16:creationId xmlns:a16="http://schemas.microsoft.com/office/drawing/2014/main" id="{A2DA0440-0CFD-006B-51D4-DED7F03E2EC5}"/>
              </a:ext>
            </a:extLst>
          </p:cNvPr>
          <p:cNvSpPr>
            <a:spLocks noGrp="1"/>
          </p:cNvSpPr>
          <p:nvPr>
            <p:ph type="title"/>
          </p:nvPr>
        </p:nvSpPr>
        <p:spPr>
          <a:xfrm>
            <a:off x="838200" y="314871"/>
            <a:ext cx="10515600" cy="428753"/>
          </a:xfrm>
        </p:spPr>
        <p:txBody>
          <a:bodyPr>
            <a:noAutofit/>
          </a:bodyPr>
          <a:lstStyle/>
          <a:p>
            <a:pPr algn="ctr"/>
            <a:r>
              <a:rPr lang="en-US" sz="1600" b="1" dirty="0"/>
              <a:t>Y2. Order Number is known– Startup SOP</a:t>
            </a:r>
          </a:p>
        </p:txBody>
      </p:sp>
    </p:spTree>
    <p:extLst>
      <p:ext uri="{BB962C8B-B14F-4D97-AF65-F5344CB8AC3E}">
        <p14:creationId xmlns:p14="http://schemas.microsoft.com/office/powerpoint/2010/main" val="977296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1A3FE-E54C-75BA-D09D-AC94F9EE8B25}"/>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A4A08171-F5F4-CC17-1BD0-1948F49D1713}"/>
              </a:ext>
            </a:extLst>
          </p:cNvPr>
          <p:cNvSpPr/>
          <p:nvPr/>
        </p:nvSpPr>
        <p:spPr>
          <a:xfrm>
            <a:off x="5789505" y="861136"/>
            <a:ext cx="1470982" cy="1327661"/>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sp>
        <p:nvSpPr>
          <p:cNvPr id="39" name="Flowchart: Process 38">
            <a:extLst>
              <a:ext uri="{FF2B5EF4-FFF2-40B4-BE49-F238E27FC236}">
                <a16:creationId xmlns:a16="http://schemas.microsoft.com/office/drawing/2014/main" id="{F0FCDDE8-4378-6B84-56F4-469A964D26C3}"/>
              </a:ext>
            </a:extLst>
          </p:cNvPr>
          <p:cNvSpPr/>
          <p:nvPr/>
        </p:nvSpPr>
        <p:spPr>
          <a:xfrm>
            <a:off x="713349" y="2526777"/>
            <a:ext cx="1327355" cy="42399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 Customer Calls For Start-Up</a:t>
            </a:r>
          </a:p>
        </p:txBody>
      </p:sp>
      <p:sp>
        <p:nvSpPr>
          <p:cNvPr id="41" name="Flowchart: Decision 40">
            <a:extLst>
              <a:ext uri="{FF2B5EF4-FFF2-40B4-BE49-F238E27FC236}">
                <a16:creationId xmlns:a16="http://schemas.microsoft.com/office/drawing/2014/main" id="{5A7741C0-B6A5-CBCF-E533-DAB9E80ABFB9}"/>
              </a:ext>
            </a:extLst>
          </p:cNvPr>
          <p:cNvSpPr/>
          <p:nvPr/>
        </p:nvSpPr>
        <p:spPr>
          <a:xfrm>
            <a:off x="2967399" y="2556048"/>
            <a:ext cx="570871" cy="365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D1</a:t>
            </a:r>
          </a:p>
        </p:txBody>
      </p:sp>
      <p:sp>
        <p:nvSpPr>
          <p:cNvPr id="42" name="Flowchart: Process 41">
            <a:extLst>
              <a:ext uri="{FF2B5EF4-FFF2-40B4-BE49-F238E27FC236}">
                <a16:creationId xmlns:a16="http://schemas.microsoft.com/office/drawing/2014/main" id="{D4E27B0A-8236-6DEE-3350-62C2F7F52D0E}"/>
              </a:ext>
            </a:extLst>
          </p:cNvPr>
          <p:cNvSpPr/>
          <p:nvPr/>
        </p:nvSpPr>
        <p:spPr>
          <a:xfrm>
            <a:off x="3323024" y="2497204"/>
            <a:ext cx="224605" cy="17944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43" name="Flowchart: Process 42">
            <a:extLst>
              <a:ext uri="{FF2B5EF4-FFF2-40B4-BE49-F238E27FC236}">
                <a16:creationId xmlns:a16="http://schemas.microsoft.com/office/drawing/2014/main" id="{40FBFAEB-EE05-8150-9C79-47E72865B0C1}"/>
              </a:ext>
            </a:extLst>
          </p:cNvPr>
          <p:cNvSpPr/>
          <p:nvPr/>
        </p:nvSpPr>
        <p:spPr>
          <a:xfrm>
            <a:off x="2958041" y="2786835"/>
            <a:ext cx="224605" cy="17944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sp>
        <p:nvSpPr>
          <p:cNvPr id="44" name="TextBox 43">
            <a:extLst>
              <a:ext uri="{FF2B5EF4-FFF2-40B4-BE49-F238E27FC236}">
                <a16:creationId xmlns:a16="http://schemas.microsoft.com/office/drawing/2014/main" id="{A5CB7864-2BE6-6F8B-D793-4F7C0F981748}"/>
              </a:ext>
            </a:extLst>
          </p:cNvPr>
          <p:cNvSpPr txBox="1"/>
          <p:nvPr/>
        </p:nvSpPr>
        <p:spPr>
          <a:xfrm>
            <a:off x="2332800" y="2331480"/>
            <a:ext cx="948813" cy="369332"/>
          </a:xfrm>
          <a:prstGeom prst="rect">
            <a:avLst/>
          </a:prstGeom>
          <a:noFill/>
        </p:spPr>
        <p:txBody>
          <a:bodyPr wrap="square" rtlCol="0">
            <a:spAutoFit/>
          </a:bodyPr>
          <a:lstStyle/>
          <a:p>
            <a:r>
              <a:rPr lang="en-US" sz="900" dirty="0"/>
              <a:t>Q1.Did We Sell The Generator? </a:t>
            </a:r>
          </a:p>
        </p:txBody>
      </p:sp>
      <p:sp>
        <p:nvSpPr>
          <p:cNvPr id="45" name="TextBox 44">
            <a:extLst>
              <a:ext uri="{FF2B5EF4-FFF2-40B4-BE49-F238E27FC236}">
                <a16:creationId xmlns:a16="http://schemas.microsoft.com/office/drawing/2014/main" id="{25EDA529-D265-091E-3C1E-DFDA3232BE2B}"/>
              </a:ext>
            </a:extLst>
          </p:cNvPr>
          <p:cNvSpPr txBox="1"/>
          <p:nvPr/>
        </p:nvSpPr>
        <p:spPr>
          <a:xfrm>
            <a:off x="8765349" y="3220771"/>
            <a:ext cx="1721329"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S7. Service Order Process at charge SOP</a:t>
            </a:r>
          </a:p>
        </p:txBody>
      </p:sp>
      <p:cxnSp>
        <p:nvCxnSpPr>
          <p:cNvPr id="46" name="Connector: Elbow 45">
            <a:extLst>
              <a:ext uri="{FF2B5EF4-FFF2-40B4-BE49-F238E27FC236}">
                <a16:creationId xmlns:a16="http://schemas.microsoft.com/office/drawing/2014/main" id="{482C6418-FE91-AC43-375F-711DC6C5CC94}"/>
              </a:ext>
            </a:extLst>
          </p:cNvPr>
          <p:cNvCxnSpPr>
            <a:cxnSpLocks/>
            <a:stCxn id="41" idx="2"/>
            <a:endCxn id="66" idx="1"/>
          </p:cNvCxnSpPr>
          <p:nvPr/>
        </p:nvCxnSpPr>
        <p:spPr>
          <a:xfrm rot="16200000" flipH="1">
            <a:off x="4188391" y="1985939"/>
            <a:ext cx="537107" cy="2408219"/>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 name="Flowchart: Predefined Process 46">
            <a:extLst>
              <a:ext uri="{FF2B5EF4-FFF2-40B4-BE49-F238E27FC236}">
                <a16:creationId xmlns:a16="http://schemas.microsoft.com/office/drawing/2014/main" id="{60EB306E-012F-0E89-C279-0B29C0E70F39}"/>
              </a:ext>
            </a:extLst>
          </p:cNvPr>
          <p:cNvSpPr/>
          <p:nvPr/>
        </p:nvSpPr>
        <p:spPr>
          <a:xfrm>
            <a:off x="5923071" y="1070001"/>
            <a:ext cx="1135627"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S2. Order Inquiry </a:t>
            </a:r>
          </a:p>
        </p:txBody>
      </p:sp>
      <p:cxnSp>
        <p:nvCxnSpPr>
          <p:cNvPr id="48" name="Connector: Elbow 47">
            <a:extLst>
              <a:ext uri="{FF2B5EF4-FFF2-40B4-BE49-F238E27FC236}">
                <a16:creationId xmlns:a16="http://schemas.microsoft.com/office/drawing/2014/main" id="{ECCD0888-F05F-3A13-4469-0BD5F1438415}"/>
              </a:ext>
            </a:extLst>
          </p:cNvPr>
          <p:cNvCxnSpPr>
            <a:cxnSpLocks/>
            <a:stCxn id="41" idx="0"/>
            <a:endCxn id="60" idx="1"/>
          </p:cNvCxnSpPr>
          <p:nvPr/>
        </p:nvCxnSpPr>
        <p:spPr>
          <a:xfrm rot="5400000" flipH="1" flipV="1">
            <a:off x="3561610" y="1589667"/>
            <a:ext cx="657606" cy="127515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Flowchart: Predefined Process 48">
            <a:extLst>
              <a:ext uri="{FF2B5EF4-FFF2-40B4-BE49-F238E27FC236}">
                <a16:creationId xmlns:a16="http://schemas.microsoft.com/office/drawing/2014/main" id="{86926633-9B3A-B69A-F612-B5DB628B721A}"/>
              </a:ext>
            </a:extLst>
          </p:cNvPr>
          <p:cNvSpPr/>
          <p:nvPr/>
        </p:nvSpPr>
        <p:spPr>
          <a:xfrm>
            <a:off x="9923907" y="1064419"/>
            <a:ext cx="1471216"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S4. Create Start-Up Incident</a:t>
            </a:r>
          </a:p>
        </p:txBody>
      </p:sp>
      <p:sp>
        <p:nvSpPr>
          <p:cNvPr id="50" name="Flowchart: Predefined Process 49">
            <a:extLst>
              <a:ext uri="{FF2B5EF4-FFF2-40B4-BE49-F238E27FC236}">
                <a16:creationId xmlns:a16="http://schemas.microsoft.com/office/drawing/2014/main" id="{623A43EC-F0F3-0633-B7C3-3DAE40790C18}"/>
              </a:ext>
            </a:extLst>
          </p:cNvPr>
          <p:cNvSpPr/>
          <p:nvPr/>
        </p:nvSpPr>
        <p:spPr>
          <a:xfrm>
            <a:off x="405360" y="4455642"/>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S8. Add Start-Up Notes</a:t>
            </a:r>
          </a:p>
        </p:txBody>
      </p:sp>
      <p:cxnSp>
        <p:nvCxnSpPr>
          <p:cNvPr id="51" name="Connector: Elbow 50">
            <a:extLst>
              <a:ext uri="{FF2B5EF4-FFF2-40B4-BE49-F238E27FC236}">
                <a16:creationId xmlns:a16="http://schemas.microsoft.com/office/drawing/2014/main" id="{05DB1275-A391-5A91-273E-C5C42BE2613B}"/>
              </a:ext>
            </a:extLst>
          </p:cNvPr>
          <p:cNvCxnSpPr>
            <a:cxnSpLocks/>
            <a:stCxn id="49" idx="2"/>
            <a:endCxn id="50" idx="0"/>
          </p:cNvCxnSpPr>
          <p:nvPr/>
        </p:nvCxnSpPr>
        <p:spPr>
          <a:xfrm rot="5400000">
            <a:off x="4480200" y="-1723674"/>
            <a:ext cx="2922149" cy="9436483"/>
          </a:xfrm>
          <a:prstGeom prst="bentConnector3">
            <a:avLst>
              <a:gd name="adj1" fmla="val 87942"/>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52" name="Flowchart: Predefined Process 51">
            <a:extLst>
              <a:ext uri="{FF2B5EF4-FFF2-40B4-BE49-F238E27FC236}">
                <a16:creationId xmlns:a16="http://schemas.microsoft.com/office/drawing/2014/main" id="{7FC0D234-691E-459B-43B5-13390AB758EB}"/>
              </a:ext>
            </a:extLst>
          </p:cNvPr>
          <p:cNvSpPr/>
          <p:nvPr/>
        </p:nvSpPr>
        <p:spPr>
          <a:xfrm>
            <a:off x="2431645" y="4448976"/>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S9. Add Line</a:t>
            </a:r>
          </a:p>
        </p:txBody>
      </p:sp>
      <p:sp>
        <p:nvSpPr>
          <p:cNvPr id="53" name="Flowchart: Predefined Process 52">
            <a:extLst>
              <a:ext uri="{FF2B5EF4-FFF2-40B4-BE49-F238E27FC236}">
                <a16:creationId xmlns:a16="http://schemas.microsoft.com/office/drawing/2014/main" id="{D28EB842-0EDA-7C19-AE00-12BA2F1F372A}"/>
              </a:ext>
            </a:extLst>
          </p:cNvPr>
          <p:cNvSpPr/>
          <p:nvPr/>
        </p:nvSpPr>
        <p:spPr>
          <a:xfrm>
            <a:off x="4426735" y="4449327"/>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S10. Convert to SRO and Schedule</a:t>
            </a:r>
          </a:p>
        </p:txBody>
      </p:sp>
      <p:sp>
        <p:nvSpPr>
          <p:cNvPr id="54" name="Flowchart: Predefined Process 53">
            <a:extLst>
              <a:ext uri="{FF2B5EF4-FFF2-40B4-BE49-F238E27FC236}">
                <a16:creationId xmlns:a16="http://schemas.microsoft.com/office/drawing/2014/main" id="{96EC6792-2AF4-229E-4932-29354F0EBF24}"/>
              </a:ext>
            </a:extLst>
          </p:cNvPr>
          <p:cNvSpPr/>
          <p:nvPr/>
        </p:nvSpPr>
        <p:spPr>
          <a:xfrm>
            <a:off x="6576675" y="4448804"/>
            <a:ext cx="1375653" cy="438417"/>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S11. Print Pick Ticket</a:t>
            </a:r>
          </a:p>
        </p:txBody>
      </p:sp>
      <p:sp>
        <p:nvSpPr>
          <p:cNvPr id="55" name="Flowchart: Predefined Process 54">
            <a:extLst>
              <a:ext uri="{FF2B5EF4-FFF2-40B4-BE49-F238E27FC236}">
                <a16:creationId xmlns:a16="http://schemas.microsoft.com/office/drawing/2014/main" id="{AE55E132-ACC7-B5B0-9062-C8480F09E6F3}"/>
              </a:ext>
            </a:extLst>
          </p:cNvPr>
          <p:cNvSpPr/>
          <p:nvPr/>
        </p:nvSpPr>
        <p:spPr>
          <a:xfrm>
            <a:off x="8429193" y="4438973"/>
            <a:ext cx="1469923"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S12. Shipping Feedback Ship </a:t>
            </a:r>
          </a:p>
        </p:txBody>
      </p:sp>
      <p:sp>
        <p:nvSpPr>
          <p:cNvPr id="56" name="Flowchart: Process 55">
            <a:extLst>
              <a:ext uri="{FF2B5EF4-FFF2-40B4-BE49-F238E27FC236}">
                <a16:creationId xmlns:a16="http://schemas.microsoft.com/office/drawing/2014/main" id="{D1D100FD-1B14-FBDA-2D4B-DC5E151C4853}"/>
              </a:ext>
            </a:extLst>
          </p:cNvPr>
          <p:cNvSpPr/>
          <p:nvPr/>
        </p:nvSpPr>
        <p:spPr>
          <a:xfrm>
            <a:off x="10234705" y="4422303"/>
            <a:ext cx="1327355" cy="47175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S13. Tech Performs Start-Up</a:t>
            </a:r>
          </a:p>
        </p:txBody>
      </p:sp>
      <p:sp>
        <p:nvSpPr>
          <p:cNvPr id="57" name="Flowchart: Predefined Process 56">
            <a:extLst>
              <a:ext uri="{FF2B5EF4-FFF2-40B4-BE49-F238E27FC236}">
                <a16:creationId xmlns:a16="http://schemas.microsoft.com/office/drawing/2014/main" id="{915B7D09-A907-B1FA-7A87-3816E8C0EBF9}"/>
              </a:ext>
            </a:extLst>
          </p:cNvPr>
          <p:cNvSpPr/>
          <p:nvPr/>
        </p:nvSpPr>
        <p:spPr>
          <a:xfrm>
            <a:off x="5661054" y="5340892"/>
            <a:ext cx="1469923"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S14. Register A Unit</a:t>
            </a:r>
          </a:p>
        </p:txBody>
      </p:sp>
      <p:cxnSp>
        <p:nvCxnSpPr>
          <p:cNvPr id="58" name="Connector: Elbow 57">
            <a:extLst>
              <a:ext uri="{FF2B5EF4-FFF2-40B4-BE49-F238E27FC236}">
                <a16:creationId xmlns:a16="http://schemas.microsoft.com/office/drawing/2014/main" id="{49EE526B-B1B1-5369-192F-445B8A970970}"/>
              </a:ext>
            </a:extLst>
          </p:cNvPr>
          <p:cNvCxnSpPr>
            <a:cxnSpLocks/>
            <a:stCxn id="56" idx="2"/>
            <a:endCxn id="57" idx="0"/>
          </p:cNvCxnSpPr>
          <p:nvPr/>
        </p:nvCxnSpPr>
        <p:spPr>
          <a:xfrm rot="5400000">
            <a:off x="8423783" y="2866292"/>
            <a:ext cx="446834" cy="4502367"/>
          </a:xfrm>
          <a:prstGeom prst="bentConnector3">
            <a:avLst>
              <a:gd name="adj1" fmla="val 50000"/>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60" name="Flowchart: Decision 59">
            <a:extLst>
              <a:ext uri="{FF2B5EF4-FFF2-40B4-BE49-F238E27FC236}">
                <a16:creationId xmlns:a16="http://schemas.microsoft.com/office/drawing/2014/main" id="{D4EA50D6-0DC0-4836-47B3-E772EA0AE093}"/>
              </a:ext>
            </a:extLst>
          </p:cNvPr>
          <p:cNvSpPr/>
          <p:nvPr/>
        </p:nvSpPr>
        <p:spPr>
          <a:xfrm>
            <a:off x="4527992" y="1724244"/>
            <a:ext cx="435655" cy="34839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D2</a:t>
            </a:r>
          </a:p>
        </p:txBody>
      </p:sp>
      <p:sp>
        <p:nvSpPr>
          <p:cNvPr id="61" name="Flowchart: Process 60">
            <a:extLst>
              <a:ext uri="{FF2B5EF4-FFF2-40B4-BE49-F238E27FC236}">
                <a16:creationId xmlns:a16="http://schemas.microsoft.com/office/drawing/2014/main" id="{C300A70C-D9FC-48A0-FD4C-921990382526}"/>
              </a:ext>
            </a:extLst>
          </p:cNvPr>
          <p:cNvSpPr/>
          <p:nvPr/>
        </p:nvSpPr>
        <p:spPr>
          <a:xfrm>
            <a:off x="4799383" y="1668146"/>
            <a:ext cx="171405" cy="17107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62" name="Flowchart: Process 61">
            <a:extLst>
              <a:ext uri="{FF2B5EF4-FFF2-40B4-BE49-F238E27FC236}">
                <a16:creationId xmlns:a16="http://schemas.microsoft.com/office/drawing/2014/main" id="{39A66FFD-7553-2630-3B3E-B6DF3A8A4F84}"/>
              </a:ext>
            </a:extLst>
          </p:cNvPr>
          <p:cNvSpPr/>
          <p:nvPr/>
        </p:nvSpPr>
        <p:spPr>
          <a:xfrm>
            <a:off x="4520850" y="1944263"/>
            <a:ext cx="171405" cy="17107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sp>
        <p:nvSpPr>
          <p:cNvPr id="63" name="TextBox 62">
            <a:extLst>
              <a:ext uri="{FF2B5EF4-FFF2-40B4-BE49-F238E27FC236}">
                <a16:creationId xmlns:a16="http://schemas.microsoft.com/office/drawing/2014/main" id="{B79234D7-42F5-41DC-B45A-5D68666C27C9}"/>
              </a:ext>
            </a:extLst>
          </p:cNvPr>
          <p:cNvSpPr txBox="1"/>
          <p:nvPr/>
        </p:nvSpPr>
        <p:spPr>
          <a:xfrm>
            <a:off x="3882757" y="1378103"/>
            <a:ext cx="948813" cy="507831"/>
          </a:xfrm>
          <a:prstGeom prst="rect">
            <a:avLst/>
          </a:prstGeom>
          <a:noFill/>
        </p:spPr>
        <p:txBody>
          <a:bodyPr wrap="square" rtlCol="0">
            <a:spAutoFit/>
          </a:bodyPr>
          <a:lstStyle/>
          <a:p>
            <a:r>
              <a:rPr lang="en-US" sz="900" dirty="0"/>
              <a:t>Do You Know The Original Order #?</a:t>
            </a:r>
          </a:p>
        </p:txBody>
      </p:sp>
      <p:cxnSp>
        <p:nvCxnSpPr>
          <p:cNvPr id="64" name="Connector: Elbow 63">
            <a:extLst>
              <a:ext uri="{FF2B5EF4-FFF2-40B4-BE49-F238E27FC236}">
                <a16:creationId xmlns:a16="http://schemas.microsoft.com/office/drawing/2014/main" id="{D6B65D7B-422E-778C-D615-4D44CF545A5C}"/>
              </a:ext>
            </a:extLst>
          </p:cNvPr>
          <p:cNvCxnSpPr>
            <a:cxnSpLocks/>
            <a:stCxn id="60" idx="0"/>
            <a:endCxn id="47" idx="1"/>
          </p:cNvCxnSpPr>
          <p:nvPr/>
        </p:nvCxnSpPr>
        <p:spPr>
          <a:xfrm rot="5400000" flipH="1" flipV="1">
            <a:off x="5124592" y="925766"/>
            <a:ext cx="419706" cy="117725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5" name="Flowchart: Predefined Process 64">
            <a:extLst>
              <a:ext uri="{FF2B5EF4-FFF2-40B4-BE49-F238E27FC236}">
                <a16:creationId xmlns:a16="http://schemas.microsoft.com/office/drawing/2014/main" id="{5580864F-8274-15B0-955B-9B10643914B8}"/>
              </a:ext>
            </a:extLst>
          </p:cNvPr>
          <p:cNvSpPr/>
          <p:nvPr/>
        </p:nvSpPr>
        <p:spPr>
          <a:xfrm>
            <a:off x="7519201" y="2231738"/>
            <a:ext cx="1944205"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S5. Order Inquiry Using Serial Number</a:t>
            </a:r>
          </a:p>
        </p:txBody>
      </p:sp>
      <p:sp>
        <p:nvSpPr>
          <p:cNvPr id="66" name="TextBox 65">
            <a:extLst>
              <a:ext uri="{FF2B5EF4-FFF2-40B4-BE49-F238E27FC236}">
                <a16:creationId xmlns:a16="http://schemas.microsoft.com/office/drawing/2014/main" id="{5442E2FC-5024-4578-D730-AAF8FF8F40AF}"/>
              </a:ext>
            </a:extLst>
          </p:cNvPr>
          <p:cNvSpPr txBox="1"/>
          <p:nvPr/>
        </p:nvSpPr>
        <p:spPr>
          <a:xfrm>
            <a:off x="5661054" y="3222725"/>
            <a:ext cx="1205916"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S6. Create A New Unit SOP</a:t>
            </a:r>
          </a:p>
        </p:txBody>
      </p:sp>
      <p:cxnSp>
        <p:nvCxnSpPr>
          <p:cNvPr id="67" name="Connector: Elbow 66">
            <a:extLst>
              <a:ext uri="{FF2B5EF4-FFF2-40B4-BE49-F238E27FC236}">
                <a16:creationId xmlns:a16="http://schemas.microsoft.com/office/drawing/2014/main" id="{92B78271-1F64-CDC8-AFE1-477ACF520F0B}"/>
              </a:ext>
            </a:extLst>
          </p:cNvPr>
          <p:cNvCxnSpPr>
            <a:cxnSpLocks/>
            <a:stCxn id="60" idx="2"/>
            <a:endCxn id="65" idx="1"/>
          </p:cNvCxnSpPr>
          <p:nvPr/>
        </p:nvCxnSpPr>
        <p:spPr>
          <a:xfrm rot="16200000" flipH="1">
            <a:off x="5935693" y="882766"/>
            <a:ext cx="393635" cy="2773381"/>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0" name="Flowchart: Process 69">
            <a:extLst>
              <a:ext uri="{FF2B5EF4-FFF2-40B4-BE49-F238E27FC236}">
                <a16:creationId xmlns:a16="http://schemas.microsoft.com/office/drawing/2014/main" id="{A20BD00C-F130-06C2-318D-82DDC04D41D2}"/>
              </a:ext>
            </a:extLst>
          </p:cNvPr>
          <p:cNvSpPr/>
          <p:nvPr/>
        </p:nvSpPr>
        <p:spPr>
          <a:xfrm>
            <a:off x="7827625" y="1057821"/>
            <a:ext cx="1327355" cy="47451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S3. Check With AR To Verify Payment In Full</a:t>
            </a:r>
          </a:p>
        </p:txBody>
      </p:sp>
      <p:cxnSp>
        <p:nvCxnSpPr>
          <p:cNvPr id="71" name="Straight Arrow Connector 70">
            <a:extLst>
              <a:ext uri="{FF2B5EF4-FFF2-40B4-BE49-F238E27FC236}">
                <a16:creationId xmlns:a16="http://schemas.microsoft.com/office/drawing/2014/main" id="{FBB36A78-B74F-258C-ECC1-65313579C9FB}"/>
              </a:ext>
            </a:extLst>
          </p:cNvPr>
          <p:cNvCxnSpPr>
            <a:cxnSpLocks/>
            <a:stCxn id="47" idx="3"/>
            <a:endCxn id="70" idx="1"/>
          </p:cNvCxnSpPr>
          <p:nvPr/>
        </p:nvCxnSpPr>
        <p:spPr>
          <a:xfrm flipV="1">
            <a:off x="7058698" y="1295078"/>
            <a:ext cx="768927" cy="946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03F2BE6C-170B-CCF1-572B-816C2C41FB04}"/>
              </a:ext>
            </a:extLst>
          </p:cNvPr>
          <p:cNvCxnSpPr>
            <a:cxnSpLocks/>
            <a:stCxn id="70" idx="3"/>
            <a:endCxn id="49" idx="1"/>
          </p:cNvCxnSpPr>
          <p:nvPr/>
        </p:nvCxnSpPr>
        <p:spPr>
          <a:xfrm>
            <a:off x="9154980" y="1295078"/>
            <a:ext cx="768927" cy="3878"/>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CA44FD6E-C042-35BA-BD90-082B86F869DA}"/>
              </a:ext>
            </a:extLst>
          </p:cNvPr>
          <p:cNvCxnSpPr>
            <a:cxnSpLocks/>
            <a:stCxn id="66" idx="3"/>
            <a:endCxn id="45" idx="1"/>
          </p:cNvCxnSpPr>
          <p:nvPr/>
        </p:nvCxnSpPr>
        <p:spPr>
          <a:xfrm flipV="1">
            <a:off x="6866970" y="3456649"/>
            <a:ext cx="1898379" cy="195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9626B5D1-4036-1020-9BF7-DD677015D6B3}"/>
              </a:ext>
            </a:extLst>
          </p:cNvPr>
          <p:cNvCxnSpPr>
            <a:cxnSpLocks/>
            <a:stCxn id="50" idx="3"/>
            <a:endCxn id="52" idx="1"/>
          </p:cNvCxnSpPr>
          <p:nvPr/>
        </p:nvCxnSpPr>
        <p:spPr>
          <a:xfrm flipV="1">
            <a:off x="2040704" y="4668184"/>
            <a:ext cx="390941" cy="6666"/>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E3538E66-7BA8-6D96-5CEC-A187DDC2AB08}"/>
              </a:ext>
            </a:extLst>
          </p:cNvPr>
          <p:cNvCxnSpPr>
            <a:cxnSpLocks/>
            <a:stCxn id="52" idx="3"/>
            <a:endCxn id="53" idx="1"/>
          </p:cNvCxnSpPr>
          <p:nvPr/>
        </p:nvCxnSpPr>
        <p:spPr>
          <a:xfrm>
            <a:off x="4066989" y="4668184"/>
            <a:ext cx="359746" cy="351"/>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F5CB19EC-0DBC-0770-BC23-BD20A5850C00}"/>
              </a:ext>
            </a:extLst>
          </p:cNvPr>
          <p:cNvCxnSpPr>
            <a:cxnSpLocks/>
            <a:stCxn id="53" idx="3"/>
            <a:endCxn id="54" idx="1"/>
          </p:cNvCxnSpPr>
          <p:nvPr/>
        </p:nvCxnSpPr>
        <p:spPr>
          <a:xfrm flipV="1">
            <a:off x="6062079" y="4668013"/>
            <a:ext cx="514596" cy="522"/>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63D41270-E581-B7ED-C2C0-E085475BDA69}"/>
              </a:ext>
            </a:extLst>
          </p:cNvPr>
          <p:cNvCxnSpPr>
            <a:cxnSpLocks/>
            <a:stCxn id="54" idx="3"/>
            <a:endCxn id="55" idx="1"/>
          </p:cNvCxnSpPr>
          <p:nvPr/>
        </p:nvCxnSpPr>
        <p:spPr>
          <a:xfrm flipV="1">
            <a:off x="7952328" y="4658181"/>
            <a:ext cx="476865" cy="9832"/>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AA5AB49A-6383-2203-DEBB-FBF682061251}"/>
              </a:ext>
            </a:extLst>
          </p:cNvPr>
          <p:cNvCxnSpPr>
            <a:cxnSpLocks/>
            <a:stCxn id="55" idx="3"/>
            <a:endCxn id="56" idx="1"/>
          </p:cNvCxnSpPr>
          <p:nvPr/>
        </p:nvCxnSpPr>
        <p:spPr>
          <a:xfrm>
            <a:off x="9899116" y="4658181"/>
            <a:ext cx="335589" cy="0"/>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1736334A-DC3D-54D9-F868-0D023E61B8BE}"/>
              </a:ext>
            </a:extLst>
          </p:cNvPr>
          <p:cNvCxnSpPr>
            <a:cxnSpLocks/>
            <a:stCxn id="39" idx="3"/>
            <a:endCxn id="41" idx="1"/>
          </p:cNvCxnSpPr>
          <p:nvPr/>
        </p:nvCxnSpPr>
        <p:spPr>
          <a:xfrm>
            <a:off x="2040704" y="2738772"/>
            <a:ext cx="926695"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A4C0EEC1-F906-0605-E21B-909C5A702D64}"/>
              </a:ext>
            </a:extLst>
          </p:cNvPr>
          <p:cNvCxnSpPr>
            <a:cxnSpLocks/>
            <a:stCxn id="65" idx="0"/>
            <a:endCxn id="70" idx="2"/>
          </p:cNvCxnSpPr>
          <p:nvPr/>
        </p:nvCxnSpPr>
        <p:spPr>
          <a:xfrm flipH="1" flipV="1">
            <a:off x="8491303" y="1532334"/>
            <a:ext cx="1" cy="69940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B93414E7-5E27-7BF1-651B-CBDD205C4A07}"/>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05 12 2025 19 10</a:t>
            </a:r>
          </a:p>
        </p:txBody>
      </p:sp>
      <p:sp>
        <p:nvSpPr>
          <p:cNvPr id="7" name="TextBox 6">
            <a:extLst>
              <a:ext uri="{FF2B5EF4-FFF2-40B4-BE49-F238E27FC236}">
                <a16:creationId xmlns:a16="http://schemas.microsoft.com/office/drawing/2014/main" id="{C5CAC80C-1407-C3B6-5A92-3C6D922AA5CE}"/>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4" name="TextBox 3">
            <a:extLst>
              <a:ext uri="{FF2B5EF4-FFF2-40B4-BE49-F238E27FC236}">
                <a16:creationId xmlns:a16="http://schemas.microsoft.com/office/drawing/2014/main" id="{180BD98D-CD27-3BD8-C93C-344BDA570E28}"/>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25 12 28 0800</a:t>
            </a:r>
          </a:p>
        </p:txBody>
      </p:sp>
      <p:sp>
        <p:nvSpPr>
          <p:cNvPr id="2" name="-S2. Perf_Ord_Enq">
            <a:extLst>
              <a:ext uri="{FF2B5EF4-FFF2-40B4-BE49-F238E27FC236}">
                <a16:creationId xmlns:a16="http://schemas.microsoft.com/office/drawing/2014/main" id="{7116684D-0751-8E4C-7610-0EF91124CF6B}"/>
              </a:ext>
            </a:extLst>
          </p:cNvPr>
          <p:cNvSpPr>
            <a:spLocks noGrp="1"/>
          </p:cNvSpPr>
          <p:nvPr>
            <p:ph type="title"/>
          </p:nvPr>
        </p:nvSpPr>
        <p:spPr>
          <a:xfrm>
            <a:off x="838200" y="314871"/>
            <a:ext cx="10515600" cy="428753"/>
          </a:xfrm>
        </p:spPr>
        <p:txBody>
          <a:bodyPr>
            <a:noAutofit/>
          </a:bodyPr>
          <a:lstStyle/>
          <a:p>
            <a:pPr algn="ctr"/>
            <a:r>
              <a:rPr lang="en-US" sz="1600" b="1" dirty="0"/>
              <a:t>S2. Perform Order Enquiry – Startup SOP</a:t>
            </a:r>
          </a:p>
        </p:txBody>
      </p:sp>
    </p:spTree>
    <p:extLst>
      <p:ext uri="{BB962C8B-B14F-4D97-AF65-F5344CB8AC3E}">
        <p14:creationId xmlns:p14="http://schemas.microsoft.com/office/powerpoint/2010/main" val="38694274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FE6C3-5EDD-178F-1DCA-E69F2F5BEEBC}"/>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1DD77390-EC55-431D-0548-2798CA41DFA5}"/>
              </a:ext>
            </a:extLst>
          </p:cNvPr>
          <p:cNvSpPr/>
          <p:nvPr/>
        </p:nvSpPr>
        <p:spPr>
          <a:xfrm>
            <a:off x="7701212" y="796736"/>
            <a:ext cx="1693800" cy="1327661"/>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sp>
        <p:nvSpPr>
          <p:cNvPr id="39" name="Flowchart: Process 38">
            <a:extLst>
              <a:ext uri="{FF2B5EF4-FFF2-40B4-BE49-F238E27FC236}">
                <a16:creationId xmlns:a16="http://schemas.microsoft.com/office/drawing/2014/main" id="{B177A647-BA34-F5A9-B72F-B5F4DEC1CAA1}"/>
              </a:ext>
            </a:extLst>
          </p:cNvPr>
          <p:cNvSpPr/>
          <p:nvPr/>
        </p:nvSpPr>
        <p:spPr>
          <a:xfrm>
            <a:off x="713349" y="2526777"/>
            <a:ext cx="1327355" cy="42399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 Customer Calls For Start-Up</a:t>
            </a:r>
          </a:p>
        </p:txBody>
      </p:sp>
      <p:sp>
        <p:nvSpPr>
          <p:cNvPr id="41" name="Flowchart: Decision 40">
            <a:extLst>
              <a:ext uri="{FF2B5EF4-FFF2-40B4-BE49-F238E27FC236}">
                <a16:creationId xmlns:a16="http://schemas.microsoft.com/office/drawing/2014/main" id="{1B135DFD-615F-8BA1-7C0D-0CA34BBD192A}"/>
              </a:ext>
            </a:extLst>
          </p:cNvPr>
          <p:cNvSpPr/>
          <p:nvPr/>
        </p:nvSpPr>
        <p:spPr>
          <a:xfrm>
            <a:off x="2967399" y="2556048"/>
            <a:ext cx="570871" cy="365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D1</a:t>
            </a:r>
          </a:p>
        </p:txBody>
      </p:sp>
      <p:sp>
        <p:nvSpPr>
          <p:cNvPr id="42" name="Flowchart: Process 41">
            <a:extLst>
              <a:ext uri="{FF2B5EF4-FFF2-40B4-BE49-F238E27FC236}">
                <a16:creationId xmlns:a16="http://schemas.microsoft.com/office/drawing/2014/main" id="{5CA094E9-799B-1D7B-D909-D1EF357EA7C5}"/>
              </a:ext>
            </a:extLst>
          </p:cNvPr>
          <p:cNvSpPr/>
          <p:nvPr/>
        </p:nvSpPr>
        <p:spPr>
          <a:xfrm>
            <a:off x="3323024" y="2497204"/>
            <a:ext cx="224605" cy="17944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43" name="Flowchart: Process 42">
            <a:extLst>
              <a:ext uri="{FF2B5EF4-FFF2-40B4-BE49-F238E27FC236}">
                <a16:creationId xmlns:a16="http://schemas.microsoft.com/office/drawing/2014/main" id="{7DFB6295-C021-77D9-17CB-BC551E35642A}"/>
              </a:ext>
            </a:extLst>
          </p:cNvPr>
          <p:cNvSpPr/>
          <p:nvPr/>
        </p:nvSpPr>
        <p:spPr>
          <a:xfrm>
            <a:off x="2958041" y="2786835"/>
            <a:ext cx="224605" cy="17944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sp>
        <p:nvSpPr>
          <p:cNvPr id="44" name="TextBox 43">
            <a:extLst>
              <a:ext uri="{FF2B5EF4-FFF2-40B4-BE49-F238E27FC236}">
                <a16:creationId xmlns:a16="http://schemas.microsoft.com/office/drawing/2014/main" id="{4BC0C4FE-76D4-8359-8435-3BDDCE785A38}"/>
              </a:ext>
            </a:extLst>
          </p:cNvPr>
          <p:cNvSpPr txBox="1"/>
          <p:nvPr/>
        </p:nvSpPr>
        <p:spPr>
          <a:xfrm>
            <a:off x="2332800" y="2331480"/>
            <a:ext cx="948813" cy="369332"/>
          </a:xfrm>
          <a:prstGeom prst="rect">
            <a:avLst/>
          </a:prstGeom>
          <a:noFill/>
        </p:spPr>
        <p:txBody>
          <a:bodyPr wrap="square" rtlCol="0">
            <a:spAutoFit/>
          </a:bodyPr>
          <a:lstStyle/>
          <a:p>
            <a:r>
              <a:rPr lang="en-US" sz="900" dirty="0"/>
              <a:t>Q1.Did We Sell The Generator? </a:t>
            </a:r>
          </a:p>
        </p:txBody>
      </p:sp>
      <p:sp>
        <p:nvSpPr>
          <p:cNvPr id="45" name="TextBox 44">
            <a:extLst>
              <a:ext uri="{FF2B5EF4-FFF2-40B4-BE49-F238E27FC236}">
                <a16:creationId xmlns:a16="http://schemas.microsoft.com/office/drawing/2014/main" id="{34759FC7-AF7D-D46C-5DB9-976E89D6A36C}"/>
              </a:ext>
            </a:extLst>
          </p:cNvPr>
          <p:cNvSpPr txBox="1"/>
          <p:nvPr/>
        </p:nvSpPr>
        <p:spPr>
          <a:xfrm>
            <a:off x="8765349" y="3220771"/>
            <a:ext cx="1721329"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S7. Service Order Process at charge SOP</a:t>
            </a:r>
          </a:p>
        </p:txBody>
      </p:sp>
      <p:cxnSp>
        <p:nvCxnSpPr>
          <p:cNvPr id="46" name="Connector: Elbow 45">
            <a:extLst>
              <a:ext uri="{FF2B5EF4-FFF2-40B4-BE49-F238E27FC236}">
                <a16:creationId xmlns:a16="http://schemas.microsoft.com/office/drawing/2014/main" id="{CAE16CDE-493E-21A2-FC29-7FAB7B64616E}"/>
              </a:ext>
            </a:extLst>
          </p:cNvPr>
          <p:cNvCxnSpPr>
            <a:cxnSpLocks/>
            <a:stCxn id="41" idx="2"/>
            <a:endCxn id="66" idx="1"/>
          </p:cNvCxnSpPr>
          <p:nvPr/>
        </p:nvCxnSpPr>
        <p:spPr>
          <a:xfrm rot="16200000" flipH="1">
            <a:off x="4188391" y="1985939"/>
            <a:ext cx="537107" cy="2408219"/>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 name="Flowchart: Predefined Process 46">
            <a:extLst>
              <a:ext uri="{FF2B5EF4-FFF2-40B4-BE49-F238E27FC236}">
                <a16:creationId xmlns:a16="http://schemas.microsoft.com/office/drawing/2014/main" id="{20C07ACD-378A-9F75-3C38-0AFB616005E2}"/>
              </a:ext>
            </a:extLst>
          </p:cNvPr>
          <p:cNvSpPr/>
          <p:nvPr/>
        </p:nvSpPr>
        <p:spPr>
          <a:xfrm>
            <a:off x="5923071" y="1070001"/>
            <a:ext cx="1135627"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S2. Order Inquiry </a:t>
            </a:r>
          </a:p>
        </p:txBody>
      </p:sp>
      <p:cxnSp>
        <p:nvCxnSpPr>
          <p:cNvPr id="48" name="Connector: Elbow 47">
            <a:extLst>
              <a:ext uri="{FF2B5EF4-FFF2-40B4-BE49-F238E27FC236}">
                <a16:creationId xmlns:a16="http://schemas.microsoft.com/office/drawing/2014/main" id="{8BB60B82-47FD-1241-A0D6-259B3DDF0EE1}"/>
              </a:ext>
            </a:extLst>
          </p:cNvPr>
          <p:cNvCxnSpPr>
            <a:cxnSpLocks/>
            <a:stCxn id="41" idx="0"/>
            <a:endCxn id="60" idx="1"/>
          </p:cNvCxnSpPr>
          <p:nvPr/>
        </p:nvCxnSpPr>
        <p:spPr>
          <a:xfrm rot="5400000" flipH="1" flipV="1">
            <a:off x="3561610" y="1589667"/>
            <a:ext cx="657606" cy="127515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Flowchart: Predefined Process 48">
            <a:extLst>
              <a:ext uri="{FF2B5EF4-FFF2-40B4-BE49-F238E27FC236}">
                <a16:creationId xmlns:a16="http://schemas.microsoft.com/office/drawing/2014/main" id="{E651D535-87BF-CF88-0CF7-BEBFAF7C8F89}"/>
              </a:ext>
            </a:extLst>
          </p:cNvPr>
          <p:cNvSpPr/>
          <p:nvPr/>
        </p:nvSpPr>
        <p:spPr>
          <a:xfrm>
            <a:off x="9923907" y="1055454"/>
            <a:ext cx="1471216"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S4. Create Start-Up Incident</a:t>
            </a:r>
          </a:p>
        </p:txBody>
      </p:sp>
      <p:sp>
        <p:nvSpPr>
          <p:cNvPr id="50" name="Flowchart: Predefined Process 49">
            <a:extLst>
              <a:ext uri="{FF2B5EF4-FFF2-40B4-BE49-F238E27FC236}">
                <a16:creationId xmlns:a16="http://schemas.microsoft.com/office/drawing/2014/main" id="{8F5BC95E-8EE9-C38D-CD96-8F80D04D07D1}"/>
              </a:ext>
            </a:extLst>
          </p:cNvPr>
          <p:cNvSpPr/>
          <p:nvPr/>
        </p:nvSpPr>
        <p:spPr>
          <a:xfrm>
            <a:off x="405360" y="4455642"/>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S8. Add Start-Up Notes</a:t>
            </a:r>
          </a:p>
        </p:txBody>
      </p:sp>
      <p:cxnSp>
        <p:nvCxnSpPr>
          <p:cNvPr id="51" name="Connector: Elbow 50">
            <a:extLst>
              <a:ext uri="{FF2B5EF4-FFF2-40B4-BE49-F238E27FC236}">
                <a16:creationId xmlns:a16="http://schemas.microsoft.com/office/drawing/2014/main" id="{862A037A-4642-0551-951A-345F47ACA877}"/>
              </a:ext>
            </a:extLst>
          </p:cNvPr>
          <p:cNvCxnSpPr>
            <a:cxnSpLocks/>
            <a:stCxn id="49" idx="2"/>
            <a:endCxn id="50" idx="0"/>
          </p:cNvCxnSpPr>
          <p:nvPr/>
        </p:nvCxnSpPr>
        <p:spPr>
          <a:xfrm rot="5400000">
            <a:off x="4475717" y="-1728156"/>
            <a:ext cx="2931114" cy="9436483"/>
          </a:xfrm>
          <a:prstGeom prst="bentConnector3">
            <a:avLst>
              <a:gd name="adj1" fmla="val 85478"/>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52" name="Flowchart: Predefined Process 51">
            <a:extLst>
              <a:ext uri="{FF2B5EF4-FFF2-40B4-BE49-F238E27FC236}">
                <a16:creationId xmlns:a16="http://schemas.microsoft.com/office/drawing/2014/main" id="{7557C07E-120E-0307-57A2-B53FE85EF95A}"/>
              </a:ext>
            </a:extLst>
          </p:cNvPr>
          <p:cNvSpPr/>
          <p:nvPr/>
        </p:nvSpPr>
        <p:spPr>
          <a:xfrm>
            <a:off x="2431645" y="4448976"/>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S9. Add Line</a:t>
            </a:r>
          </a:p>
        </p:txBody>
      </p:sp>
      <p:sp>
        <p:nvSpPr>
          <p:cNvPr id="53" name="Flowchart: Predefined Process 52">
            <a:extLst>
              <a:ext uri="{FF2B5EF4-FFF2-40B4-BE49-F238E27FC236}">
                <a16:creationId xmlns:a16="http://schemas.microsoft.com/office/drawing/2014/main" id="{9BE9B218-13C4-92A9-7E82-9E2197A8D7AF}"/>
              </a:ext>
            </a:extLst>
          </p:cNvPr>
          <p:cNvSpPr/>
          <p:nvPr/>
        </p:nvSpPr>
        <p:spPr>
          <a:xfrm>
            <a:off x="4426735" y="4449327"/>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S10. Convert to SRO and Schedule</a:t>
            </a:r>
          </a:p>
        </p:txBody>
      </p:sp>
      <p:sp>
        <p:nvSpPr>
          <p:cNvPr id="54" name="Flowchart: Predefined Process 53">
            <a:extLst>
              <a:ext uri="{FF2B5EF4-FFF2-40B4-BE49-F238E27FC236}">
                <a16:creationId xmlns:a16="http://schemas.microsoft.com/office/drawing/2014/main" id="{7432D6A1-9B68-327E-8AB8-A7BD0106C460}"/>
              </a:ext>
            </a:extLst>
          </p:cNvPr>
          <p:cNvSpPr/>
          <p:nvPr/>
        </p:nvSpPr>
        <p:spPr>
          <a:xfrm>
            <a:off x="6576675" y="4448804"/>
            <a:ext cx="1375653" cy="438417"/>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S11. Print Pick Ticket</a:t>
            </a:r>
          </a:p>
        </p:txBody>
      </p:sp>
      <p:sp>
        <p:nvSpPr>
          <p:cNvPr id="55" name="Flowchart: Predefined Process 54">
            <a:extLst>
              <a:ext uri="{FF2B5EF4-FFF2-40B4-BE49-F238E27FC236}">
                <a16:creationId xmlns:a16="http://schemas.microsoft.com/office/drawing/2014/main" id="{733FFBF1-FE95-D1D7-1B0A-547BC20565B4}"/>
              </a:ext>
            </a:extLst>
          </p:cNvPr>
          <p:cNvSpPr/>
          <p:nvPr/>
        </p:nvSpPr>
        <p:spPr>
          <a:xfrm>
            <a:off x="8429193" y="4438973"/>
            <a:ext cx="1469923"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S12. Shipping Feedback Ship </a:t>
            </a:r>
          </a:p>
        </p:txBody>
      </p:sp>
      <p:sp>
        <p:nvSpPr>
          <p:cNvPr id="56" name="Flowchart: Process 55">
            <a:extLst>
              <a:ext uri="{FF2B5EF4-FFF2-40B4-BE49-F238E27FC236}">
                <a16:creationId xmlns:a16="http://schemas.microsoft.com/office/drawing/2014/main" id="{BE608C42-F224-6105-49B2-C16B6A51E127}"/>
              </a:ext>
            </a:extLst>
          </p:cNvPr>
          <p:cNvSpPr/>
          <p:nvPr/>
        </p:nvSpPr>
        <p:spPr>
          <a:xfrm>
            <a:off x="10234705" y="4422303"/>
            <a:ext cx="1327355" cy="47175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S13. Tech Performs Start-Up</a:t>
            </a:r>
          </a:p>
        </p:txBody>
      </p:sp>
      <p:sp>
        <p:nvSpPr>
          <p:cNvPr id="57" name="Flowchart: Predefined Process 56">
            <a:extLst>
              <a:ext uri="{FF2B5EF4-FFF2-40B4-BE49-F238E27FC236}">
                <a16:creationId xmlns:a16="http://schemas.microsoft.com/office/drawing/2014/main" id="{BA0E22D6-9653-22BC-F423-28D56FE92802}"/>
              </a:ext>
            </a:extLst>
          </p:cNvPr>
          <p:cNvSpPr/>
          <p:nvPr/>
        </p:nvSpPr>
        <p:spPr>
          <a:xfrm>
            <a:off x="5661054" y="5340892"/>
            <a:ext cx="1469923"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S14. Register A Unit</a:t>
            </a:r>
          </a:p>
        </p:txBody>
      </p:sp>
      <p:cxnSp>
        <p:nvCxnSpPr>
          <p:cNvPr id="58" name="Connector: Elbow 57">
            <a:extLst>
              <a:ext uri="{FF2B5EF4-FFF2-40B4-BE49-F238E27FC236}">
                <a16:creationId xmlns:a16="http://schemas.microsoft.com/office/drawing/2014/main" id="{4FF25D62-6134-F8CE-84B2-F0C856C3EFCE}"/>
              </a:ext>
            </a:extLst>
          </p:cNvPr>
          <p:cNvCxnSpPr>
            <a:cxnSpLocks/>
            <a:stCxn id="56" idx="2"/>
            <a:endCxn id="57" idx="0"/>
          </p:cNvCxnSpPr>
          <p:nvPr/>
        </p:nvCxnSpPr>
        <p:spPr>
          <a:xfrm rot="5400000">
            <a:off x="8423783" y="2866292"/>
            <a:ext cx="446834" cy="4502367"/>
          </a:xfrm>
          <a:prstGeom prst="bentConnector3">
            <a:avLst>
              <a:gd name="adj1" fmla="val 50000"/>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60" name="Flowchart: Decision 59">
            <a:extLst>
              <a:ext uri="{FF2B5EF4-FFF2-40B4-BE49-F238E27FC236}">
                <a16:creationId xmlns:a16="http://schemas.microsoft.com/office/drawing/2014/main" id="{004BC83B-ABC9-CD1A-037B-EBF2BC157C98}"/>
              </a:ext>
            </a:extLst>
          </p:cNvPr>
          <p:cNvSpPr/>
          <p:nvPr/>
        </p:nvSpPr>
        <p:spPr>
          <a:xfrm>
            <a:off x="4527992" y="1724244"/>
            <a:ext cx="435655" cy="34839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D2</a:t>
            </a:r>
          </a:p>
        </p:txBody>
      </p:sp>
      <p:sp>
        <p:nvSpPr>
          <p:cNvPr id="61" name="Flowchart: Process 60">
            <a:extLst>
              <a:ext uri="{FF2B5EF4-FFF2-40B4-BE49-F238E27FC236}">
                <a16:creationId xmlns:a16="http://schemas.microsoft.com/office/drawing/2014/main" id="{B9B3C9EE-FC4E-B4D3-79FA-A5D583EE00D4}"/>
              </a:ext>
            </a:extLst>
          </p:cNvPr>
          <p:cNvSpPr/>
          <p:nvPr/>
        </p:nvSpPr>
        <p:spPr>
          <a:xfrm>
            <a:off x="4799383" y="1668146"/>
            <a:ext cx="171405" cy="17107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62" name="Flowchart: Process 61">
            <a:extLst>
              <a:ext uri="{FF2B5EF4-FFF2-40B4-BE49-F238E27FC236}">
                <a16:creationId xmlns:a16="http://schemas.microsoft.com/office/drawing/2014/main" id="{6F0DD72D-D9EB-869C-5233-CA72B3CF47E9}"/>
              </a:ext>
            </a:extLst>
          </p:cNvPr>
          <p:cNvSpPr/>
          <p:nvPr/>
        </p:nvSpPr>
        <p:spPr>
          <a:xfrm>
            <a:off x="4520850" y="1944263"/>
            <a:ext cx="171405" cy="17107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sp>
        <p:nvSpPr>
          <p:cNvPr id="63" name="TextBox 62">
            <a:extLst>
              <a:ext uri="{FF2B5EF4-FFF2-40B4-BE49-F238E27FC236}">
                <a16:creationId xmlns:a16="http://schemas.microsoft.com/office/drawing/2014/main" id="{752CE41D-9E90-3DF3-0EAB-E9866E672722}"/>
              </a:ext>
            </a:extLst>
          </p:cNvPr>
          <p:cNvSpPr txBox="1"/>
          <p:nvPr/>
        </p:nvSpPr>
        <p:spPr>
          <a:xfrm>
            <a:off x="3882757" y="1378103"/>
            <a:ext cx="948813" cy="507831"/>
          </a:xfrm>
          <a:prstGeom prst="rect">
            <a:avLst/>
          </a:prstGeom>
          <a:noFill/>
        </p:spPr>
        <p:txBody>
          <a:bodyPr wrap="square" rtlCol="0">
            <a:spAutoFit/>
          </a:bodyPr>
          <a:lstStyle/>
          <a:p>
            <a:r>
              <a:rPr lang="en-US" sz="900" dirty="0"/>
              <a:t>Do You Know The Original Order #?</a:t>
            </a:r>
          </a:p>
        </p:txBody>
      </p:sp>
      <p:cxnSp>
        <p:nvCxnSpPr>
          <p:cNvPr id="64" name="Connector: Elbow 63">
            <a:extLst>
              <a:ext uri="{FF2B5EF4-FFF2-40B4-BE49-F238E27FC236}">
                <a16:creationId xmlns:a16="http://schemas.microsoft.com/office/drawing/2014/main" id="{BBBAAEC8-AF16-367D-9E0D-77B6152DFFB2}"/>
              </a:ext>
            </a:extLst>
          </p:cNvPr>
          <p:cNvCxnSpPr>
            <a:cxnSpLocks/>
            <a:stCxn id="60" idx="0"/>
            <a:endCxn id="47" idx="1"/>
          </p:cNvCxnSpPr>
          <p:nvPr/>
        </p:nvCxnSpPr>
        <p:spPr>
          <a:xfrm rot="5400000" flipH="1" flipV="1">
            <a:off x="5124592" y="925766"/>
            <a:ext cx="419706" cy="117725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5" name="Flowchart: Predefined Process 64">
            <a:extLst>
              <a:ext uri="{FF2B5EF4-FFF2-40B4-BE49-F238E27FC236}">
                <a16:creationId xmlns:a16="http://schemas.microsoft.com/office/drawing/2014/main" id="{4F98E886-93C7-7920-67CF-8098D64C035F}"/>
              </a:ext>
            </a:extLst>
          </p:cNvPr>
          <p:cNvSpPr/>
          <p:nvPr/>
        </p:nvSpPr>
        <p:spPr>
          <a:xfrm>
            <a:off x="7519201" y="2231738"/>
            <a:ext cx="1944205"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S5. Order Inquiry Using Serial Number</a:t>
            </a:r>
          </a:p>
        </p:txBody>
      </p:sp>
      <p:sp>
        <p:nvSpPr>
          <p:cNvPr id="66" name="TextBox 65">
            <a:extLst>
              <a:ext uri="{FF2B5EF4-FFF2-40B4-BE49-F238E27FC236}">
                <a16:creationId xmlns:a16="http://schemas.microsoft.com/office/drawing/2014/main" id="{A66C87AB-7F01-03BC-9281-BA1C7007BAD9}"/>
              </a:ext>
            </a:extLst>
          </p:cNvPr>
          <p:cNvSpPr txBox="1"/>
          <p:nvPr/>
        </p:nvSpPr>
        <p:spPr>
          <a:xfrm>
            <a:off x="5661054" y="3222725"/>
            <a:ext cx="1205916"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S6. Create A New Unit SOP</a:t>
            </a:r>
          </a:p>
        </p:txBody>
      </p:sp>
      <p:cxnSp>
        <p:nvCxnSpPr>
          <p:cNvPr id="67" name="Connector: Elbow 66">
            <a:extLst>
              <a:ext uri="{FF2B5EF4-FFF2-40B4-BE49-F238E27FC236}">
                <a16:creationId xmlns:a16="http://schemas.microsoft.com/office/drawing/2014/main" id="{BFCD49AE-13E6-8510-284A-D77363B95D7D}"/>
              </a:ext>
            </a:extLst>
          </p:cNvPr>
          <p:cNvCxnSpPr>
            <a:cxnSpLocks/>
            <a:stCxn id="60" idx="2"/>
            <a:endCxn id="65" idx="1"/>
          </p:cNvCxnSpPr>
          <p:nvPr/>
        </p:nvCxnSpPr>
        <p:spPr>
          <a:xfrm rot="16200000" flipH="1">
            <a:off x="5935693" y="882766"/>
            <a:ext cx="393635" cy="2773381"/>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0" name="Flowchart: Process 69">
            <a:extLst>
              <a:ext uri="{FF2B5EF4-FFF2-40B4-BE49-F238E27FC236}">
                <a16:creationId xmlns:a16="http://schemas.microsoft.com/office/drawing/2014/main" id="{9C4E1B97-5A2F-B560-E8CB-5FD02F28DF0C}"/>
              </a:ext>
            </a:extLst>
          </p:cNvPr>
          <p:cNvSpPr/>
          <p:nvPr/>
        </p:nvSpPr>
        <p:spPr>
          <a:xfrm>
            <a:off x="7827625" y="1057821"/>
            <a:ext cx="1327355" cy="47451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S3. Check With AR To Verify Payment In Full</a:t>
            </a:r>
          </a:p>
        </p:txBody>
      </p:sp>
      <p:cxnSp>
        <p:nvCxnSpPr>
          <p:cNvPr id="71" name="Straight Arrow Connector 70">
            <a:extLst>
              <a:ext uri="{FF2B5EF4-FFF2-40B4-BE49-F238E27FC236}">
                <a16:creationId xmlns:a16="http://schemas.microsoft.com/office/drawing/2014/main" id="{18969734-38D5-FCC5-8754-126F065C4364}"/>
              </a:ext>
            </a:extLst>
          </p:cNvPr>
          <p:cNvCxnSpPr>
            <a:cxnSpLocks/>
            <a:stCxn id="47" idx="3"/>
            <a:endCxn id="70" idx="1"/>
          </p:cNvCxnSpPr>
          <p:nvPr/>
        </p:nvCxnSpPr>
        <p:spPr>
          <a:xfrm flipV="1">
            <a:off x="7058698" y="1295078"/>
            <a:ext cx="768927" cy="946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0CEB181C-0FCD-B974-CBB0-7DD36D1C6EB6}"/>
              </a:ext>
            </a:extLst>
          </p:cNvPr>
          <p:cNvCxnSpPr>
            <a:cxnSpLocks/>
            <a:stCxn id="70" idx="3"/>
            <a:endCxn id="49" idx="1"/>
          </p:cNvCxnSpPr>
          <p:nvPr/>
        </p:nvCxnSpPr>
        <p:spPr>
          <a:xfrm flipV="1">
            <a:off x="9154980" y="1289991"/>
            <a:ext cx="768927" cy="5087"/>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CF6EDBCD-67BC-F6A2-799B-C0C47E918F9B}"/>
              </a:ext>
            </a:extLst>
          </p:cNvPr>
          <p:cNvCxnSpPr>
            <a:cxnSpLocks/>
            <a:stCxn id="66" idx="3"/>
            <a:endCxn id="45" idx="1"/>
          </p:cNvCxnSpPr>
          <p:nvPr/>
        </p:nvCxnSpPr>
        <p:spPr>
          <a:xfrm flipV="1">
            <a:off x="6866970" y="3456649"/>
            <a:ext cx="1898379" cy="195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EC30744C-EEDF-26E0-E74F-5C8970A8E928}"/>
              </a:ext>
            </a:extLst>
          </p:cNvPr>
          <p:cNvCxnSpPr>
            <a:cxnSpLocks/>
            <a:stCxn id="50" idx="3"/>
            <a:endCxn id="52" idx="1"/>
          </p:cNvCxnSpPr>
          <p:nvPr/>
        </p:nvCxnSpPr>
        <p:spPr>
          <a:xfrm flipV="1">
            <a:off x="2040704" y="4668184"/>
            <a:ext cx="390941" cy="6666"/>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F1E75E25-C2DE-0135-5174-7F83BE21652B}"/>
              </a:ext>
            </a:extLst>
          </p:cNvPr>
          <p:cNvCxnSpPr>
            <a:cxnSpLocks/>
            <a:stCxn id="52" idx="3"/>
            <a:endCxn id="53" idx="1"/>
          </p:cNvCxnSpPr>
          <p:nvPr/>
        </p:nvCxnSpPr>
        <p:spPr>
          <a:xfrm>
            <a:off x="4066989" y="4668184"/>
            <a:ext cx="359746" cy="351"/>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D64C85EF-4081-A1C4-891E-A544C5C4B0C5}"/>
              </a:ext>
            </a:extLst>
          </p:cNvPr>
          <p:cNvCxnSpPr>
            <a:cxnSpLocks/>
            <a:stCxn id="53" idx="3"/>
            <a:endCxn id="54" idx="1"/>
          </p:cNvCxnSpPr>
          <p:nvPr/>
        </p:nvCxnSpPr>
        <p:spPr>
          <a:xfrm flipV="1">
            <a:off x="6062079" y="4668013"/>
            <a:ext cx="514596" cy="522"/>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B1B0C91F-9501-291F-60F6-8060C11B6732}"/>
              </a:ext>
            </a:extLst>
          </p:cNvPr>
          <p:cNvCxnSpPr>
            <a:cxnSpLocks/>
            <a:stCxn id="54" idx="3"/>
            <a:endCxn id="55" idx="1"/>
          </p:cNvCxnSpPr>
          <p:nvPr/>
        </p:nvCxnSpPr>
        <p:spPr>
          <a:xfrm flipV="1">
            <a:off x="7952328" y="4658181"/>
            <a:ext cx="476865" cy="9832"/>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118149D9-E600-3A1B-DF00-495C50701D66}"/>
              </a:ext>
            </a:extLst>
          </p:cNvPr>
          <p:cNvCxnSpPr>
            <a:cxnSpLocks/>
            <a:stCxn id="55" idx="3"/>
            <a:endCxn id="56" idx="1"/>
          </p:cNvCxnSpPr>
          <p:nvPr/>
        </p:nvCxnSpPr>
        <p:spPr>
          <a:xfrm>
            <a:off x="9899116" y="4658181"/>
            <a:ext cx="335589" cy="0"/>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88F0D383-1172-D3A2-8DFB-E0D1308806FD}"/>
              </a:ext>
            </a:extLst>
          </p:cNvPr>
          <p:cNvCxnSpPr>
            <a:cxnSpLocks/>
            <a:stCxn id="39" idx="3"/>
            <a:endCxn id="41" idx="1"/>
          </p:cNvCxnSpPr>
          <p:nvPr/>
        </p:nvCxnSpPr>
        <p:spPr>
          <a:xfrm>
            <a:off x="2040704" y="2738772"/>
            <a:ext cx="926695"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FFCFBB42-1422-3DD1-1C71-9ECB2F405289}"/>
              </a:ext>
            </a:extLst>
          </p:cNvPr>
          <p:cNvCxnSpPr>
            <a:cxnSpLocks/>
            <a:stCxn id="65" idx="0"/>
            <a:endCxn id="70" idx="2"/>
          </p:cNvCxnSpPr>
          <p:nvPr/>
        </p:nvCxnSpPr>
        <p:spPr>
          <a:xfrm flipH="1" flipV="1">
            <a:off x="8491303" y="1532334"/>
            <a:ext cx="1" cy="69940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0E501E94-A59D-0FF6-102E-43E6D9F20D09}"/>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05 12 2025 19 10</a:t>
            </a:r>
          </a:p>
        </p:txBody>
      </p:sp>
      <p:sp>
        <p:nvSpPr>
          <p:cNvPr id="7" name="TextBox 6">
            <a:extLst>
              <a:ext uri="{FF2B5EF4-FFF2-40B4-BE49-F238E27FC236}">
                <a16:creationId xmlns:a16="http://schemas.microsoft.com/office/drawing/2014/main" id="{187C695D-AF97-D4ED-0B93-30931D4ABE42}"/>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4" name="TextBox 3">
            <a:extLst>
              <a:ext uri="{FF2B5EF4-FFF2-40B4-BE49-F238E27FC236}">
                <a16:creationId xmlns:a16="http://schemas.microsoft.com/office/drawing/2014/main" id="{AF9FFA3D-6E01-16FD-A2E1-CA40F9F5DB9B}"/>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25 12 28 0800</a:t>
            </a:r>
          </a:p>
        </p:txBody>
      </p:sp>
      <p:sp>
        <p:nvSpPr>
          <p:cNvPr id="2" name="-S3. Ver_Pay_status">
            <a:extLst>
              <a:ext uri="{FF2B5EF4-FFF2-40B4-BE49-F238E27FC236}">
                <a16:creationId xmlns:a16="http://schemas.microsoft.com/office/drawing/2014/main" id="{6C368F89-ED71-876F-1C3A-5AD2616A5C57}"/>
              </a:ext>
            </a:extLst>
          </p:cNvPr>
          <p:cNvSpPr>
            <a:spLocks noGrp="1"/>
          </p:cNvSpPr>
          <p:nvPr>
            <p:ph type="title"/>
          </p:nvPr>
        </p:nvSpPr>
        <p:spPr>
          <a:xfrm>
            <a:off x="838200" y="314871"/>
            <a:ext cx="10515600" cy="428753"/>
          </a:xfrm>
        </p:spPr>
        <p:txBody>
          <a:bodyPr>
            <a:noAutofit/>
          </a:bodyPr>
          <a:lstStyle/>
          <a:p>
            <a:pPr algn="ctr"/>
            <a:r>
              <a:rPr lang="en-US" sz="1600" b="1" dirty="0"/>
              <a:t>S3. Verify Payment Status – Startup SOP</a:t>
            </a:r>
          </a:p>
        </p:txBody>
      </p:sp>
    </p:spTree>
    <p:extLst>
      <p:ext uri="{BB962C8B-B14F-4D97-AF65-F5344CB8AC3E}">
        <p14:creationId xmlns:p14="http://schemas.microsoft.com/office/powerpoint/2010/main" val="29604036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DDD3B-55B7-3F8F-101B-CDEE0B029771}"/>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2EC85A4A-B6C0-19C8-FF25-5BBC46F95113}"/>
              </a:ext>
            </a:extLst>
          </p:cNvPr>
          <p:cNvSpPr/>
          <p:nvPr/>
        </p:nvSpPr>
        <p:spPr>
          <a:xfrm>
            <a:off x="9812615" y="838837"/>
            <a:ext cx="1693800" cy="1327661"/>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sp>
        <p:nvSpPr>
          <p:cNvPr id="39" name="Flowchart: Process 38">
            <a:extLst>
              <a:ext uri="{FF2B5EF4-FFF2-40B4-BE49-F238E27FC236}">
                <a16:creationId xmlns:a16="http://schemas.microsoft.com/office/drawing/2014/main" id="{C26CF424-38B5-144C-4AA9-23C67CEA6169}"/>
              </a:ext>
            </a:extLst>
          </p:cNvPr>
          <p:cNvSpPr/>
          <p:nvPr/>
        </p:nvSpPr>
        <p:spPr>
          <a:xfrm>
            <a:off x="713349" y="2526777"/>
            <a:ext cx="1327355" cy="42399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 Customer Calls For Start-Up</a:t>
            </a:r>
          </a:p>
        </p:txBody>
      </p:sp>
      <p:sp>
        <p:nvSpPr>
          <p:cNvPr id="41" name="Flowchart: Decision 40">
            <a:extLst>
              <a:ext uri="{FF2B5EF4-FFF2-40B4-BE49-F238E27FC236}">
                <a16:creationId xmlns:a16="http://schemas.microsoft.com/office/drawing/2014/main" id="{548FC570-4392-BCE1-77B5-DACDAEA33C38}"/>
              </a:ext>
            </a:extLst>
          </p:cNvPr>
          <p:cNvSpPr/>
          <p:nvPr/>
        </p:nvSpPr>
        <p:spPr>
          <a:xfrm>
            <a:off x="2967399" y="2556048"/>
            <a:ext cx="570871" cy="365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D1</a:t>
            </a:r>
          </a:p>
        </p:txBody>
      </p:sp>
      <p:sp>
        <p:nvSpPr>
          <p:cNvPr id="42" name="Flowchart: Process 41">
            <a:extLst>
              <a:ext uri="{FF2B5EF4-FFF2-40B4-BE49-F238E27FC236}">
                <a16:creationId xmlns:a16="http://schemas.microsoft.com/office/drawing/2014/main" id="{8EA6A2F0-619D-6290-F1B0-CFE03C3C4C52}"/>
              </a:ext>
            </a:extLst>
          </p:cNvPr>
          <p:cNvSpPr/>
          <p:nvPr/>
        </p:nvSpPr>
        <p:spPr>
          <a:xfrm>
            <a:off x="3323024" y="2497204"/>
            <a:ext cx="224605" cy="17944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43" name="Flowchart: Process 42">
            <a:extLst>
              <a:ext uri="{FF2B5EF4-FFF2-40B4-BE49-F238E27FC236}">
                <a16:creationId xmlns:a16="http://schemas.microsoft.com/office/drawing/2014/main" id="{B66A5CFC-7276-2D88-7FBC-2D7B1EBF5F61}"/>
              </a:ext>
            </a:extLst>
          </p:cNvPr>
          <p:cNvSpPr/>
          <p:nvPr/>
        </p:nvSpPr>
        <p:spPr>
          <a:xfrm>
            <a:off x="2958041" y="2786835"/>
            <a:ext cx="224605" cy="17944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sp>
        <p:nvSpPr>
          <p:cNvPr id="44" name="TextBox 43">
            <a:extLst>
              <a:ext uri="{FF2B5EF4-FFF2-40B4-BE49-F238E27FC236}">
                <a16:creationId xmlns:a16="http://schemas.microsoft.com/office/drawing/2014/main" id="{3166E2C8-B659-6A04-48B8-868C22C5690F}"/>
              </a:ext>
            </a:extLst>
          </p:cNvPr>
          <p:cNvSpPr txBox="1"/>
          <p:nvPr/>
        </p:nvSpPr>
        <p:spPr>
          <a:xfrm>
            <a:off x="2332800" y="2331480"/>
            <a:ext cx="948813" cy="369332"/>
          </a:xfrm>
          <a:prstGeom prst="rect">
            <a:avLst/>
          </a:prstGeom>
          <a:noFill/>
        </p:spPr>
        <p:txBody>
          <a:bodyPr wrap="square" rtlCol="0">
            <a:spAutoFit/>
          </a:bodyPr>
          <a:lstStyle/>
          <a:p>
            <a:r>
              <a:rPr lang="en-US" sz="900" dirty="0"/>
              <a:t>Q1.Did We Sell The Generator? </a:t>
            </a:r>
          </a:p>
        </p:txBody>
      </p:sp>
      <p:sp>
        <p:nvSpPr>
          <p:cNvPr id="45" name="TextBox 44">
            <a:extLst>
              <a:ext uri="{FF2B5EF4-FFF2-40B4-BE49-F238E27FC236}">
                <a16:creationId xmlns:a16="http://schemas.microsoft.com/office/drawing/2014/main" id="{4A5BF67D-5BB7-428C-EFB6-E339CB14D767}"/>
              </a:ext>
            </a:extLst>
          </p:cNvPr>
          <p:cNvSpPr txBox="1"/>
          <p:nvPr/>
        </p:nvSpPr>
        <p:spPr>
          <a:xfrm>
            <a:off x="8765349" y="3220771"/>
            <a:ext cx="1721329"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S7. Service Order Process at charge SOP</a:t>
            </a:r>
          </a:p>
        </p:txBody>
      </p:sp>
      <p:cxnSp>
        <p:nvCxnSpPr>
          <p:cNvPr id="46" name="Connector: Elbow 45">
            <a:extLst>
              <a:ext uri="{FF2B5EF4-FFF2-40B4-BE49-F238E27FC236}">
                <a16:creationId xmlns:a16="http://schemas.microsoft.com/office/drawing/2014/main" id="{A70D6E3A-5325-2649-A0C9-57578FBE23AB}"/>
              </a:ext>
            </a:extLst>
          </p:cNvPr>
          <p:cNvCxnSpPr>
            <a:cxnSpLocks/>
            <a:stCxn id="41" idx="2"/>
            <a:endCxn id="66" idx="1"/>
          </p:cNvCxnSpPr>
          <p:nvPr/>
        </p:nvCxnSpPr>
        <p:spPr>
          <a:xfrm rot="16200000" flipH="1">
            <a:off x="4188391" y="1985939"/>
            <a:ext cx="537107" cy="2408219"/>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 name="Flowchart: Predefined Process 46">
            <a:extLst>
              <a:ext uri="{FF2B5EF4-FFF2-40B4-BE49-F238E27FC236}">
                <a16:creationId xmlns:a16="http://schemas.microsoft.com/office/drawing/2014/main" id="{FCDA071A-6AE8-B7B9-AAAE-4A5C928B573C}"/>
              </a:ext>
            </a:extLst>
          </p:cNvPr>
          <p:cNvSpPr/>
          <p:nvPr/>
        </p:nvSpPr>
        <p:spPr>
          <a:xfrm>
            <a:off x="5923071" y="1070001"/>
            <a:ext cx="1135627"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S2. Order Inquiry </a:t>
            </a:r>
          </a:p>
        </p:txBody>
      </p:sp>
      <p:cxnSp>
        <p:nvCxnSpPr>
          <p:cNvPr id="48" name="Connector: Elbow 47">
            <a:extLst>
              <a:ext uri="{FF2B5EF4-FFF2-40B4-BE49-F238E27FC236}">
                <a16:creationId xmlns:a16="http://schemas.microsoft.com/office/drawing/2014/main" id="{8F4FAB0A-6A5C-46B1-4794-969F4651DFB4}"/>
              </a:ext>
            </a:extLst>
          </p:cNvPr>
          <p:cNvCxnSpPr>
            <a:cxnSpLocks/>
            <a:stCxn id="41" idx="0"/>
            <a:endCxn id="60" idx="1"/>
          </p:cNvCxnSpPr>
          <p:nvPr/>
        </p:nvCxnSpPr>
        <p:spPr>
          <a:xfrm rot="5400000" flipH="1" flipV="1">
            <a:off x="3561610" y="1589667"/>
            <a:ext cx="657606" cy="127515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Flowchart: Predefined Process 48">
            <a:extLst>
              <a:ext uri="{FF2B5EF4-FFF2-40B4-BE49-F238E27FC236}">
                <a16:creationId xmlns:a16="http://schemas.microsoft.com/office/drawing/2014/main" id="{E9DB124C-75FD-BD1B-8D54-5C47E23EA930}"/>
              </a:ext>
            </a:extLst>
          </p:cNvPr>
          <p:cNvSpPr/>
          <p:nvPr/>
        </p:nvSpPr>
        <p:spPr>
          <a:xfrm>
            <a:off x="9923907" y="1055454"/>
            <a:ext cx="1471216"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S4. Create Start-Up Incident</a:t>
            </a:r>
          </a:p>
        </p:txBody>
      </p:sp>
      <p:sp>
        <p:nvSpPr>
          <p:cNvPr id="50" name="Flowchart: Predefined Process 49">
            <a:extLst>
              <a:ext uri="{FF2B5EF4-FFF2-40B4-BE49-F238E27FC236}">
                <a16:creationId xmlns:a16="http://schemas.microsoft.com/office/drawing/2014/main" id="{A591F7A7-0F91-E740-D072-2EE352CA1F0F}"/>
              </a:ext>
            </a:extLst>
          </p:cNvPr>
          <p:cNvSpPr/>
          <p:nvPr/>
        </p:nvSpPr>
        <p:spPr>
          <a:xfrm>
            <a:off x="405360" y="4455642"/>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S8. Add Start-Up Notes</a:t>
            </a:r>
          </a:p>
        </p:txBody>
      </p:sp>
      <p:cxnSp>
        <p:nvCxnSpPr>
          <p:cNvPr id="51" name="Connector: Elbow 50">
            <a:extLst>
              <a:ext uri="{FF2B5EF4-FFF2-40B4-BE49-F238E27FC236}">
                <a16:creationId xmlns:a16="http://schemas.microsoft.com/office/drawing/2014/main" id="{B26DCBAD-029A-607D-152B-5E033056E414}"/>
              </a:ext>
            </a:extLst>
          </p:cNvPr>
          <p:cNvCxnSpPr>
            <a:cxnSpLocks/>
            <a:stCxn id="49" idx="2"/>
            <a:endCxn id="50" idx="0"/>
          </p:cNvCxnSpPr>
          <p:nvPr/>
        </p:nvCxnSpPr>
        <p:spPr>
          <a:xfrm rot="5400000">
            <a:off x="4475717" y="-1728156"/>
            <a:ext cx="2931114" cy="9436483"/>
          </a:xfrm>
          <a:prstGeom prst="bentConnector3">
            <a:avLst>
              <a:gd name="adj1" fmla="val 85478"/>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52" name="Flowchart: Predefined Process 51">
            <a:extLst>
              <a:ext uri="{FF2B5EF4-FFF2-40B4-BE49-F238E27FC236}">
                <a16:creationId xmlns:a16="http://schemas.microsoft.com/office/drawing/2014/main" id="{FBA08655-7A68-343A-FD36-E18BA5BCE3BF}"/>
              </a:ext>
            </a:extLst>
          </p:cNvPr>
          <p:cNvSpPr/>
          <p:nvPr/>
        </p:nvSpPr>
        <p:spPr>
          <a:xfrm>
            <a:off x="2431645" y="4448976"/>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S9. Add Line</a:t>
            </a:r>
          </a:p>
        </p:txBody>
      </p:sp>
      <p:sp>
        <p:nvSpPr>
          <p:cNvPr id="53" name="Flowchart: Predefined Process 52">
            <a:extLst>
              <a:ext uri="{FF2B5EF4-FFF2-40B4-BE49-F238E27FC236}">
                <a16:creationId xmlns:a16="http://schemas.microsoft.com/office/drawing/2014/main" id="{72A9C583-AF52-17B5-97AA-AF76C1114245}"/>
              </a:ext>
            </a:extLst>
          </p:cNvPr>
          <p:cNvSpPr/>
          <p:nvPr/>
        </p:nvSpPr>
        <p:spPr>
          <a:xfrm>
            <a:off x="4426735" y="4449327"/>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S10. Convert to SRO and Schedule</a:t>
            </a:r>
          </a:p>
        </p:txBody>
      </p:sp>
      <p:sp>
        <p:nvSpPr>
          <p:cNvPr id="54" name="Flowchart: Predefined Process 53">
            <a:extLst>
              <a:ext uri="{FF2B5EF4-FFF2-40B4-BE49-F238E27FC236}">
                <a16:creationId xmlns:a16="http://schemas.microsoft.com/office/drawing/2014/main" id="{3D78B780-89CB-2C5C-1175-A06EBEF9F822}"/>
              </a:ext>
            </a:extLst>
          </p:cNvPr>
          <p:cNvSpPr/>
          <p:nvPr/>
        </p:nvSpPr>
        <p:spPr>
          <a:xfrm>
            <a:off x="6576675" y="4448804"/>
            <a:ext cx="1375653" cy="438417"/>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S11. Print Pick Ticket</a:t>
            </a:r>
          </a:p>
        </p:txBody>
      </p:sp>
      <p:sp>
        <p:nvSpPr>
          <p:cNvPr id="55" name="Flowchart: Predefined Process 54">
            <a:extLst>
              <a:ext uri="{FF2B5EF4-FFF2-40B4-BE49-F238E27FC236}">
                <a16:creationId xmlns:a16="http://schemas.microsoft.com/office/drawing/2014/main" id="{7EB28D65-304C-E71A-4547-D7D81BE16ECD}"/>
              </a:ext>
            </a:extLst>
          </p:cNvPr>
          <p:cNvSpPr/>
          <p:nvPr/>
        </p:nvSpPr>
        <p:spPr>
          <a:xfrm>
            <a:off x="8429193" y="4438973"/>
            <a:ext cx="1469923"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S12. Shipping Feedback Ship </a:t>
            </a:r>
          </a:p>
        </p:txBody>
      </p:sp>
      <p:sp>
        <p:nvSpPr>
          <p:cNvPr id="56" name="Flowchart: Process 55">
            <a:extLst>
              <a:ext uri="{FF2B5EF4-FFF2-40B4-BE49-F238E27FC236}">
                <a16:creationId xmlns:a16="http://schemas.microsoft.com/office/drawing/2014/main" id="{F4D4D389-2D08-442F-276E-D68CE12F087F}"/>
              </a:ext>
            </a:extLst>
          </p:cNvPr>
          <p:cNvSpPr/>
          <p:nvPr/>
        </p:nvSpPr>
        <p:spPr>
          <a:xfrm>
            <a:off x="10234705" y="4422303"/>
            <a:ext cx="1327355" cy="47175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S13. Tech Performs Start-Up</a:t>
            </a:r>
          </a:p>
        </p:txBody>
      </p:sp>
      <p:sp>
        <p:nvSpPr>
          <p:cNvPr id="57" name="Flowchart: Predefined Process 56">
            <a:extLst>
              <a:ext uri="{FF2B5EF4-FFF2-40B4-BE49-F238E27FC236}">
                <a16:creationId xmlns:a16="http://schemas.microsoft.com/office/drawing/2014/main" id="{5A2CAF4B-D284-167C-8E5C-7F7A120A9724}"/>
              </a:ext>
            </a:extLst>
          </p:cNvPr>
          <p:cNvSpPr/>
          <p:nvPr/>
        </p:nvSpPr>
        <p:spPr>
          <a:xfrm>
            <a:off x="5661054" y="5340892"/>
            <a:ext cx="1469923"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S14. Register A Unit</a:t>
            </a:r>
          </a:p>
        </p:txBody>
      </p:sp>
      <p:cxnSp>
        <p:nvCxnSpPr>
          <p:cNvPr id="58" name="Connector: Elbow 57">
            <a:extLst>
              <a:ext uri="{FF2B5EF4-FFF2-40B4-BE49-F238E27FC236}">
                <a16:creationId xmlns:a16="http://schemas.microsoft.com/office/drawing/2014/main" id="{AFBA94BE-08DA-5F39-7657-007835A23665}"/>
              </a:ext>
            </a:extLst>
          </p:cNvPr>
          <p:cNvCxnSpPr>
            <a:cxnSpLocks/>
            <a:stCxn id="56" idx="2"/>
            <a:endCxn id="57" idx="0"/>
          </p:cNvCxnSpPr>
          <p:nvPr/>
        </p:nvCxnSpPr>
        <p:spPr>
          <a:xfrm rot="5400000">
            <a:off x="8423783" y="2866292"/>
            <a:ext cx="446834" cy="4502367"/>
          </a:xfrm>
          <a:prstGeom prst="bentConnector3">
            <a:avLst>
              <a:gd name="adj1" fmla="val 50000"/>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60" name="Flowchart: Decision 59">
            <a:extLst>
              <a:ext uri="{FF2B5EF4-FFF2-40B4-BE49-F238E27FC236}">
                <a16:creationId xmlns:a16="http://schemas.microsoft.com/office/drawing/2014/main" id="{BF98765F-7332-394E-B6CE-97644321578A}"/>
              </a:ext>
            </a:extLst>
          </p:cNvPr>
          <p:cNvSpPr/>
          <p:nvPr/>
        </p:nvSpPr>
        <p:spPr>
          <a:xfrm>
            <a:off x="4527992" y="1724244"/>
            <a:ext cx="435655" cy="34839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D2</a:t>
            </a:r>
          </a:p>
        </p:txBody>
      </p:sp>
      <p:sp>
        <p:nvSpPr>
          <p:cNvPr id="61" name="Flowchart: Process 60">
            <a:extLst>
              <a:ext uri="{FF2B5EF4-FFF2-40B4-BE49-F238E27FC236}">
                <a16:creationId xmlns:a16="http://schemas.microsoft.com/office/drawing/2014/main" id="{A4D43767-6FB0-CA5B-A9D5-59DA14264721}"/>
              </a:ext>
            </a:extLst>
          </p:cNvPr>
          <p:cNvSpPr/>
          <p:nvPr/>
        </p:nvSpPr>
        <p:spPr>
          <a:xfrm>
            <a:off x="4799383" y="1668146"/>
            <a:ext cx="171405" cy="17107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62" name="Flowchart: Process 61">
            <a:extLst>
              <a:ext uri="{FF2B5EF4-FFF2-40B4-BE49-F238E27FC236}">
                <a16:creationId xmlns:a16="http://schemas.microsoft.com/office/drawing/2014/main" id="{21751A16-4E93-7D94-909A-BB7968261D15}"/>
              </a:ext>
            </a:extLst>
          </p:cNvPr>
          <p:cNvSpPr/>
          <p:nvPr/>
        </p:nvSpPr>
        <p:spPr>
          <a:xfrm>
            <a:off x="4520850" y="1944263"/>
            <a:ext cx="171405" cy="17107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sp>
        <p:nvSpPr>
          <p:cNvPr id="63" name="TextBox 62">
            <a:extLst>
              <a:ext uri="{FF2B5EF4-FFF2-40B4-BE49-F238E27FC236}">
                <a16:creationId xmlns:a16="http://schemas.microsoft.com/office/drawing/2014/main" id="{2942B287-9D26-95B0-B7B6-264B30416B7F}"/>
              </a:ext>
            </a:extLst>
          </p:cNvPr>
          <p:cNvSpPr txBox="1"/>
          <p:nvPr/>
        </p:nvSpPr>
        <p:spPr>
          <a:xfrm>
            <a:off x="3882757" y="1378103"/>
            <a:ext cx="948813" cy="507831"/>
          </a:xfrm>
          <a:prstGeom prst="rect">
            <a:avLst/>
          </a:prstGeom>
          <a:noFill/>
        </p:spPr>
        <p:txBody>
          <a:bodyPr wrap="square" rtlCol="0">
            <a:spAutoFit/>
          </a:bodyPr>
          <a:lstStyle/>
          <a:p>
            <a:r>
              <a:rPr lang="en-US" sz="900" dirty="0"/>
              <a:t>Do You Know The Original Order #?</a:t>
            </a:r>
          </a:p>
        </p:txBody>
      </p:sp>
      <p:cxnSp>
        <p:nvCxnSpPr>
          <p:cNvPr id="64" name="Connector: Elbow 63">
            <a:extLst>
              <a:ext uri="{FF2B5EF4-FFF2-40B4-BE49-F238E27FC236}">
                <a16:creationId xmlns:a16="http://schemas.microsoft.com/office/drawing/2014/main" id="{7E7648F8-E648-05A4-BF05-D141A41B7A4A}"/>
              </a:ext>
            </a:extLst>
          </p:cNvPr>
          <p:cNvCxnSpPr>
            <a:cxnSpLocks/>
            <a:stCxn id="60" idx="0"/>
            <a:endCxn id="47" idx="1"/>
          </p:cNvCxnSpPr>
          <p:nvPr/>
        </p:nvCxnSpPr>
        <p:spPr>
          <a:xfrm rot="5400000" flipH="1" flipV="1">
            <a:off x="5124592" y="925766"/>
            <a:ext cx="419706" cy="117725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5" name="Flowchart: Predefined Process 64">
            <a:extLst>
              <a:ext uri="{FF2B5EF4-FFF2-40B4-BE49-F238E27FC236}">
                <a16:creationId xmlns:a16="http://schemas.microsoft.com/office/drawing/2014/main" id="{182AF712-2F9F-5CAB-AB11-BB5040CD2D44}"/>
              </a:ext>
            </a:extLst>
          </p:cNvPr>
          <p:cNvSpPr/>
          <p:nvPr/>
        </p:nvSpPr>
        <p:spPr>
          <a:xfrm>
            <a:off x="7519201" y="2231738"/>
            <a:ext cx="1944205"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S5. Order Inquiry Using Serial Number</a:t>
            </a:r>
          </a:p>
        </p:txBody>
      </p:sp>
      <p:sp>
        <p:nvSpPr>
          <p:cNvPr id="66" name="TextBox 65">
            <a:extLst>
              <a:ext uri="{FF2B5EF4-FFF2-40B4-BE49-F238E27FC236}">
                <a16:creationId xmlns:a16="http://schemas.microsoft.com/office/drawing/2014/main" id="{648D56B9-47E4-7A92-5504-0A4BEEEB103B}"/>
              </a:ext>
            </a:extLst>
          </p:cNvPr>
          <p:cNvSpPr txBox="1"/>
          <p:nvPr/>
        </p:nvSpPr>
        <p:spPr>
          <a:xfrm>
            <a:off x="5661054" y="3222725"/>
            <a:ext cx="1205916"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S6. Create A New Unit SOP</a:t>
            </a:r>
          </a:p>
        </p:txBody>
      </p:sp>
      <p:cxnSp>
        <p:nvCxnSpPr>
          <p:cNvPr id="67" name="Connector: Elbow 66">
            <a:extLst>
              <a:ext uri="{FF2B5EF4-FFF2-40B4-BE49-F238E27FC236}">
                <a16:creationId xmlns:a16="http://schemas.microsoft.com/office/drawing/2014/main" id="{1E1B19A8-3D71-FF89-EA41-5C1B30AE2D3B}"/>
              </a:ext>
            </a:extLst>
          </p:cNvPr>
          <p:cNvCxnSpPr>
            <a:cxnSpLocks/>
            <a:stCxn id="60" idx="2"/>
            <a:endCxn id="65" idx="1"/>
          </p:cNvCxnSpPr>
          <p:nvPr/>
        </p:nvCxnSpPr>
        <p:spPr>
          <a:xfrm rot="16200000" flipH="1">
            <a:off x="5935693" y="882766"/>
            <a:ext cx="393635" cy="2773381"/>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0" name="Flowchart: Process 69">
            <a:extLst>
              <a:ext uri="{FF2B5EF4-FFF2-40B4-BE49-F238E27FC236}">
                <a16:creationId xmlns:a16="http://schemas.microsoft.com/office/drawing/2014/main" id="{9D6F4226-BE36-CA45-2B79-7AA2D46CF58F}"/>
              </a:ext>
            </a:extLst>
          </p:cNvPr>
          <p:cNvSpPr/>
          <p:nvPr/>
        </p:nvSpPr>
        <p:spPr>
          <a:xfrm>
            <a:off x="7827625" y="1057821"/>
            <a:ext cx="1327355" cy="47451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S3. Check With AR To Verify Payment In Full</a:t>
            </a:r>
          </a:p>
        </p:txBody>
      </p:sp>
      <p:cxnSp>
        <p:nvCxnSpPr>
          <p:cNvPr id="71" name="Straight Arrow Connector 70">
            <a:extLst>
              <a:ext uri="{FF2B5EF4-FFF2-40B4-BE49-F238E27FC236}">
                <a16:creationId xmlns:a16="http://schemas.microsoft.com/office/drawing/2014/main" id="{8D3F234D-57E6-6B3D-9A5F-09B62814C2BF}"/>
              </a:ext>
            </a:extLst>
          </p:cNvPr>
          <p:cNvCxnSpPr>
            <a:cxnSpLocks/>
            <a:stCxn id="47" idx="3"/>
            <a:endCxn id="70" idx="1"/>
          </p:cNvCxnSpPr>
          <p:nvPr/>
        </p:nvCxnSpPr>
        <p:spPr>
          <a:xfrm flipV="1">
            <a:off x="7058698" y="1295078"/>
            <a:ext cx="768927" cy="946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DE48041C-27F0-84CA-B02A-F0A34192A4AA}"/>
              </a:ext>
            </a:extLst>
          </p:cNvPr>
          <p:cNvCxnSpPr>
            <a:cxnSpLocks/>
            <a:stCxn id="70" idx="3"/>
            <a:endCxn id="49" idx="1"/>
          </p:cNvCxnSpPr>
          <p:nvPr/>
        </p:nvCxnSpPr>
        <p:spPr>
          <a:xfrm flipV="1">
            <a:off x="9154980" y="1289991"/>
            <a:ext cx="768927" cy="5087"/>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EF3252FF-E476-9F7F-75AC-B31098A249CB}"/>
              </a:ext>
            </a:extLst>
          </p:cNvPr>
          <p:cNvCxnSpPr>
            <a:cxnSpLocks/>
            <a:stCxn id="66" idx="3"/>
            <a:endCxn id="45" idx="1"/>
          </p:cNvCxnSpPr>
          <p:nvPr/>
        </p:nvCxnSpPr>
        <p:spPr>
          <a:xfrm flipV="1">
            <a:off x="6866970" y="3456649"/>
            <a:ext cx="1898379" cy="195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FF60350F-7E2B-FD84-7E1D-0BADD01F61BD}"/>
              </a:ext>
            </a:extLst>
          </p:cNvPr>
          <p:cNvCxnSpPr>
            <a:cxnSpLocks/>
            <a:stCxn id="50" idx="3"/>
            <a:endCxn id="52" idx="1"/>
          </p:cNvCxnSpPr>
          <p:nvPr/>
        </p:nvCxnSpPr>
        <p:spPr>
          <a:xfrm flipV="1">
            <a:off x="2040704" y="4668184"/>
            <a:ext cx="390941" cy="6666"/>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E45F4FF3-4C0F-E60C-AB3B-39B34B88D02B}"/>
              </a:ext>
            </a:extLst>
          </p:cNvPr>
          <p:cNvCxnSpPr>
            <a:cxnSpLocks/>
            <a:stCxn id="52" idx="3"/>
            <a:endCxn id="53" idx="1"/>
          </p:cNvCxnSpPr>
          <p:nvPr/>
        </p:nvCxnSpPr>
        <p:spPr>
          <a:xfrm>
            <a:off x="4066989" y="4668184"/>
            <a:ext cx="359746" cy="351"/>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AD0B77DD-A96E-0936-F4FA-FFD5FC201EB5}"/>
              </a:ext>
            </a:extLst>
          </p:cNvPr>
          <p:cNvCxnSpPr>
            <a:cxnSpLocks/>
            <a:stCxn id="53" idx="3"/>
            <a:endCxn id="54" idx="1"/>
          </p:cNvCxnSpPr>
          <p:nvPr/>
        </p:nvCxnSpPr>
        <p:spPr>
          <a:xfrm flipV="1">
            <a:off x="6062079" y="4668013"/>
            <a:ext cx="514596" cy="522"/>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4CA53016-66A9-96DA-9679-0057C8AAB097}"/>
              </a:ext>
            </a:extLst>
          </p:cNvPr>
          <p:cNvCxnSpPr>
            <a:cxnSpLocks/>
            <a:stCxn id="54" idx="3"/>
            <a:endCxn id="55" idx="1"/>
          </p:cNvCxnSpPr>
          <p:nvPr/>
        </p:nvCxnSpPr>
        <p:spPr>
          <a:xfrm flipV="1">
            <a:off x="7952328" y="4658181"/>
            <a:ext cx="476865" cy="9832"/>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78FC65F6-0D8E-6BA7-E7E8-942D63AF83D2}"/>
              </a:ext>
            </a:extLst>
          </p:cNvPr>
          <p:cNvCxnSpPr>
            <a:cxnSpLocks/>
            <a:stCxn id="55" idx="3"/>
            <a:endCxn id="56" idx="1"/>
          </p:cNvCxnSpPr>
          <p:nvPr/>
        </p:nvCxnSpPr>
        <p:spPr>
          <a:xfrm>
            <a:off x="9899116" y="4658181"/>
            <a:ext cx="335589" cy="0"/>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84BE43B3-C7F8-52E0-0D96-693B6DD7DA1B}"/>
              </a:ext>
            </a:extLst>
          </p:cNvPr>
          <p:cNvCxnSpPr>
            <a:cxnSpLocks/>
            <a:stCxn id="39" idx="3"/>
            <a:endCxn id="41" idx="1"/>
          </p:cNvCxnSpPr>
          <p:nvPr/>
        </p:nvCxnSpPr>
        <p:spPr>
          <a:xfrm>
            <a:off x="2040704" y="2738772"/>
            <a:ext cx="926695"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5D45DA29-BB2D-A783-BC84-4B4FCBFFFCE5}"/>
              </a:ext>
            </a:extLst>
          </p:cNvPr>
          <p:cNvCxnSpPr>
            <a:cxnSpLocks/>
            <a:stCxn id="65" idx="0"/>
            <a:endCxn id="70" idx="2"/>
          </p:cNvCxnSpPr>
          <p:nvPr/>
        </p:nvCxnSpPr>
        <p:spPr>
          <a:xfrm flipH="1" flipV="1">
            <a:off x="8491303" y="1532334"/>
            <a:ext cx="1" cy="69940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09C98F60-C46C-0CBF-7064-B7D3A4020890}"/>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05 12 2025 19 10</a:t>
            </a:r>
          </a:p>
        </p:txBody>
      </p:sp>
      <p:sp>
        <p:nvSpPr>
          <p:cNvPr id="7" name="TextBox 6">
            <a:extLst>
              <a:ext uri="{FF2B5EF4-FFF2-40B4-BE49-F238E27FC236}">
                <a16:creationId xmlns:a16="http://schemas.microsoft.com/office/drawing/2014/main" id="{2065202D-73ED-D95B-80E1-793C540A583F}"/>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4" name="TextBox 3">
            <a:extLst>
              <a:ext uri="{FF2B5EF4-FFF2-40B4-BE49-F238E27FC236}">
                <a16:creationId xmlns:a16="http://schemas.microsoft.com/office/drawing/2014/main" id="{58A31E2E-7E70-DC8B-48B0-386014C99FAB}"/>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25 12 28 0800</a:t>
            </a:r>
          </a:p>
        </p:txBody>
      </p:sp>
      <p:sp>
        <p:nvSpPr>
          <p:cNvPr id="2" name="-S4. Cret_Strt_Inci">
            <a:extLst>
              <a:ext uri="{FF2B5EF4-FFF2-40B4-BE49-F238E27FC236}">
                <a16:creationId xmlns:a16="http://schemas.microsoft.com/office/drawing/2014/main" id="{E52F1915-03B2-CF82-C91B-0C14FB7DD7AE}"/>
              </a:ext>
            </a:extLst>
          </p:cNvPr>
          <p:cNvSpPr>
            <a:spLocks noGrp="1"/>
          </p:cNvSpPr>
          <p:nvPr>
            <p:ph type="title"/>
          </p:nvPr>
        </p:nvSpPr>
        <p:spPr>
          <a:xfrm>
            <a:off x="838200" y="314871"/>
            <a:ext cx="10515600" cy="428753"/>
          </a:xfrm>
        </p:spPr>
        <p:txBody>
          <a:bodyPr>
            <a:noAutofit/>
          </a:bodyPr>
          <a:lstStyle/>
          <a:p>
            <a:pPr algn="ctr"/>
            <a:r>
              <a:rPr lang="en-US" sz="1600" b="1" dirty="0"/>
              <a:t>S4. Create Startup Incident – Startup SOP</a:t>
            </a:r>
          </a:p>
        </p:txBody>
      </p:sp>
    </p:spTree>
    <p:extLst>
      <p:ext uri="{BB962C8B-B14F-4D97-AF65-F5344CB8AC3E}">
        <p14:creationId xmlns:p14="http://schemas.microsoft.com/office/powerpoint/2010/main" val="1723251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839F54-A232-18A4-4B65-6FC13A30C3D4}"/>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9E2DD6FC-5B52-9973-A9A4-FCC9D1542EF8}"/>
              </a:ext>
            </a:extLst>
          </p:cNvPr>
          <p:cNvSpPr/>
          <p:nvPr/>
        </p:nvSpPr>
        <p:spPr>
          <a:xfrm>
            <a:off x="146719" y="4270610"/>
            <a:ext cx="2105053" cy="926620"/>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sp>
        <p:nvSpPr>
          <p:cNvPr id="39" name="Flowchart: Process 38">
            <a:extLst>
              <a:ext uri="{FF2B5EF4-FFF2-40B4-BE49-F238E27FC236}">
                <a16:creationId xmlns:a16="http://schemas.microsoft.com/office/drawing/2014/main" id="{71336712-A30B-75A3-10B8-4A9A06757D15}"/>
              </a:ext>
            </a:extLst>
          </p:cNvPr>
          <p:cNvSpPr/>
          <p:nvPr/>
        </p:nvSpPr>
        <p:spPr>
          <a:xfrm>
            <a:off x="713349" y="2526777"/>
            <a:ext cx="1327355" cy="42399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 Customer Calls For Start-Up</a:t>
            </a:r>
          </a:p>
        </p:txBody>
      </p:sp>
      <p:sp>
        <p:nvSpPr>
          <p:cNvPr id="41" name="Flowchart: Decision 40">
            <a:extLst>
              <a:ext uri="{FF2B5EF4-FFF2-40B4-BE49-F238E27FC236}">
                <a16:creationId xmlns:a16="http://schemas.microsoft.com/office/drawing/2014/main" id="{4CD7814A-4E9C-AB60-36FC-9F463A8F02BF}"/>
              </a:ext>
            </a:extLst>
          </p:cNvPr>
          <p:cNvSpPr/>
          <p:nvPr/>
        </p:nvSpPr>
        <p:spPr>
          <a:xfrm>
            <a:off x="2967399" y="2556048"/>
            <a:ext cx="570871" cy="365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D1</a:t>
            </a:r>
          </a:p>
        </p:txBody>
      </p:sp>
      <p:sp>
        <p:nvSpPr>
          <p:cNvPr id="42" name="Flowchart: Process 41">
            <a:extLst>
              <a:ext uri="{FF2B5EF4-FFF2-40B4-BE49-F238E27FC236}">
                <a16:creationId xmlns:a16="http://schemas.microsoft.com/office/drawing/2014/main" id="{8C18BF83-9283-45F5-6176-C6862F23E48F}"/>
              </a:ext>
            </a:extLst>
          </p:cNvPr>
          <p:cNvSpPr/>
          <p:nvPr/>
        </p:nvSpPr>
        <p:spPr>
          <a:xfrm>
            <a:off x="3323024" y="2497204"/>
            <a:ext cx="224605" cy="17944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43" name="Flowchart: Process 42">
            <a:extLst>
              <a:ext uri="{FF2B5EF4-FFF2-40B4-BE49-F238E27FC236}">
                <a16:creationId xmlns:a16="http://schemas.microsoft.com/office/drawing/2014/main" id="{31014D02-2844-0172-6275-FF9B2885FD7F}"/>
              </a:ext>
            </a:extLst>
          </p:cNvPr>
          <p:cNvSpPr/>
          <p:nvPr/>
        </p:nvSpPr>
        <p:spPr>
          <a:xfrm>
            <a:off x="2958041" y="2786835"/>
            <a:ext cx="224605" cy="17944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sp>
        <p:nvSpPr>
          <p:cNvPr id="44" name="TextBox 43">
            <a:extLst>
              <a:ext uri="{FF2B5EF4-FFF2-40B4-BE49-F238E27FC236}">
                <a16:creationId xmlns:a16="http://schemas.microsoft.com/office/drawing/2014/main" id="{2D863E8B-44B9-7F44-7CE8-BDC81B834CB1}"/>
              </a:ext>
            </a:extLst>
          </p:cNvPr>
          <p:cNvSpPr txBox="1"/>
          <p:nvPr/>
        </p:nvSpPr>
        <p:spPr>
          <a:xfrm>
            <a:off x="2332800" y="2331480"/>
            <a:ext cx="948813" cy="369332"/>
          </a:xfrm>
          <a:prstGeom prst="rect">
            <a:avLst/>
          </a:prstGeom>
          <a:noFill/>
        </p:spPr>
        <p:txBody>
          <a:bodyPr wrap="square" rtlCol="0">
            <a:spAutoFit/>
          </a:bodyPr>
          <a:lstStyle/>
          <a:p>
            <a:r>
              <a:rPr lang="en-US" sz="900" dirty="0"/>
              <a:t>Q1.Did We Sell The Generator? </a:t>
            </a:r>
          </a:p>
        </p:txBody>
      </p:sp>
      <p:sp>
        <p:nvSpPr>
          <p:cNvPr id="45" name="TextBox 44">
            <a:extLst>
              <a:ext uri="{FF2B5EF4-FFF2-40B4-BE49-F238E27FC236}">
                <a16:creationId xmlns:a16="http://schemas.microsoft.com/office/drawing/2014/main" id="{B505D0A8-4D52-1B5F-EE6E-856157B83662}"/>
              </a:ext>
            </a:extLst>
          </p:cNvPr>
          <p:cNvSpPr txBox="1"/>
          <p:nvPr/>
        </p:nvSpPr>
        <p:spPr>
          <a:xfrm>
            <a:off x="8765349" y="3220771"/>
            <a:ext cx="1721329"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S7. Service Order Process at charge SOP</a:t>
            </a:r>
          </a:p>
        </p:txBody>
      </p:sp>
      <p:cxnSp>
        <p:nvCxnSpPr>
          <p:cNvPr id="46" name="Connector: Elbow 45">
            <a:extLst>
              <a:ext uri="{FF2B5EF4-FFF2-40B4-BE49-F238E27FC236}">
                <a16:creationId xmlns:a16="http://schemas.microsoft.com/office/drawing/2014/main" id="{E254F500-214B-B12E-84EC-664404193BA9}"/>
              </a:ext>
            </a:extLst>
          </p:cNvPr>
          <p:cNvCxnSpPr>
            <a:cxnSpLocks/>
            <a:stCxn id="41" idx="2"/>
            <a:endCxn id="66" idx="1"/>
          </p:cNvCxnSpPr>
          <p:nvPr/>
        </p:nvCxnSpPr>
        <p:spPr>
          <a:xfrm rot="16200000" flipH="1">
            <a:off x="4188391" y="1985939"/>
            <a:ext cx="537107" cy="2408219"/>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 name="Flowchart: Predefined Process 46">
            <a:extLst>
              <a:ext uri="{FF2B5EF4-FFF2-40B4-BE49-F238E27FC236}">
                <a16:creationId xmlns:a16="http://schemas.microsoft.com/office/drawing/2014/main" id="{C80D3E04-FE3C-7BAD-A238-F4006DD8FC13}"/>
              </a:ext>
            </a:extLst>
          </p:cNvPr>
          <p:cNvSpPr/>
          <p:nvPr/>
        </p:nvSpPr>
        <p:spPr>
          <a:xfrm>
            <a:off x="5923071" y="1070001"/>
            <a:ext cx="1135627"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S2. Order Inquiry </a:t>
            </a:r>
          </a:p>
        </p:txBody>
      </p:sp>
      <p:cxnSp>
        <p:nvCxnSpPr>
          <p:cNvPr id="48" name="Connector: Elbow 47">
            <a:extLst>
              <a:ext uri="{FF2B5EF4-FFF2-40B4-BE49-F238E27FC236}">
                <a16:creationId xmlns:a16="http://schemas.microsoft.com/office/drawing/2014/main" id="{C237EB58-4F16-E005-EB85-331210F6E75F}"/>
              </a:ext>
            </a:extLst>
          </p:cNvPr>
          <p:cNvCxnSpPr>
            <a:cxnSpLocks/>
            <a:stCxn id="41" idx="0"/>
            <a:endCxn id="60" idx="1"/>
          </p:cNvCxnSpPr>
          <p:nvPr/>
        </p:nvCxnSpPr>
        <p:spPr>
          <a:xfrm rot="5400000" flipH="1" flipV="1">
            <a:off x="3561610" y="1589667"/>
            <a:ext cx="657606" cy="127515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Flowchart: Predefined Process 48">
            <a:extLst>
              <a:ext uri="{FF2B5EF4-FFF2-40B4-BE49-F238E27FC236}">
                <a16:creationId xmlns:a16="http://schemas.microsoft.com/office/drawing/2014/main" id="{D72D85CB-6CC5-31E7-54D9-F8B3644FC67C}"/>
              </a:ext>
            </a:extLst>
          </p:cNvPr>
          <p:cNvSpPr/>
          <p:nvPr/>
        </p:nvSpPr>
        <p:spPr>
          <a:xfrm>
            <a:off x="9923907" y="1055454"/>
            <a:ext cx="1471216"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S4. Create Start-Up Incident</a:t>
            </a:r>
          </a:p>
        </p:txBody>
      </p:sp>
      <p:sp>
        <p:nvSpPr>
          <p:cNvPr id="50" name="Flowchart: Predefined Process 49">
            <a:extLst>
              <a:ext uri="{FF2B5EF4-FFF2-40B4-BE49-F238E27FC236}">
                <a16:creationId xmlns:a16="http://schemas.microsoft.com/office/drawing/2014/main" id="{3D2F792B-479A-6877-986F-686C6111A415}"/>
              </a:ext>
            </a:extLst>
          </p:cNvPr>
          <p:cNvSpPr/>
          <p:nvPr/>
        </p:nvSpPr>
        <p:spPr>
          <a:xfrm>
            <a:off x="405360" y="4455642"/>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S8. Add Start-Up Notes</a:t>
            </a:r>
          </a:p>
        </p:txBody>
      </p:sp>
      <p:cxnSp>
        <p:nvCxnSpPr>
          <p:cNvPr id="51" name="Connector: Elbow 50">
            <a:extLst>
              <a:ext uri="{FF2B5EF4-FFF2-40B4-BE49-F238E27FC236}">
                <a16:creationId xmlns:a16="http://schemas.microsoft.com/office/drawing/2014/main" id="{4B091D1B-E3BD-6E40-75A2-D0B5D67CECD1}"/>
              </a:ext>
            </a:extLst>
          </p:cNvPr>
          <p:cNvCxnSpPr>
            <a:cxnSpLocks/>
            <a:stCxn id="49" idx="2"/>
            <a:endCxn id="50" idx="0"/>
          </p:cNvCxnSpPr>
          <p:nvPr/>
        </p:nvCxnSpPr>
        <p:spPr>
          <a:xfrm rot="5400000">
            <a:off x="4475717" y="-1728156"/>
            <a:ext cx="2931114" cy="9436483"/>
          </a:xfrm>
          <a:prstGeom prst="bentConnector3">
            <a:avLst>
              <a:gd name="adj1" fmla="val 85478"/>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52" name="Flowchart: Predefined Process 51">
            <a:extLst>
              <a:ext uri="{FF2B5EF4-FFF2-40B4-BE49-F238E27FC236}">
                <a16:creationId xmlns:a16="http://schemas.microsoft.com/office/drawing/2014/main" id="{DAE4A351-F7AE-2F38-8996-600B3B262999}"/>
              </a:ext>
            </a:extLst>
          </p:cNvPr>
          <p:cNvSpPr/>
          <p:nvPr/>
        </p:nvSpPr>
        <p:spPr>
          <a:xfrm>
            <a:off x="2431645" y="4448976"/>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S9. Add Line</a:t>
            </a:r>
          </a:p>
        </p:txBody>
      </p:sp>
      <p:sp>
        <p:nvSpPr>
          <p:cNvPr id="53" name="Flowchart: Predefined Process 52">
            <a:extLst>
              <a:ext uri="{FF2B5EF4-FFF2-40B4-BE49-F238E27FC236}">
                <a16:creationId xmlns:a16="http://schemas.microsoft.com/office/drawing/2014/main" id="{651F4001-1F4C-8464-33D2-14459C1D1C0E}"/>
              </a:ext>
            </a:extLst>
          </p:cNvPr>
          <p:cNvSpPr/>
          <p:nvPr/>
        </p:nvSpPr>
        <p:spPr>
          <a:xfrm>
            <a:off x="4426735" y="4449327"/>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S10. Convert to SRO and Schedule</a:t>
            </a:r>
          </a:p>
        </p:txBody>
      </p:sp>
      <p:sp>
        <p:nvSpPr>
          <p:cNvPr id="54" name="Flowchart: Predefined Process 53">
            <a:extLst>
              <a:ext uri="{FF2B5EF4-FFF2-40B4-BE49-F238E27FC236}">
                <a16:creationId xmlns:a16="http://schemas.microsoft.com/office/drawing/2014/main" id="{68304D72-8E33-452D-E51A-682C09E7E5B9}"/>
              </a:ext>
            </a:extLst>
          </p:cNvPr>
          <p:cNvSpPr/>
          <p:nvPr/>
        </p:nvSpPr>
        <p:spPr>
          <a:xfrm>
            <a:off x="6576675" y="4448804"/>
            <a:ext cx="1375653" cy="438417"/>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S11. Print Pick Ticket</a:t>
            </a:r>
          </a:p>
        </p:txBody>
      </p:sp>
      <p:sp>
        <p:nvSpPr>
          <p:cNvPr id="55" name="Flowchart: Predefined Process 54">
            <a:extLst>
              <a:ext uri="{FF2B5EF4-FFF2-40B4-BE49-F238E27FC236}">
                <a16:creationId xmlns:a16="http://schemas.microsoft.com/office/drawing/2014/main" id="{F1B152AF-AC62-E51D-9DAB-AFB3480B956B}"/>
              </a:ext>
            </a:extLst>
          </p:cNvPr>
          <p:cNvSpPr/>
          <p:nvPr/>
        </p:nvSpPr>
        <p:spPr>
          <a:xfrm>
            <a:off x="8429193" y="4438973"/>
            <a:ext cx="1469923"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S12. Shipping Feedback Ship </a:t>
            </a:r>
          </a:p>
        </p:txBody>
      </p:sp>
      <p:sp>
        <p:nvSpPr>
          <p:cNvPr id="56" name="Flowchart: Process 55">
            <a:extLst>
              <a:ext uri="{FF2B5EF4-FFF2-40B4-BE49-F238E27FC236}">
                <a16:creationId xmlns:a16="http://schemas.microsoft.com/office/drawing/2014/main" id="{F84547EB-0BF1-17CB-DFF7-1AC8E3657C2A}"/>
              </a:ext>
            </a:extLst>
          </p:cNvPr>
          <p:cNvSpPr/>
          <p:nvPr/>
        </p:nvSpPr>
        <p:spPr>
          <a:xfrm>
            <a:off x="10234705" y="4422303"/>
            <a:ext cx="1327355" cy="47175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S13. Tech Performs Start-Up</a:t>
            </a:r>
          </a:p>
        </p:txBody>
      </p:sp>
      <p:sp>
        <p:nvSpPr>
          <p:cNvPr id="57" name="Flowchart: Predefined Process 56">
            <a:extLst>
              <a:ext uri="{FF2B5EF4-FFF2-40B4-BE49-F238E27FC236}">
                <a16:creationId xmlns:a16="http://schemas.microsoft.com/office/drawing/2014/main" id="{E4C2A8F0-1F0F-96A2-FA29-A9F0F7CF72D5}"/>
              </a:ext>
            </a:extLst>
          </p:cNvPr>
          <p:cNvSpPr/>
          <p:nvPr/>
        </p:nvSpPr>
        <p:spPr>
          <a:xfrm>
            <a:off x="5652740" y="5553462"/>
            <a:ext cx="1469923"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S14. Register A Unit</a:t>
            </a:r>
          </a:p>
        </p:txBody>
      </p:sp>
      <p:cxnSp>
        <p:nvCxnSpPr>
          <p:cNvPr id="58" name="Connector: Elbow 57">
            <a:extLst>
              <a:ext uri="{FF2B5EF4-FFF2-40B4-BE49-F238E27FC236}">
                <a16:creationId xmlns:a16="http://schemas.microsoft.com/office/drawing/2014/main" id="{7AA3ADA8-B5BB-489C-4E88-4830C281D51C}"/>
              </a:ext>
            </a:extLst>
          </p:cNvPr>
          <p:cNvCxnSpPr>
            <a:cxnSpLocks/>
            <a:stCxn id="56" idx="2"/>
            <a:endCxn id="57" idx="0"/>
          </p:cNvCxnSpPr>
          <p:nvPr/>
        </p:nvCxnSpPr>
        <p:spPr>
          <a:xfrm rot="5400000">
            <a:off x="8313341" y="2968420"/>
            <a:ext cx="659404" cy="4510681"/>
          </a:xfrm>
          <a:prstGeom prst="bentConnector3">
            <a:avLst>
              <a:gd name="adj1" fmla="val 69033"/>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60" name="Flowchart: Decision 59">
            <a:extLst>
              <a:ext uri="{FF2B5EF4-FFF2-40B4-BE49-F238E27FC236}">
                <a16:creationId xmlns:a16="http://schemas.microsoft.com/office/drawing/2014/main" id="{5425CA93-8BB8-CAA0-86BF-6AE9D070E493}"/>
              </a:ext>
            </a:extLst>
          </p:cNvPr>
          <p:cNvSpPr/>
          <p:nvPr/>
        </p:nvSpPr>
        <p:spPr>
          <a:xfrm>
            <a:off x="4527992" y="1724244"/>
            <a:ext cx="435655" cy="34839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D2</a:t>
            </a:r>
          </a:p>
        </p:txBody>
      </p:sp>
      <p:sp>
        <p:nvSpPr>
          <p:cNvPr id="61" name="Flowchart: Process 60">
            <a:extLst>
              <a:ext uri="{FF2B5EF4-FFF2-40B4-BE49-F238E27FC236}">
                <a16:creationId xmlns:a16="http://schemas.microsoft.com/office/drawing/2014/main" id="{9813CD4D-97DB-94B2-6A15-465147E56E6B}"/>
              </a:ext>
            </a:extLst>
          </p:cNvPr>
          <p:cNvSpPr/>
          <p:nvPr/>
        </p:nvSpPr>
        <p:spPr>
          <a:xfrm>
            <a:off x="4799383" y="1668146"/>
            <a:ext cx="171405" cy="17107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62" name="Flowchart: Process 61">
            <a:extLst>
              <a:ext uri="{FF2B5EF4-FFF2-40B4-BE49-F238E27FC236}">
                <a16:creationId xmlns:a16="http://schemas.microsoft.com/office/drawing/2014/main" id="{3194BE35-DA1F-583B-A0A2-3B52589C1730}"/>
              </a:ext>
            </a:extLst>
          </p:cNvPr>
          <p:cNvSpPr/>
          <p:nvPr/>
        </p:nvSpPr>
        <p:spPr>
          <a:xfrm>
            <a:off x="4520850" y="1944263"/>
            <a:ext cx="171405" cy="17107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sp>
        <p:nvSpPr>
          <p:cNvPr id="63" name="TextBox 62">
            <a:extLst>
              <a:ext uri="{FF2B5EF4-FFF2-40B4-BE49-F238E27FC236}">
                <a16:creationId xmlns:a16="http://schemas.microsoft.com/office/drawing/2014/main" id="{707C5008-42B5-1CA6-E606-8046D4639EA7}"/>
              </a:ext>
            </a:extLst>
          </p:cNvPr>
          <p:cNvSpPr txBox="1"/>
          <p:nvPr/>
        </p:nvSpPr>
        <p:spPr>
          <a:xfrm>
            <a:off x="3882757" y="1378103"/>
            <a:ext cx="948813" cy="507831"/>
          </a:xfrm>
          <a:prstGeom prst="rect">
            <a:avLst/>
          </a:prstGeom>
          <a:noFill/>
        </p:spPr>
        <p:txBody>
          <a:bodyPr wrap="square" rtlCol="0">
            <a:spAutoFit/>
          </a:bodyPr>
          <a:lstStyle/>
          <a:p>
            <a:r>
              <a:rPr lang="en-US" sz="900" dirty="0"/>
              <a:t>Do You Know The Original Order #?</a:t>
            </a:r>
          </a:p>
        </p:txBody>
      </p:sp>
      <p:cxnSp>
        <p:nvCxnSpPr>
          <p:cNvPr id="64" name="Connector: Elbow 63">
            <a:extLst>
              <a:ext uri="{FF2B5EF4-FFF2-40B4-BE49-F238E27FC236}">
                <a16:creationId xmlns:a16="http://schemas.microsoft.com/office/drawing/2014/main" id="{4AE35DC1-4ECE-9C31-1A84-C050EB67D4E7}"/>
              </a:ext>
            </a:extLst>
          </p:cNvPr>
          <p:cNvCxnSpPr>
            <a:cxnSpLocks/>
            <a:stCxn id="60" idx="0"/>
            <a:endCxn id="47" idx="1"/>
          </p:cNvCxnSpPr>
          <p:nvPr/>
        </p:nvCxnSpPr>
        <p:spPr>
          <a:xfrm rot="5400000" flipH="1" flipV="1">
            <a:off x="5124592" y="925766"/>
            <a:ext cx="419706" cy="117725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5" name="Flowchart: Predefined Process 64">
            <a:extLst>
              <a:ext uri="{FF2B5EF4-FFF2-40B4-BE49-F238E27FC236}">
                <a16:creationId xmlns:a16="http://schemas.microsoft.com/office/drawing/2014/main" id="{747A0537-565D-7D6C-56DB-D3C92F5D6EFD}"/>
              </a:ext>
            </a:extLst>
          </p:cNvPr>
          <p:cNvSpPr/>
          <p:nvPr/>
        </p:nvSpPr>
        <p:spPr>
          <a:xfrm>
            <a:off x="7519201" y="2231738"/>
            <a:ext cx="1944205"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S5. Order Inquiry Using Serial Number</a:t>
            </a:r>
          </a:p>
        </p:txBody>
      </p:sp>
      <p:sp>
        <p:nvSpPr>
          <p:cNvPr id="66" name="TextBox 65">
            <a:extLst>
              <a:ext uri="{FF2B5EF4-FFF2-40B4-BE49-F238E27FC236}">
                <a16:creationId xmlns:a16="http://schemas.microsoft.com/office/drawing/2014/main" id="{13FAEC4D-C5EB-424C-E52C-E30E6D5362D9}"/>
              </a:ext>
            </a:extLst>
          </p:cNvPr>
          <p:cNvSpPr txBox="1"/>
          <p:nvPr/>
        </p:nvSpPr>
        <p:spPr>
          <a:xfrm>
            <a:off x="5661054" y="3222725"/>
            <a:ext cx="1205916"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S6. Create A New Unit SOP</a:t>
            </a:r>
          </a:p>
        </p:txBody>
      </p:sp>
      <p:cxnSp>
        <p:nvCxnSpPr>
          <p:cNvPr id="67" name="Connector: Elbow 66">
            <a:extLst>
              <a:ext uri="{FF2B5EF4-FFF2-40B4-BE49-F238E27FC236}">
                <a16:creationId xmlns:a16="http://schemas.microsoft.com/office/drawing/2014/main" id="{9DE9D98E-82D3-29BC-E02A-187032B9D41A}"/>
              </a:ext>
            </a:extLst>
          </p:cNvPr>
          <p:cNvCxnSpPr>
            <a:cxnSpLocks/>
            <a:stCxn id="60" idx="2"/>
            <a:endCxn id="65" idx="1"/>
          </p:cNvCxnSpPr>
          <p:nvPr/>
        </p:nvCxnSpPr>
        <p:spPr>
          <a:xfrm rot="16200000" flipH="1">
            <a:off x="5935693" y="882766"/>
            <a:ext cx="393635" cy="2773381"/>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0" name="Flowchart: Process 69">
            <a:extLst>
              <a:ext uri="{FF2B5EF4-FFF2-40B4-BE49-F238E27FC236}">
                <a16:creationId xmlns:a16="http://schemas.microsoft.com/office/drawing/2014/main" id="{C5DB96CB-68D7-2978-DE3E-1F4A6D00756D}"/>
              </a:ext>
            </a:extLst>
          </p:cNvPr>
          <p:cNvSpPr/>
          <p:nvPr/>
        </p:nvSpPr>
        <p:spPr>
          <a:xfrm>
            <a:off x="7827625" y="1057821"/>
            <a:ext cx="1327355" cy="47451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S3. Check With AR To Verify Payment In Full</a:t>
            </a:r>
          </a:p>
        </p:txBody>
      </p:sp>
      <p:cxnSp>
        <p:nvCxnSpPr>
          <p:cNvPr id="71" name="Straight Arrow Connector 70">
            <a:extLst>
              <a:ext uri="{FF2B5EF4-FFF2-40B4-BE49-F238E27FC236}">
                <a16:creationId xmlns:a16="http://schemas.microsoft.com/office/drawing/2014/main" id="{4532A708-4C57-0213-4517-B0EBB22CEE04}"/>
              </a:ext>
            </a:extLst>
          </p:cNvPr>
          <p:cNvCxnSpPr>
            <a:cxnSpLocks/>
            <a:stCxn id="47" idx="3"/>
            <a:endCxn id="70" idx="1"/>
          </p:cNvCxnSpPr>
          <p:nvPr/>
        </p:nvCxnSpPr>
        <p:spPr>
          <a:xfrm flipV="1">
            <a:off x="7058698" y="1295078"/>
            <a:ext cx="768927" cy="946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8EFBF863-7E0F-D856-CC6D-CF6AA5A93254}"/>
              </a:ext>
            </a:extLst>
          </p:cNvPr>
          <p:cNvCxnSpPr>
            <a:cxnSpLocks/>
            <a:stCxn id="70" idx="3"/>
            <a:endCxn id="49" idx="1"/>
          </p:cNvCxnSpPr>
          <p:nvPr/>
        </p:nvCxnSpPr>
        <p:spPr>
          <a:xfrm flipV="1">
            <a:off x="9154980" y="1289991"/>
            <a:ext cx="768927" cy="5087"/>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C559837C-5977-85F2-C089-B577CA568772}"/>
              </a:ext>
            </a:extLst>
          </p:cNvPr>
          <p:cNvCxnSpPr>
            <a:cxnSpLocks/>
            <a:stCxn id="66" idx="3"/>
            <a:endCxn id="45" idx="1"/>
          </p:cNvCxnSpPr>
          <p:nvPr/>
        </p:nvCxnSpPr>
        <p:spPr>
          <a:xfrm flipV="1">
            <a:off x="6866970" y="3456649"/>
            <a:ext cx="1898379" cy="195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615CE0C2-20BA-CBA2-D961-50AA78787C92}"/>
              </a:ext>
            </a:extLst>
          </p:cNvPr>
          <p:cNvCxnSpPr>
            <a:cxnSpLocks/>
            <a:stCxn id="50" idx="3"/>
            <a:endCxn id="52" idx="1"/>
          </p:cNvCxnSpPr>
          <p:nvPr/>
        </p:nvCxnSpPr>
        <p:spPr>
          <a:xfrm flipV="1">
            <a:off x="2040704" y="4668184"/>
            <a:ext cx="390941" cy="6666"/>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717F88D9-8118-3433-72D3-720748216FC2}"/>
              </a:ext>
            </a:extLst>
          </p:cNvPr>
          <p:cNvCxnSpPr>
            <a:cxnSpLocks/>
            <a:stCxn id="52" idx="3"/>
            <a:endCxn id="53" idx="1"/>
          </p:cNvCxnSpPr>
          <p:nvPr/>
        </p:nvCxnSpPr>
        <p:spPr>
          <a:xfrm>
            <a:off x="4066989" y="4668184"/>
            <a:ext cx="359746" cy="351"/>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7EA3A43F-F41B-2E8D-5698-F5FD2B9A13F6}"/>
              </a:ext>
            </a:extLst>
          </p:cNvPr>
          <p:cNvCxnSpPr>
            <a:cxnSpLocks/>
            <a:stCxn id="53" idx="3"/>
            <a:endCxn id="54" idx="1"/>
          </p:cNvCxnSpPr>
          <p:nvPr/>
        </p:nvCxnSpPr>
        <p:spPr>
          <a:xfrm flipV="1">
            <a:off x="6062079" y="4668013"/>
            <a:ext cx="514596" cy="522"/>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C7873226-8A85-5367-F07E-C292A04278FE}"/>
              </a:ext>
            </a:extLst>
          </p:cNvPr>
          <p:cNvCxnSpPr>
            <a:cxnSpLocks/>
            <a:stCxn id="54" idx="3"/>
            <a:endCxn id="55" idx="1"/>
          </p:cNvCxnSpPr>
          <p:nvPr/>
        </p:nvCxnSpPr>
        <p:spPr>
          <a:xfrm flipV="1">
            <a:off x="7952328" y="4658181"/>
            <a:ext cx="476865" cy="9832"/>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198B047C-DFA9-C753-1CB2-DE08E86D3ACD}"/>
              </a:ext>
            </a:extLst>
          </p:cNvPr>
          <p:cNvCxnSpPr>
            <a:cxnSpLocks/>
            <a:stCxn id="55" idx="3"/>
            <a:endCxn id="56" idx="1"/>
          </p:cNvCxnSpPr>
          <p:nvPr/>
        </p:nvCxnSpPr>
        <p:spPr>
          <a:xfrm>
            <a:off x="9899116" y="4658181"/>
            <a:ext cx="335589" cy="0"/>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96AC67A6-2C5D-CF62-8EF0-1FE796F396F5}"/>
              </a:ext>
            </a:extLst>
          </p:cNvPr>
          <p:cNvCxnSpPr>
            <a:cxnSpLocks/>
            <a:stCxn id="39" idx="3"/>
            <a:endCxn id="41" idx="1"/>
          </p:cNvCxnSpPr>
          <p:nvPr/>
        </p:nvCxnSpPr>
        <p:spPr>
          <a:xfrm>
            <a:off x="2040704" y="2738772"/>
            <a:ext cx="926695"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152C9387-A708-BA64-8562-43A3ABAD3197}"/>
              </a:ext>
            </a:extLst>
          </p:cNvPr>
          <p:cNvCxnSpPr>
            <a:cxnSpLocks/>
            <a:stCxn id="65" idx="0"/>
            <a:endCxn id="70" idx="2"/>
          </p:cNvCxnSpPr>
          <p:nvPr/>
        </p:nvCxnSpPr>
        <p:spPr>
          <a:xfrm flipH="1" flipV="1">
            <a:off x="8491303" y="1532334"/>
            <a:ext cx="1" cy="69940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73859CB9-CDCB-B9FC-5EF6-105BC5F75CAB}"/>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05 12 2025 19 10</a:t>
            </a:r>
          </a:p>
        </p:txBody>
      </p:sp>
      <p:sp>
        <p:nvSpPr>
          <p:cNvPr id="7" name="TextBox 6">
            <a:extLst>
              <a:ext uri="{FF2B5EF4-FFF2-40B4-BE49-F238E27FC236}">
                <a16:creationId xmlns:a16="http://schemas.microsoft.com/office/drawing/2014/main" id="{C997A8A1-5F50-4FBD-AD8D-AE93EEDB3136}"/>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4" name="TextBox 3">
            <a:extLst>
              <a:ext uri="{FF2B5EF4-FFF2-40B4-BE49-F238E27FC236}">
                <a16:creationId xmlns:a16="http://schemas.microsoft.com/office/drawing/2014/main" id="{5D78A21C-CFCA-4A8B-D710-42AA8C353F13}"/>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25 12 28 0800</a:t>
            </a:r>
          </a:p>
        </p:txBody>
      </p:sp>
      <p:sp>
        <p:nvSpPr>
          <p:cNvPr id="2" name="-S8. Add_Strt_Note">
            <a:extLst>
              <a:ext uri="{FF2B5EF4-FFF2-40B4-BE49-F238E27FC236}">
                <a16:creationId xmlns:a16="http://schemas.microsoft.com/office/drawing/2014/main" id="{CFC7D70F-C517-238A-F944-4B96AF10A266}"/>
              </a:ext>
            </a:extLst>
          </p:cNvPr>
          <p:cNvSpPr>
            <a:spLocks noGrp="1"/>
          </p:cNvSpPr>
          <p:nvPr>
            <p:ph type="title"/>
          </p:nvPr>
        </p:nvSpPr>
        <p:spPr>
          <a:xfrm>
            <a:off x="838200" y="314871"/>
            <a:ext cx="10515600" cy="428753"/>
          </a:xfrm>
        </p:spPr>
        <p:txBody>
          <a:bodyPr>
            <a:noAutofit/>
          </a:bodyPr>
          <a:lstStyle/>
          <a:p>
            <a:pPr algn="ctr"/>
            <a:r>
              <a:rPr lang="en-US" sz="1600" b="1" dirty="0"/>
              <a:t>S8. Add Startup Notes– Startup SOP</a:t>
            </a:r>
          </a:p>
        </p:txBody>
      </p:sp>
    </p:spTree>
    <p:extLst>
      <p:ext uri="{BB962C8B-B14F-4D97-AF65-F5344CB8AC3E}">
        <p14:creationId xmlns:p14="http://schemas.microsoft.com/office/powerpoint/2010/main" val="31738248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B74D7-2BC4-A4DE-D898-B60BACE233DE}"/>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0A7AF898-09B7-5105-A9FB-2B3ADA640882}"/>
              </a:ext>
            </a:extLst>
          </p:cNvPr>
          <p:cNvSpPr/>
          <p:nvPr/>
        </p:nvSpPr>
        <p:spPr>
          <a:xfrm>
            <a:off x="2141809" y="4237181"/>
            <a:ext cx="2105053" cy="926620"/>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sp>
        <p:nvSpPr>
          <p:cNvPr id="39" name="Flowchart: Process 38">
            <a:extLst>
              <a:ext uri="{FF2B5EF4-FFF2-40B4-BE49-F238E27FC236}">
                <a16:creationId xmlns:a16="http://schemas.microsoft.com/office/drawing/2014/main" id="{DA995482-BD40-434E-1B3F-CAA75F749F69}"/>
              </a:ext>
            </a:extLst>
          </p:cNvPr>
          <p:cNvSpPr/>
          <p:nvPr/>
        </p:nvSpPr>
        <p:spPr>
          <a:xfrm>
            <a:off x="713349" y="2526777"/>
            <a:ext cx="1327355" cy="42399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 Customer Calls For Start-Up</a:t>
            </a:r>
          </a:p>
        </p:txBody>
      </p:sp>
      <p:sp>
        <p:nvSpPr>
          <p:cNvPr id="41" name="Flowchart: Decision 40">
            <a:extLst>
              <a:ext uri="{FF2B5EF4-FFF2-40B4-BE49-F238E27FC236}">
                <a16:creationId xmlns:a16="http://schemas.microsoft.com/office/drawing/2014/main" id="{BB05B933-3037-D534-ACC1-6123BD1B2324}"/>
              </a:ext>
            </a:extLst>
          </p:cNvPr>
          <p:cNvSpPr/>
          <p:nvPr/>
        </p:nvSpPr>
        <p:spPr>
          <a:xfrm>
            <a:off x="2967399" y="2556048"/>
            <a:ext cx="570871" cy="365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D1</a:t>
            </a:r>
          </a:p>
        </p:txBody>
      </p:sp>
      <p:sp>
        <p:nvSpPr>
          <p:cNvPr id="42" name="Flowchart: Process 41">
            <a:extLst>
              <a:ext uri="{FF2B5EF4-FFF2-40B4-BE49-F238E27FC236}">
                <a16:creationId xmlns:a16="http://schemas.microsoft.com/office/drawing/2014/main" id="{77033CDE-9E19-DC6B-25B7-7BB69665A893}"/>
              </a:ext>
            </a:extLst>
          </p:cNvPr>
          <p:cNvSpPr/>
          <p:nvPr/>
        </p:nvSpPr>
        <p:spPr>
          <a:xfrm>
            <a:off x="3323024" y="2497204"/>
            <a:ext cx="224605" cy="17944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43" name="Flowchart: Process 42">
            <a:extLst>
              <a:ext uri="{FF2B5EF4-FFF2-40B4-BE49-F238E27FC236}">
                <a16:creationId xmlns:a16="http://schemas.microsoft.com/office/drawing/2014/main" id="{956F6C54-CBEC-1442-5916-C4BECE4EABB7}"/>
              </a:ext>
            </a:extLst>
          </p:cNvPr>
          <p:cNvSpPr/>
          <p:nvPr/>
        </p:nvSpPr>
        <p:spPr>
          <a:xfrm>
            <a:off x="2958041" y="2786835"/>
            <a:ext cx="224605" cy="17944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sp>
        <p:nvSpPr>
          <p:cNvPr id="44" name="TextBox 43">
            <a:extLst>
              <a:ext uri="{FF2B5EF4-FFF2-40B4-BE49-F238E27FC236}">
                <a16:creationId xmlns:a16="http://schemas.microsoft.com/office/drawing/2014/main" id="{BEB7EFDD-4378-97F7-423C-5137DBF80036}"/>
              </a:ext>
            </a:extLst>
          </p:cNvPr>
          <p:cNvSpPr txBox="1"/>
          <p:nvPr/>
        </p:nvSpPr>
        <p:spPr>
          <a:xfrm>
            <a:off x="2332800" y="2331480"/>
            <a:ext cx="948813" cy="369332"/>
          </a:xfrm>
          <a:prstGeom prst="rect">
            <a:avLst/>
          </a:prstGeom>
          <a:noFill/>
        </p:spPr>
        <p:txBody>
          <a:bodyPr wrap="square" rtlCol="0">
            <a:spAutoFit/>
          </a:bodyPr>
          <a:lstStyle/>
          <a:p>
            <a:r>
              <a:rPr lang="en-US" sz="900" dirty="0"/>
              <a:t>Q1.Did We Sell The Generator? </a:t>
            </a:r>
          </a:p>
        </p:txBody>
      </p:sp>
      <p:sp>
        <p:nvSpPr>
          <p:cNvPr id="45" name="TextBox 44">
            <a:extLst>
              <a:ext uri="{FF2B5EF4-FFF2-40B4-BE49-F238E27FC236}">
                <a16:creationId xmlns:a16="http://schemas.microsoft.com/office/drawing/2014/main" id="{2B228AD2-E86C-ABFE-8914-C95BDFCA5BAA}"/>
              </a:ext>
            </a:extLst>
          </p:cNvPr>
          <p:cNvSpPr txBox="1"/>
          <p:nvPr/>
        </p:nvSpPr>
        <p:spPr>
          <a:xfrm>
            <a:off x="8765349" y="3220771"/>
            <a:ext cx="1721329"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S7. Service Order Process at charge SOP</a:t>
            </a:r>
          </a:p>
        </p:txBody>
      </p:sp>
      <p:cxnSp>
        <p:nvCxnSpPr>
          <p:cNvPr id="46" name="Connector: Elbow 45">
            <a:extLst>
              <a:ext uri="{FF2B5EF4-FFF2-40B4-BE49-F238E27FC236}">
                <a16:creationId xmlns:a16="http://schemas.microsoft.com/office/drawing/2014/main" id="{B3AF8785-2838-4356-DF8C-132ADD91F9A6}"/>
              </a:ext>
            </a:extLst>
          </p:cNvPr>
          <p:cNvCxnSpPr>
            <a:cxnSpLocks/>
            <a:stCxn id="41" idx="2"/>
            <a:endCxn id="66" idx="1"/>
          </p:cNvCxnSpPr>
          <p:nvPr/>
        </p:nvCxnSpPr>
        <p:spPr>
          <a:xfrm rot="16200000" flipH="1">
            <a:off x="4188391" y="1985939"/>
            <a:ext cx="537107" cy="2408219"/>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 name="Flowchart: Predefined Process 46">
            <a:extLst>
              <a:ext uri="{FF2B5EF4-FFF2-40B4-BE49-F238E27FC236}">
                <a16:creationId xmlns:a16="http://schemas.microsoft.com/office/drawing/2014/main" id="{727A6731-015A-BD55-4010-ED2705DB5C82}"/>
              </a:ext>
            </a:extLst>
          </p:cNvPr>
          <p:cNvSpPr/>
          <p:nvPr/>
        </p:nvSpPr>
        <p:spPr>
          <a:xfrm>
            <a:off x="5923071" y="1070001"/>
            <a:ext cx="1135627"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S2. Order Inquiry </a:t>
            </a:r>
          </a:p>
        </p:txBody>
      </p:sp>
      <p:cxnSp>
        <p:nvCxnSpPr>
          <p:cNvPr id="48" name="Connector: Elbow 47">
            <a:extLst>
              <a:ext uri="{FF2B5EF4-FFF2-40B4-BE49-F238E27FC236}">
                <a16:creationId xmlns:a16="http://schemas.microsoft.com/office/drawing/2014/main" id="{F3D674B7-B15D-1B60-3BB2-8EEFF53341B8}"/>
              </a:ext>
            </a:extLst>
          </p:cNvPr>
          <p:cNvCxnSpPr>
            <a:cxnSpLocks/>
            <a:stCxn id="41" idx="0"/>
            <a:endCxn id="60" idx="1"/>
          </p:cNvCxnSpPr>
          <p:nvPr/>
        </p:nvCxnSpPr>
        <p:spPr>
          <a:xfrm rot="5400000" flipH="1" flipV="1">
            <a:off x="3561610" y="1589667"/>
            <a:ext cx="657606" cy="127515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Flowchart: Predefined Process 48">
            <a:extLst>
              <a:ext uri="{FF2B5EF4-FFF2-40B4-BE49-F238E27FC236}">
                <a16:creationId xmlns:a16="http://schemas.microsoft.com/office/drawing/2014/main" id="{0F8F1BBE-A274-99C5-A849-FC746616B962}"/>
              </a:ext>
            </a:extLst>
          </p:cNvPr>
          <p:cNvSpPr/>
          <p:nvPr/>
        </p:nvSpPr>
        <p:spPr>
          <a:xfrm>
            <a:off x="9923907" y="1055454"/>
            <a:ext cx="1471216"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S4. Create Start-Up Incident</a:t>
            </a:r>
          </a:p>
        </p:txBody>
      </p:sp>
      <p:sp>
        <p:nvSpPr>
          <p:cNvPr id="50" name="Flowchart: Predefined Process 49">
            <a:extLst>
              <a:ext uri="{FF2B5EF4-FFF2-40B4-BE49-F238E27FC236}">
                <a16:creationId xmlns:a16="http://schemas.microsoft.com/office/drawing/2014/main" id="{4875BE02-F56F-D94E-C98C-3A754AC136B2}"/>
              </a:ext>
            </a:extLst>
          </p:cNvPr>
          <p:cNvSpPr/>
          <p:nvPr/>
        </p:nvSpPr>
        <p:spPr>
          <a:xfrm>
            <a:off x="405360" y="4455642"/>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S8. Add Start-Up Notes</a:t>
            </a:r>
          </a:p>
        </p:txBody>
      </p:sp>
      <p:cxnSp>
        <p:nvCxnSpPr>
          <p:cNvPr id="51" name="Connector: Elbow 50">
            <a:extLst>
              <a:ext uri="{FF2B5EF4-FFF2-40B4-BE49-F238E27FC236}">
                <a16:creationId xmlns:a16="http://schemas.microsoft.com/office/drawing/2014/main" id="{23527C10-BD43-7470-ED53-F5E7C6F372B2}"/>
              </a:ext>
            </a:extLst>
          </p:cNvPr>
          <p:cNvCxnSpPr>
            <a:cxnSpLocks/>
            <a:stCxn id="49" idx="2"/>
            <a:endCxn id="50" idx="0"/>
          </p:cNvCxnSpPr>
          <p:nvPr/>
        </p:nvCxnSpPr>
        <p:spPr>
          <a:xfrm rot="5400000">
            <a:off x="4475717" y="-1728156"/>
            <a:ext cx="2931114" cy="9436483"/>
          </a:xfrm>
          <a:prstGeom prst="bentConnector3">
            <a:avLst>
              <a:gd name="adj1" fmla="val 85478"/>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52" name="Flowchart: Predefined Process 51">
            <a:extLst>
              <a:ext uri="{FF2B5EF4-FFF2-40B4-BE49-F238E27FC236}">
                <a16:creationId xmlns:a16="http://schemas.microsoft.com/office/drawing/2014/main" id="{AA232DE6-42A5-9684-409C-8C4B8C4D4F7F}"/>
              </a:ext>
            </a:extLst>
          </p:cNvPr>
          <p:cNvSpPr/>
          <p:nvPr/>
        </p:nvSpPr>
        <p:spPr>
          <a:xfrm>
            <a:off x="2431645" y="4448976"/>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S9. Add Line</a:t>
            </a:r>
          </a:p>
        </p:txBody>
      </p:sp>
      <p:sp>
        <p:nvSpPr>
          <p:cNvPr id="53" name="Flowchart: Predefined Process 52">
            <a:extLst>
              <a:ext uri="{FF2B5EF4-FFF2-40B4-BE49-F238E27FC236}">
                <a16:creationId xmlns:a16="http://schemas.microsoft.com/office/drawing/2014/main" id="{64AB3827-F514-BB2A-6997-AA329A582338}"/>
              </a:ext>
            </a:extLst>
          </p:cNvPr>
          <p:cNvSpPr/>
          <p:nvPr/>
        </p:nvSpPr>
        <p:spPr>
          <a:xfrm>
            <a:off x="4426735" y="4449327"/>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S10. Convert to SRO and Schedule</a:t>
            </a:r>
          </a:p>
        </p:txBody>
      </p:sp>
      <p:sp>
        <p:nvSpPr>
          <p:cNvPr id="54" name="Flowchart: Predefined Process 53">
            <a:extLst>
              <a:ext uri="{FF2B5EF4-FFF2-40B4-BE49-F238E27FC236}">
                <a16:creationId xmlns:a16="http://schemas.microsoft.com/office/drawing/2014/main" id="{0D4FD544-B8B7-1441-1173-CFC9807B5370}"/>
              </a:ext>
            </a:extLst>
          </p:cNvPr>
          <p:cNvSpPr/>
          <p:nvPr/>
        </p:nvSpPr>
        <p:spPr>
          <a:xfrm>
            <a:off x="6576675" y="4448804"/>
            <a:ext cx="1375653" cy="438417"/>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S11. Print Pick Ticket</a:t>
            </a:r>
          </a:p>
        </p:txBody>
      </p:sp>
      <p:sp>
        <p:nvSpPr>
          <p:cNvPr id="55" name="Flowchart: Predefined Process 54">
            <a:extLst>
              <a:ext uri="{FF2B5EF4-FFF2-40B4-BE49-F238E27FC236}">
                <a16:creationId xmlns:a16="http://schemas.microsoft.com/office/drawing/2014/main" id="{ACC89CDD-CB95-A4BA-3A58-A5C24766AB20}"/>
              </a:ext>
            </a:extLst>
          </p:cNvPr>
          <p:cNvSpPr/>
          <p:nvPr/>
        </p:nvSpPr>
        <p:spPr>
          <a:xfrm>
            <a:off x="8429193" y="4438973"/>
            <a:ext cx="1469923"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S12. Shipping Feedback Ship </a:t>
            </a:r>
          </a:p>
        </p:txBody>
      </p:sp>
      <p:sp>
        <p:nvSpPr>
          <p:cNvPr id="56" name="Flowchart: Process 55">
            <a:extLst>
              <a:ext uri="{FF2B5EF4-FFF2-40B4-BE49-F238E27FC236}">
                <a16:creationId xmlns:a16="http://schemas.microsoft.com/office/drawing/2014/main" id="{F5D3636E-B4EF-58F9-F78F-151130BE6DC1}"/>
              </a:ext>
            </a:extLst>
          </p:cNvPr>
          <p:cNvSpPr/>
          <p:nvPr/>
        </p:nvSpPr>
        <p:spPr>
          <a:xfrm>
            <a:off x="10234705" y="4422303"/>
            <a:ext cx="1327355" cy="47175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S13. Tech Performs Start-Up</a:t>
            </a:r>
          </a:p>
        </p:txBody>
      </p:sp>
      <p:sp>
        <p:nvSpPr>
          <p:cNvPr id="57" name="Flowchart: Predefined Process 56">
            <a:extLst>
              <a:ext uri="{FF2B5EF4-FFF2-40B4-BE49-F238E27FC236}">
                <a16:creationId xmlns:a16="http://schemas.microsoft.com/office/drawing/2014/main" id="{1514E0AB-A39D-4125-CCD2-A13426656B7D}"/>
              </a:ext>
            </a:extLst>
          </p:cNvPr>
          <p:cNvSpPr/>
          <p:nvPr/>
        </p:nvSpPr>
        <p:spPr>
          <a:xfrm>
            <a:off x="5652740" y="5553462"/>
            <a:ext cx="1469923"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S14. Register A Unit</a:t>
            </a:r>
          </a:p>
        </p:txBody>
      </p:sp>
      <p:cxnSp>
        <p:nvCxnSpPr>
          <p:cNvPr id="58" name="Connector: Elbow 57">
            <a:extLst>
              <a:ext uri="{FF2B5EF4-FFF2-40B4-BE49-F238E27FC236}">
                <a16:creationId xmlns:a16="http://schemas.microsoft.com/office/drawing/2014/main" id="{3BE74D5A-A8D2-D974-6991-F81E789182E4}"/>
              </a:ext>
            </a:extLst>
          </p:cNvPr>
          <p:cNvCxnSpPr>
            <a:cxnSpLocks/>
            <a:stCxn id="56" idx="2"/>
            <a:endCxn id="57" idx="0"/>
          </p:cNvCxnSpPr>
          <p:nvPr/>
        </p:nvCxnSpPr>
        <p:spPr>
          <a:xfrm rot="5400000">
            <a:off x="8313341" y="2968420"/>
            <a:ext cx="659404" cy="4510681"/>
          </a:xfrm>
          <a:prstGeom prst="bentConnector3">
            <a:avLst>
              <a:gd name="adj1" fmla="val 69033"/>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60" name="Flowchart: Decision 59">
            <a:extLst>
              <a:ext uri="{FF2B5EF4-FFF2-40B4-BE49-F238E27FC236}">
                <a16:creationId xmlns:a16="http://schemas.microsoft.com/office/drawing/2014/main" id="{B1464880-DEA9-6D24-AE91-6C821BEC62E2}"/>
              </a:ext>
            </a:extLst>
          </p:cNvPr>
          <p:cNvSpPr/>
          <p:nvPr/>
        </p:nvSpPr>
        <p:spPr>
          <a:xfrm>
            <a:off x="4527992" y="1724244"/>
            <a:ext cx="435655" cy="34839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D2</a:t>
            </a:r>
          </a:p>
        </p:txBody>
      </p:sp>
      <p:sp>
        <p:nvSpPr>
          <p:cNvPr id="61" name="Flowchart: Process 60">
            <a:extLst>
              <a:ext uri="{FF2B5EF4-FFF2-40B4-BE49-F238E27FC236}">
                <a16:creationId xmlns:a16="http://schemas.microsoft.com/office/drawing/2014/main" id="{04C7BD80-B954-28D7-59D7-4BE29FD20496}"/>
              </a:ext>
            </a:extLst>
          </p:cNvPr>
          <p:cNvSpPr/>
          <p:nvPr/>
        </p:nvSpPr>
        <p:spPr>
          <a:xfrm>
            <a:off x="4799383" y="1668146"/>
            <a:ext cx="171405" cy="17107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62" name="Flowchart: Process 61">
            <a:extLst>
              <a:ext uri="{FF2B5EF4-FFF2-40B4-BE49-F238E27FC236}">
                <a16:creationId xmlns:a16="http://schemas.microsoft.com/office/drawing/2014/main" id="{67E19978-C1CA-8CF5-CCEA-31F866B133DD}"/>
              </a:ext>
            </a:extLst>
          </p:cNvPr>
          <p:cNvSpPr/>
          <p:nvPr/>
        </p:nvSpPr>
        <p:spPr>
          <a:xfrm>
            <a:off x="4520850" y="1944263"/>
            <a:ext cx="171405" cy="17107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sp>
        <p:nvSpPr>
          <p:cNvPr id="63" name="TextBox 62">
            <a:extLst>
              <a:ext uri="{FF2B5EF4-FFF2-40B4-BE49-F238E27FC236}">
                <a16:creationId xmlns:a16="http://schemas.microsoft.com/office/drawing/2014/main" id="{2BDF6A91-BEAC-AAAD-2211-5C402752A7CF}"/>
              </a:ext>
            </a:extLst>
          </p:cNvPr>
          <p:cNvSpPr txBox="1"/>
          <p:nvPr/>
        </p:nvSpPr>
        <p:spPr>
          <a:xfrm>
            <a:off x="3882757" y="1378103"/>
            <a:ext cx="948813" cy="507831"/>
          </a:xfrm>
          <a:prstGeom prst="rect">
            <a:avLst/>
          </a:prstGeom>
          <a:noFill/>
        </p:spPr>
        <p:txBody>
          <a:bodyPr wrap="square" rtlCol="0">
            <a:spAutoFit/>
          </a:bodyPr>
          <a:lstStyle/>
          <a:p>
            <a:r>
              <a:rPr lang="en-US" sz="900" dirty="0"/>
              <a:t>Do You Know The Original Order #?</a:t>
            </a:r>
          </a:p>
        </p:txBody>
      </p:sp>
      <p:cxnSp>
        <p:nvCxnSpPr>
          <p:cNvPr id="64" name="Connector: Elbow 63">
            <a:extLst>
              <a:ext uri="{FF2B5EF4-FFF2-40B4-BE49-F238E27FC236}">
                <a16:creationId xmlns:a16="http://schemas.microsoft.com/office/drawing/2014/main" id="{292859FB-CC59-CB23-4A98-380BD9E06ED8}"/>
              </a:ext>
            </a:extLst>
          </p:cNvPr>
          <p:cNvCxnSpPr>
            <a:cxnSpLocks/>
            <a:stCxn id="60" idx="0"/>
            <a:endCxn id="47" idx="1"/>
          </p:cNvCxnSpPr>
          <p:nvPr/>
        </p:nvCxnSpPr>
        <p:spPr>
          <a:xfrm rot="5400000" flipH="1" flipV="1">
            <a:off x="5124592" y="925766"/>
            <a:ext cx="419706" cy="117725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5" name="Flowchart: Predefined Process 64">
            <a:extLst>
              <a:ext uri="{FF2B5EF4-FFF2-40B4-BE49-F238E27FC236}">
                <a16:creationId xmlns:a16="http://schemas.microsoft.com/office/drawing/2014/main" id="{8F701C1B-BCD9-711A-1211-F7E59E89A126}"/>
              </a:ext>
            </a:extLst>
          </p:cNvPr>
          <p:cNvSpPr/>
          <p:nvPr/>
        </p:nvSpPr>
        <p:spPr>
          <a:xfrm>
            <a:off x="7519201" y="2231738"/>
            <a:ext cx="1944205"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S5. Order Inquiry Using Serial Number</a:t>
            </a:r>
          </a:p>
        </p:txBody>
      </p:sp>
      <p:sp>
        <p:nvSpPr>
          <p:cNvPr id="66" name="TextBox 65">
            <a:extLst>
              <a:ext uri="{FF2B5EF4-FFF2-40B4-BE49-F238E27FC236}">
                <a16:creationId xmlns:a16="http://schemas.microsoft.com/office/drawing/2014/main" id="{22A2498F-92B5-9C17-3089-B0DC280D1065}"/>
              </a:ext>
            </a:extLst>
          </p:cNvPr>
          <p:cNvSpPr txBox="1"/>
          <p:nvPr/>
        </p:nvSpPr>
        <p:spPr>
          <a:xfrm>
            <a:off x="5661054" y="3222725"/>
            <a:ext cx="1205916"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S6. Create A New Unit SOP</a:t>
            </a:r>
          </a:p>
        </p:txBody>
      </p:sp>
      <p:cxnSp>
        <p:nvCxnSpPr>
          <p:cNvPr id="67" name="Connector: Elbow 66">
            <a:extLst>
              <a:ext uri="{FF2B5EF4-FFF2-40B4-BE49-F238E27FC236}">
                <a16:creationId xmlns:a16="http://schemas.microsoft.com/office/drawing/2014/main" id="{83D68FDB-1BF7-C886-F5BA-BD6D1A01940F}"/>
              </a:ext>
            </a:extLst>
          </p:cNvPr>
          <p:cNvCxnSpPr>
            <a:cxnSpLocks/>
            <a:stCxn id="60" idx="2"/>
            <a:endCxn id="65" idx="1"/>
          </p:cNvCxnSpPr>
          <p:nvPr/>
        </p:nvCxnSpPr>
        <p:spPr>
          <a:xfrm rot="16200000" flipH="1">
            <a:off x="5935693" y="882766"/>
            <a:ext cx="393635" cy="2773381"/>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0" name="Flowchart: Process 69">
            <a:extLst>
              <a:ext uri="{FF2B5EF4-FFF2-40B4-BE49-F238E27FC236}">
                <a16:creationId xmlns:a16="http://schemas.microsoft.com/office/drawing/2014/main" id="{52A11B4E-4E1D-3B98-3589-D09918122982}"/>
              </a:ext>
            </a:extLst>
          </p:cNvPr>
          <p:cNvSpPr/>
          <p:nvPr/>
        </p:nvSpPr>
        <p:spPr>
          <a:xfrm>
            <a:off x="7827625" y="1057821"/>
            <a:ext cx="1327355" cy="47451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S3. Check With AR To Verify Payment In Full</a:t>
            </a:r>
          </a:p>
        </p:txBody>
      </p:sp>
      <p:cxnSp>
        <p:nvCxnSpPr>
          <p:cNvPr id="71" name="Straight Arrow Connector 70">
            <a:extLst>
              <a:ext uri="{FF2B5EF4-FFF2-40B4-BE49-F238E27FC236}">
                <a16:creationId xmlns:a16="http://schemas.microsoft.com/office/drawing/2014/main" id="{E5095496-FB45-B91E-6BED-3EF68153D81A}"/>
              </a:ext>
            </a:extLst>
          </p:cNvPr>
          <p:cNvCxnSpPr>
            <a:cxnSpLocks/>
            <a:stCxn id="47" idx="3"/>
            <a:endCxn id="70" idx="1"/>
          </p:cNvCxnSpPr>
          <p:nvPr/>
        </p:nvCxnSpPr>
        <p:spPr>
          <a:xfrm flipV="1">
            <a:off x="7058698" y="1295078"/>
            <a:ext cx="768927" cy="946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B5CF96D4-D327-E89A-25E7-4E90E8CB12B3}"/>
              </a:ext>
            </a:extLst>
          </p:cNvPr>
          <p:cNvCxnSpPr>
            <a:cxnSpLocks/>
            <a:stCxn id="70" idx="3"/>
            <a:endCxn id="49" idx="1"/>
          </p:cNvCxnSpPr>
          <p:nvPr/>
        </p:nvCxnSpPr>
        <p:spPr>
          <a:xfrm flipV="1">
            <a:off x="9154980" y="1289991"/>
            <a:ext cx="768927" cy="5087"/>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400E9968-3D52-9A69-38E7-0C5F65ED65EB}"/>
              </a:ext>
            </a:extLst>
          </p:cNvPr>
          <p:cNvCxnSpPr>
            <a:cxnSpLocks/>
            <a:stCxn id="66" idx="3"/>
            <a:endCxn id="45" idx="1"/>
          </p:cNvCxnSpPr>
          <p:nvPr/>
        </p:nvCxnSpPr>
        <p:spPr>
          <a:xfrm flipV="1">
            <a:off x="6866970" y="3456649"/>
            <a:ext cx="1898379" cy="195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BB2726F7-D0B9-0E53-68A5-5D9C5520F4BD}"/>
              </a:ext>
            </a:extLst>
          </p:cNvPr>
          <p:cNvCxnSpPr>
            <a:cxnSpLocks/>
            <a:stCxn id="50" idx="3"/>
            <a:endCxn id="52" idx="1"/>
          </p:cNvCxnSpPr>
          <p:nvPr/>
        </p:nvCxnSpPr>
        <p:spPr>
          <a:xfrm flipV="1">
            <a:off x="2040704" y="4668184"/>
            <a:ext cx="390941" cy="6666"/>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22E86798-24D7-1B67-D75E-58C9CCCC47F9}"/>
              </a:ext>
            </a:extLst>
          </p:cNvPr>
          <p:cNvCxnSpPr>
            <a:cxnSpLocks/>
            <a:stCxn id="52" idx="3"/>
            <a:endCxn id="53" idx="1"/>
          </p:cNvCxnSpPr>
          <p:nvPr/>
        </p:nvCxnSpPr>
        <p:spPr>
          <a:xfrm>
            <a:off x="4066989" y="4668184"/>
            <a:ext cx="359746" cy="351"/>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F620E8F4-E507-3F2F-2FAD-2687C37369F9}"/>
              </a:ext>
            </a:extLst>
          </p:cNvPr>
          <p:cNvCxnSpPr>
            <a:cxnSpLocks/>
            <a:stCxn id="53" idx="3"/>
            <a:endCxn id="54" idx="1"/>
          </p:cNvCxnSpPr>
          <p:nvPr/>
        </p:nvCxnSpPr>
        <p:spPr>
          <a:xfrm flipV="1">
            <a:off x="6062079" y="4668013"/>
            <a:ext cx="514596" cy="522"/>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21A5EB68-3DA3-BF4B-BDED-E4EA3A63D2AB}"/>
              </a:ext>
            </a:extLst>
          </p:cNvPr>
          <p:cNvCxnSpPr>
            <a:cxnSpLocks/>
            <a:stCxn id="54" idx="3"/>
            <a:endCxn id="55" idx="1"/>
          </p:cNvCxnSpPr>
          <p:nvPr/>
        </p:nvCxnSpPr>
        <p:spPr>
          <a:xfrm flipV="1">
            <a:off x="7952328" y="4658181"/>
            <a:ext cx="476865" cy="9832"/>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85E53816-5D3D-7942-E2B0-160F8090F02D}"/>
              </a:ext>
            </a:extLst>
          </p:cNvPr>
          <p:cNvCxnSpPr>
            <a:cxnSpLocks/>
            <a:stCxn id="55" idx="3"/>
            <a:endCxn id="56" idx="1"/>
          </p:cNvCxnSpPr>
          <p:nvPr/>
        </p:nvCxnSpPr>
        <p:spPr>
          <a:xfrm>
            <a:off x="9899116" y="4658181"/>
            <a:ext cx="335589" cy="0"/>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7962347B-A90C-118D-6699-54F149169AFE}"/>
              </a:ext>
            </a:extLst>
          </p:cNvPr>
          <p:cNvCxnSpPr>
            <a:cxnSpLocks/>
            <a:stCxn id="39" idx="3"/>
            <a:endCxn id="41" idx="1"/>
          </p:cNvCxnSpPr>
          <p:nvPr/>
        </p:nvCxnSpPr>
        <p:spPr>
          <a:xfrm>
            <a:off x="2040704" y="2738772"/>
            <a:ext cx="926695"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1341F6AA-0719-A0C4-6163-026A01F10328}"/>
              </a:ext>
            </a:extLst>
          </p:cNvPr>
          <p:cNvCxnSpPr>
            <a:cxnSpLocks/>
            <a:stCxn id="65" idx="0"/>
            <a:endCxn id="70" idx="2"/>
          </p:cNvCxnSpPr>
          <p:nvPr/>
        </p:nvCxnSpPr>
        <p:spPr>
          <a:xfrm flipH="1" flipV="1">
            <a:off x="8491303" y="1532334"/>
            <a:ext cx="1" cy="69940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F4386755-BBD2-4ED4-A482-9EBEEFCF4B77}"/>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05 12 2025 19 10</a:t>
            </a:r>
          </a:p>
        </p:txBody>
      </p:sp>
      <p:sp>
        <p:nvSpPr>
          <p:cNvPr id="7" name="TextBox 6">
            <a:extLst>
              <a:ext uri="{FF2B5EF4-FFF2-40B4-BE49-F238E27FC236}">
                <a16:creationId xmlns:a16="http://schemas.microsoft.com/office/drawing/2014/main" id="{21F23B3E-3646-2681-CB90-EE4996CE591F}"/>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4" name="TextBox 3">
            <a:extLst>
              <a:ext uri="{FF2B5EF4-FFF2-40B4-BE49-F238E27FC236}">
                <a16:creationId xmlns:a16="http://schemas.microsoft.com/office/drawing/2014/main" id="{486F5442-BC21-C286-A4F6-724BF29AE84B}"/>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25 12 28 0800</a:t>
            </a:r>
          </a:p>
        </p:txBody>
      </p:sp>
      <p:sp>
        <p:nvSpPr>
          <p:cNvPr id="2" name="-S9. Add_lnes">
            <a:extLst>
              <a:ext uri="{FF2B5EF4-FFF2-40B4-BE49-F238E27FC236}">
                <a16:creationId xmlns:a16="http://schemas.microsoft.com/office/drawing/2014/main" id="{DBBA4F7E-FB69-AE43-AB2E-C3DAF0518F29}"/>
              </a:ext>
            </a:extLst>
          </p:cNvPr>
          <p:cNvSpPr>
            <a:spLocks noGrp="1"/>
          </p:cNvSpPr>
          <p:nvPr>
            <p:ph type="title"/>
          </p:nvPr>
        </p:nvSpPr>
        <p:spPr>
          <a:xfrm>
            <a:off x="838200" y="314871"/>
            <a:ext cx="10515600" cy="428753"/>
          </a:xfrm>
        </p:spPr>
        <p:txBody>
          <a:bodyPr>
            <a:noAutofit/>
          </a:bodyPr>
          <a:lstStyle/>
          <a:p>
            <a:pPr algn="ctr"/>
            <a:r>
              <a:rPr lang="en-US" sz="1600" b="1" dirty="0"/>
              <a:t>S9. Add Lines– Startup SOP</a:t>
            </a:r>
          </a:p>
        </p:txBody>
      </p:sp>
    </p:spTree>
    <p:extLst>
      <p:ext uri="{BB962C8B-B14F-4D97-AF65-F5344CB8AC3E}">
        <p14:creationId xmlns:p14="http://schemas.microsoft.com/office/powerpoint/2010/main" val="21698522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FA497-912F-2B5D-3F55-12100E50CE92}"/>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8ECF0BA8-023B-1C6F-E02D-5AFF938ABD75}"/>
              </a:ext>
            </a:extLst>
          </p:cNvPr>
          <p:cNvSpPr/>
          <p:nvPr/>
        </p:nvSpPr>
        <p:spPr>
          <a:xfrm>
            <a:off x="4244313" y="4276640"/>
            <a:ext cx="2105053" cy="926620"/>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sp>
        <p:nvSpPr>
          <p:cNvPr id="39" name="Flowchart: Process 38">
            <a:extLst>
              <a:ext uri="{FF2B5EF4-FFF2-40B4-BE49-F238E27FC236}">
                <a16:creationId xmlns:a16="http://schemas.microsoft.com/office/drawing/2014/main" id="{AECD1D75-7174-BB0B-EBAD-475919B34AF7}"/>
              </a:ext>
            </a:extLst>
          </p:cNvPr>
          <p:cNvSpPr/>
          <p:nvPr/>
        </p:nvSpPr>
        <p:spPr>
          <a:xfrm>
            <a:off x="713349" y="2526777"/>
            <a:ext cx="1327355" cy="42399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 Customer Calls For Start-Up</a:t>
            </a:r>
          </a:p>
        </p:txBody>
      </p:sp>
      <p:sp>
        <p:nvSpPr>
          <p:cNvPr id="41" name="Flowchart: Decision 40">
            <a:extLst>
              <a:ext uri="{FF2B5EF4-FFF2-40B4-BE49-F238E27FC236}">
                <a16:creationId xmlns:a16="http://schemas.microsoft.com/office/drawing/2014/main" id="{76DC3923-F0FB-5B38-B777-EE52A6215FE8}"/>
              </a:ext>
            </a:extLst>
          </p:cNvPr>
          <p:cNvSpPr/>
          <p:nvPr/>
        </p:nvSpPr>
        <p:spPr>
          <a:xfrm>
            <a:off x="2967399" y="2556048"/>
            <a:ext cx="570871" cy="365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D1</a:t>
            </a:r>
          </a:p>
        </p:txBody>
      </p:sp>
      <p:sp>
        <p:nvSpPr>
          <p:cNvPr id="42" name="Flowchart: Process 41">
            <a:extLst>
              <a:ext uri="{FF2B5EF4-FFF2-40B4-BE49-F238E27FC236}">
                <a16:creationId xmlns:a16="http://schemas.microsoft.com/office/drawing/2014/main" id="{5EA122EC-3500-31BE-B71F-8ACA202DAE44}"/>
              </a:ext>
            </a:extLst>
          </p:cNvPr>
          <p:cNvSpPr/>
          <p:nvPr/>
        </p:nvSpPr>
        <p:spPr>
          <a:xfrm>
            <a:off x="3323024" y="2497204"/>
            <a:ext cx="224605" cy="17944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43" name="Flowchart: Process 42">
            <a:extLst>
              <a:ext uri="{FF2B5EF4-FFF2-40B4-BE49-F238E27FC236}">
                <a16:creationId xmlns:a16="http://schemas.microsoft.com/office/drawing/2014/main" id="{81EC929A-EE7A-0FAD-2A83-4AD617344203}"/>
              </a:ext>
            </a:extLst>
          </p:cNvPr>
          <p:cNvSpPr/>
          <p:nvPr/>
        </p:nvSpPr>
        <p:spPr>
          <a:xfrm>
            <a:off x="2958041" y="2786835"/>
            <a:ext cx="224605" cy="17944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sp>
        <p:nvSpPr>
          <p:cNvPr id="44" name="TextBox 43">
            <a:extLst>
              <a:ext uri="{FF2B5EF4-FFF2-40B4-BE49-F238E27FC236}">
                <a16:creationId xmlns:a16="http://schemas.microsoft.com/office/drawing/2014/main" id="{A9E9C70E-7735-C78C-5F54-96FB9E73583E}"/>
              </a:ext>
            </a:extLst>
          </p:cNvPr>
          <p:cNvSpPr txBox="1"/>
          <p:nvPr/>
        </p:nvSpPr>
        <p:spPr>
          <a:xfrm>
            <a:off x="2332800" y="2331480"/>
            <a:ext cx="948813" cy="369332"/>
          </a:xfrm>
          <a:prstGeom prst="rect">
            <a:avLst/>
          </a:prstGeom>
          <a:noFill/>
        </p:spPr>
        <p:txBody>
          <a:bodyPr wrap="square" rtlCol="0">
            <a:spAutoFit/>
          </a:bodyPr>
          <a:lstStyle/>
          <a:p>
            <a:r>
              <a:rPr lang="en-US" sz="900" dirty="0"/>
              <a:t>Q1.Did We Sell The Generator? </a:t>
            </a:r>
          </a:p>
        </p:txBody>
      </p:sp>
      <p:sp>
        <p:nvSpPr>
          <p:cNvPr id="45" name="TextBox 44">
            <a:extLst>
              <a:ext uri="{FF2B5EF4-FFF2-40B4-BE49-F238E27FC236}">
                <a16:creationId xmlns:a16="http://schemas.microsoft.com/office/drawing/2014/main" id="{434F4BC1-F789-2E48-F969-3FD5103C7CA9}"/>
              </a:ext>
            </a:extLst>
          </p:cNvPr>
          <p:cNvSpPr txBox="1"/>
          <p:nvPr/>
        </p:nvSpPr>
        <p:spPr>
          <a:xfrm>
            <a:off x="8765349" y="3220771"/>
            <a:ext cx="1721329"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S7. Service Order Process at charge SOP</a:t>
            </a:r>
          </a:p>
        </p:txBody>
      </p:sp>
      <p:cxnSp>
        <p:nvCxnSpPr>
          <p:cNvPr id="46" name="Connector: Elbow 45">
            <a:extLst>
              <a:ext uri="{FF2B5EF4-FFF2-40B4-BE49-F238E27FC236}">
                <a16:creationId xmlns:a16="http://schemas.microsoft.com/office/drawing/2014/main" id="{97373390-89E5-236C-255D-37307F1EAE1D}"/>
              </a:ext>
            </a:extLst>
          </p:cNvPr>
          <p:cNvCxnSpPr>
            <a:cxnSpLocks/>
            <a:stCxn id="41" idx="2"/>
            <a:endCxn id="66" idx="1"/>
          </p:cNvCxnSpPr>
          <p:nvPr/>
        </p:nvCxnSpPr>
        <p:spPr>
          <a:xfrm rot="16200000" flipH="1">
            <a:off x="4188391" y="1985939"/>
            <a:ext cx="537107" cy="2408219"/>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 name="Flowchart: Predefined Process 46">
            <a:extLst>
              <a:ext uri="{FF2B5EF4-FFF2-40B4-BE49-F238E27FC236}">
                <a16:creationId xmlns:a16="http://schemas.microsoft.com/office/drawing/2014/main" id="{66510CA2-5FF8-D348-060D-81C7C83917B2}"/>
              </a:ext>
            </a:extLst>
          </p:cNvPr>
          <p:cNvSpPr/>
          <p:nvPr/>
        </p:nvSpPr>
        <p:spPr>
          <a:xfrm>
            <a:off x="5923071" y="1070001"/>
            <a:ext cx="1135627"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S2. Order Inquiry </a:t>
            </a:r>
          </a:p>
        </p:txBody>
      </p:sp>
      <p:cxnSp>
        <p:nvCxnSpPr>
          <p:cNvPr id="48" name="Connector: Elbow 47">
            <a:extLst>
              <a:ext uri="{FF2B5EF4-FFF2-40B4-BE49-F238E27FC236}">
                <a16:creationId xmlns:a16="http://schemas.microsoft.com/office/drawing/2014/main" id="{CFF9E553-E6CD-8527-4305-83B18CEB2A88}"/>
              </a:ext>
            </a:extLst>
          </p:cNvPr>
          <p:cNvCxnSpPr>
            <a:cxnSpLocks/>
            <a:stCxn id="41" idx="0"/>
            <a:endCxn id="60" idx="1"/>
          </p:cNvCxnSpPr>
          <p:nvPr/>
        </p:nvCxnSpPr>
        <p:spPr>
          <a:xfrm rot="5400000" flipH="1" flipV="1">
            <a:off x="3561610" y="1589667"/>
            <a:ext cx="657606" cy="127515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Flowchart: Predefined Process 48">
            <a:extLst>
              <a:ext uri="{FF2B5EF4-FFF2-40B4-BE49-F238E27FC236}">
                <a16:creationId xmlns:a16="http://schemas.microsoft.com/office/drawing/2014/main" id="{4C81F386-9A28-1F9D-FB52-CCBF0666D066}"/>
              </a:ext>
            </a:extLst>
          </p:cNvPr>
          <p:cNvSpPr/>
          <p:nvPr/>
        </p:nvSpPr>
        <p:spPr>
          <a:xfrm>
            <a:off x="9923907" y="1055454"/>
            <a:ext cx="1471216"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S4. Create Start-Up Incident</a:t>
            </a:r>
          </a:p>
        </p:txBody>
      </p:sp>
      <p:sp>
        <p:nvSpPr>
          <p:cNvPr id="50" name="Flowchart: Predefined Process 49">
            <a:extLst>
              <a:ext uri="{FF2B5EF4-FFF2-40B4-BE49-F238E27FC236}">
                <a16:creationId xmlns:a16="http://schemas.microsoft.com/office/drawing/2014/main" id="{B01C2280-BCB5-B8F6-903F-E03D56B8856E}"/>
              </a:ext>
            </a:extLst>
          </p:cNvPr>
          <p:cNvSpPr/>
          <p:nvPr/>
        </p:nvSpPr>
        <p:spPr>
          <a:xfrm>
            <a:off x="405360" y="4455642"/>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S8. Add Start-Up Notes</a:t>
            </a:r>
          </a:p>
        </p:txBody>
      </p:sp>
      <p:cxnSp>
        <p:nvCxnSpPr>
          <p:cNvPr id="51" name="Connector: Elbow 50">
            <a:extLst>
              <a:ext uri="{FF2B5EF4-FFF2-40B4-BE49-F238E27FC236}">
                <a16:creationId xmlns:a16="http://schemas.microsoft.com/office/drawing/2014/main" id="{F9815B6B-892F-07E5-15E6-4FA0EA8E6C8A}"/>
              </a:ext>
            </a:extLst>
          </p:cNvPr>
          <p:cNvCxnSpPr>
            <a:cxnSpLocks/>
            <a:stCxn id="49" idx="2"/>
            <a:endCxn id="50" idx="0"/>
          </p:cNvCxnSpPr>
          <p:nvPr/>
        </p:nvCxnSpPr>
        <p:spPr>
          <a:xfrm rot="5400000">
            <a:off x="4475717" y="-1728156"/>
            <a:ext cx="2931114" cy="9436483"/>
          </a:xfrm>
          <a:prstGeom prst="bentConnector3">
            <a:avLst>
              <a:gd name="adj1" fmla="val 85478"/>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52" name="Flowchart: Predefined Process 51">
            <a:extLst>
              <a:ext uri="{FF2B5EF4-FFF2-40B4-BE49-F238E27FC236}">
                <a16:creationId xmlns:a16="http://schemas.microsoft.com/office/drawing/2014/main" id="{EE2E15F1-BA00-9842-B73B-A5902561D359}"/>
              </a:ext>
            </a:extLst>
          </p:cNvPr>
          <p:cNvSpPr/>
          <p:nvPr/>
        </p:nvSpPr>
        <p:spPr>
          <a:xfrm>
            <a:off x="2431645" y="4448976"/>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S9. Add Line</a:t>
            </a:r>
          </a:p>
        </p:txBody>
      </p:sp>
      <p:sp>
        <p:nvSpPr>
          <p:cNvPr id="53" name="Flowchart: Predefined Process 52">
            <a:extLst>
              <a:ext uri="{FF2B5EF4-FFF2-40B4-BE49-F238E27FC236}">
                <a16:creationId xmlns:a16="http://schemas.microsoft.com/office/drawing/2014/main" id="{F8B39E8E-E299-A10A-0F84-929334ED9312}"/>
              </a:ext>
            </a:extLst>
          </p:cNvPr>
          <p:cNvSpPr/>
          <p:nvPr/>
        </p:nvSpPr>
        <p:spPr>
          <a:xfrm>
            <a:off x="4426735" y="4449327"/>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S10. Convert to SRO and Schedule</a:t>
            </a:r>
          </a:p>
        </p:txBody>
      </p:sp>
      <p:sp>
        <p:nvSpPr>
          <p:cNvPr id="54" name="Flowchart: Predefined Process 53">
            <a:extLst>
              <a:ext uri="{FF2B5EF4-FFF2-40B4-BE49-F238E27FC236}">
                <a16:creationId xmlns:a16="http://schemas.microsoft.com/office/drawing/2014/main" id="{54D8D23D-60EB-98BA-1A25-43C470FC3D49}"/>
              </a:ext>
            </a:extLst>
          </p:cNvPr>
          <p:cNvSpPr/>
          <p:nvPr/>
        </p:nvSpPr>
        <p:spPr>
          <a:xfrm>
            <a:off x="6576675" y="4448804"/>
            <a:ext cx="1375653" cy="438417"/>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S11. Print Pick Ticket</a:t>
            </a:r>
          </a:p>
        </p:txBody>
      </p:sp>
      <p:sp>
        <p:nvSpPr>
          <p:cNvPr id="55" name="Flowchart: Predefined Process 54">
            <a:extLst>
              <a:ext uri="{FF2B5EF4-FFF2-40B4-BE49-F238E27FC236}">
                <a16:creationId xmlns:a16="http://schemas.microsoft.com/office/drawing/2014/main" id="{E40A4A2A-B4F7-F817-95B9-8CDC548BDC9A}"/>
              </a:ext>
            </a:extLst>
          </p:cNvPr>
          <p:cNvSpPr/>
          <p:nvPr/>
        </p:nvSpPr>
        <p:spPr>
          <a:xfrm>
            <a:off x="8429193" y="4438973"/>
            <a:ext cx="1469923"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S12. Shipping Feedback Ship </a:t>
            </a:r>
          </a:p>
        </p:txBody>
      </p:sp>
      <p:sp>
        <p:nvSpPr>
          <p:cNvPr id="56" name="Flowchart: Process 55">
            <a:extLst>
              <a:ext uri="{FF2B5EF4-FFF2-40B4-BE49-F238E27FC236}">
                <a16:creationId xmlns:a16="http://schemas.microsoft.com/office/drawing/2014/main" id="{74E8A51F-2614-9234-B285-C416653D3C20}"/>
              </a:ext>
            </a:extLst>
          </p:cNvPr>
          <p:cNvSpPr/>
          <p:nvPr/>
        </p:nvSpPr>
        <p:spPr>
          <a:xfrm>
            <a:off x="10234705" y="4422303"/>
            <a:ext cx="1327355" cy="47175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S13. Tech Performs Start-Up</a:t>
            </a:r>
          </a:p>
        </p:txBody>
      </p:sp>
      <p:sp>
        <p:nvSpPr>
          <p:cNvPr id="57" name="Flowchart: Predefined Process 56">
            <a:extLst>
              <a:ext uri="{FF2B5EF4-FFF2-40B4-BE49-F238E27FC236}">
                <a16:creationId xmlns:a16="http://schemas.microsoft.com/office/drawing/2014/main" id="{701FE882-7F1F-214D-4E1C-C041811323F2}"/>
              </a:ext>
            </a:extLst>
          </p:cNvPr>
          <p:cNvSpPr/>
          <p:nvPr/>
        </p:nvSpPr>
        <p:spPr>
          <a:xfrm>
            <a:off x="5652740" y="5553462"/>
            <a:ext cx="1469923"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S14. Register A Unit</a:t>
            </a:r>
          </a:p>
        </p:txBody>
      </p:sp>
      <p:cxnSp>
        <p:nvCxnSpPr>
          <p:cNvPr id="58" name="Connector: Elbow 57">
            <a:extLst>
              <a:ext uri="{FF2B5EF4-FFF2-40B4-BE49-F238E27FC236}">
                <a16:creationId xmlns:a16="http://schemas.microsoft.com/office/drawing/2014/main" id="{3C89E882-F2AD-B8BD-4600-E6EE622BB4E7}"/>
              </a:ext>
            </a:extLst>
          </p:cNvPr>
          <p:cNvCxnSpPr>
            <a:cxnSpLocks/>
            <a:stCxn id="56" idx="2"/>
            <a:endCxn id="57" idx="0"/>
          </p:cNvCxnSpPr>
          <p:nvPr/>
        </p:nvCxnSpPr>
        <p:spPr>
          <a:xfrm rot="5400000">
            <a:off x="8313341" y="2968420"/>
            <a:ext cx="659404" cy="4510681"/>
          </a:xfrm>
          <a:prstGeom prst="bentConnector3">
            <a:avLst>
              <a:gd name="adj1" fmla="val 69033"/>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60" name="Flowchart: Decision 59">
            <a:extLst>
              <a:ext uri="{FF2B5EF4-FFF2-40B4-BE49-F238E27FC236}">
                <a16:creationId xmlns:a16="http://schemas.microsoft.com/office/drawing/2014/main" id="{6EA31B84-96CA-DB2B-1900-942C78560B78}"/>
              </a:ext>
            </a:extLst>
          </p:cNvPr>
          <p:cNvSpPr/>
          <p:nvPr/>
        </p:nvSpPr>
        <p:spPr>
          <a:xfrm>
            <a:off x="4527992" y="1724244"/>
            <a:ext cx="435655" cy="34839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D2</a:t>
            </a:r>
          </a:p>
        </p:txBody>
      </p:sp>
      <p:sp>
        <p:nvSpPr>
          <p:cNvPr id="61" name="Flowchart: Process 60">
            <a:extLst>
              <a:ext uri="{FF2B5EF4-FFF2-40B4-BE49-F238E27FC236}">
                <a16:creationId xmlns:a16="http://schemas.microsoft.com/office/drawing/2014/main" id="{EEF06711-12B3-3FC2-A3F5-6DE672EBBB32}"/>
              </a:ext>
            </a:extLst>
          </p:cNvPr>
          <p:cNvSpPr/>
          <p:nvPr/>
        </p:nvSpPr>
        <p:spPr>
          <a:xfrm>
            <a:off x="4799383" y="1668146"/>
            <a:ext cx="171405" cy="17107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62" name="Flowchart: Process 61">
            <a:extLst>
              <a:ext uri="{FF2B5EF4-FFF2-40B4-BE49-F238E27FC236}">
                <a16:creationId xmlns:a16="http://schemas.microsoft.com/office/drawing/2014/main" id="{0AA91507-8165-C3E1-BB99-5EB14F15C291}"/>
              </a:ext>
            </a:extLst>
          </p:cNvPr>
          <p:cNvSpPr/>
          <p:nvPr/>
        </p:nvSpPr>
        <p:spPr>
          <a:xfrm>
            <a:off x="4520850" y="1944263"/>
            <a:ext cx="171405" cy="17107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sp>
        <p:nvSpPr>
          <p:cNvPr id="63" name="TextBox 62">
            <a:extLst>
              <a:ext uri="{FF2B5EF4-FFF2-40B4-BE49-F238E27FC236}">
                <a16:creationId xmlns:a16="http://schemas.microsoft.com/office/drawing/2014/main" id="{D87ED401-B72F-870C-528A-E0ED9F865A13}"/>
              </a:ext>
            </a:extLst>
          </p:cNvPr>
          <p:cNvSpPr txBox="1"/>
          <p:nvPr/>
        </p:nvSpPr>
        <p:spPr>
          <a:xfrm>
            <a:off x="3882757" y="1378103"/>
            <a:ext cx="948813" cy="507831"/>
          </a:xfrm>
          <a:prstGeom prst="rect">
            <a:avLst/>
          </a:prstGeom>
          <a:noFill/>
        </p:spPr>
        <p:txBody>
          <a:bodyPr wrap="square" rtlCol="0">
            <a:spAutoFit/>
          </a:bodyPr>
          <a:lstStyle/>
          <a:p>
            <a:r>
              <a:rPr lang="en-US" sz="900" dirty="0"/>
              <a:t>Do You Know The Original Order #?</a:t>
            </a:r>
          </a:p>
        </p:txBody>
      </p:sp>
      <p:cxnSp>
        <p:nvCxnSpPr>
          <p:cNvPr id="64" name="Connector: Elbow 63">
            <a:extLst>
              <a:ext uri="{FF2B5EF4-FFF2-40B4-BE49-F238E27FC236}">
                <a16:creationId xmlns:a16="http://schemas.microsoft.com/office/drawing/2014/main" id="{0EFB8E1F-6D5D-5D01-586E-4C9A0F1EF55E}"/>
              </a:ext>
            </a:extLst>
          </p:cNvPr>
          <p:cNvCxnSpPr>
            <a:cxnSpLocks/>
            <a:stCxn id="60" idx="0"/>
            <a:endCxn id="47" idx="1"/>
          </p:cNvCxnSpPr>
          <p:nvPr/>
        </p:nvCxnSpPr>
        <p:spPr>
          <a:xfrm rot="5400000" flipH="1" flipV="1">
            <a:off x="5124592" y="925766"/>
            <a:ext cx="419706" cy="117725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5" name="Flowchart: Predefined Process 64">
            <a:extLst>
              <a:ext uri="{FF2B5EF4-FFF2-40B4-BE49-F238E27FC236}">
                <a16:creationId xmlns:a16="http://schemas.microsoft.com/office/drawing/2014/main" id="{59AAF355-F1DC-22B4-7E25-C0C18104B54B}"/>
              </a:ext>
            </a:extLst>
          </p:cNvPr>
          <p:cNvSpPr/>
          <p:nvPr/>
        </p:nvSpPr>
        <p:spPr>
          <a:xfrm>
            <a:off x="7519201" y="2231738"/>
            <a:ext cx="1944205"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S5. Order Inquiry Using Serial Number</a:t>
            </a:r>
          </a:p>
        </p:txBody>
      </p:sp>
      <p:sp>
        <p:nvSpPr>
          <p:cNvPr id="66" name="TextBox 65">
            <a:extLst>
              <a:ext uri="{FF2B5EF4-FFF2-40B4-BE49-F238E27FC236}">
                <a16:creationId xmlns:a16="http://schemas.microsoft.com/office/drawing/2014/main" id="{BFCFC08A-0733-8C30-39F1-8B45EC59175E}"/>
              </a:ext>
            </a:extLst>
          </p:cNvPr>
          <p:cNvSpPr txBox="1"/>
          <p:nvPr/>
        </p:nvSpPr>
        <p:spPr>
          <a:xfrm>
            <a:off x="5661054" y="3222725"/>
            <a:ext cx="1205916"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S6. Create A New Unit SOP</a:t>
            </a:r>
          </a:p>
        </p:txBody>
      </p:sp>
      <p:cxnSp>
        <p:nvCxnSpPr>
          <p:cNvPr id="67" name="Connector: Elbow 66">
            <a:extLst>
              <a:ext uri="{FF2B5EF4-FFF2-40B4-BE49-F238E27FC236}">
                <a16:creationId xmlns:a16="http://schemas.microsoft.com/office/drawing/2014/main" id="{6D68F828-58A9-AD02-D1A5-36913EADF57C}"/>
              </a:ext>
            </a:extLst>
          </p:cNvPr>
          <p:cNvCxnSpPr>
            <a:cxnSpLocks/>
            <a:stCxn id="60" idx="2"/>
            <a:endCxn id="65" idx="1"/>
          </p:cNvCxnSpPr>
          <p:nvPr/>
        </p:nvCxnSpPr>
        <p:spPr>
          <a:xfrm rot="16200000" flipH="1">
            <a:off x="5935693" y="882766"/>
            <a:ext cx="393635" cy="2773381"/>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0" name="Flowchart: Process 69">
            <a:extLst>
              <a:ext uri="{FF2B5EF4-FFF2-40B4-BE49-F238E27FC236}">
                <a16:creationId xmlns:a16="http://schemas.microsoft.com/office/drawing/2014/main" id="{A6957856-29F2-AD3A-0314-ACB0DD9F6412}"/>
              </a:ext>
            </a:extLst>
          </p:cNvPr>
          <p:cNvSpPr/>
          <p:nvPr/>
        </p:nvSpPr>
        <p:spPr>
          <a:xfrm>
            <a:off x="7827625" y="1057821"/>
            <a:ext cx="1327355" cy="47451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S3. Check With AR To Verify Payment In Full</a:t>
            </a:r>
          </a:p>
        </p:txBody>
      </p:sp>
      <p:cxnSp>
        <p:nvCxnSpPr>
          <p:cNvPr id="71" name="Straight Arrow Connector 70">
            <a:extLst>
              <a:ext uri="{FF2B5EF4-FFF2-40B4-BE49-F238E27FC236}">
                <a16:creationId xmlns:a16="http://schemas.microsoft.com/office/drawing/2014/main" id="{34CD5E70-1724-8487-BD73-91CEFA12815E}"/>
              </a:ext>
            </a:extLst>
          </p:cNvPr>
          <p:cNvCxnSpPr>
            <a:cxnSpLocks/>
            <a:stCxn id="47" idx="3"/>
            <a:endCxn id="70" idx="1"/>
          </p:cNvCxnSpPr>
          <p:nvPr/>
        </p:nvCxnSpPr>
        <p:spPr>
          <a:xfrm flipV="1">
            <a:off x="7058698" y="1295078"/>
            <a:ext cx="768927" cy="946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940FCEC4-8D57-B0E1-C478-12DF09BEE04B}"/>
              </a:ext>
            </a:extLst>
          </p:cNvPr>
          <p:cNvCxnSpPr>
            <a:cxnSpLocks/>
            <a:stCxn id="70" idx="3"/>
            <a:endCxn id="49" idx="1"/>
          </p:cNvCxnSpPr>
          <p:nvPr/>
        </p:nvCxnSpPr>
        <p:spPr>
          <a:xfrm flipV="1">
            <a:off x="9154980" y="1289991"/>
            <a:ext cx="768927" cy="5087"/>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46112612-B743-4EBA-70D5-72DC7F48CDD6}"/>
              </a:ext>
            </a:extLst>
          </p:cNvPr>
          <p:cNvCxnSpPr>
            <a:cxnSpLocks/>
            <a:stCxn id="66" idx="3"/>
            <a:endCxn id="45" idx="1"/>
          </p:cNvCxnSpPr>
          <p:nvPr/>
        </p:nvCxnSpPr>
        <p:spPr>
          <a:xfrm flipV="1">
            <a:off x="6866970" y="3456649"/>
            <a:ext cx="1898379" cy="195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D0DA7FCD-5186-02A6-5685-5FA6D248E439}"/>
              </a:ext>
            </a:extLst>
          </p:cNvPr>
          <p:cNvCxnSpPr>
            <a:cxnSpLocks/>
            <a:stCxn id="50" idx="3"/>
            <a:endCxn id="52" idx="1"/>
          </p:cNvCxnSpPr>
          <p:nvPr/>
        </p:nvCxnSpPr>
        <p:spPr>
          <a:xfrm flipV="1">
            <a:off x="2040704" y="4668184"/>
            <a:ext cx="390941" cy="6666"/>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0D56E697-0B1D-15ED-C086-C01019CB696D}"/>
              </a:ext>
            </a:extLst>
          </p:cNvPr>
          <p:cNvCxnSpPr>
            <a:cxnSpLocks/>
            <a:stCxn id="52" idx="3"/>
            <a:endCxn id="53" idx="1"/>
          </p:cNvCxnSpPr>
          <p:nvPr/>
        </p:nvCxnSpPr>
        <p:spPr>
          <a:xfrm>
            <a:off x="4066989" y="4668184"/>
            <a:ext cx="359746" cy="351"/>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A301D8DC-9085-55D6-DF2B-9010A601D3A1}"/>
              </a:ext>
            </a:extLst>
          </p:cNvPr>
          <p:cNvCxnSpPr>
            <a:cxnSpLocks/>
            <a:stCxn id="53" idx="3"/>
            <a:endCxn id="54" idx="1"/>
          </p:cNvCxnSpPr>
          <p:nvPr/>
        </p:nvCxnSpPr>
        <p:spPr>
          <a:xfrm flipV="1">
            <a:off x="6062079" y="4668013"/>
            <a:ext cx="514596" cy="522"/>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A179DF95-518C-4E4C-E275-C0978FB45971}"/>
              </a:ext>
            </a:extLst>
          </p:cNvPr>
          <p:cNvCxnSpPr>
            <a:cxnSpLocks/>
            <a:stCxn id="54" idx="3"/>
            <a:endCxn id="55" idx="1"/>
          </p:cNvCxnSpPr>
          <p:nvPr/>
        </p:nvCxnSpPr>
        <p:spPr>
          <a:xfrm flipV="1">
            <a:off x="7952328" y="4658181"/>
            <a:ext cx="476865" cy="9832"/>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55B858C5-F771-EDB0-2208-A2F224C505C6}"/>
              </a:ext>
            </a:extLst>
          </p:cNvPr>
          <p:cNvCxnSpPr>
            <a:cxnSpLocks/>
            <a:stCxn id="55" idx="3"/>
            <a:endCxn id="56" idx="1"/>
          </p:cNvCxnSpPr>
          <p:nvPr/>
        </p:nvCxnSpPr>
        <p:spPr>
          <a:xfrm>
            <a:off x="9899116" y="4658181"/>
            <a:ext cx="335589" cy="0"/>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37CB84C8-3D98-1BEE-3CE0-58B4B094DB00}"/>
              </a:ext>
            </a:extLst>
          </p:cNvPr>
          <p:cNvCxnSpPr>
            <a:cxnSpLocks/>
            <a:stCxn id="39" idx="3"/>
            <a:endCxn id="41" idx="1"/>
          </p:cNvCxnSpPr>
          <p:nvPr/>
        </p:nvCxnSpPr>
        <p:spPr>
          <a:xfrm>
            <a:off x="2040704" y="2738772"/>
            <a:ext cx="926695"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F25255A7-EB80-71E7-8F70-5E7D43356FF1}"/>
              </a:ext>
            </a:extLst>
          </p:cNvPr>
          <p:cNvCxnSpPr>
            <a:cxnSpLocks/>
            <a:stCxn id="65" idx="0"/>
            <a:endCxn id="70" idx="2"/>
          </p:cNvCxnSpPr>
          <p:nvPr/>
        </p:nvCxnSpPr>
        <p:spPr>
          <a:xfrm flipH="1" flipV="1">
            <a:off x="8491303" y="1532334"/>
            <a:ext cx="1" cy="69940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F90DB10-4BF4-D62F-92A6-CB60743DCC4C}"/>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05 12 2025 19 10</a:t>
            </a:r>
          </a:p>
        </p:txBody>
      </p:sp>
      <p:sp>
        <p:nvSpPr>
          <p:cNvPr id="7" name="TextBox 6">
            <a:extLst>
              <a:ext uri="{FF2B5EF4-FFF2-40B4-BE49-F238E27FC236}">
                <a16:creationId xmlns:a16="http://schemas.microsoft.com/office/drawing/2014/main" id="{1942F1ED-9D27-7E30-181F-65AC28F04C85}"/>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4" name="TextBox 3">
            <a:extLst>
              <a:ext uri="{FF2B5EF4-FFF2-40B4-BE49-F238E27FC236}">
                <a16:creationId xmlns:a16="http://schemas.microsoft.com/office/drawing/2014/main" id="{9532C07D-D12F-E988-21C8-A9233E5A89FB}"/>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25 12 28 0800</a:t>
            </a:r>
          </a:p>
        </p:txBody>
      </p:sp>
      <p:sp>
        <p:nvSpPr>
          <p:cNvPr id="2" name="-S10. Sch_StrtUp">
            <a:extLst>
              <a:ext uri="{FF2B5EF4-FFF2-40B4-BE49-F238E27FC236}">
                <a16:creationId xmlns:a16="http://schemas.microsoft.com/office/drawing/2014/main" id="{102CBDCE-B2F4-BEE3-7E6A-5A0F40AAD95A}"/>
              </a:ext>
            </a:extLst>
          </p:cNvPr>
          <p:cNvSpPr>
            <a:spLocks noGrp="1"/>
          </p:cNvSpPr>
          <p:nvPr>
            <p:ph type="title"/>
          </p:nvPr>
        </p:nvSpPr>
        <p:spPr>
          <a:xfrm>
            <a:off x="838200" y="314871"/>
            <a:ext cx="10515600" cy="428753"/>
          </a:xfrm>
        </p:spPr>
        <p:txBody>
          <a:bodyPr>
            <a:noAutofit/>
          </a:bodyPr>
          <a:lstStyle/>
          <a:p>
            <a:pPr algn="ctr"/>
            <a:r>
              <a:rPr lang="en-US" sz="1600" b="1" dirty="0"/>
              <a:t>S10. Schedule startup – Startup SOP</a:t>
            </a:r>
          </a:p>
        </p:txBody>
      </p:sp>
    </p:spTree>
    <p:extLst>
      <p:ext uri="{BB962C8B-B14F-4D97-AF65-F5344CB8AC3E}">
        <p14:creationId xmlns:p14="http://schemas.microsoft.com/office/powerpoint/2010/main" val="9120634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3DE72-7C95-C055-3069-001FBCD220AC}"/>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EECB233C-89A0-1B32-D3E6-58D8D8397805}"/>
              </a:ext>
            </a:extLst>
          </p:cNvPr>
          <p:cNvSpPr/>
          <p:nvPr/>
        </p:nvSpPr>
        <p:spPr>
          <a:xfrm>
            <a:off x="6235478" y="4340726"/>
            <a:ext cx="2105053" cy="926620"/>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sp>
        <p:nvSpPr>
          <p:cNvPr id="39" name="Flowchart: Process 38">
            <a:extLst>
              <a:ext uri="{FF2B5EF4-FFF2-40B4-BE49-F238E27FC236}">
                <a16:creationId xmlns:a16="http://schemas.microsoft.com/office/drawing/2014/main" id="{8EBA05D2-DD72-31E6-14CC-6B596CDE1794}"/>
              </a:ext>
            </a:extLst>
          </p:cNvPr>
          <p:cNvSpPr/>
          <p:nvPr/>
        </p:nvSpPr>
        <p:spPr>
          <a:xfrm>
            <a:off x="713349" y="2526777"/>
            <a:ext cx="1327355" cy="42399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 Customer Calls For Start-Up</a:t>
            </a:r>
          </a:p>
        </p:txBody>
      </p:sp>
      <p:sp>
        <p:nvSpPr>
          <p:cNvPr id="41" name="Flowchart: Decision 40">
            <a:extLst>
              <a:ext uri="{FF2B5EF4-FFF2-40B4-BE49-F238E27FC236}">
                <a16:creationId xmlns:a16="http://schemas.microsoft.com/office/drawing/2014/main" id="{F5F9F397-E153-77CF-36B0-0EE34B108DB5}"/>
              </a:ext>
            </a:extLst>
          </p:cNvPr>
          <p:cNvSpPr/>
          <p:nvPr/>
        </p:nvSpPr>
        <p:spPr>
          <a:xfrm>
            <a:off x="2967399" y="2556048"/>
            <a:ext cx="570871" cy="365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D1</a:t>
            </a:r>
          </a:p>
        </p:txBody>
      </p:sp>
      <p:sp>
        <p:nvSpPr>
          <p:cNvPr id="42" name="Flowchart: Process 41">
            <a:extLst>
              <a:ext uri="{FF2B5EF4-FFF2-40B4-BE49-F238E27FC236}">
                <a16:creationId xmlns:a16="http://schemas.microsoft.com/office/drawing/2014/main" id="{6ACE0F69-11B7-5B63-9382-DA9D6D91A2A1}"/>
              </a:ext>
            </a:extLst>
          </p:cNvPr>
          <p:cNvSpPr/>
          <p:nvPr/>
        </p:nvSpPr>
        <p:spPr>
          <a:xfrm>
            <a:off x="3323024" y="2497204"/>
            <a:ext cx="224605" cy="17944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43" name="Flowchart: Process 42">
            <a:extLst>
              <a:ext uri="{FF2B5EF4-FFF2-40B4-BE49-F238E27FC236}">
                <a16:creationId xmlns:a16="http://schemas.microsoft.com/office/drawing/2014/main" id="{3E6606C4-8F3D-8E07-C031-8B30EBEF9209}"/>
              </a:ext>
            </a:extLst>
          </p:cNvPr>
          <p:cNvSpPr/>
          <p:nvPr/>
        </p:nvSpPr>
        <p:spPr>
          <a:xfrm>
            <a:off x="2958041" y="2786835"/>
            <a:ext cx="224605" cy="17944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sp>
        <p:nvSpPr>
          <p:cNvPr id="44" name="TextBox 43">
            <a:extLst>
              <a:ext uri="{FF2B5EF4-FFF2-40B4-BE49-F238E27FC236}">
                <a16:creationId xmlns:a16="http://schemas.microsoft.com/office/drawing/2014/main" id="{E1D44CC3-BAF2-C953-A1FF-45B201220967}"/>
              </a:ext>
            </a:extLst>
          </p:cNvPr>
          <p:cNvSpPr txBox="1"/>
          <p:nvPr/>
        </p:nvSpPr>
        <p:spPr>
          <a:xfrm>
            <a:off x="2332800" y="2331480"/>
            <a:ext cx="948813" cy="369332"/>
          </a:xfrm>
          <a:prstGeom prst="rect">
            <a:avLst/>
          </a:prstGeom>
          <a:noFill/>
        </p:spPr>
        <p:txBody>
          <a:bodyPr wrap="square" rtlCol="0">
            <a:spAutoFit/>
          </a:bodyPr>
          <a:lstStyle/>
          <a:p>
            <a:r>
              <a:rPr lang="en-US" sz="900" dirty="0"/>
              <a:t>Q1.Did We Sell The Generator? </a:t>
            </a:r>
          </a:p>
        </p:txBody>
      </p:sp>
      <p:sp>
        <p:nvSpPr>
          <p:cNvPr id="45" name="TextBox 44">
            <a:extLst>
              <a:ext uri="{FF2B5EF4-FFF2-40B4-BE49-F238E27FC236}">
                <a16:creationId xmlns:a16="http://schemas.microsoft.com/office/drawing/2014/main" id="{35213E9C-65A2-3494-5D3A-01BA986D165E}"/>
              </a:ext>
            </a:extLst>
          </p:cNvPr>
          <p:cNvSpPr txBox="1"/>
          <p:nvPr/>
        </p:nvSpPr>
        <p:spPr>
          <a:xfrm>
            <a:off x="8765349" y="3220771"/>
            <a:ext cx="1721329"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S7. Service Order Process at charge SOP</a:t>
            </a:r>
          </a:p>
        </p:txBody>
      </p:sp>
      <p:cxnSp>
        <p:nvCxnSpPr>
          <p:cNvPr id="46" name="Connector: Elbow 45">
            <a:extLst>
              <a:ext uri="{FF2B5EF4-FFF2-40B4-BE49-F238E27FC236}">
                <a16:creationId xmlns:a16="http://schemas.microsoft.com/office/drawing/2014/main" id="{2A9381C2-347A-97F0-5CC5-9C0DD7469CA3}"/>
              </a:ext>
            </a:extLst>
          </p:cNvPr>
          <p:cNvCxnSpPr>
            <a:cxnSpLocks/>
            <a:stCxn id="41" idx="2"/>
            <a:endCxn id="66" idx="1"/>
          </p:cNvCxnSpPr>
          <p:nvPr/>
        </p:nvCxnSpPr>
        <p:spPr>
          <a:xfrm rot="16200000" flipH="1">
            <a:off x="4188391" y="1985939"/>
            <a:ext cx="537107" cy="2408219"/>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 name="Flowchart: Predefined Process 46">
            <a:extLst>
              <a:ext uri="{FF2B5EF4-FFF2-40B4-BE49-F238E27FC236}">
                <a16:creationId xmlns:a16="http://schemas.microsoft.com/office/drawing/2014/main" id="{1E87130F-0E97-81EC-163C-F4316ACD8D6B}"/>
              </a:ext>
            </a:extLst>
          </p:cNvPr>
          <p:cNvSpPr/>
          <p:nvPr/>
        </p:nvSpPr>
        <p:spPr>
          <a:xfrm>
            <a:off x="5923071" y="1070001"/>
            <a:ext cx="1135627"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S2. Order Inquiry </a:t>
            </a:r>
          </a:p>
        </p:txBody>
      </p:sp>
      <p:cxnSp>
        <p:nvCxnSpPr>
          <p:cNvPr id="48" name="Connector: Elbow 47">
            <a:extLst>
              <a:ext uri="{FF2B5EF4-FFF2-40B4-BE49-F238E27FC236}">
                <a16:creationId xmlns:a16="http://schemas.microsoft.com/office/drawing/2014/main" id="{FB28B585-63EB-0726-B98F-1146BD1F9AEC}"/>
              </a:ext>
            </a:extLst>
          </p:cNvPr>
          <p:cNvCxnSpPr>
            <a:cxnSpLocks/>
            <a:stCxn id="41" idx="0"/>
            <a:endCxn id="60" idx="1"/>
          </p:cNvCxnSpPr>
          <p:nvPr/>
        </p:nvCxnSpPr>
        <p:spPr>
          <a:xfrm rot="5400000" flipH="1" flipV="1">
            <a:off x="3561610" y="1589667"/>
            <a:ext cx="657606" cy="127515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Flowchart: Predefined Process 48">
            <a:extLst>
              <a:ext uri="{FF2B5EF4-FFF2-40B4-BE49-F238E27FC236}">
                <a16:creationId xmlns:a16="http://schemas.microsoft.com/office/drawing/2014/main" id="{0A15ED80-418E-E9B8-6EAF-32B193092FC3}"/>
              </a:ext>
            </a:extLst>
          </p:cNvPr>
          <p:cNvSpPr/>
          <p:nvPr/>
        </p:nvSpPr>
        <p:spPr>
          <a:xfrm>
            <a:off x="9923907" y="1055454"/>
            <a:ext cx="1471216"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S4. Create Start-Up Incident</a:t>
            </a:r>
          </a:p>
        </p:txBody>
      </p:sp>
      <p:sp>
        <p:nvSpPr>
          <p:cNvPr id="50" name="Flowchart: Predefined Process 49">
            <a:extLst>
              <a:ext uri="{FF2B5EF4-FFF2-40B4-BE49-F238E27FC236}">
                <a16:creationId xmlns:a16="http://schemas.microsoft.com/office/drawing/2014/main" id="{11F2E0D7-EB34-62BC-35D5-437B8C4602E8}"/>
              </a:ext>
            </a:extLst>
          </p:cNvPr>
          <p:cNvSpPr/>
          <p:nvPr/>
        </p:nvSpPr>
        <p:spPr>
          <a:xfrm>
            <a:off x="405360" y="4455642"/>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S8. Add Start-Up Notes</a:t>
            </a:r>
          </a:p>
        </p:txBody>
      </p:sp>
      <p:cxnSp>
        <p:nvCxnSpPr>
          <p:cNvPr id="51" name="Connector: Elbow 50">
            <a:extLst>
              <a:ext uri="{FF2B5EF4-FFF2-40B4-BE49-F238E27FC236}">
                <a16:creationId xmlns:a16="http://schemas.microsoft.com/office/drawing/2014/main" id="{8D84FC76-E264-72EA-DA74-2FB100638813}"/>
              </a:ext>
            </a:extLst>
          </p:cNvPr>
          <p:cNvCxnSpPr>
            <a:cxnSpLocks/>
            <a:stCxn id="49" idx="2"/>
            <a:endCxn id="50" idx="0"/>
          </p:cNvCxnSpPr>
          <p:nvPr/>
        </p:nvCxnSpPr>
        <p:spPr>
          <a:xfrm rot="5400000">
            <a:off x="4475717" y="-1728156"/>
            <a:ext cx="2931114" cy="9436483"/>
          </a:xfrm>
          <a:prstGeom prst="bentConnector3">
            <a:avLst>
              <a:gd name="adj1" fmla="val 85478"/>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52" name="Flowchart: Predefined Process 51">
            <a:extLst>
              <a:ext uri="{FF2B5EF4-FFF2-40B4-BE49-F238E27FC236}">
                <a16:creationId xmlns:a16="http://schemas.microsoft.com/office/drawing/2014/main" id="{FECA40DB-46C0-18BD-0472-DB72D1B199AB}"/>
              </a:ext>
            </a:extLst>
          </p:cNvPr>
          <p:cNvSpPr/>
          <p:nvPr/>
        </p:nvSpPr>
        <p:spPr>
          <a:xfrm>
            <a:off x="2431645" y="4448976"/>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S9. Add Line</a:t>
            </a:r>
          </a:p>
        </p:txBody>
      </p:sp>
      <p:sp>
        <p:nvSpPr>
          <p:cNvPr id="53" name="Flowchart: Predefined Process 52">
            <a:extLst>
              <a:ext uri="{FF2B5EF4-FFF2-40B4-BE49-F238E27FC236}">
                <a16:creationId xmlns:a16="http://schemas.microsoft.com/office/drawing/2014/main" id="{7F0A0329-432A-DE4B-41D4-9524E56E9216}"/>
              </a:ext>
            </a:extLst>
          </p:cNvPr>
          <p:cNvSpPr/>
          <p:nvPr/>
        </p:nvSpPr>
        <p:spPr>
          <a:xfrm>
            <a:off x="4426735" y="4449327"/>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S10. Convert to SRO and Schedule</a:t>
            </a:r>
          </a:p>
        </p:txBody>
      </p:sp>
      <p:sp>
        <p:nvSpPr>
          <p:cNvPr id="54" name="Flowchart: Predefined Process 53">
            <a:extLst>
              <a:ext uri="{FF2B5EF4-FFF2-40B4-BE49-F238E27FC236}">
                <a16:creationId xmlns:a16="http://schemas.microsoft.com/office/drawing/2014/main" id="{4B657639-EEB6-9939-325B-5CD2E7B6BD37}"/>
              </a:ext>
            </a:extLst>
          </p:cNvPr>
          <p:cNvSpPr/>
          <p:nvPr/>
        </p:nvSpPr>
        <p:spPr>
          <a:xfrm>
            <a:off x="6576675" y="4448804"/>
            <a:ext cx="1375653" cy="438417"/>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S11. Print Pick Ticket</a:t>
            </a:r>
          </a:p>
        </p:txBody>
      </p:sp>
      <p:sp>
        <p:nvSpPr>
          <p:cNvPr id="55" name="Flowchart: Predefined Process 54">
            <a:extLst>
              <a:ext uri="{FF2B5EF4-FFF2-40B4-BE49-F238E27FC236}">
                <a16:creationId xmlns:a16="http://schemas.microsoft.com/office/drawing/2014/main" id="{4C35618F-D4C4-FDC8-391B-E356A7873C70}"/>
              </a:ext>
            </a:extLst>
          </p:cNvPr>
          <p:cNvSpPr/>
          <p:nvPr/>
        </p:nvSpPr>
        <p:spPr>
          <a:xfrm>
            <a:off x="8429193" y="4438973"/>
            <a:ext cx="1469923"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S12. Shipping Feedback Ship </a:t>
            </a:r>
          </a:p>
        </p:txBody>
      </p:sp>
      <p:sp>
        <p:nvSpPr>
          <p:cNvPr id="56" name="Flowchart: Process 55">
            <a:extLst>
              <a:ext uri="{FF2B5EF4-FFF2-40B4-BE49-F238E27FC236}">
                <a16:creationId xmlns:a16="http://schemas.microsoft.com/office/drawing/2014/main" id="{A3F9616C-61E6-8EC9-C9FE-67B0C9ADD8B7}"/>
              </a:ext>
            </a:extLst>
          </p:cNvPr>
          <p:cNvSpPr/>
          <p:nvPr/>
        </p:nvSpPr>
        <p:spPr>
          <a:xfrm>
            <a:off x="10234705" y="4422303"/>
            <a:ext cx="1327355" cy="47175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S13. Tech Performs Start-Up</a:t>
            </a:r>
          </a:p>
        </p:txBody>
      </p:sp>
      <p:sp>
        <p:nvSpPr>
          <p:cNvPr id="57" name="Flowchart: Predefined Process 56">
            <a:extLst>
              <a:ext uri="{FF2B5EF4-FFF2-40B4-BE49-F238E27FC236}">
                <a16:creationId xmlns:a16="http://schemas.microsoft.com/office/drawing/2014/main" id="{42E42C13-00D7-886C-7E9E-1CDC4C342E5E}"/>
              </a:ext>
            </a:extLst>
          </p:cNvPr>
          <p:cNvSpPr/>
          <p:nvPr/>
        </p:nvSpPr>
        <p:spPr>
          <a:xfrm>
            <a:off x="5652740" y="5553462"/>
            <a:ext cx="1469923"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S14. Register A Unit</a:t>
            </a:r>
          </a:p>
        </p:txBody>
      </p:sp>
      <p:cxnSp>
        <p:nvCxnSpPr>
          <p:cNvPr id="58" name="Connector: Elbow 57">
            <a:extLst>
              <a:ext uri="{FF2B5EF4-FFF2-40B4-BE49-F238E27FC236}">
                <a16:creationId xmlns:a16="http://schemas.microsoft.com/office/drawing/2014/main" id="{CD7776CB-399E-C55B-4F66-DEF34E7A1CFB}"/>
              </a:ext>
            </a:extLst>
          </p:cNvPr>
          <p:cNvCxnSpPr>
            <a:cxnSpLocks/>
            <a:stCxn id="56" idx="2"/>
            <a:endCxn id="57" idx="0"/>
          </p:cNvCxnSpPr>
          <p:nvPr/>
        </p:nvCxnSpPr>
        <p:spPr>
          <a:xfrm rot="5400000">
            <a:off x="8313341" y="2968420"/>
            <a:ext cx="659404" cy="4510681"/>
          </a:xfrm>
          <a:prstGeom prst="bentConnector3">
            <a:avLst>
              <a:gd name="adj1" fmla="val 69033"/>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60" name="Flowchart: Decision 59">
            <a:extLst>
              <a:ext uri="{FF2B5EF4-FFF2-40B4-BE49-F238E27FC236}">
                <a16:creationId xmlns:a16="http://schemas.microsoft.com/office/drawing/2014/main" id="{CD8D654E-E0E3-FA2A-EB89-B99288A8CB2D}"/>
              </a:ext>
            </a:extLst>
          </p:cNvPr>
          <p:cNvSpPr/>
          <p:nvPr/>
        </p:nvSpPr>
        <p:spPr>
          <a:xfrm>
            <a:off x="4527992" y="1724244"/>
            <a:ext cx="435655" cy="34839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D2</a:t>
            </a:r>
          </a:p>
        </p:txBody>
      </p:sp>
      <p:sp>
        <p:nvSpPr>
          <p:cNvPr id="61" name="Flowchart: Process 60">
            <a:extLst>
              <a:ext uri="{FF2B5EF4-FFF2-40B4-BE49-F238E27FC236}">
                <a16:creationId xmlns:a16="http://schemas.microsoft.com/office/drawing/2014/main" id="{32948CD5-DC8F-D218-0A7A-4B9DA5008351}"/>
              </a:ext>
            </a:extLst>
          </p:cNvPr>
          <p:cNvSpPr/>
          <p:nvPr/>
        </p:nvSpPr>
        <p:spPr>
          <a:xfrm>
            <a:off x="4799383" y="1668146"/>
            <a:ext cx="171405" cy="17107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62" name="Flowchart: Process 61">
            <a:extLst>
              <a:ext uri="{FF2B5EF4-FFF2-40B4-BE49-F238E27FC236}">
                <a16:creationId xmlns:a16="http://schemas.microsoft.com/office/drawing/2014/main" id="{5F314D72-8AB6-39F6-D3AA-64CEC2825B5E}"/>
              </a:ext>
            </a:extLst>
          </p:cNvPr>
          <p:cNvSpPr/>
          <p:nvPr/>
        </p:nvSpPr>
        <p:spPr>
          <a:xfrm>
            <a:off x="4520850" y="1944263"/>
            <a:ext cx="171405" cy="17107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sp>
        <p:nvSpPr>
          <p:cNvPr id="63" name="TextBox 62">
            <a:extLst>
              <a:ext uri="{FF2B5EF4-FFF2-40B4-BE49-F238E27FC236}">
                <a16:creationId xmlns:a16="http://schemas.microsoft.com/office/drawing/2014/main" id="{D33B067F-1C9A-6F9C-F2EB-33A7B7A88605}"/>
              </a:ext>
            </a:extLst>
          </p:cNvPr>
          <p:cNvSpPr txBox="1"/>
          <p:nvPr/>
        </p:nvSpPr>
        <p:spPr>
          <a:xfrm>
            <a:off x="3882757" y="1378103"/>
            <a:ext cx="948813" cy="507831"/>
          </a:xfrm>
          <a:prstGeom prst="rect">
            <a:avLst/>
          </a:prstGeom>
          <a:noFill/>
        </p:spPr>
        <p:txBody>
          <a:bodyPr wrap="square" rtlCol="0">
            <a:spAutoFit/>
          </a:bodyPr>
          <a:lstStyle/>
          <a:p>
            <a:r>
              <a:rPr lang="en-US" sz="900" dirty="0"/>
              <a:t>Do You Know The Original Order #?</a:t>
            </a:r>
          </a:p>
        </p:txBody>
      </p:sp>
      <p:cxnSp>
        <p:nvCxnSpPr>
          <p:cNvPr id="64" name="Connector: Elbow 63">
            <a:extLst>
              <a:ext uri="{FF2B5EF4-FFF2-40B4-BE49-F238E27FC236}">
                <a16:creationId xmlns:a16="http://schemas.microsoft.com/office/drawing/2014/main" id="{CE0A80D0-19F9-4583-AAB6-BCA627C2C9EB}"/>
              </a:ext>
            </a:extLst>
          </p:cNvPr>
          <p:cNvCxnSpPr>
            <a:cxnSpLocks/>
            <a:stCxn id="60" idx="0"/>
            <a:endCxn id="47" idx="1"/>
          </p:cNvCxnSpPr>
          <p:nvPr/>
        </p:nvCxnSpPr>
        <p:spPr>
          <a:xfrm rot="5400000" flipH="1" flipV="1">
            <a:off x="5124592" y="925766"/>
            <a:ext cx="419706" cy="117725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5" name="Flowchart: Predefined Process 64">
            <a:extLst>
              <a:ext uri="{FF2B5EF4-FFF2-40B4-BE49-F238E27FC236}">
                <a16:creationId xmlns:a16="http://schemas.microsoft.com/office/drawing/2014/main" id="{4289F5E7-D198-43B5-FC50-6B77D9061ED6}"/>
              </a:ext>
            </a:extLst>
          </p:cNvPr>
          <p:cNvSpPr/>
          <p:nvPr/>
        </p:nvSpPr>
        <p:spPr>
          <a:xfrm>
            <a:off x="7519201" y="2231738"/>
            <a:ext cx="1944205"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S5. Order Inquiry Using Serial Number</a:t>
            </a:r>
          </a:p>
        </p:txBody>
      </p:sp>
      <p:sp>
        <p:nvSpPr>
          <p:cNvPr id="66" name="TextBox 65">
            <a:extLst>
              <a:ext uri="{FF2B5EF4-FFF2-40B4-BE49-F238E27FC236}">
                <a16:creationId xmlns:a16="http://schemas.microsoft.com/office/drawing/2014/main" id="{9294473B-9CDC-8C13-1A93-CA0186D9BAC9}"/>
              </a:ext>
            </a:extLst>
          </p:cNvPr>
          <p:cNvSpPr txBox="1"/>
          <p:nvPr/>
        </p:nvSpPr>
        <p:spPr>
          <a:xfrm>
            <a:off x="5661054" y="3222725"/>
            <a:ext cx="1205916"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S6. Create A New Unit SOP</a:t>
            </a:r>
          </a:p>
        </p:txBody>
      </p:sp>
      <p:cxnSp>
        <p:nvCxnSpPr>
          <p:cNvPr id="67" name="Connector: Elbow 66">
            <a:extLst>
              <a:ext uri="{FF2B5EF4-FFF2-40B4-BE49-F238E27FC236}">
                <a16:creationId xmlns:a16="http://schemas.microsoft.com/office/drawing/2014/main" id="{5D6E6ADD-5F8D-F7E9-E7BD-C0CC26F5188D}"/>
              </a:ext>
            </a:extLst>
          </p:cNvPr>
          <p:cNvCxnSpPr>
            <a:cxnSpLocks/>
            <a:stCxn id="60" idx="2"/>
            <a:endCxn id="65" idx="1"/>
          </p:cNvCxnSpPr>
          <p:nvPr/>
        </p:nvCxnSpPr>
        <p:spPr>
          <a:xfrm rot="16200000" flipH="1">
            <a:off x="5935693" y="882766"/>
            <a:ext cx="393635" cy="2773381"/>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0" name="Flowchart: Process 69">
            <a:extLst>
              <a:ext uri="{FF2B5EF4-FFF2-40B4-BE49-F238E27FC236}">
                <a16:creationId xmlns:a16="http://schemas.microsoft.com/office/drawing/2014/main" id="{9DA93159-7D1A-1128-8426-F317576371C2}"/>
              </a:ext>
            </a:extLst>
          </p:cNvPr>
          <p:cNvSpPr/>
          <p:nvPr/>
        </p:nvSpPr>
        <p:spPr>
          <a:xfrm>
            <a:off x="7827625" y="1057821"/>
            <a:ext cx="1327355" cy="47451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S3. Check With AR To Verify Payment In Full</a:t>
            </a:r>
          </a:p>
        </p:txBody>
      </p:sp>
      <p:cxnSp>
        <p:nvCxnSpPr>
          <p:cNvPr id="71" name="Straight Arrow Connector 70">
            <a:extLst>
              <a:ext uri="{FF2B5EF4-FFF2-40B4-BE49-F238E27FC236}">
                <a16:creationId xmlns:a16="http://schemas.microsoft.com/office/drawing/2014/main" id="{C56505B9-F4D6-B4AF-0305-18EFC8DBAF14}"/>
              </a:ext>
            </a:extLst>
          </p:cNvPr>
          <p:cNvCxnSpPr>
            <a:cxnSpLocks/>
            <a:stCxn id="47" idx="3"/>
            <a:endCxn id="70" idx="1"/>
          </p:cNvCxnSpPr>
          <p:nvPr/>
        </p:nvCxnSpPr>
        <p:spPr>
          <a:xfrm flipV="1">
            <a:off x="7058698" y="1295078"/>
            <a:ext cx="768927" cy="946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5D873DDC-B1EE-92BB-4D5B-E8EE4454147A}"/>
              </a:ext>
            </a:extLst>
          </p:cNvPr>
          <p:cNvCxnSpPr>
            <a:cxnSpLocks/>
            <a:stCxn id="70" idx="3"/>
            <a:endCxn id="49" idx="1"/>
          </p:cNvCxnSpPr>
          <p:nvPr/>
        </p:nvCxnSpPr>
        <p:spPr>
          <a:xfrm flipV="1">
            <a:off x="9154980" y="1289991"/>
            <a:ext cx="768927" cy="5087"/>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FC5B09AA-8468-1EC6-5498-97CB55D5B345}"/>
              </a:ext>
            </a:extLst>
          </p:cNvPr>
          <p:cNvCxnSpPr>
            <a:cxnSpLocks/>
            <a:stCxn id="66" idx="3"/>
            <a:endCxn id="45" idx="1"/>
          </p:cNvCxnSpPr>
          <p:nvPr/>
        </p:nvCxnSpPr>
        <p:spPr>
          <a:xfrm flipV="1">
            <a:off x="6866970" y="3456649"/>
            <a:ext cx="1898379" cy="195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AA70AE92-40F7-50B4-1043-29D9D27E4815}"/>
              </a:ext>
            </a:extLst>
          </p:cNvPr>
          <p:cNvCxnSpPr>
            <a:cxnSpLocks/>
            <a:stCxn id="50" idx="3"/>
            <a:endCxn id="52" idx="1"/>
          </p:cNvCxnSpPr>
          <p:nvPr/>
        </p:nvCxnSpPr>
        <p:spPr>
          <a:xfrm flipV="1">
            <a:off x="2040704" y="4668184"/>
            <a:ext cx="390941" cy="6666"/>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69B394C8-1BE3-2986-CFC7-7D640E6557C2}"/>
              </a:ext>
            </a:extLst>
          </p:cNvPr>
          <p:cNvCxnSpPr>
            <a:cxnSpLocks/>
            <a:stCxn id="52" idx="3"/>
            <a:endCxn id="53" idx="1"/>
          </p:cNvCxnSpPr>
          <p:nvPr/>
        </p:nvCxnSpPr>
        <p:spPr>
          <a:xfrm>
            <a:off x="4066989" y="4668184"/>
            <a:ext cx="359746" cy="351"/>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F26BA299-8ED7-45F6-6461-675372362FF9}"/>
              </a:ext>
            </a:extLst>
          </p:cNvPr>
          <p:cNvCxnSpPr>
            <a:cxnSpLocks/>
            <a:stCxn id="53" idx="3"/>
            <a:endCxn id="54" idx="1"/>
          </p:cNvCxnSpPr>
          <p:nvPr/>
        </p:nvCxnSpPr>
        <p:spPr>
          <a:xfrm flipV="1">
            <a:off x="6062079" y="4668013"/>
            <a:ext cx="514596" cy="522"/>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D685E1E9-C691-B7AC-31B5-86E0F4A5E711}"/>
              </a:ext>
            </a:extLst>
          </p:cNvPr>
          <p:cNvCxnSpPr>
            <a:cxnSpLocks/>
            <a:stCxn id="54" idx="3"/>
            <a:endCxn id="55" idx="1"/>
          </p:cNvCxnSpPr>
          <p:nvPr/>
        </p:nvCxnSpPr>
        <p:spPr>
          <a:xfrm flipV="1">
            <a:off x="7952328" y="4658181"/>
            <a:ext cx="476865" cy="9832"/>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CBAD7B56-2945-868B-98C1-1CC1E0115C43}"/>
              </a:ext>
            </a:extLst>
          </p:cNvPr>
          <p:cNvCxnSpPr>
            <a:cxnSpLocks/>
            <a:stCxn id="55" idx="3"/>
            <a:endCxn id="56" idx="1"/>
          </p:cNvCxnSpPr>
          <p:nvPr/>
        </p:nvCxnSpPr>
        <p:spPr>
          <a:xfrm>
            <a:off x="9899116" y="4658181"/>
            <a:ext cx="335589" cy="0"/>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C5E8E0DF-210A-C2F7-D590-341FD9D4CE2D}"/>
              </a:ext>
            </a:extLst>
          </p:cNvPr>
          <p:cNvCxnSpPr>
            <a:cxnSpLocks/>
            <a:stCxn id="39" idx="3"/>
            <a:endCxn id="41" idx="1"/>
          </p:cNvCxnSpPr>
          <p:nvPr/>
        </p:nvCxnSpPr>
        <p:spPr>
          <a:xfrm>
            <a:off x="2040704" y="2738772"/>
            <a:ext cx="926695"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1B714A32-9FB7-135D-6F79-EC1E4D8588EA}"/>
              </a:ext>
            </a:extLst>
          </p:cNvPr>
          <p:cNvCxnSpPr>
            <a:cxnSpLocks/>
            <a:stCxn id="65" idx="0"/>
            <a:endCxn id="70" idx="2"/>
          </p:cNvCxnSpPr>
          <p:nvPr/>
        </p:nvCxnSpPr>
        <p:spPr>
          <a:xfrm flipH="1" flipV="1">
            <a:off x="8491303" y="1532334"/>
            <a:ext cx="1" cy="69940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7722E9F-9C88-A6B7-7332-C55CCAEC3230}"/>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05 12 2025 19 10</a:t>
            </a:r>
          </a:p>
        </p:txBody>
      </p:sp>
      <p:sp>
        <p:nvSpPr>
          <p:cNvPr id="7" name="TextBox 6">
            <a:extLst>
              <a:ext uri="{FF2B5EF4-FFF2-40B4-BE49-F238E27FC236}">
                <a16:creationId xmlns:a16="http://schemas.microsoft.com/office/drawing/2014/main" id="{29238113-C2A1-6D07-1882-CE53F3862EBB}"/>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4" name="TextBox 3">
            <a:extLst>
              <a:ext uri="{FF2B5EF4-FFF2-40B4-BE49-F238E27FC236}">
                <a16:creationId xmlns:a16="http://schemas.microsoft.com/office/drawing/2014/main" id="{B1D5ECCD-3D97-59F9-24AD-B6B0D8826E9B}"/>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25 12 28 0800</a:t>
            </a:r>
          </a:p>
        </p:txBody>
      </p:sp>
      <p:sp>
        <p:nvSpPr>
          <p:cNvPr id="2" name="-S11. print_Pck_Tkt">
            <a:extLst>
              <a:ext uri="{FF2B5EF4-FFF2-40B4-BE49-F238E27FC236}">
                <a16:creationId xmlns:a16="http://schemas.microsoft.com/office/drawing/2014/main" id="{282A416C-17C8-049B-19C6-237FF4FE67DA}"/>
              </a:ext>
            </a:extLst>
          </p:cNvPr>
          <p:cNvSpPr>
            <a:spLocks noGrp="1"/>
          </p:cNvSpPr>
          <p:nvPr>
            <p:ph type="title"/>
          </p:nvPr>
        </p:nvSpPr>
        <p:spPr>
          <a:xfrm>
            <a:off x="838200" y="314871"/>
            <a:ext cx="10515600" cy="428753"/>
          </a:xfrm>
        </p:spPr>
        <p:txBody>
          <a:bodyPr>
            <a:noAutofit/>
          </a:bodyPr>
          <a:lstStyle/>
          <a:p>
            <a:pPr algn="ctr"/>
            <a:r>
              <a:rPr lang="en-US" sz="1600" b="1" dirty="0"/>
              <a:t>S11. Print Pick ticket– Startup SOP</a:t>
            </a:r>
          </a:p>
        </p:txBody>
      </p:sp>
    </p:spTree>
    <p:extLst>
      <p:ext uri="{BB962C8B-B14F-4D97-AF65-F5344CB8AC3E}">
        <p14:creationId xmlns:p14="http://schemas.microsoft.com/office/powerpoint/2010/main" val="15596628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00A09-652E-90C5-2BD8-4A3D1FDC41A4}"/>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3215998B-E96F-A8A4-844E-1E96643C43D2}"/>
              </a:ext>
            </a:extLst>
          </p:cNvPr>
          <p:cNvSpPr/>
          <p:nvPr/>
        </p:nvSpPr>
        <p:spPr>
          <a:xfrm>
            <a:off x="8239615" y="4348247"/>
            <a:ext cx="1664157" cy="1091621"/>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sp>
        <p:nvSpPr>
          <p:cNvPr id="39" name="Flowchart: Process 38">
            <a:extLst>
              <a:ext uri="{FF2B5EF4-FFF2-40B4-BE49-F238E27FC236}">
                <a16:creationId xmlns:a16="http://schemas.microsoft.com/office/drawing/2014/main" id="{03296FB1-A253-D464-5B48-A0BD8E12147D}"/>
              </a:ext>
            </a:extLst>
          </p:cNvPr>
          <p:cNvSpPr/>
          <p:nvPr/>
        </p:nvSpPr>
        <p:spPr>
          <a:xfrm>
            <a:off x="713349" y="2526777"/>
            <a:ext cx="1327355" cy="42399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 Customer Calls For Start-Up</a:t>
            </a:r>
          </a:p>
        </p:txBody>
      </p:sp>
      <p:sp>
        <p:nvSpPr>
          <p:cNvPr id="41" name="Flowchart: Decision 40">
            <a:extLst>
              <a:ext uri="{FF2B5EF4-FFF2-40B4-BE49-F238E27FC236}">
                <a16:creationId xmlns:a16="http://schemas.microsoft.com/office/drawing/2014/main" id="{400D4022-29FF-E0E4-DB78-1707C70148D8}"/>
              </a:ext>
            </a:extLst>
          </p:cNvPr>
          <p:cNvSpPr/>
          <p:nvPr/>
        </p:nvSpPr>
        <p:spPr>
          <a:xfrm>
            <a:off x="2967399" y="2556048"/>
            <a:ext cx="570871" cy="365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D1</a:t>
            </a:r>
          </a:p>
        </p:txBody>
      </p:sp>
      <p:sp>
        <p:nvSpPr>
          <p:cNvPr id="42" name="Flowchart: Process 41">
            <a:extLst>
              <a:ext uri="{FF2B5EF4-FFF2-40B4-BE49-F238E27FC236}">
                <a16:creationId xmlns:a16="http://schemas.microsoft.com/office/drawing/2014/main" id="{1508836E-F4DC-36FC-7A10-0DF7E53D62A7}"/>
              </a:ext>
            </a:extLst>
          </p:cNvPr>
          <p:cNvSpPr/>
          <p:nvPr/>
        </p:nvSpPr>
        <p:spPr>
          <a:xfrm>
            <a:off x="3323024" y="2497204"/>
            <a:ext cx="224605" cy="17944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43" name="Flowchart: Process 42">
            <a:extLst>
              <a:ext uri="{FF2B5EF4-FFF2-40B4-BE49-F238E27FC236}">
                <a16:creationId xmlns:a16="http://schemas.microsoft.com/office/drawing/2014/main" id="{E54868AB-8D4D-89A8-411F-3D086F72B074}"/>
              </a:ext>
            </a:extLst>
          </p:cNvPr>
          <p:cNvSpPr/>
          <p:nvPr/>
        </p:nvSpPr>
        <p:spPr>
          <a:xfrm>
            <a:off x="2958041" y="2786835"/>
            <a:ext cx="224605" cy="17944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sp>
        <p:nvSpPr>
          <p:cNvPr id="44" name="TextBox 43">
            <a:extLst>
              <a:ext uri="{FF2B5EF4-FFF2-40B4-BE49-F238E27FC236}">
                <a16:creationId xmlns:a16="http://schemas.microsoft.com/office/drawing/2014/main" id="{B91BC829-CC88-5AD1-ED3C-786C3C12A13B}"/>
              </a:ext>
            </a:extLst>
          </p:cNvPr>
          <p:cNvSpPr txBox="1"/>
          <p:nvPr/>
        </p:nvSpPr>
        <p:spPr>
          <a:xfrm>
            <a:off x="2332800" y="2331480"/>
            <a:ext cx="948813" cy="369332"/>
          </a:xfrm>
          <a:prstGeom prst="rect">
            <a:avLst/>
          </a:prstGeom>
          <a:noFill/>
        </p:spPr>
        <p:txBody>
          <a:bodyPr wrap="square" rtlCol="0">
            <a:spAutoFit/>
          </a:bodyPr>
          <a:lstStyle/>
          <a:p>
            <a:r>
              <a:rPr lang="en-US" sz="900" dirty="0"/>
              <a:t>Q1.Did We Sell The Generator? </a:t>
            </a:r>
          </a:p>
        </p:txBody>
      </p:sp>
      <p:sp>
        <p:nvSpPr>
          <p:cNvPr id="45" name="TextBox 44">
            <a:extLst>
              <a:ext uri="{FF2B5EF4-FFF2-40B4-BE49-F238E27FC236}">
                <a16:creationId xmlns:a16="http://schemas.microsoft.com/office/drawing/2014/main" id="{133082CC-14FC-9CDF-477F-BDCB0CAFAADD}"/>
              </a:ext>
            </a:extLst>
          </p:cNvPr>
          <p:cNvSpPr txBox="1"/>
          <p:nvPr/>
        </p:nvSpPr>
        <p:spPr>
          <a:xfrm>
            <a:off x="8765349" y="3220771"/>
            <a:ext cx="1721329"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S7. Service Order Process at charge SOP</a:t>
            </a:r>
          </a:p>
        </p:txBody>
      </p:sp>
      <p:cxnSp>
        <p:nvCxnSpPr>
          <p:cNvPr id="46" name="Connector: Elbow 45">
            <a:extLst>
              <a:ext uri="{FF2B5EF4-FFF2-40B4-BE49-F238E27FC236}">
                <a16:creationId xmlns:a16="http://schemas.microsoft.com/office/drawing/2014/main" id="{B9B29370-E1B9-EA27-5655-C3615D192693}"/>
              </a:ext>
            </a:extLst>
          </p:cNvPr>
          <p:cNvCxnSpPr>
            <a:cxnSpLocks/>
            <a:stCxn id="41" idx="2"/>
            <a:endCxn id="66" idx="1"/>
          </p:cNvCxnSpPr>
          <p:nvPr/>
        </p:nvCxnSpPr>
        <p:spPr>
          <a:xfrm rot="16200000" flipH="1">
            <a:off x="4188391" y="1985939"/>
            <a:ext cx="537107" cy="2408219"/>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 name="Flowchart: Predefined Process 46">
            <a:extLst>
              <a:ext uri="{FF2B5EF4-FFF2-40B4-BE49-F238E27FC236}">
                <a16:creationId xmlns:a16="http://schemas.microsoft.com/office/drawing/2014/main" id="{B4366574-6F8A-DACE-5804-A59CF8882F81}"/>
              </a:ext>
            </a:extLst>
          </p:cNvPr>
          <p:cNvSpPr/>
          <p:nvPr/>
        </p:nvSpPr>
        <p:spPr>
          <a:xfrm>
            <a:off x="5923071" y="1070001"/>
            <a:ext cx="1135627"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S2. Order Inquiry </a:t>
            </a:r>
          </a:p>
        </p:txBody>
      </p:sp>
      <p:cxnSp>
        <p:nvCxnSpPr>
          <p:cNvPr id="48" name="Connector: Elbow 47">
            <a:extLst>
              <a:ext uri="{FF2B5EF4-FFF2-40B4-BE49-F238E27FC236}">
                <a16:creationId xmlns:a16="http://schemas.microsoft.com/office/drawing/2014/main" id="{2C960359-E891-6D6F-4776-6BF6A048BFB5}"/>
              </a:ext>
            </a:extLst>
          </p:cNvPr>
          <p:cNvCxnSpPr>
            <a:cxnSpLocks/>
            <a:stCxn id="41" idx="0"/>
            <a:endCxn id="60" idx="1"/>
          </p:cNvCxnSpPr>
          <p:nvPr/>
        </p:nvCxnSpPr>
        <p:spPr>
          <a:xfrm rot="5400000" flipH="1" flipV="1">
            <a:off x="3561610" y="1589667"/>
            <a:ext cx="657606" cy="127515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Flowchart: Predefined Process 48">
            <a:extLst>
              <a:ext uri="{FF2B5EF4-FFF2-40B4-BE49-F238E27FC236}">
                <a16:creationId xmlns:a16="http://schemas.microsoft.com/office/drawing/2014/main" id="{10E68735-AD15-9270-56F2-7CAD09ECF78D}"/>
              </a:ext>
            </a:extLst>
          </p:cNvPr>
          <p:cNvSpPr/>
          <p:nvPr/>
        </p:nvSpPr>
        <p:spPr>
          <a:xfrm>
            <a:off x="9923907" y="1055454"/>
            <a:ext cx="1471216"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S4. Create Start-Up Incident</a:t>
            </a:r>
          </a:p>
        </p:txBody>
      </p:sp>
      <p:sp>
        <p:nvSpPr>
          <p:cNvPr id="50" name="Flowchart: Predefined Process 49">
            <a:extLst>
              <a:ext uri="{FF2B5EF4-FFF2-40B4-BE49-F238E27FC236}">
                <a16:creationId xmlns:a16="http://schemas.microsoft.com/office/drawing/2014/main" id="{AA36E75B-AEFA-162F-8D82-F50975EEC111}"/>
              </a:ext>
            </a:extLst>
          </p:cNvPr>
          <p:cNvSpPr/>
          <p:nvPr/>
        </p:nvSpPr>
        <p:spPr>
          <a:xfrm>
            <a:off x="405360" y="4455642"/>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S8. Add Start-Up Notes</a:t>
            </a:r>
          </a:p>
        </p:txBody>
      </p:sp>
      <p:cxnSp>
        <p:nvCxnSpPr>
          <p:cNvPr id="51" name="Connector: Elbow 50">
            <a:extLst>
              <a:ext uri="{FF2B5EF4-FFF2-40B4-BE49-F238E27FC236}">
                <a16:creationId xmlns:a16="http://schemas.microsoft.com/office/drawing/2014/main" id="{281B5BB7-0A0A-CE0F-FE8B-A502C8A3378E}"/>
              </a:ext>
            </a:extLst>
          </p:cNvPr>
          <p:cNvCxnSpPr>
            <a:cxnSpLocks/>
            <a:stCxn id="49" idx="2"/>
            <a:endCxn id="50" idx="0"/>
          </p:cNvCxnSpPr>
          <p:nvPr/>
        </p:nvCxnSpPr>
        <p:spPr>
          <a:xfrm rot="5400000">
            <a:off x="4475717" y="-1728156"/>
            <a:ext cx="2931114" cy="9436483"/>
          </a:xfrm>
          <a:prstGeom prst="bentConnector3">
            <a:avLst>
              <a:gd name="adj1" fmla="val 85478"/>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52" name="Flowchart: Predefined Process 51">
            <a:extLst>
              <a:ext uri="{FF2B5EF4-FFF2-40B4-BE49-F238E27FC236}">
                <a16:creationId xmlns:a16="http://schemas.microsoft.com/office/drawing/2014/main" id="{970541DA-8BCC-D562-8824-6B49B31BEB54}"/>
              </a:ext>
            </a:extLst>
          </p:cNvPr>
          <p:cNvSpPr/>
          <p:nvPr/>
        </p:nvSpPr>
        <p:spPr>
          <a:xfrm>
            <a:off x="2431645" y="4448976"/>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S9. Add Line</a:t>
            </a:r>
          </a:p>
        </p:txBody>
      </p:sp>
      <p:sp>
        <p:nvSpPr>
          <p:cNvPr id="53" name="Flowchart: Predefined Process 52">
            <a:extLst>
              <a:ext uri="{FF2B5EF4-FFF2-40B4-BE49-F238E27FC236}">
                <a16:creationId xmlns:a16="http://schemas.microsoft.com/office/drawing/2014/main" id="{86116CA4-F4D3-203C-9E8C-711740A3ABE6}"/>
              </a:ext>
            </a:extLst>
          </p:cNvPr>
          <p:cNvSpPr/>
          <p:nvPr/>
        </p:nvSpPr>
        <p:spPr>
          <a:xfrm>
            <a:off x="4426735" y="4449327"/>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S10. Convert to SRO and Schedule</a:t>
            </a:r>
          </a:p>
        </p:txBody>
      </p:sp>
      <p:sp>
        <p:nvSpPr>
          <p:cNvPr id="54" name="Flowchart: Predefined Process 53">
            <a:extLst>
              <a:ext uri="{FF2B5EF4-FFF2-40B4-BE49-F238E27FC236}">
                <a16:creationId xmlns:a16="http://schemas.microsoft.com/office/drawing/2014/main" id="{6D3DF9BD-07C5-04BF-DC82-82DBD174E125}"/>
              </a:ext>
            </a:extLst>
          </p:cNvPr>
          <p:cNvSpPr/>
          <p:nvPr/>
        </p:nvSpPr>
        <p:spPr>
          <a:xfrm>
            <a:off x="6576675" y="4448804"/>
            <a:ext cx="1375653" cy="438417"/>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S11. Print Pick Ticket</a:t>
            </a:r>
          </a:p>
        </p:txBody>
      </p:sp>
      <p:sp>
        <p:nvSpPr>
          <p:cNvPr id="55" name="Flowchart: Predefined Process 54">
            <a:extLst>
              <a:ext uri="{FF2B5EF4-FFF2-40B4-BE49-F238E27FC236}">
                <a16:creationId xmlns:a16="http://schemas.microsoft.com/office/drawing/2014/main" id="{43155368-DE9A-0A5A-450A-488550FBF263}"/>
              </a:ext>
            </a:extLst>
          </p:cNvPr>
          <p:cNvSpPr/>
          <p:nvPr/>
        </p:nvSpPr>
        <p:spPr>
          <a:xfrm>
            <a:off x="8429193" y="4438973"/>
            <a:ext cx="1469923"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S12. Shipping Feedback Ship </a:t>
            </a:r>
          </a:p>
        </p:txBody>
      </p:sp>
      <p:sp>
        <p:nvSpPr>
          <p:cNvPr id="56" name="Flowchart: Process 55">
            <a:extLst>
              <a:ext uri="{FF2B5EF4-FFF2-40B4-BE49-F238E27FC236}">
                <a16:creationId xmlns:a16="http://schemas.microsoft.com/office/drawing/2014/main" id="{4C1CBC19-4DB2-4D65-58F3-50F36A870B1E}"/>
              </a:ext>
            </a:extLst>
          </p:cNvPr>
          <p:cNvSpPr/>
          <p:nvPr/>
        </p:nvSpPr>
        <p:spPr>
          <a:xfrm>
            <a:off x="10234705" y="4422303"/>
            <a:ext cx="1327355" cy="47175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S13. Tech Performs Start-Up</a:t>
            </a:r>
          </a:p>
        </p:txBody>
      </p:sp>
      <p:sp>
        <p:nvSpPr>
          <p:cNvPr id="57" name="Flowchart: Predefined Process 56">
            <a:extLst>
              <a:ext uri="{FF2B5EF4-FFF2-40B4-BE49-F238E27FC236}">
                <a16:creationId xmlns:a16="http://schemas.microsoft.com/office/drawing/2014/main" id="{669230F9-B86D-0F51-EEF9-5A0401702AE6}"/>
              </a:ext>
            </a:extLst>
          </p:cNvPr>
          <p:cNvSpPr/>
          <p:nvPr/>
        </p:nvSpPr>
        <p:spPr>
          <a:xfrm>
            <a:off x="5652740" y="5553462"/>
            <a:ext cx="1469923"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S14. Register A Unit</a:t>
            </a:r>
          </a:p>
        </p:txBody>
      </p:sp>
      <p:cxnSp>
        <p:nvCxnSpPr>
          <p:cNvPr id="58" name="Connector: Elbow 57">
            <a:extLst>
              <a:ext uri="{FF2B5EF4-FFF2-40B4-BE49-F238E27FC236}">
                <a16:creationId xmlns:a16="http://schemas.microsoft.com/office/drawing/2014/main" id="{C11A8367-4601-447F-2151-C9B5FF195726}"/>
              </a:ext>
            </a:extLst>
          </p:cNvPr>
          <p:cNvCxnSpPr>
            <a:cxnSpLocks/>
            <a:stCxn id="56" idx="2"/>
            <a:endCxn id="57" idx="0"/>
          </p:cNvCxnSpPr>
          <p:nvPr/>
        </p:nvCxnSpPr>
        <p:spPr>
          <a:xfrm rot="5400000">
            <a:off x="8313341" y="2968420"/>
            <a:ext cx="659404" cy="4510681"/>
          </a:xfrm>
          <a:prstGeom prst="bentConnector3">
            <a:avLst>
              <a:gd name="adj1" fmla="val 69033"/>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60" name="Flowchart: Decision 59">
            <a:extLst>
              <a:ext uri="{FF2B5EF4-FFF2-40B4-BE49-F238E27FC236}">
                <a16:creationId xmlns:a16="http://schemas.microsoft.com/office/drawing/2014/main" id="{6B5FA533-AF93-B631-532A-5DA460E870F6}"/>
              </a:ext>
            </a:extLst>
          </p:cNvPr>
          <p:cNvSpPr/>
          <p:nvPr/>
        </p:nvSpPr>
        <p:spPr>
          <a:xfrm>
            <a:off x="4527992" y="1724244"/>
            <a:ext cx="435655" cy="34839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D2</a:t>
            </a:r>
          </a:p>
        </p:txBody>
      </p:sp>
      <p:sp>
        <p:nvSpPr>
          <p:cNvPr id="61" name="Flowchart: Process 60">
            <a:extLst>
              <a:ext uri="{FF2B5EF4-FFF2-40B4-BE49-F238E27FC236}">
                <a16:creationId xmlns:a16="http://schemas.microsoft.com/office/drawing/2014/main" id="{1823F2C2-1AB1-413E-8181-6818A2304C6E}"/>
              </a:ext>
            </a:extLst>
          </p:cNvPr>
          <p:cNvSpPr/>
          <p:nvPr/>
        </p:nvSpPr>
        <p:spPr>
          <a:xfrm>
            <a:off x="4799383" y="1668146"/>
            <a:ext cx="171405" cy="17107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62" name="Flowchart: Process 61">
            <a:extLst>
              <a:ext uri="{FF2B5EF4-FFF2-40B4-BE49-F238E27FC236}">
                <a16:creationId xmlns:a16="http://schemas.microsoft.com/office/drawing/2014/main" id="{83E90735-CE20-0AF2-7261-2E90A17B5BF9}"/>
              </a:ext>
            </a:extLst>
          </p:cNvPr>
          <p:cNvSpPr/>
          <p:nvPr/>
        </p:nvSpPr>
        <p:spPr>
          <a:xfrm>
            <a:off x="4520850" y="1944263"/>
            <a:ext cx="171405" cy="17107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sp>
        <p:nvSpPr>
          <p:cNvPr id="63" name="TextBox 62">
            <a:extLst>
              <a:ext uri="{FF2B5EF4-FFF2-40B4-BE49-F238E27FC236}">
                <a16:creationId xmlns:a16="http://schemas.microsoft.com/office/drawing/2014/main" id="{17956A2B-FA2F-A1DF-BCF5-7EB33A5302AC}"/>
              </a:ext>
            </a:extLst>
          </p:cNvPr>
          <p:cNvSpPr txBox="1"/>
          <p:nvPr/>
        </p:nvSpPr>
        <p:spPr>
          <a:xfrm>
            <a:off x="3882757" y="1378103"/>
            <a:ext cx="948813" cy="507831"/>
          </a:xfrm>
          <a:prstGeom prst="rect">
            <a:avLst/>
          </a:prstGeom>
          <a:noFill/>
        </p:spPr>
        <p:txBody>
          <a:bodyPr wrap="square" rtlCol="0">
            <a:spAutoFit/>
          </a:bodyPr>
          <a:lstStyle/>
          <a:p>
            <a:r>
              <a:rPr lang="en-US" sz="900" dirty="0"/>
              <a:t>Do You Know The Original Order #?</a:t>
            </a:r>
          </a:p>
        </p:txBody>
      </p:sp>
      <p:cxnSp>
        <p:nvCxnSpPr>
          <p:cNvPr id="64" name="Connector: Elbow 63">
            <a:extLst>
              <a:ext uri="{FF2B5EF4-FFF2-40B4-BE49-F238E27FC236}">
                <a16:creationId xmlns:a16="http://schemas.microsoft.com/office/drawing/2014/main" id="{A89601A4-701E-680B-865E-E60E2F5E14E0}"/>
              </a:ext>
            </a:extLst>
          </p:cNvPr>
          <p:cNvCxnSpPr>
            <a:cxnSpLocks/>
            <a:stCxn id="60" idx="0"/>
            <a:endCxn id="47" idx="1"/>
          </p:cNvCxnSpPr>
          <p:nvPr/>
        </p:nvCxnSpPr>
        <p:spPr>
          <a:xfrm rot="5400000" flipH="1" flipV="1">
            <a:off x="5124592" y="925766"/>
            <a:ext cx="419706" cy="117725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5" name="Flowchart: Predefined Process 64">
            <a:extLst>
              <a:ext uri="{FF2B5EF4-FFF2-40B4-BE49-F238E27FC236}">
                <a16:creationId xmlns:a16="http://schemas.microsoft.com/office/drawing/2014/main" id="{13493D1E-3627-2AA6-FE4C-FD91168B49AE}"/>
              </a:ext>
            </a:extLst>
          </p:cNvPr>
          <p:cNvSpPr/>
          <p:nvPr/>
        </p:nvSpPr>
        <p:spPr>
          <a:xfrm>
            <a:off x="7519201" y="2231738"/>
            <a:ext cx="1944205"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S5. Order Inquiry Using Serial Number</a:t>
            </a:r>
          </a:p>
        </p:txBody>
      </p:sp>
      <p:sp>
        <p:nvSpPr>
          <p:cNvPr id="66" name="TextBox 65">
            <a:extLst>
              <a:ext uri="{FF2B5EF4-FFF2-40B4-BE49-F238E27FC236}">
                <a16:creationId xmlns:a16="http://schemas.microsoft.com/office/drawing/2014/main" id="{6CB6CAA4-3F0B-BBD7-DBAA-57887754F576}"/>
              </a:ext>
            </a:extLst>
          </p:cNvPr>
          <p:cNvSpPr txBox="1"/>
          <p:nvPr/>
        </p:nvSpPr>
        <p:spPr>
          <a:xfrm>
            <a:off x="5661054" y="3222725"/>
            <a:ext cx="1205916"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S6. Create A New Unit SOP</a:t>
            </a:r>
          </a:p>
        </p:txBody>
      </p:sp>
      <p:cxnSp>
        <p:nvCxnSpPr>
          <p:cNvPr id="67" name="Connector: Elbow 66">
            <a:extLst>
              <a:ext uri="{FF2B5EF4-FFF2-40B4-BE49-F238E27FC236}">
                <a16:creationId xmlns:a16="http://schemas.microsoft.com/office/drawing/2014/main" id="{F0667DE7-80AB-64D2-57A2-722946F15A17}"/>
              </a:ext>
            </a:extLst>
          </p:cNvPr>
          <p:cNvCxnSpPr>
            <a:cxnSpLocks/>
            <a:stCxn id="60" idx="2"/>
            <a:endCxn id="65" idx="1"/>
          </p:cNvCxnSpPr>
          <p:nvPr/>
        </p:nvCxnSpPr>
        <p:spPr>
          <a:xfrm rot="16200000" flipH="1">
            <a:off x="5935693" y="882766"/>
            <a:ext cx="393635" cy="2773381"/>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0" name="Flowchart: Process 69">
            <a:extLst>
              <a:ext uri="{FF2B5EF4-FFF2-40B4-BE49-F238E27FC236}">
                <a16:creationId xmlns:a16="http://schemas.microsoft.com/office/drawing/2014/main" id="{0DA59E4E-512A-38DE-DC49-7540615B958A}"/>
              </a:ext>
            </a:extLst>
          </p:cNvPr>
          <p:cNvSpPr/>
          <p:nvPr/>
        </p:nvSpPr>
        <p:spPr>
          <a:xfrm>
            <a:off x="7827625" y="1057821"/>
            <a:ext cx="1327355" cy="47451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S3. Check With AR To Verify Payment In Full</a:t>
            </a:r>
          </a:p>
        </p:txBody>
      </p:sp>
      <p:cxnSp>
        <p:nvCxnSpPr>
          <p:cNvPr id="71" name="Straight Arrow Connector 70">
            <a:extLst>
              <a:ext uri="{FF2B5EF4-FFF2-40B4-BE49-F238E27FC236}">
                <a16:creationId xmlns:a16="http://schemas.microsoft.com/office/drawing/2014/main" id="{954EA407-23DD-6D9B-4CD4-2BC4D48C4A53}"/>
              </a:ext>
            </a:extLst>
          </p:cNvPr>
          <p:cNvCxnSpPr>
            <a:cxnSpLocks/>
            <a:stCxn id="47" idx="3"/>
            <a:endCxn id="70" idx="1"/>
          </p:cNvCxnSpPr>
          <p:nvPr/>
        </p:nvCxnSpPr>
        <p:spPr>
          <a:xfrm flipV="1">
            <a:off x="7058698" y="1295078"/>
            <a:ext cx="768927" cy="946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2B21A14F-EB94-4DE8-C0FF-21AA487952A6}"/>
              </a:ext>
            </a:extLst>
          </p:cNvPr>
          <p:cNvCxnSpPr>
            <a:cxnSpLocks/>
            <a:stCxn id="70" idx="3"/>
            <a:endCxn id="49" idx="1"/>
          </p:cNvCxnSpPr>
          <p:nvPr/>
        </p:nvCxnSpPr>
        <p:spPr>
          <a:xfrm flipV="1">
            <a:off x="9154980" y="1289991"/>
            <a:ext cx="768927" cy="5087"/>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23994077-886A-FC89-EA82-9C95F2A4398D}"/>
              </a:ext>
            </a:extLst>
          </p:cNvPr>
          <p:cNvCxnSpPr>
            <a:cxnSpLocks/>
            <a:stCxn id="66" idx="3"/>
            <a:endCxn id="45" idx="1"/>
          </p:cNvCxnSpPr>
          <p:nvPr/>
        </p:nvCxnSpPr>
        <p:spPr>
          <a:xfrm flipV="1">
            <a:off x="6866970" y="3456649"/>
            <a:ext cx="1898379" cy="195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7012BE29-3CFC-5F38-C75E-7D368C589F29}"/>
              </a:ext>
            </a:extLst>
          </p:cNvPr>
          <p:cNvCxnSpPr>
            <a:cxnSpLocks/>
            <a:stCxn id="50" idx="3"/>
            <a:endCxn id="52" idx="1"/>
          </p:cNvCxnSpPr>
          <p:nvPr/>
        </p:nvCxnSpPr>
        <p:spPr>
          <a:xfrm flipV="1">
            <a:off x="2040704" y="4668184"/>
            <a:ext cx="390941" cy="6666"/>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D72D87DD-FD61-50AE-416E-371EDCE9FA95}"/>
              </a:ext>
            </a:extLst>
          </p:cNvPr>
          <p:cNvCxnSpPr>
            <a:cxnSpLocks/>
            <a:stCxn id="52" idx="3"/>
            <a:endCxn id="53" idx="1"/>
          </p:cNvCxnSpPr>
          <p:nvPr/>
        </p:nvCxnSpPr>
        <p:spPr>
          <a:xfrm>
            <a:off x="4066989" y="4668184"/>
            <a:ext cx="359746" cy="351"/>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058A33A9-56D6-4321-4FB4-72F840850210}"/>
              </a:ext>
            </a:extLst>
          </p:cNvPr>
          <p:cNvCxnSpPr>
            <a:cxnSpLocks/>
            <a:stCxn id="53" idx="3"/>
            <a:endCxn id="54" idx="1"/>
          </p:cNvCxnSpPr>
          <p:nvPr/>
        </p:nvCxnSpPr>
        <p:spPr>
          <a:xfrm flipV="1">
            <a:off x="6062079" y="4668013"/>
            <a:ext cx="514596" cy="522"/>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B563C2CB-BAE1-0A41-B933-20FEFFA09F48}"/>
              </a:ext>
            </a:extLst>
          </p:cNvPr>
          <p:cNvCxnSpPr>
            <a:cxnSpLocks/>
            <a:stCxn id="54" idx="3"/>
            <a:endCxn id="55" idx="1"/>
          </p:cNvCxnSpPr>
          <p:nvPr/>
        </p:nvCxnSpPr>
        <p:spPr>
          <a:xfrm flipV="1">
            <a:off x="7952328" y="4658181"/>
            <a:ext cx="476865" cy="9832"/>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4596C881-2E2D-99C9-6144-797390C1BBC2}"/>
              </a:ext>
            </a:extLst>
          </p:cNvPr>
          <p:cNvCxnSpPr>
            <a:cxnSpLocks/>
            <a:stCxn id="55" idx="3"/>
            <a:endCxn id="56" idx="1"/>
          </p:cNvCxnSpPr>
          <p:nvPr/>
        </p:nvCxnSpPr>
        <p:spPr>
          <a:xfrm>
            <a:off x="9899116" y="4658181"/>
            <a:ext cx="335589" cy="0"/>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95710495-9DAF-BEE1-2674-F53FD3025F93}"/>
              </a:ext>
            </a:extLst>
          </p:cNvPr>
          <p:cNvCxnSpPr>
            <a:cxnSpLocks/>
            <a:stCxn id="39" idx="3"/>
            <a:endCxn id="41" idx="1"/>
          </p:cNvCxnSpPr>
          <p:nvPr/>
        </p:nvCxnSpPr>
        <p:spPr>
          <a:xfrm>
            <a:off x="2040704" y="2738772"/>
            <a:ext cx="926695"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3FB0CEEE-E03A-D475-6605-A2AE74E4BB78}"/>
              </a:ext>
            </a:extLst>
          </p:cNvPr>
          <p:cNvCxnSpPr>
            <a:cxnSpLocks/>
            <a:stCxn id="65" idx="0"/>
            <a:endCxn id="70" idx="2"/>
          </p:cNvCxnSpPr>
          <p:nvPr/>
        </p:nvCxnSpPr>
        <p:spPr>
          <a:xfrm flipH="1" flipV="1">
            <a:off x="8491303" y="1532334"/>
            <a:ext cx="1" cy="69940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BC91F957-18F8-64CD-61E9-ADE100E41324}"/>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05 12 2025 19 10</a:t>
            </a:r>
          </a:p>
        </p:txBody>
      </p:sp>
      <p:sp>
        <p:nvSpPr>
          <p:cNvPr id="7" name="TextBox 6">
            <a:extLst>
              <a:ext uri="{FF2B5EF4-FFF2-40B4-BE49-F238E27FC236}">
                <a16:creationId xmlns:a16="http://schemas.microsoft.com/office/drawing/2014/main" id="{B3289486-D7D8-5117-C5C8-5324B955C04F}"/>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4" name="TextBox 3">
            <a:extLst>
              <a:ext uri="{FF2B5EF4-FFF2-40B4-BE49-F238E27FC236}">
                <a16:creationId xmlns:a16="http://schemas.microsoft.com/office/drawing/2014/main" id="{68345515-6044-93E9-BD93-395B4886B01B}"/>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25 12 28 0800</a:t>
            </a:r>
          </a:p>
        </p:txBody>
      </p:sp>
      <p:sp>
        <p:nvSpPr>
          <p:cNvPr id="2" name="-S12. Shp_Feed_Bk">
            <a:extLst>
              <a:ext uri="{FF2B5EF4-FFF2-40B4-BE49-F238E27FC236}">
                <a16:creationId xmlns:a16="http://schemas.microsoft.com/office/drawing/2014/main" id="{A15ABD2D-5EB0-9DB8-F03B-1B668C63D12B}"/>
              </a:ext>
            </a:extLst>
          </p:cNvPr>
          <p:cNvSpPr>
            <a:spLocks noGrp="1"/>
          </p:cNvSpPr>
          <p:nvPr>
            <p:ph type="title"/>
          </p:nvPr>
        </p:nvSpPr>
        <p:spPr>
          <a:xfrm>
            <a:off x="838200" y="314871"/>
            <a:ext cx="10515600" cy="428753"/>
          </a:xfrm>
        </p:spPr>
        <p:txBody>
          <a:bodyPr>
            <a:noAutofit/>
          </a:bodyPr>
          <a:lstStyle/>
          <a:p>
            <a:pPr algn="ctr"/>
            <a:r>
              <a:rPr lang="en-US" sz="1600" b="1" dirty="0"/>
              <a:t>S12. Shipping Feed back – Startup SOP</a:t>
            </a:r>
          </a:p>
        </p:txBody>
      </p:sp>
    </p:spTree>
    <p:extLst>
      <p:ext uri="{BB962C8B-B14F-4D97-AF65-F5344CB8AC3E}">
        <p14:creationId xmlns:p14="http://schemas.microsoft.com/office/powerpoint/2010/main" val="31520251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9CC78-B71A-26FD-7BC1-427D3059D3A0}"/>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A26B1FCE-0641-A73D-0D42-9E086E4B304C}"/>
              </a:ext>
            </a:extLst>
          </p:cNvPr>
          <p:cNvSpPr/>
          <p:nvPr/>
        </p:nvSpPr>
        <p:spPr>
          <a:xfrm>
            <a:off x="10001294" y="4297148"/>
            <a:ext cx="1664157" cy="1091621"/>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sp>
        <p:nvSpPr>
          <p:cNvPr id="39" name="Flowchart: Process 38">
            <a:extLst>
              <a:ext uri="{FF2B5EF4-FFF2-40B4-BE49-F238E27FC236}">
                <a16:creationId xmlns:a16="http://schemas.microsoft.com/office/drawing/2014/main" id="{CD027E97-75BB-669B-F9F0-A5E1E0484751}"/>
              </a:ext>
            </a:extLst>
          </p:cNvPr>
          <p:cNvSpPr/>
          <p:nvPr/>
        </p:nvSpPr>
        <p:spPr>
          <a:xfrm>
            <a:off x="713349" y="2526777"/>
            <a:ext cx="1327355" cy="42399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 Customer Calls For Start-Up</a:t>
            </a:r>
          </a:p>
        </p:txBody>
      </p:sp>
      <p:sp>
        <p:nvSpPr>
          <p:cNvPr id="41" name="Flowchart: Decision 40">
            <a:extLst>
              <a:ext uri="{FF2B5EF4-FFF2-40B4-BE49-F238E27FC236}">
                <a16:creationId xmlns:a16="http://schemas.microsoft.com/office/drawing/2014/main" id="{23BC6E1A-7739-8D11-5630-265B7D3733C7}"/>
              </a:ext>
            </a:extLst>
          </p:cNvPr>
          <p:cNvSpPr/>
          <p:nvPr/>
        </p:nvSpPr>
        <p:spPr>
          <a:xfrm>
            <a:off x="2967399" y="2556048"/>
            <a:ext cx="570871" cy="365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D1</a:t>
            </a:r>
          </a:p>
        </p:txBody>
      </p:sp>
      <p:sp>
        <p:nvSpPr>
          <p:cNvPr id="42" name="Flowchart: Process 41">
            <a:extLst>
              <a:ext uri="{FF2B5EF4-FFF2-40B4-BE49-F238E27FC236}">
                <a16:creationId xmlns:a16="http://schemas.microsoft.com/office/drawing/2014/main" id="{78D12E47-2CB4-C245-43DE-A8598C470D1F}"/>
              </a:ext>
            </a:extLst>
          </p:cNvPr>
          <p:cNvSpPr/>
          <p:nvPr/>
        </p:nvSpPr>
        <p:spPr>
          <a:xfrm>
            <a:off x="3323024" y="2497204"/>
            <a:ext cx="224605" cy="17944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43" name="Flowchart: Process 42">
            <a:extLst>
              <a:ext uri="{FF2B5EF4-FFF2-40B4-BE49-F238E27FC236}">
                <a16:creationId xmlns:a16="http://schemas.microsoft.com/office/drawing/2014/main" id="{69611B4A-4895-DEE5-57A8-3B9D9A323C2C}"/>
              </a:ext>
            </a:extLst>
          </p:cNvPr>
          <p:cNvSpPr/>
          <p:nvPr/>
        </p:nvSpPr>
        <p:spPr>
          <a:xfrm>
            <a:off x="2958041" y="2786835"/>
            <a:ext cx="224605" cy="17944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sp>
        <p:nvSpPr>
          <p:cNvPr id="44" name="TextBox 43">
            <a:extLst>
              <a:ext uri="{FF2B5EF4-FFF2-40B4-BE49-F238E27FC236}">
                <a16:creationId xmlns:a16="http://schemas.microsoft.com/office/drawing/2014/main" id="{B9B5D966-DEBF-F9B6-A556-D161609AEF95}"/>
              </a:ext>
            </a:extLst>
          </p:cNvPr>
          <p:cNvSpPr txBox="1"/>
          <p:nvPr/>
        </p:nvSpPr>
        <p:spPr>
          <a:xfrm>
            <a:off x="2332800" y="2331480"/>
            <a:ext cx="948813" cy="369332"/>
          </a:xfrm>
          <a:prstGeom prst="rect">
            <a:avLst/>
          </a:prstGeom>
          <a:noFill/>
        </p:spPr>
        <p:txBody>
          <a:bodyPr wrap="square" rtlCol="0">
            <a:spAutoFit/>
          </a:bodyPr>
          <a:lstStyle/>
          <a:p>
            <a:r>
              <a:rPr lang="en-US" sz="900" dirty="0"/>
              <a:t>Q1.Did We Sell The Generator? </a:t>
            </a:r>
          </a:p>
        </p:txBody>
      </p:sp>
      <p:sp>
        <p:nvSpPr>
          <p:cNvPr id="45" name="TextBox 44">
            <a:extLst>
              <a:ext uri="{FF2B5EF4-FFF2-40B4-BE49-F238E27FC236}">
                <a16:creationId xmlns:a16="http://schemas.microsoft.com/office/drawing/2014/main" id="{D7591813-76FA-E053-B169-BD73967F7267}"/>
              </a:ext>
            </a:extLst>
          </p:cNvPr>
          <p:cNvSpPr txBox="1"/>
          <p:nvPr/>
        </p:nvSpPr>
        <p:spPr>
          <a:xfrm>
            <a:off x="8765349" y="3220771"/>
            <a:ext cx="1721329"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S7. Service Order Process at charge SOP</a:t>
            </a:r>
          </a:p>
        </p:txBody>
      </p:sp>
      <p:cxnSp>
        <p:nvCxnSpPr>
          <p:cNvPr id="46" name="Connector: Elbow 45">
            <a:extLst>
              <a:ext uri="{FF2B5EF4-FFF2-40B4-BE49-F238E27FC236}">
                <a16:creationId xmlns:a16="http://schemas.microsoft.com/office/drawing/2014/main" id="{A2547BC8-A1ED-DD83-6F12-EE224E692F38}"/>
              </a:ext>
            </a:extLst>
          </p:cNvPr>
          <p:cNvCxnSpPr>
            <a:cxnSpLocks/>
            <a:stCxn id="41" idx="2"/>
            <a:endCxn id="66" idx="1"/>
          </p:cNvCxnSpPr>
          <p:nvPr/>
        </p:nvCxnSpPr>
        <p:spPr>
          <a:xfrm rot="16200000" flipH="1">
            <a:off x="4188391" y="1985939"/>
            <a:ext cx="537107" cy="2408219"/>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 name="Flowchart: Predefined Process 46">
            <a:extLst>
              <a:ext uri="{FF2B5EF4-FFF2-40B4-BE49-F238E27FC236}">
                <a16:creationId xmlns:a16="http://schemas.microsoft.com/office/drawing/2014/main" id="{4B3F353B-99AA-2BFF-9CCE-5AF23C8C9875}"/>
              </a:ext>
            </a:extLst>
          </p:cNvPr>
          <p:cNvSpPr/>
          <p:nvPr/>
        </p:nvSpPr>
        <p:spPr>
          <a:xfrm>
            <a:off x="5923071" y="1070001"/>
            <a:ext cx="1135627"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S2. Order Inquiry </a:t>
            </a:r>
          </a:p>
        </p:txBody>
      </p:sp>
      <p:cxnSp>
        <p:nvCxnSpPr>
          <p:cNvPr id="48" name="Connector: Elbow 47">
            <a:extLst>
              <a:ext uri="{FF2B5EF4-FFF2-40B4-BE49-F238E27FC236}">
                <a16:creationId xmlns:a16="http://schemas.microsoft.com/office/drawing/2014/main" id="{251FD1CC-40DF-F0F1-FF70-5B9A99A462B2}"/>
              </a:ext>
            </a:extLst>
          </p:cNvPr>
          <p:cNvCxnSpPr>
            <a:cxnSpLocks/>
            <a:stCxn id="41" idx="0"/>
            <a:endCxn id="60" idx="1"/>
          </p:cNvCxnSpPr>
          <p:nvPr/>
        </p:nvCxnSpPr>
        <p:spPr>
          <a:xfrm rot="5400000" flipH="1" flipV="1">
            <a:off x="3561610" y="1589667"/>
            <a:ext cx="657606" cy="127515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Flowchart: Predefined Process 48">
            <a:extLst>
              <a:ext uri="{FF2B5EF4-FFF2-40B4-BE49-F238E27FC236}">
                <a16:creationId xmlns:a16="http://schemas.microsoft.com/office/drawing/2014/main" id="{41A324D0-A2DB-FC1E-B5D1-5827AB398E30}"/>
              </a:ext>
            </a:extLst>
          </p:cNvPr>
          <p:cNvSpPr/>
          <p:nvPr/>
        </p:nvSpPr>
        <p:spPr>
          <a:xfrm>
            <a:off x="9923907" y="1055454"/>
            <a:ext cx="1471216"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S4. Create Start-Up Incident</a:t>
            </a:r>
          </a:p>
        </p:txBody>
      </p:sp>
      <p:sp>
        <p:nvSpPr>
          <p:cNvPr id="50" name="Flowchart: Predefined Process 49">
            <a:extLst>
              <a:ext uri="{FF2B5EF4-FFF2-40B4-BE49-F238E27FC236}">
                <a16:creationId xmlns:a16="http://schemas.microsoft.com/office/drawing/2014/main" id="{CDF9D1B5-BE8B-CE11-190D-20DCC795CCF9}"/>
              </a:ext>
            </a:extLst>
          </p:cNvPr>
          <p:cNvSpPr/>
          <p:nvPr/>
        </p:nvSpPr>
        <p:spPr>
          <a:xfrm>
            <a:off x="405360" y="4455642"/>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S8. Add Start-Up Notes</a:t>
            </a:r>
          </a:p>
        </p:txBody>
      </p:sp>
      <p:cxnSp>
        <p:nvCxnSpPr>
          <p:cNvPr id="51" name="Connector: Elbow 50">
            <a:extLst>
              <a:ext uri="{FF2B5EF4-FFF2-40B4-BE49-F238E27FC236}">
                <a16:creationId xmlns:a16="http://schemas.microsoft.com/office/drawing/2014/main" id="{99F99D7F-D1E8-517D-6C67-33415482A949}"/>
              </a:ext>
            </a:extLst>
          </p:cNvPr>
          <p:cNvCxnSpPr>
            <a:cxnSpLocks/>
            <a:stCxn id="49" idx="2"/>
            <a:endCxn id="50" idx="0"/>
          </p:cNvCxnSpPr>
          <p:nvPr/>
        </p:nvCxnSpPr>
        <p:spPr>
          <a:xfrm rot="5400000">
            <a:off x="4475717" y="-1728156"/>
            <a:ext cx="2931114" cy="9436483"/>
          </a:xfrm>
          <a:prstGeom prst="bentConnector3">
            <a:avLst>
              <a:gd name="adj1" fmla="val 85478"/>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52" name="Flowchart: Predefined Process 51">
            <a:extLst>
              <a:ext uri="{FF2B5EF4-FFF2-40B4-BE49-F238E27FC236}">
                <a16:creationId xmlns:a16="http://schemas.microsoft.com/office/drawing/2014/main" id="{0A07A751-9578-085D-31D2-AF0B61C66F19}"/>
              </a:ext>
            </a:extLst>
          </p:cNvPr>
          <p:cNvSpPr/>
          <p:nvPr/>
        </p:nvSpPr>
        <p:spPr>
          <a:xfrm>
            <a:off x="2431645" y="4448976"/>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S9. Add Line</a:t>
            </a:r>
          </a:p>
        </p:txBody>
      </p:sp>
      <p:sp>
        <p:nvSpPr>
          <p:cNvPr id="53" name="Flowchart: Predefined Process 52">
            <a:extLst>
              <a:ext uri="{FF2B5EF4-FFF2-40B4-BE49-F238E27FC236}">
                <a16:creationId xmlns:a16="http://schemas.microsoft.com/office/drawing/2014/main" id="{8C39CE9D-BC86-4349-813F-929524756F58}"/>
              </a:ext>
            </a:extLst>
          </p:cNvPr>
          <p:cNvSpPr/>
          <p:nvPr/>
        </p:nvSpPr>
        <p:spPr>
          <a:xfrm>
            <a:off x="4426735" y="4449327"/>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S10. Convert to SRO and Schedule</a:t>
            </a:r>
          </a:p>
          <a:p>
            <a:pPr algn="ctr"/>
            <a:r>
              <a:rPr lang="en-US" sz="1000" dirty="0">
                <a:solidFill>
                  <a:schemeClr val="tx1"/>
                </a:solidFill>
              </a:rPr>
              <a:t>e</a:t>
            </a:r>
          </a:p>
        </p:txBody>
      </p:sp>
      <p:sp>
        <p:nvSpPr>
          <p:cNvPr id="54" name="Flowchart: Predefined Process 53">
            <a:extLst>
              <a:ext uri="{FF2B5EF4-FFF2-40B4-BE49-F238E27FC236}">
                <a16:creationId xmlns:a16="http://schemas.microsoft.com/office/drawing/2014/main" id="{5FA58F32-7CBA-C992-1CAD-B0BBED87DFEF}"/>
              </a:ext>
            </a:extLst>
          </p:cNvPr>
          <p:cNvSpPr/>
          <p:nvPr/>
        </p:nvSpPr>
        <p:spPr>
          <a:xfrm>
            <a:off x="6576675" y="4448804"/>
            <a:ext cx="1375653" cy="438417"/>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S11. Print Pick Ticket</a:t>
            </a:r>
          </a:p>
        </p:txBody>
      </p:sp>
      <p:sp>
        <p:nvSpPr>
          <p:cNvPr id="55" name="Flowchart: Predefined Process 54">
            <a:extLst>
              <a:ext uri="{FF2B5EF4-FFF2-40B4-BE49-F238E27FC236}">
                <a16:creationId xmlns:a16="http://schemas.microsoft.com/office/drawing/2014/main" id="{A4B73ADD-1BA0-6AB9-6C62-0F3F7B8307C7}"/>
              </a:ext>
            </a:extLst>
          </p:cNvPr>
          <p:cNvSpPr/>
          <p:nvPr/>
        </p:nvSpPr>
        <p:spPr>
          <a:xfrm>
            <a:off x="8429193" y="4438973"/>
            <a:ext cx="1469923"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S12. Shipping Feedback Ship </a:t>
            </a:r>
          </a:p>
        </p:txBody>
      </p:sp>
      <p:sp>
        <p:nvSpPr>
          <p:cNvPr id="56" name="Flowchart: Process 55">
            <a:extLst>
              <a:ext uri="{FF2B5EF4-FFF2-40B4-BE49-F238E27FC236}">
                <a16:creationId xmlns:a16="http://schemas.microsoft.com/office/drawing/2014/main" id="{409E2B08-0B05-07D9-FE84-ADB42510C6F7}"/>
              </a:ext>
            </a:extLst>
          </p:cNvPr>
          <p:cNvSpPr/>
          <p:nvPr/>
        </p:nvSpPr>
        <p:spPr>
          <a:xfrm>
            <a:off x="10234705" y="4422303"/>
            <a:ext cx="1327355" cy="47175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S13. Tech Performs Start-Up</a:t>
            </a:r>
          </a:p>
        </p:txBody>
      </p:sp>
      <p:sp>
        <p:nvSpPr>
          <p:cNvPr id="57" name="Flowchart: Predefined Process 56">
            <a:extLst>
              <a:ext uri="{FF2B5EF4-FFF2-40B4-BE49-F238E27FC236}">
                <a16:creationId xmlns:a16="http://schemas.microsoft.com/office/drawing/2014/main" id="{6E9079F5-F668-E451-2A9F-1200CA913328}"/>
              </a:ext>
            </a:extLst>
          </p:cNvPr>
          <p:cNvSpPr/>
          <p:nvPr/>
        </p:nvSpPr>
        <p:spPr>
          <a:xfrm>
            <a:off x="5652740" y="5553462"/>
            <a:ext cx="1469923"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S14. Register A Unit</a:t>
            </a:r>
          </a:p>
        </p:txBody>
      </p:sp>
      <p:cxnSp>
        <p:nvCxnSpPr>
          <p:cNvPr id="58" name="Connector: Elbow 57">
            <a:extLst>
              <a:ext uri="{FF2B5EF4-FFF2-40B4-BE49-F238E27FC236}">
                <a16:creationId xmlns:a16="http://schemas.microsoft.com/office/drawing/2014/main" id="{ADF982C0-9320-9FBF-DA01-3FD0D0A23A42}"/>
              </a:ext>
            </a:extLst>
          </p:cNvPr>
          <p:cNvCxnSpPr>
            <a:cxnSpLocks/>
            <a:stCxn id="56" idx="2"/>
            <a:endCxn id="57" idx="0"/>
          </p:cNvCxnSpPr>
          <p:nvPr/>
        </p:nvCxnSpPr>
        <p:spPr>
          <a:xfrm rot="5400000">
            <a:off x="8313341" y="2968420"/>
            <a:ext cx="659404" cy="4510681"/>
          </a:xfrm>
          <a:prstGeom prst="bentConnector3">
            <a:avLst>
              <a:gd name="adj1" fmla="val 69033"/>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60" name="Flowchart: Decision 59">
            <a:extLst>
              <a:ext uri="{FF2B5EF4-FFF2-40B4-BE49-F238E27FC236}">
                <a16:creationId xmlns:a16="http://schemas.microsoft.com/office/drawing/2014/main" id="{6A96E777-EE4D-8C4E-09BE-0E3280034AE6}"/>
              </a:ext>
            </a:extLst>
          </p:cNvPr>
          <p:cNvSpPr/>
          <p:nvPr/>
        </p:nvSpPr>
        <p:spPr>
          <a:xfrm>
            <a:off x="4527992" y="1724244"/>
            <a:ext cx="435655" cy="34839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D2</a:t>
            </a:r>
          </a:p>
        </p:txBody>
      </p:sp>
      <p:sp>
        <p:nvSpPr>
          <p:cNvPr id="61" name="Flowchart: Process 60">
            <a:extLst>
              <a:ext uri="{FF2B5EF4-FFF2-40B4-BE49-F238E27FC236}">
                <a16:creationId xmlns:a16="http://schemas.microsoft.com/office/drawing/2014/main" id="{643FDEF2-F0BE-D115-E38F-C9C3236B5F86}"/>
              </a:ext>
            </a:extLst>
          </p:cNvPr>
          <p:cNvSpPr/>
          <p:nvPr/>
        </p:nvSpPr>
        <p:spPr>
          <a:xfrm>
            <a:off x="4799383" y="1668146"/>
            <a:ext cx="171405" cy="17107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62" name="Flowchart: Process 61">
            <a:extLst>
              <a:ext uri="{FF2B5EF4-FFF2-40B4-BE49-F238E27FC236}">
                <a16:creationId xmlns:a16="http://schemas.microsoft.com/office/drawing/2014/main" id="{EF186116-AAA8-F904-B3F5-0ED8CB0444D6}"/>
              </a:ext>
            </a:extLst>
          </p:cNvPr>
          <p:cNvSpPr/>
          <p:nvPr/>
        </p:nvSpPr>
        <p:spPr>
          <a:xfrm>
            <a:off x="4520850" y="1944263"/>
            <a:ext cx="171405" cy="17107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sp>
        <p:nvSpPr>
          <p:cNvPr id="63" name="TextBox 62">
            <a:extLst>
              <a:ext uri="{FF2B5EF4-FFF2-40B4-BE49-F238E27FC236}">
                <a16:creationId xmlns:a16="http://schemas.microsoft.com/office/drawing/2014/main" id="{63FC3108-4993-F78C-36B5-DC1A641EE332}"/>
              </a:ext>
            </a:extLst>
          </p:cNvPr>
          <p:cNvSpPr txBox="1"/>
          <p:nvPr/>
        </p:nvSpPr>
        <p:spPr>
          <a:xfrm>
            <a:off x="3882757" y="1378103"/>
            <a:ext cx="948813" cy="507831"/>
          </a:xfrm>
          <a:prstGeom prst="rect">
            <a:avLst/>
          </a:prstGeom>
          <a:noFill/>
        </p:spPr>
        <p:txBody>
          <a:bodyPr wrap="square" rtlCol="0">
            <a:spAutoFit/>
          </a:bodyPr>
          <a:lstStyle/>
          <a:p>
            <a:r>
              <a:rPr lang="en-US" sz="900" dirty="0"/>
              <a:t>Do You Know The Original Order #?</a:t>
            </a:r>
          </a:p>
        </p:txBody>
      </p:sp>
      <p:cxnSp>
        <p:nvCxnSpPr>
          <p:cNvPr id="64" name="Connector: Elbow 63">
            <a:extLst>
              <a:ext uri="{FF2B5EF4-FFF2-40B4-BE49-F238E27FC236}">
                <a16:creationId xmlns:a16="http://schemas.microsoft.com/office/drawing/2014/main" id="{AD2B6494-96A1-313E-F02F-FE3DE560629C}"/>
              </a:ext>
            </a:extLst>
          </p:cNvPr>
          <p:cNvCxnSpPr>
            <a:cxnSpLocks/>
            <a:stCxn id="60" idx="0"/>
            <a:endCxn id="47" idx="1"/>
          </p:cNvCxnSpPr>
          <p:nvPr/>
        </p:nvCxnSpPr>
        <p:spPr>
          <a:xfrm rot="5400000" flipH="1" flipV="1">
            <a:off x="5124592" y="925766"/>
            <a:ext cx="419706" cy="117725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5" name="Flowchart: Predefined Process 64">
            <a:extLst>
              <a:ext uri="{FF2B5EF4-FFF2-40B4-BE49-F238E27FC236}">
                <a16:creationId xmlns:a16="http://schemas.microsoft.com/office/drawing/2014/main" id="{1C2E09A1-5E7E-4855-2864-6B9725AE5DD5}"/>
              </a:ext>
            </a:extLst>
          </p:cNvPr>
          <p:cNvSpPr/>
          <p:nvPr/>
        </p:nvSpPr>
        <p:spPr>
          <a:xfrm>
            <a:off x="7519201" y="2231738"/>
            <a:ext cx="1944205"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S5. Order Inquiry Using Serial Number</a:t>
            </a:r>
          </a:p>
        </p:txBody>
      </p:sp>
      <p:sp>
        <p:nvSpPr>
          <p:cNvPr id="66" name="TextBox 65">
            <a:extLst>
              <a:ext uri="{FF2B5EF4-FFF2-40B4-BE49-F238E27FC236}">
                <a16:creationId xmlns:a16="http://schemas.microsoft.com/office/drawing/2014/main" id="{ED521402-1F58-DE06-23FB-14A10BE738C3}"/>
              </a:ext>
            </a:extLst>
          </p:cNvPr>
          <p:cNvSpPr txBox="1"/>
          <p:nvPr/>
        </p:nvSpPr>
        <p:spPr>
          <a:xfrm>
            <a:off x="5661054" y="3222725"/>
            <a:ext cx="1205916"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S6. Create A New Unit SOP</a:t>
            </a:r>
          </a:p>
        </p:txBody>
      </p:sp>
      <p:cxnSp>
        <p:nvCxnSpPr>
          <p:cNvPr id="67" name="Connector: Elbow 66">
            <a:extLst>
              <a:ext uri="{FF2B5EF4-FFF2-40B4-BE49-F238E27FC236}">
                <a16:creationId xmlns:a16="http://schemas.microsoft.com/office/drawing/2014/main" id="{8C4DB038-BDFB-23A3-A403-115ABFB4D3D8}"/>
              </a:ext>
            </a:extLst>
          </p:cNvPr>
          <p:cNvCxnSpPr>
            <a:cxnSpLocks/>
            <a:stCxn id="60" idx="2"/>
            <a:endCxn id="65" idx="1"/>
          </p:cNvCxnSpPr>
          <p:nvPr/>
        </p:nvCxnSpPr>
        <p:spPr>
          <a:xfrm rot="16200000" flipH="1">
            <a:off x="5935693" y="882766"/>
            <a:ext cx="393635" cy="2773381"/>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0" name="Flowchart: Process 69">
            <a:extLst>
              <a:ext uri="{FF2B5EF4-FFF2-40B4-BE49-F238E27FC236}">
                <a16:creationId xmlns:a16="http://schemas.microsoft.com/office/drawing/2014/main" id="{2C2CDF53-D7FA-5472-9148-30939F1E0618}"/>
              </a:ext>
            </a:extLst>
          </p:cNvPr>
          <p:cNvSpPr/>
          <p:nvPr/>
        </p:nvSpPr>
        <p:spPr>
          <a:xfrm>
            <a:off x="7827625" y="1057821"/>
            <a:ext cx="1327355" cy="47451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S3. Check With AR To Verify Payment In Full</a:t>
            </a:r>
          </a:p>
        </p:txBody>
      </p:sp>
      <p:cxnSp>
        <p:nvCxnSpPr>
          <p:cNvPr id="71" name="Straight Arrow Connector 70">
            <a:extLst>
              <a:ext uri="{FF2B5EF4-FFF2-40B4-BE49-F238E27FC236}">
                <a16:creationId xmlns:a16="http://schemas.microsoft.com/office/drawing/2014/main" id="{C06B03D4-95F1-866E-792A-E471AB2C88F7}"/>
              </a:ext>
            </a:extLst>
          </p:cNvPr>
          <p:cNvCxnSpPr>
            <a:cxnSpLocks/>
            <a:stCxn id="47" idx="3"/>
            <a:endCxn id="70" idx="1"/>
          </p:cNvCxnSpPr>
          <p:nvPr/>
        </p:nvCxnSpPr>
        <p:spPr>
          <a:xfrm flipV="1">
            <a:off x="7058698" y="1295078"/>
            <a:ext cx="768927" cy="946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DB2D363C-DE28-1802-8075-BE2E1008179B}"/>
              </a:ext>
            </a:extLst>
          </p:cNvPr>
          <p:cNvCxnSpPr>
            <a:cxnSpLocks/>
            <a:stCxn id="70" idx="3"/>
            <a:endCxn id="49" idx="1"/>
          </p:cNvCxnSpPr>
          <p:nvPr/>
        </p:nvCxnSpPr>
        <p:spPr>
          <a:xfrm flipV="1">
            <a:off x="9154980" y="1289991"/>
            <a:ext cx="768927" cy="5087"/>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5AD6794A-48C9-A4E9-C661-B2B8EEC8ED94}"/>
              </a:ext>
            </a:extLst>
          </p:cNvPr>
          <p:cNvCxnSpPr>
            <a:cxnSpLocks/>
            <a:stCxn id="66" idx="3"/>
            <a:endCxn id="45" idx="1"/>
          </p:cNvCxnSpPr>
          <p:nvPr/>
        </p:nvCxnSpPr>
        <p:spPr>
          <a:xfrm flipV="1">
            <a:off x="6866970" y="3456649"/>
            <a:ext cx="1898379" cy="195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1C2E72BF-76B1-5A66-A6D4-2792DB142217}"/>
              </a:ext>
            </a:extLst>
          </p:cNvPr>
          <p:cNvCxnSpPr>
            <a:cxnSpLocks/>
            <a:stCxn id="50" idx="3"/>
            <a:endCxn id="52" idx="1"/>
          </p:cNvCxnSpPr>
          <p:nvPr/>
        </p:nvCxnSpPr>
        <p:spPr>
          <a:xfrm flipV="1">
            <a:off x="2040704" y="4668184"/>
            <a:ext cx="390941" cy="6666"/>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C2CB71A2-2496-BDF5-8C6B-C7D9D64BB00E}"/>
              </a:ext>
            </a:extLst>
          </p:cNvPr>
          <p:cNvCxnSpPr>
            <a:cxnSpLocks/>
            <a:stCxn id="52" idx="3"/>
            <a:endCxn id="53" idx="1"/>
          </p:cNvCxnSpPr>
          <p:nvPr/>
        </p:nvCxnSpPr>
        <p:spPr>
          <a:xfrm>
            <a:off x="4066989" y="4668184"/>
            <a:ext cx="359746" cy="351"/>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D1497158-EEF1-872D-2F01-9B1D9C52F926}"/>
              </a:ext>
            </a:extLst>
          </p:cNvPr>
          <p:cNvCxnSpPr>
            <a:cxnSpLocks/>
            <a:stCxn id="53" idx="3"/>
            <a:endCxn id="54" idx="1"/>
          </p:cNvCxnSpPr>
          <p:nvPr/>
        </p:nvCxnSpPr>
        <p:spPr>
          <a:xfrm flipV="1">
            <a:off x="6062079" y="4668013"/>
            <a:ext cx="514596" cy="522"/>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A095734D-11DD-F38C-63B0-8F607ED37F8B}"/>
              </a:ext>
            </a:extLst>
          </p:cNvPr>
          <p:cNvCxnSpPr>
            <a:cxnSpLocks/>
            <a:stCxn id="54" idx="3"/>
            <a:endCxn id="55" idx="1"/>
          </p:cNvCxnSpPr>
          <p:nvPr/>
        </p:nvCxnSpPr>
        <p:spPr>
          <a:xfrm flipV="1">
            <a:off x="7952328" y="4658181"/>
            <a:ext cx="476865" cy="9832"/>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1DB62233-D6CD-9A96-4B8D-102FA4559DD3}"/>
              </a:ext>
            </a:extLst>
          </p:cNvPr>
          <p:cNvCxnSpPr>
            <a:cxnSpLocks/>
            <a:stCxn id="55" idx="3"/>
            <a:endCxn id="56" idx="1"/>
          </p:cNvCxnSpPr>
          <p:nvPr/>
        </p:nvCxnSpPr>
        <p:spPr>
          <a:xfrm>
            <a:off x="9899116" y="4658181"/>
            <a:ext cx="335589" cy="0"/>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5870976E-85A2-038B-732E-8B01509321F4}"/>
              </a:ext>
            </a:extLst>
          </p:cNvPr>
          <p:cNvCxnSpPr>
            <a:cxnSpLocks/>
            <a:stCxn id="39" idx="3"/>
            <a:endCxn id="41" idx="1"/>
          </p:cNvCxnSpPr>
          <p:nvPr/>
        </p:nvCxnSpPr>
        <p:spPr>
          <a:xfrm>
            <a:off x="2040704" y="2738772"/>
            <a:ext cx="926695"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6A1C8E4C-908B-1F00-7CFB-B6E6026A798F}"/>
              </a:ext>
            </a:extLst>
          </p:cNvPr>
          <p:cNvCxnSpPr>
            <a:cxnSpLocks/>
            <a:stCxn id="65" idx="0"/>
            <a:endCxn id="70" idx="2"/>
          </p:cNvCxnSpPr>
          <p:nvPr/>
        </p:nvCxnSpPr>
        <p:spPr>
          <a:xfrm flipH="1" flipV="1">
            <a:off x="8491303" y="1532334"/>
            <a:ext cx="1" cy="69940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147EB40-7458-F379-61FA-0264AE50C85F}"/>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05 12 2025 19 10</a:t>
            </a:r>
          </a:p>
        </p:txBody>
      </p:sp>
      <p:sp>
        <p:nvSpPr>
          <p:cNvPr id="7" name="TextBox 6">
            <a:extLst>
              <a:ext uri="{FF2B5EF4-FFF2-40B4-BE49-F238E27FC236}">
                <a16:creationId xmlns:a16="http://schemas.microsoft.com/office/drawing/2014/main" id="{2D5D94C3-3B69-4D49-35F8-8EFF0404DDFC}"/>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4" name="TextBox 3">
            <a:extLst>
              <a:ext uri="{FF2B5EF4-FFF2-40B4-BE49-F238E27FC236}">
                <a16:creationId xmlns:a16="http://schemas.microsoft.com/office/drawing/2014/main" id="{7DE499EC-43A7-1405-BBB0-0C2DD2DB3C01}"/>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25 12 28 0800</a:t>
            </a:r>
          </a:p>
        </p:txBody>
      </p:sp>
      <p:sp>
        <p:nvSpPr>
          <p:cNvPr id="2" name="-S13. Perf_Strt_up">
            <a:extLst>
              <a:ext uri="{FF2B5EF4-FFF2-40B4-BE49-F238E27FC236}">
                <a16:creationId xmlns:a16="http://schemas.microsoft.com/office/drawing/2014/main" id="{2D98CFC3-9C3A-766C-7EF5-38B237176382}"/>
              </a:ext>
            </a:extLst>
          </p:cNvPr>
          <p:cNvSpPr>
            <a:spLocks noGrp="1"/>
          </p:cNvSpPr>
          <p:nvPr>
            <p:ph type="title"/>
          </p:nvPr>
        </p:nvSpPr>
        <p:spPr>
          <a:xfrm>
            <a:off x="838200" y="314871"/>
            <a:ext cx="10515600" cy="428753"/>
          </a:xfrm>
        </p:spPr>
        <p:txBody>
          <a:bodyPr>
            <a:noAutofit/>
          </a:bodyPr>
          <a:lstStyle/>
          <a:p>
            <a:pPr algn="ctr"/>
            <a:r>
              <a:rPr lang="en-US" sz="1600" b="1" dirty="0"/>
              <a:t>S13. Assigned Tech Performs Start-up– Startup SOP</a:t>
            </a:r>
          </a:p>
        </p:txBody>
      </p:sp>
    </p:spTree>
    <p:extLst>
      <p:ext uri="{BB962C8B-B14F-4D97-AF65-F5344CB8AC3E}">
        <p14:creationId xmlns:p14="http://schemas.microsoft.com/office/powerpoint/2010/main" val="26604400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F697E-5BE1-D315-7D66-ABE254D50D48}"/>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5C9ED200-C259-991E-24F8-FF41A6883A9F}"/>
              </a:ext>
            </a:extLst>
          </p:cNvPr>
          <p:cNvSpPr/>
          <p:nvPr/>
        </p:nvSpPr>
        <p:spPr>
          <a:xfrm>
            <a:off x="5535474" y="5445844"/>
            <a:ext cx="1664157" cy="1091621"/>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sp>
        <p:nvSpPr>
          <p:cNvPr id="39" name="Flowchart: Process 38">
            <a:extLst>
              <a:ext uri="{FF2B5EF4-FFF2-40B4-BE49-F238E27FC236}">
                <a16:creationId xmlns:a16="http://schemas.microsoft.com/office/drawing/2014/main" id="{5B62BB59-E49A-2BDD-9D65-CD7AF0962557}"/>
              </a:ext>
            </a:extLst>
          </p:cNvPr>
          <p:cNvSpPr/>
          <p:nvPr/>
        </p:nvSpPr>
        <p:spPr>
          <a:xfrm>
            <a:off x="713349" y="2526777"/>
            <a:ext cx="1327355" cy="42399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 Customer Calls For Start-Up</a:t>
            </a:r>
          </a:p>
        </p:txBody>
      </p:sp>
      <p:sp>
        <p:nvSpPr>
          <p:cNvPr id="41" name="Flowchart: Decision 40">
            <a:extLst>
              <a:ext uri="{FF2B5EF4-FFF2-40B4-BE49-F238E27FC236}">
                <a16:creationId xmlns:a16="http://schemas.microsoft.com/office/drawing/2014/main" id="{AD0EA143-449D-50A4-033A-A901DBEB2AA1}"/>
              </a:ext>
            </a:extLst>
          </p:cNvPr>
          <p:cNvSpPr/>
          <p:nvPr/>
        </p:nvSpPr>
        <p:spPr>
          <a:xfrm>
            <a:off x="2967399" y="2556048"/>
            <a:ext cx="570871" cy="365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D1</a:t>
            </a:r>
          </a:p>
        </p:txBody>
      </p:sp>
      <p:sp>
        <p:nvSpPr>
          <p:cNvPr id="42" name="Flowchart: Process 41">
            <a:extLst>
              <a:ext uri="{FF2B5EF4-FFF2-40B4-BE49-F238E27FC236}">
                <a16:creationId xmlns:a16="http://schemas.microsoft.com/office/drawing/2014/main" id="{5645ADD2-695F-6DF5-E7BB-9253FB45DC39}"/>
              </a:ext>
            </a:extLst>
          </p:cNvPr>
          <p:cNvSpPr/>
          <p:nvPr/>
        </p:nvSpPr>
        <p:spPr>
          <a:xfrm>
            <a:off x="3323024" y="2497204"/>
            <a:ext cx="224605" cy="17944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43" name="Flowchart: Process 42">
            <a:extLst>
              <a:ext uri="{FF2B5EF4-FFF2-40B4-BE49-F238E27FC236}">
                <a16:creationId xmlns:a16="http://schemas.microsoft.com/office/drawing/2014/main" id="{7DB7772F-E3E1-D957-D413-13CEB9A06CCA}"/>
              </a:ext>
            </a:extLst>
          </p:cNvPr>
          <p:cNvSpPr/>
          <p:nvPr/>
        </p:nvSpPr>
        <p:spPr>
          <a:xfrm>
            <a:off x="2958041" y="2786835"/>
            <a:ext cx="224605" cy="17944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sp>
        <p:nvSpPr>
          <p:cNvPr id="44" name="TextBox 43">
            <a:extLst>
              <a:ext uri="{FF2B5EF4-FFF2-40B4-BE49-F238E27FC236}">
                <a16:creationId xmlns:a16="http://schemas.microsoft.com/office/drawing/2014/main" id="{23DD005B-0B5B-A8BD-8D83-C373E3DA27F8}"/>
              </a:ext>
            </a:extLst>
          </p:cNvPr>
          <p:cNvSpPr txBox="1"/>
          <p:nvPr/>
        </p:nvSpPr>
        <p:spPr>
          <a:xfrm>
            <a:off x="2332800" y="2331480"/>
            <a:ext cx="948813" cy="369332"/>
          </a:xfrm>
          <a:prstGeom prst="rect">
            <a:avLst/>
          </a:prstGeom>
          <a:noFill/>
        </p:spPr>
        <p:txBody>
          <a:bodyPr wrap="square" rtlCol="0">
            <a:spAutoFit/>
          </a:bodyPr>
          <a:lstStyle/>
          <a:p>
            <a:r>
              <a:rPr lang="en-US" sz="900" dirty="0"/>
              <a:t>Q1.Did We Sell The Generator? </a:t>
            </a:r>
          </a:p>
        </p:txBody>
      </p:sp>
      <p:sp>
        <p:nvSpPr>
          <p:cNvPr id="45" name="TextBox 44">
            <a:extLst>
              <a:ext uri="{FF2B5EF4-FFF2-40B4-BE49-F238E27FC236}">
                <a16:creationId xmlns:a16="http://schemas.microsoft.com/office/drawing/2014/main" id="{AE7CC465-EDCF-8390-43C4-E1E018801981}"/>
              </a:ext>
            </a:extLst>
          </p:cNvPr>
          <p:cNvSpPr txBox="1"/>
          <p:nvPr/>
        </p:nvSpPr>
        <p:spPr>
          <a:xfrm>
            <a:off x="8765349" y="3220771"/>
            <a:ext cx="1721329"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S7. Service Order Process at charge SOP</a:t>
            </a:r>
          </a:p>
        </p:txBody>
      </p:sp>
      <p:cxnSp>
        <p:nvCxnSpPr>
          <p:cNvPr id="46" name="Connector: Elbow 45">
            <a:extLst>
              <a:ext uri="{FF2B5EF4-FFF2-40B4-BE49-F238E27FC236}">
                <a16:creationId xmlns:a16="http://schemas.microsoft.com/office/drawing/2014/main" id="{1F57C349-4231-A655-8609-0AA66A52C474}"/>
              </a:ext>
            </a:extLst>
          </p:cNvPr>
          <p:cNvCxnSpPr>
            <a:cxnSpLocks/>
            <a:stCxn id="41" idx="2"/>
            <a:endCxn id="66" idx="1"/>
          </p:cNvCxnSpPr>
          <p:nvPr/>
        </p:nvCxnSpPr>
        <p:spPr>
          <a:xfrm rot="16200000" flipH="1">
            <a:off x="4188391" y="1985939"/>
            <a:ext cx="537107" cy="2408219"/>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 name="Flowchart: Predefined Process 46">
            <a:extLst>
              <a:ext uri="{FF2B5EF4-FFF2-40B4-BE49-F238E27FC236}">
                <a16:creationId xmlns:a16="http://schemas.microsoft.com/office/drawing/2014/main" id="{2F265545-B8A4-EA34-CCE7-AD1A6DBD53E1}"/>
              </a:ext>
            </a:extLst>
          </p:cNvPr>
          <p:cNvSpPr/>
          <p:nvPr/>
        </p:nvSpPr>
        <p:spPr>
          <a:xfrm>
            <a:off x="5923071" y="1070001"/>
            <a:ext cx="1135627"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S2. Order Inquiry </a:t>
            </a:r>
          </a:p>
        </p:txBody>
      </p:sp>
      <p:cxnSp>
        <p:nvCxnSpPr>
          <p:cNvPr id="48" name="Connector: Elbow 47">
            <a:extLst>
              <a:ext uri="{FF2B5EF4-FFF2-40B4-BE49-F238E27FC236}">
                <a16:creationId xmlns:a16="http://schemas.microsoft.com/office/drawing/2014/main" id="{2DA93168-14F5-2D69-62FD-D92D4670AEB5}"/>
              </a:ext>
            </a:extLst>
          </p:cNvPr>
          <p:cNvCxnSpPr>
            <a:cxnSpLocks/>
            <a:stCxn id="41" idx="0"/>
            <a:endCxn id="60" idx="1"/>
          </p:cNvCxnSpPr>
          <p:nvPr/>
        </p:nvCxnSpPr>
        <p:spPr>
          <a:xfrm rot="5400000" flipH="1" flipV="1">
            <a:off x="3561610" y="1589667"/>
            <a:ext cx="657606" cy="127515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Flowchart: Predefined Process 48">
            <a:extLst>
              <a:ext uri="{FF2B5EF4-FFF2-40B4-BE49-F238E27FC236}">
                <a16:creationId xmlns:a16="http://schemas.microsoft.com/office/drawing/2014/main" id="{62C5472A-3FD4-3211-1E8A-DCA30B4D3833}"/>
              </a:ext>
            </a:extLst>
          </p:cNvPr>
          <p:cNvSpPr/>
          <p:nvPr/>
        </p:nvSpPr>
        <p:spPr>
          <a:xfrm>
            <a:off x="9923907" y="1055454"/>
            <a:ext cx="1471216"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S4. Create Start-Up Incident</a:t>
            </a:r>
          </a:p>
        </p:txBody>
      </p:sp>
      <p:sp>
        <p:nvSpPr>
          <p:cNvPr id="50" name="Flowchart: Predefined Process 49">
            <a:extLst>
              <a:ext uri="{FF2B5EF4-FFF2-40B4-BE49-F238E27FC236}">
                <a16:creationId xmlns:a16="http://schemas.microsoft.com/office/drawing/2014/main" id="{14E553C3-50BE-C533-D199-B0FD650BB8EF}"/>
              </a:ext>
            </a:extLst>
          </p:cNvPr>
          <p:cNvSpPr/>
          <p:nvPr/>
        </p:nvSpPr>
        <p:spPr>
          <a:xfrm>
            <a:off x="405360" y="4455642"/>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S8. Add Start-Up Notes</a:t>
            </a:r>
          </a:p>
        </p:txBody>
      </p:sp>
      <p:cxnSp>
        <p:nvCxnSpPr>
          <p:cNvPr id="51" name="Connector: Elbow 50">
            <a:extLst>
              <a:ext uri="{FF2B5EF4-FFF2-40B4-BE49-F238E27FC236}">
                <a16:creationId xmlns:a16="http://schemas.microsoft.com/office/drawing/2014/main" id="{E1636510-00C1-BF44-1D67-15016D475FD6}"/>
              </a:ext>
            </a:extLst>
          </p:cNvPr>
          <p:cNvCxnSpPr>
            <a:cxnSpLocks/>
            <a:stCxn id="49" idx="2"/>
            <a:endCxn id="50" idx="0"/>
          </p:cNvCxnSpPr>
          <p:nvPr/>
        </p:nvCxnSpPr>
        <p:spPr>
          <a:xfrm rot="5400000">
            <a:off x="4475717" y="-1728156"/>
            <a:ext cx="2931114" cy="9436483"/>
          </a:xfrm>
          <a:prstGeom prst="bentConnector3">
            <a:avLst>
              <a:gd name="adj1" fmla="val 85478"/>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52" name="Flowchart: Predefined Process 51">
            <a:extLst>
              <a:ext uri="{FF2B5EF4-FFF2-40B4-BE49-F238E27FC236}">
                <a16:creationId xmlns:a16="http://schemas.microsoft.com/office/drawing/2014/main" id="{1E60B3FE-2F97-9A9F-E964-81040FC079A9}"/>
              </a:ext>
            </a:extLst>
          </p:cNvPr>
          <p:cNvSpPr/>
          <p:nvPr/>
        </p:nvSpPr>
        <p:spPr>
          <a:xfrm>
            <a:off x="2431645" y="4448976"/>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S9. Add Line</a:t>
            </a:r>
          </a:p>
        </p:txBody>
      </p:sp>
      <p:sp>
        <p:nvSpPr>
          <p:cNvPr id="53" name="Flowchart: Predefined Process 52">
            <a:extLst>
              <a:ext uri="{FF2B5EF4-FFF2-40B4-BE49-F238E27FC236}">
                <a16:creationId xmlns:a16="http://schemas.microsoft.com/office/drawing/2014/main" id="{18F036FD-4BB2-40C6-12F3-E72217C0473E}"/>
              </a:ext>
            </a:extLst>
          </p:cNvPr>
          <p:cNvSpPr/>
          <p:nvPr/>
        </p:nvSpPr>
        <p:spPr>
          <a:xfrm>
            <a:off x="4426735" y="4449327"/>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S10. Convert to SRO and Schedule</a:t>
            </a:r>
          </a:p>
        </p:txBody>
      </p:sp>
      <p:sp>
        <p:nvSpPr>
          <p:cNvPr id="54" name="Flowchart: Predefined Process 53">
            <a:extLst>
              <a:ext uri="{FF2B5EF4-FFF2-40B4-BE49-F238E27FC236}">
                <a16:creationId xmlns:a16="http://schemas.microsoft.com/office/drawing/2014/main" id="{E18CEFDD-D6C6-9F17-4DF0-7539918E10D4}"/>
              </a:ext>
            </a:extLst>
          </p:cNvPr>
          <p:cNvSpPr/>
          <p:nvPr/>
        </p:nvSpPr>
        <p:spPr>
          <a:xfrm>
            <a:off x="6576675" y="4448804"/>
            <a:ext cx="1375653" cy="438417"/>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S11. Print Pick Ticket</a:t>
            </a:r>
          </a:p>
        </p:txBody>
      </p:sp>
      <p:sp>
        <p:nvSpPr>
          <p:cNvPr id="55" name="Flowchart: Predefined Process 54">
            <a:extLst>
              <a:ext uri="{FF2B5EF4-FFF2-40B4-BE49-F238E27FC236}">
                <a16:creationId xmlns:a16="http://schemas.microsoft.com/office/drawing/2014/main" id="{B4BFB5D9-F031-8AA8-AE07-6754687BCF96}"/>
              </a:ext>
            </a:extLst>
          </p:cNvPr>
          <p:cNvSpPr/>
          <p:nvPr/>
        </p:nvSpPr>
        <p:spPr>
          <a:xfrm>
            <a:off x="8429193" y="4438973"/>
            <a:ext cx="1469923"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S12. Shipping Feedback Ship </a:t>
            </a:r>
          </a:p>
        </p:txBody>
      </p:sp>
      <p:sp>
        <p:nvSpPr>
          <p:cNvPr id="56" name="Flowchart: Process 55">
            <a:extLst>
              <a:ext uri="{FF2B5EF4-FFF2-40B4-BE49-F238E27FC236}">
                <a16:creationId xmlns:a16="http://schemas.microsoft.com/office/drawing/2014/main" id="{AD8F6576-D722-DE7A-67FC-851AD7558DBE}"/>
              </a:ext>
            </a:extLst>
          </p:cNvPr>
          <p:cNvSpPr/>
          <p:nvPr/>
        </p:nvSpPr>
        <p:spPr>
          <a:xfrm>
            <a:off x="10234705" y="4422303"/>
            <a:ext cx="1327355" cy="47175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S13. Tech Performs Start-Up</a:t>
            </a:r>
          </a:p>
        </p:txBody>
      </p:sp>
      <p:sp>
        <p:nvSpPr>
          <p:cNvPr id="57" name="Flowchart: Predefined Process 56">
            <a:extLst>
              <a:ext uri="{FF2B5EF4-FFF2-40B4-BE49-F238E27FC236}">
                <a16:creationId xmlns:a16="http://schemas.microsoft.com/office/drawing/2014/main" id="{D7E1E790-7D1B-8FFF-A7CA-32F4FE89F312}"/>
              </a:ext>
            </a:extLst>
          </p:cNvPr>
          <p:cNvSpPr/>
          <p:nvPr/>
        </p:nvSpPr>
        <p:spPr>
          <a:xfrm>
            <a:off x="5652740" y="5553462"/>
            <a:ext cx="1469923"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S14. Register A Unit</a:t>
            </a:r>
          </a:p>
        </p:txBody>
      </p:sp>
      <p:cxnSp>
        <p:nvCxnSpPr>
          <p:cNvPr id="58" name="Connector: Elbow 57">
            <a:extLst>
              <a:ext uri="{FF2B5EF4-FFF2-40B4-BE49-F238E27FC236}">
                <a16:creationId xmlns:a16="http://schemas.microsoft.com/office/drawing/2014/main" id="{00E3D610-D460-74A6-C477-CC8CC871CD56}"/>
              </a:ext>
            </a:extLst>
          </p:cNvPr>
          <p:cNvCxnSpPr>
            <a:cxnSpLocks/>
            <a:stCxn id="56" idx="2"/>
            <a:endCxn id="57" idx="0"/>
          </p:cNvCxnSpPr>
          <p:nvPr/>
        </p:nvCxnSpPr>
        <p:spPr>
          <a:xfrm rot="5400000">
            <a:off x="8313341" y="2968420"/>
            <a:ext cx="659404" cy="4510681"/>
          </a:xfrm>
          <a:prstGeom prst="bentConnector3">
            <a:avLst>
              <a:gd name="adj1" fmla="val 69033"/>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60" name="Flowchart: Decision 59">
            <a:extLst>
              <a:ext uri="{FF2B5EF4-FFF2-40B4-BE49-F238E27FC236}">
                <a16:creationId xmlns:a16="http://schemas.microsoft.com/office/drawing/2014/main" id="{0D33CE3B-D28A-0214-97F3-F817F9FCA04E}"/>
              </a:ext>
            </a:extLst>
          </p:cNvPr>
          <p:cNvSpPr/>
          <p:nvPr/>
        </p:nvSpPr>
        <p:spPr>
          <a:xfrm>
            <a:off x="4527992" y="1724244"/>
            <a:ext cx="435655" cy="34839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D2</a:t>
            </a:r>
          </a:p>
        </p:txBody>
      </p:sp>
      <p:sp>
        <p:nvSpPr>
          <p:cNvPr id="61" name="Flowchart: Process 60">
            <a:extLst>
              <a:ext uri="{FF2B5EF4-FFF2-40B4-BE49-F238E27FC236}">
                <a16:creationId xmlns:a16="http://schemas.microsoft.com/office/drawing/2014/main" id="{11DE0A47-C50F-75B1-5455-3AC1858E6DE4}"/>
              </a:ext>
            </a:extLst>
          </p:cNvPr>
          <p:cNvSpPr/>
          <p:nvPr/>
        </p:nvSpPr>
        <p:spPr>
          <a:xfrm>
            <a:off x="4799383" y="1668146"/>
            <a:ext cx="171405" cy="17107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62" name="Flowchart: Process 61">
            <a:extLst>
              <a:ext uri="{FF2B5EF4-FFF2-40B4-BE49-F238E27FC236}">
                <a16:creationId xmlns:a16="http://schemas.microsoft.com/office/drawing/2014/main" id="{A437B829-AAB0-014F-624B-2E099F0953F5}"/>
              </a:ext>
            </a:extLst>
          </p:cNvPr>
          <p:cNvSpPr/>
          <p:nvPr/>
        </p:nvSpPr>
        <p:spPr>
          <a:xfrm>
            <a:off x="4520850" y="1944263"/>
            <a:ext cx="171405" cy="17107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sp>
        <p:nvSpPr>
          <p:cNvPr id="63" name="TextBox 62">
            <a:extLst>
              <a:ext uri="{FF2B5EF4-FFF2-40B4-BE49-F238E27FC236}">
                <a16:creationId xmlns:a16="http://schemas.microsoft.com/office/drawing/2014/main" id="{40A157C3-6FAC-C772-3462-82F79E7F6520}"/>
              </a:ext>
            </a:extLst>
          </p:cNvPr>
          <p:cNvSpPr txBox="1"/>
          <p:nvPr/>
        </p:nvSpPr>
        <p:spPr>
          <a:xfrm>
            <a:off x="3882757" y="1378103"/>
            <a:ext cx="948813" cy="507831"/>
          </a:xfrm>
          <a:prstGeom prst="rect">
            <a:avLst/>
          </a:prstGeom>
          <a:noFill/>
        </p:spPr>
        <p:txBody>
          <a:bodyPr wrap="square" rtlCol="0">
            <a:spAutoFit/>
          </a:bodyPr>
          <a:lstStyle/>
          <a:p>
            <a:r>
              <a:rPr lang="en-US" sz="900" dirty="0"/>
              <a:t>Do You Know The Original Order #?</a:t>
            </a:r>
          </a:p>
        </p:txBody>
      </p:sp>
      <p:cxnSp>
        <p:nvCxnSpPr>
          <p:cNvPr id="64" name="Connector: Elbow 63">
            <a:extLst>
              <a:ext uri="{FF2B5EF4-FFF2-40B4-BE49-F238E27FC236}">
                <a16:creationId xmlns:a16="http://schemas.microsoft.com/office/drawing/2014/main" id="{A72EA8B4-1844-B42F-4AF9-578F22D02759}"/>
              </a:ext>
            </a:extLst>
          </p:cNvPr>
          <p:cNvCxnSpPr>
            <a:cxnSpLocks/>
            <a:stCxn id="60" idx="0"/>
            <a:endCxn id="47" idx="1"/>
          </p:cNvCxnSpPr>
          <p:nvPr/>
        </p:nvCxnSpPr>
        <p:spPr>
          <a:xfrm rot="5400000" flipH="1" flipV="1">
            <a:off x="5124592" y="925766"/>
            <a:ext cx="419706" cy="117725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5" name="Flowchart: Predefined Process 64">
            <a:extLst>
              <a:ext uri="{FF2B5EF4-FFF2-40B4-BE49-F238E27FC236}">
                <a16:creationId xmlns:a16="http://schemas.microsoft.com/office/drawing/2014/main" id="{CF335599-6CE5-317D-3FBA-1D82FE681C30}"/>
              </a:ext>
            </a:extLst>
          </p:cNvPr>
          <p:cNvSpPr/>
          <p:nvPr/>
        </p:nvSpPr>
        <p:spPr>
          <a:xfrm>
            <a:off x="7519201" y="2231738"/>
            <a:ext cx="1944205"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S5. Order Inquiry Using Serial Number</a:t>
            </a:r>
          </a:p>
        </p:txBody>
      </p:sp>
      <p:sp>
        <p:nvSpPr>
          <p:cNvPr id="66" name="TextBox 65">
            <a:extLst>
              <a:ext uri="{FF2B5EF4-FFF2-40B4-BE49-F238E27FC236}">
                <a16:creationId xmlns:a16="http://schemas.microsoft.com/office/drawing/2014/main" id="{F59EC822-C87B-1B92-61B7-CFE626516223}"/>
              </a:ext>
            </a:extLst>
          </p:cNvPr>
          <p:cNvSpPr txBox="1"/>
          <p:nvPr/>
        </p:nvSpPr>
        <p:spPr>
          <a:xfrm>
            <a:off x="5661054" y="3222725"/>
            <a:ext cx="1205916"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S6. Create A New Unit SOP</a:t>
            </a:r>
          </a:p>
        </p:txBody>
      </p:sp>
      <p:cxnSp>
        <p:nvCxnSpPr>
          <p:cNvPr id="67" name="Connector: Elbow 66">
            <a:extLst>
              <a:ext uri="{FF2B5EF4-FFF2-40B4-BE49-F238E27FC236}">
                <a16:creationId xmlns:a16="http://schemas.microsoft.com/office/drawing/2014/main" id="{2A879D8F-69BF-F5E1-0B6C-7A5BF01A24DB}"/>
              </a:ext>
            </a:extLst>
          </p:cNvPr>
          <p:cNvCxnSpPr>
            <a:cxnSpLocks/>
            <a:stCxn id="60" idx="2"/>
            <a:endCxn id="65" idx="1"/>
          </p:cNvCxnSpPr>
          <p:nvPr/>
        </p:nvCxnSpPr>
        <p:spPr>
          <a:xfrm rot="16200000" flipH="1">
            <a:off x="5935693" y="882766"/>
            <a:ext cx="393635" cy="2773381"/>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0" name="Flowchart: Process 69">
            <a:extLst>
              <a:ext uri="{FF2B5EF4-FFF2-40B4-BE49-F238E27FC236}">
                <a16:creationId xmlns:a16="http://schemas.microsoft.com/office/drawing/2014/main" id="{A3B5B674-6A60-2846-5298-7EBB76F5AC2B}"/>
              </a:ext>
            </a:extLst>
          </p:cNvPr>
          <p:cNvSpPr/>
          <p:nvPr/>
        </p:nvSpPr>
        <p:spPr>
          <a:xfrm>
            <a:off x="7827625" y="1057821"/>
            <a:ext cx="1327355" cy="47451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S3. Check With AR To Verify Payment In Full</a:t>
            </a:r>
          </a:p>
        </p:txBody>
      </p:sp>
      <p:cxnSp>
        <p:nvCxnSpPr>
          <p:cNvPr id="71" name="Straight Arrow Connector 70">
            <a:extLst>
              <a:ext uri="{FF2B5EF4-FFF2-40B4-BE49-F238E27FC236}">
                <a16:creationId xmlns:a16="http://schemas.microsoft.com/office/drawing/2014/main" id="{019E0D5E-B409-944E-347F-1E1F09EE448B}"/>
              </a:ext>
            </a:extLst>
          </p:cNvPr>
          <p:cNvCxnSpPr>
            <a:cxnSpLocks/>
            <a:stCxn id="47" idx="3"/>
            <a:endCxn id="70" idx="1"/>
          </p:cNvCxnSpPr>
          <p:nvPr/>
        </p:nvCxnSpPr>
        <p:spPr>
          <a:xfrm flipV="1">
            <a:off x="7058698" y="1295078"/>
            <a:ext cx="768927" cy="946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776A20DC-6F9A-6E89-C296-496A8E14023A}"/>
              </a:ext>
            </a:extLst>
          </p:cNvPr>
          <p:cNvCxnSpPr>
            <a:cxnSpLocks/>
            <a:stCxn id="70" idx="3"/>
            <a:endCxn id="49" idx="1"/>
          </p:cNvCxnSpPr>
          <p:nvPr/>
        </p:nvCxnSpPr>
        <p:spPr>
          <a:xfrm flipV="1">
            <a:off x="9154980" y="1289991"/>
            <a:ext cx="768927" cy="5087"/>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8564088B-96D2-5C0B-9C61-B56894C8C9E4}"/>
              </a:ext>
            </a:extLst>
          </p:cNvPr>
          <p:cNvCxnSpPr>
            <a:cxnSpLocks/>
            <a:stCxn id="66" idx="3"/>
            <a:endCxn id="45" idx="1"/>
          </p:cNvCxnSpPr>
          <p:nvPr/>
        </p:nvCxnSpPr>
        <p:spPr>
          <a:xfrm flipV="1">
            <a:off x="6866970" y="3456649"/>
            <a:ext cx="1898379" cy="195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7016C478-094B-1B92-2CA2-18D9F4AFB43E}"/>
              </a:ext>
            </a:extLst>
          </p:cNvPr>
          <p:cNvCxnSpPr>
            <a:cxnSpLocks/>
            <a:stCxn id="50" idx="3"/>
            <a:endCxn id="52" idx="1"/>
          </p:cNvCxnSpPr>
          <p:nvPr/>
        </p:nvCxnSpPr>
        <p:spPr>
          <a:xfrm flipV="1">
            <a:off x="2040704" y="4668184"/>
            <a:ext cx="390941" cy="6666"/>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298D574A-77CD-A7CD-8079-16B681AC3C63}"/>
              </a:ext>
            </a:extLst>
          </p:cNvPr>
          <p:cNvCxnSpPr>
            <a:cxnSpLocks/>
            <a:stCxn id="52" idx="3"/>
            <a:endCxn id="53" idx="1"/>
          </p:cNvCxnSpPr>
          <p:nvPr/>
        </p:nvCxnSpPr>
        <p:spPr>
          <a:xfrm>
            <a:off x="4066989" y="4668184"/>
            <a:ext cx="359746" cy="351"/>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615A34B8-1438-FF9C-D244-F92E92E8ECD6}"/>
              </a:ext>
            </a:extLst>
          </p:cNvPr>
          <p:cNvCxnSpPr>
            <a:cxnSpLocks/>
            <a:stCxn id="53" idx="3"/>
            <a:endCxn id="54" idx="1"/>
          </p:cNvCxnSpPr>
          <p:nvPr/>
        </p:nvCxnSpPr>
        <p:spPr>
          <a:xfrm flipV="1">
            <a:off x="6062079" y="4668013"/>
            <a:ext cx="514596" cy="522"/>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CC4352A2-C6CE-BCCF-E1C5-FE8F825BB7AC}"/>
              </a:ext>
            </a:extLst>
          </p:cNvPr>
          <p:cNvCxnSpPr>
            <a:cxnSpLocks/>
            <a:stCxn id="54" idx="3"/>
            <a:endCxn id="55" idx="1"/>
          </p:cNvCxnSpPr>
          <p:nvPr/>
        </p:nvCxnSpPr>
        <p:spPr>
          <a:xfrm flipV="1">
            <a:off x="7952328" y="4658181"/>
            <a:ext cx="476865" cy="9832"/>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B33FD684-E7F3-91D4-BE0E-CA123051436D}"/>
              </a:ext>
            </a:extLst>
          </p:cNvPr>
          <p:cNvCxnSpPr>
            <a:cxnSpLocks/>
            <a:stCxn id="55" idx="3"/>
            <a:endCxn id="56" idx="1"/>
          </p:cNvCxnSpPr>
          <p:nvPr/>
        </p:nvCxnSpPr>
        <p:spPr>
          <a:xfrm>
            <a:off x="9899116" y="4658181"/>
            <a:ext cx="335589" cy="0"/>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28AF4862-50F3-B59B-4415-1B372DFC863A}"/>
              </a:ext>
            </a:extLst>
          </p:cNvPr>
          <p:cNvCxnSpPr>
            <a:cxnSpLocks/>
            <a:stCxn id="39" idx="3"/>
            <a:endCxn id="41" idx="1"/>
          </p:cNvCxnSpPr>
          <p:nvPr/>
        </p:nvCxnSpPr>
        <p:spPr>
          <a:xfrm>
            <a:off x="2040704" y="2738772"/>
            <a:ext cx="926695"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D567FDDB-0939-DD31-91D5-6F63B8C5595C}"/>
              </a:ext>
            </a:extLst>
          </p:cNvPr>
          <p:cNvCxnSpPr>
            <a:cxnSpLocks/>
            <a:stCxn id="65" idx="0"/>
            <a:endCxn id="70" idx="2"/>
          </p:cNvCxnSpPr>
          <p:nvPr/>
        </p:nvCxnSpPr>
        <p:spPr>
          <a:xfrm flipH="1" flipV="1">
            <a:off x="8491303" y="1532334"/>
            <a:ext cx="1" cy="69940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0D08D13C-B4E2-3C4A-E523-F2ACC3E8D949}"/>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05 12 2025 19 10</a:t>
            </a:r>
          </a:p>
        </p:txBody>
      </p:sp>
      <p:sp>
        <p:nvSpPr>
          <p:cNvPr id="7" name="TextBox 6">
            <a:extLst>
              <a:ext uri="{FF2B5EF4-FFF2-40B4-BE49-F238E27FC236}">
                <a16:creationId xmlns:a16="http://schemas.microsoft.com/office/drawing/2014/main" id="{CB13EAB8-CC5C-B0E4-3769-43BF4A1F5F07}"/>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4" name="TextBox 3">
            <a:extLst>
              <a:ext uri="{FF2B5EF4-FFF2-40B4-BE49-F238E27FC236}">
                <a16:creationId xmlns:a16="http://schemas.microsoft.com/office/drawing/2014/main" id="{E703FF61-F7D3-C90A-592D-F05DF24A6DC6}"/>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25 12 28 0800</a:t>
            </a:r>
          </a:p>
        </p:txBody>
      </p:sp>
      <p:sp>
        <p:nvSpPr>
          <p:cNvPr id="2" name="-S14. Register_Unit">
            <a:extLst>
              <a:ext uri="{FF2B5EF4-FFF2-40B4-BE49-F238E27FC236}">
                <a16:creationId xmlns:a16="http://schemas.microsoft.com/office/drawing/2014/main" id="{17576FC9-854E-7251-CFEF-3213E4411D5A}"/>
              </a:ext>
            </a:extLst>
          </p:cNvPr>
          <p:cNvSpPr>
            <a:spLocks noGrp="1"/>
          </p:cNvSpPr>
          <p:nvPr>
            <p:ph type="title"/>
          </p:nvPr>
        </p:nvSpPr>
        <p:spPr>
          <a:xfrm>
            <a:off x="838200" y="314871"/>
            <a:ext cx="10515600" cy="428753"/>
          </a:xfrm>
        </p:spPr>
        <p:txBody>
          <a:bodyPr>
            <a:noAutofit/>
          </a:bodyPr>
          <a:lstStyle/>
          <a:p>
            <a:pPr algn="ctr"/>
            <a:r>
              <a:rPr lang="en-US" sz="1600" b="1" dirty="0"/>
              <a:t>S14. Register Unit– Startup SOP</a:t>
            </a:r>
          </a:p>
        </p:txBody>
      </p:sp>
    </p:spTree>
    <p:extLst>
      <p:ext uri="{BB962C8B-B14F-4D97-AF65-F5344CB8AC3E}">
        <p14:creationId xmlns:p14="http://schemas.microsoft.com/office/powerpoint/2010/main" val="20815793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C9FD5-96C7-ED4E-609A-FED7EC803686}"/>
            </a:ext>
          </a:extLst>
        </p:cNvPr>
        <p:cNvGrpSpPr/>
        <p:nvPr/>
      </p:nvGrpSpPr>
      <p:grpSpPr>
        <a:xfrm>
          <a:off x="0" y="0"/>
          <a:ext cx="0" cy="0"/>
          <a:chOff x="0" y="0"/>
          <a:chExt cx="0" cy="0"/>
        </a:xfrm>
      </p:grpSpPr>
      <p:sp>
        <p:nvSpPr>
          <p:cNvPr id="62" name="TextBox 61">
            <a:extLst>
              <a:ext uri="{FF2B5EF4-FFF2-40B4-BE49-F238E27FC236}">
                <a16:creationId xmlns:a16="http://schemas.microsoft.com/office/drawing/2014/main" id="{E4C1791D-6041-C49B-708F-8292DCC6B457}"/>
              </a:ext>
            </a:extLst>
          </p:cNvPr>
          <p:cNvSpPr txBox="1"/>
          <p:nvPr/>
        </p:nvSpPr>
        <p:spPr>
          <a:xfrm>
            <a:off x="10660" y="5873315"/>
            <a:ext cx="994285" cy="461665"/>
          </a:xfrm>
          <a:prstGeom prst="rect">
            <a:avLst/>
          </a:prstGeom>
          <a:noFill/>
        </p:spPr>
        <p:txBody>
          <a:bodyPr wrap="square" rtlCol="0">
            <a:spAutoFit/>
          </a:bodyPr>
          <a:lstStyle/>
          <a:p>
            <a:r>
              <a:rPr lang="en-US" sz="800" dirty="0"/>
              <a:t>Base Created by TS VM TSD KC and BW  06 09 2025 </a:t>
            </a:r>
          </a:p>
        </p:txBody>
      </p:sp>
      <p:sp>
        <p:nvSpPr>
          <p:cNvPr id="66" name="TextBox 65">
            <a:extLst>
              <a:ext uri="{FF2B5EF4-FFF2-40B4-BE49-F238E27FC236}">
                <a16:creationId xmlns:a16="http://schemas.microsoft.com/office/drawing/2014/main" id="{C347DE1B-B61F-7B67-019E-FC81A502260A}"/>
              </a:ext>
            </a:extLst>
          </p:cNvPr>
          <p:cNvSpPr txBox="1"/>
          <p:nvPr/>
        </p:nvSpPr>
        <p:spPr>
          <a:xfrm>
            <a:off x="1252978" y="5986802"/>
            <a:ext cx="1135581" cy="655216"/>
          </a:xfrm>
          <a:prstGeom prst="flowChartInternalStorage">
            <a:avLst/>
          </a:prstGeom>
          <a:solidFill>
            <a:srgbClr val="FFFF00"/>
          </a:solidFill>
          <a:ln>
            <a:solidFill>
              <a:schemeClr val="tx1"/>
            </a:solidFill>
          </a:ln>
        </p:spPr>
        <p:txBody>
          <a:bodyPr wrap="square" rtlCol="0">
            <a:spAutoFit/>
          </a:bodyPr>
          <a:lstStyle/>
          <a:p>
            <a:pPr algn="ctr"/>
            <a:r>
              <a:rPr lang="en-US" sz="1050" dirty="0"/>
              <a:t>Note this Indicates a Sub SOP </a:t>
            </a:r>
          </a:p>
        </p:txBody>
      </p:sp>
      <p:sp>
        <p:nvSpPr>
          <p:cNvPr id="22" name="TextBox 21">
            <a:extLst>
              <a:ext uri="{FF2B5EF4-FFF2-40B4-BE49-F238E27FC236}">
                <a16:creationId xmlns:a16="http://schemas.microsoft.com/office/drawing/2014/main" id="{B45F1027-B83F-D695-0160-FB8E0398CF1E}"/>
              </a:ext>
            </a:extLst>
          </p:cNvPr>
          <p:cNvSpPr txBox="1"/>
          <p:nvPr/>
        </p:nvSpPr>
        <p:spPr>
          <a:xfrm>
            <a:off x="2896280" y="4826874"/>
            <a:ext cx="6009141" cy="1277273"/>
          </a:xfrm>
          <a:prstGeom prst="rect">
            <a:avLst/>
          </a:prstGeom>
          <a:noFill/>
        </p:spPr>
        <p:txBody>
          <a:bodyPr wrap="square" rtlCol="0">
            <a:spAutoFit/>
          </a:bodyPr>
          <a:lstStyle/>
          <a:p>
            <a:pPr algn="ctr"/>
            <a:r>
              <a:rPr lang="en-US" sz="1100" b="1" dirty="0"/>
              <a:t>Ever heard the phrase “Practice makes perfect ? – if you had not then now you have !</a:t>
            </a:r>
          </a:p>
          <a:p>
            <a:pPr algn="ctr"/>
            <a:endParaRPr lang="en-US" sz="1100" b="1" dirty="0"/>
          </a:p>
          <a:p>
            <a:pPr algn="ctr"/>
            <a:r>
              <a:rPr lang="en-US" sz="1100" b="1" dirty="0"/>
              <a:t>The Management and your project team would like you to practice this and other processes so that the Go live is smooth or if your new to the company or are new to the role you can get proficient in the training environment </a:t>
            </a:r>
            <a:br>
              <a:rPr lang="en-US" sz="1100" b="1" dirty="0"/>
            </a:br>
            <a:r>
              <a:rPr lang="en-US" sz="1100" b="1" dirty="0"/>
              <a:t>As one becomes more proficient in this system it behooves us to share that knowledge and help other so the Company can  achieve its destiny </a:t>
            </a:r>
          </a:p>
        </p:txBody>
      </p:sp>
      <p:pic>
        <p:nvPicPr>
          <p:cNvPr id="5" name="Picture 4" descr="A diagram of a computer&#10;&#10;AI-generated content may be incorrect.">
            <a:extLst>
              <a:ext uri="{FF2B5EF4-FFF2-40B4-BE49-F238E27FC236}">
                <a16:creationId xmlns:a16="http://schemas.microsoft.com/office/drawing/2014/main" id="{1A4F3393-500D-1086-C09A-1D549688F6F4}"/>
              </a:ext>
            </a:extLst>
          </p:cNvPr>
          <p:cNvPicPr>
            <a:picLocks noChangeAspect="1"/>
          </p:cNvPicPr>
          <p:nvPr/>
        </p:nvPicPr>
        <p:blipFill>
          <a:blip r:embed="rId3"/>
          <a:stretch>
            <a:fillRect/>
          </a:stretch>
        </p:blipFill>
        <p:spPr>
          <a:xfrm>
            <a:off x="2690999" y="769753"/>
            <a:ext cx="6799996" cy="3824775"/>
          </a:xfrm>
          <a:prstGeom prst="rect">
            <a:avLst/>
          </a:prstGeom>
        </p:spPr>
      </p:pic>
      <p:sp>
        <p:nvSpPr>
          <p:cNvPr id="6" name="TextBox 5">
            <a:extLst>
              <a:ext uri="{FF2B5EF4-FFF2-40B4-BE49-F238E27FC236}">
                <a16:creationId xmlns:a16="http://schemas.microsoft.com/office/drawing/2014/main" id="{88254B33-83F7-BC9A-BB83-42E2B3CED993}"/>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25 12 28 0800</a:t>
            </a:r>
          </a:p>
        </p:txBody>
      </p:sp>
      <p:sp>
        <p:nvSpPr>
          <p:cNvPr id="3" name="- S998. You have come to the end of the path selected">
            <a:extLst>
              <a:ext uri="{FF2B5EF4-FFF2-40B4-BE49-F238E27FC236}">
                <a16:creationId xmlns:a16="http://schemas.microsoft.com/office/drawing/2014/main" id="{0E093F95-8278-62C5-B844-D81E3C71F635}"/>
              </a:ext>
            </a:extLst>
          </p:cNvPr>
          <p:cNvSpPr txBox="1">
            <a:spLocks noGrp="1"/>
          </p:cNvSpPr>
          <p:nvPr>
            <p:ph type="title"/>
          </p:nvPr>
        </p:nvSpPr>
        <p:spPr>
          <a:xfrm>
            <a:off x="833197" y="234503"/>
            <a:ext cx="10515600" cy="369332"/>
          </a:xfrm>
          <a:prstGeom prst="rect">
            <a:avLst/>
          </a:prstGeom>
          <a:noFill/>
        </p:spPr>
        <p:txBody>
          <a:bodyPr wrap="square" rtlCol="0">
            <a:spAutoFit/>
          </a:bodyPr>
          <a:lstStyle/>
          <a:p>
            <a:pPr algn="ctr"/>
            <a:r>
              <a:rPr lang="en-US" sz="2000" b="1" dirty="0"/>
              <a:t>S998a. You have come to the end of the path selected in the – Generator Startup Process</a:t>
            </a:r>
          </a:p>
        </p:txBody>
      </p:sp>
    </p:spTree>
    <p:extLst>
      <p:ext uri="{BB962C8B-B14F-4D97-AF65-F5344CB8AC3E}">
        <p14:creationId xmlns:p14="http://schemas.microsoft.com/office/powerpoint/2010/main" val="32801306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97F69-1C0A-7C8A-53E7-5B5702B1813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DCD2541-A2E9-8DA0-D23D-256F9900D5D6}"/>
              </a:ext>
            </a:extLst>
          </p:cNvPr>
          <p:cNvSpPr txBox="1"/>
          <p:nvPr/>
        </p:nvSpPr>
        <p:spPr>
          <a:xfrm>
            <a:off x="196571" y="6001546"/>
            <a:ext cx="994285" cy="338554"/>
          </a:xfrm>
          <a:prstGeom prst="rect">
            <a:avLst/>
          </a:prstGeom>
          <a:noFill/>
        </p:spPr>
        <p:txBody>
          <a:bodyPr wrap="square" rtlCol="0">
            <a:spAutoFit/>
          </a:bodyPr>
          <a:lstStyle/>
          <a:p>
            <a:r>
              <a:rPr lang="en-US" sz="800" dirty="0"/>
              <a:t>Draft Started 06 10 2025</a:t>
            </a:r>
          </a:p>
        </p:txBody>
      </p:sp>
      <p:sp>
        <p:nvSpPr>
          <p:cNvPr id="38" name="Rectangle 37">
            <a:extLst>
              <a:ext uri="{FF2B5EF4-FFF2-40B4-BE49-F238E27FC236}">
                <a16:creationId xmlns:a16="http://schemas.microsoft.com/office/drawing/2014/main" id="{A4005CA7-DDC8-E33A-3A71-C034E58E6A12}"/>
              </a:ext>
            </a:extLst>
          </p:cNvPr>
          <p:cNvSpPr/>
          <p:nvPr/>
        </p:nvSpPr>
        <p:spPr>
          <a:xfrm>
            <a:off x="4456943" y="1867232"/>
            <a:ext cx="1257671" cy="1054262"/>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sp>
        <p:nvSpPr>
          <p:cNvPr id="39" name="Flowchart: Process 38">
            <a:extLst>
              <a:ext uri="{FF2B5EF4-FFF2-40B4-BE49-F238E27FC236}">
                <a16:creationId xmlns:a16="http://schemas.microsoft.com/office/drawing/2014/main" id="{48852233-2009-7BC6-6394-9573F5E473EE}"/>
              </a:ext>
            </a:extLst>
          </p:cNvPr>
          <p:cNvSpPr/>
          <p:nvPr/>
        </p:nvSpPr>
        <p:spPr>
          <a:xfrm>
            <a:off x="713349" y="2526777"/>
            <a:ext cx="1327355" cy="42399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 Customer Calls For Start-Up</a:t>
            </a:r>
          </a:p>
        </p:txBody>
      </p:sp>
      <p:sp>
        <p:nvSpPr>
          <p:cNvPr id="41" name="Flowchart: Decision 40">
            <a:extLst>
              <a:ext uri="{FF2B5EF4-FFF2-40B4-BE49-F238E27FC236}">
                <a16:creationId xmlns:a16="http://schemas.microsoft.com/office/drawing/2014/main" id="{4484D409-AFB2-6B44-6699-9F5EC383433C}"/>
              </a:ext>
            </a:extLst>
          </p:cNvPr>
          <p:cNvSpPr/>
          <p:nvPr/>
        </p:nvSpPr>
        <p:spPr>
          <a:xfrm>
            <a:off x="2967399" y="2556048"/>
            <a:ext cx="570871" cy="365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D1</a:t>
            </a:r>
          </a:p>
        </p:txBody>
      </p:sp>
      <p:sp>
        <p:nvSpPr>
          <p:cNvPr id="42" name="Flowchart: Process 41">
            <a:extLst>
              <a:ext uri="{FF2B5EF4-FFF2-40B4-BE49-F238E27FC236}">
                <a16:creationId xmlns:a16="http://schemas.microsoft.com/office/drawing/2014/main" id="{523C4607-D754-1439-37D2-63E520ED694C}"/>
              </a:ext>
            </a:extLst>
          </p:cNvPr>
          <p:cNvSpPr/>
          <p:nvPr/>
        </p:nvSpPr>
        <p:spPr>
          <a:xfrm>
            <a:off x="3323024" y="2497204"/>
            <a:ext cx="224605" cy="17944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43" name="Flowchart: Process 42">
            <a:extLst>
              <a:ext uri="{FF2B5EF4-FFF2-40B4-BE49-F238E27FC236}">
                <a16:creationId xmlns:a16="http://schemas.microsoft.com/office/drawing/2014/main" id="{1DE34D66-B702-CEF1-69D0-A607AB1A2776}"/>
              </a:ext>
            </a:extLst>
          </p:cNvPr>
          <p:cNvSpPr/>
          <p:nvPr/>
        </p:nvSpPr>
        <p:spPr>
          <a:xfrm>
            <a:off x="2958041" y="2786835"/>
            <a:ext cx="224605" cy="17944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sp>
        <p:nvSpPr>
          <p:cNvPr id="44" name="TextBox 43">
            <a:extLst>
              <a:ext uri="{FF2B5EF4-FFF2-40B4-BE49-F238E27FC236}">
                <a16:creationId xmlns:a16="http://schemas.microsoft.com/office/drawing/2014/main" id="{9D137F90-34E4-90F4-FCE9-F3989B9848A0}"/>
              </a:ext>
            </a:extLst>
          </p:cNvPr>
          <p:cNvSpPr txBox="1"/>
          <p:nvPr/>
        </p:nvSpPr>
        <p:spPr>
          <a:xfrm>
            <a:off x="2332800" y="2331480"/>
            <a:ext cx="948813" cy="369332"/>
          </a:xfrm>
          <a:prstGeom prst="rect">
            <a:avLst/>
          </a:prstGeom>
          <a:noFill/>
        </p:spPr>
        <p:txBody>
          <a:bodyPr wrap="square" rtlCol="0">
            <a:spAutoFit/>
          </a:bodyPr>
          <a:lstStyle/>
          <a:p>
            <a:r>
              <a:rPr lang="en-US" sz="900" dirty="0"/>
              <a:t>Q1.Did We Sell The Generator? </a:t>
            </a:r>
          </a:p>
        </p:txBody>
      </p:sp>
      <p:sp>
        <p:nvSpPr>
          <p:cNvPr id="45" name="TextBox 44">
            <a:extLst>
              <a:ext uri="{FF2B5EF4-FFF2-40B4-BE49-F238E27FC236}">
                <a16:creationId xmlns:a16="http://schemas.microsoft.com/office/drawing/2014/main" id="{8D7A28E2-A030-8A8D-1807-450DDD6782AE}"/>
              </a:ext>
            </a:extLst>
          </p:cNvPr>
          <p:cNvSpPr txBox="1"/>
          <p:nvPr/>
        </p:nvSpPr>
        <p:spPr>
          <a:xfrm>
            <a:off x="8765349" y="3220771"/>
            <a:ext cx="1721329"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S7. Service Order Process at charge SOP</a:t>
            </a:r>
          </a:p>
        </p:txBody>
      </p:sp>
      <p:cxnSp>
        <p:nvCxnSpPr>
          <p:cNvPr id="46" name="Connector: Elbow 45">
            <a:extLst>
              <a:ext uri="{FF2B5EF4-FFF2-40B4-BE49-F238E27FC236}">
                <a16:creationId xmlns:a16="http://schemas.microsoft.com/office/drawing/2014/main" id="{D5EE7FCF-615C-8732-33DD-CFD8BEE64357}"/>
              </a:ext>
            </a:extLst>
          </p:cNvPr>
          <p:cNvCxnSpPr>
            <a:cxnSpLocks/>
            <a:stCxn id="41" idx="2"/>
            <a:endCxn id="66" idx="1"/>
          </p:cNvCxnSpPr>
          <p:nvPr/>
        </p:nvCxnSpPr>
        <p:spPr>
          <a:xfrm rot="16200000" flipH="1">
            <a:off x="4188391" y="1985939"/>
            <a:ext cx="537107" cy="2408219"/>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 name="Flowchart: Predefined Process 46">
            <a:extLst>
              <a:ext uri="{FF2B5EF4-FFF2-40B4-BE49-F238E27FC236}">
                <a16:creationId xmlns:a16="http://schemas.microsoft.com/office/drawing/2014/main" id="{5DE43DB0-5180-8042-C3C7-C532B124A2C5}"/>
              </a:ext>
            </a:extLst>
          </p:cNvPr>
          <p:cNvSpPr/>
          <p:nvPr/>
        </p:nvSpPr>
        <p:spPr>
          <a:xfrm>
            <a:off x="5923071" y="1070001"/>
            <a:ext cx="1135627"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S2. Order Inquiry </a:t>
            </a:r>
          </a:p>
        </p:txBody>
      </p:sp>
      <p:cxnSp>
        <p:nvCxnSpPr>
          <p:cNvPr id="48" name="Connector: Elbow 47">
            <a:extLst>
              <a:ext uri="{FF2B5EF4-FFF2-40B4-BE49-F238E27FC236}">
                <a16:creationId xmlns:a16="http://schemas.microsoft.com/office/drawing/2014/main" id="{04F5E7B4-9A57-7344-CB75-7F3F123A8D37}"/>
              </a:ext>
            </a:extLst>
          </p:cNvPr>
          <p:cNvCxnSpPr>
            <a:cxnSpLocks/>
            <a:stCxn id="41" idx="0"/>
            <a:endCxn id="60" idx="1"/>
          </p:cNvCxnSpPr>
          <p:nvPr/>
        </p:nvCxnSpPr>
        <p:spPr>
          <a:xfrm rot="5400000" flipH="1" flipV="1">
            <a:off x="3561610" y="1589667"/>
            <a:ext cx="657606" cy="127515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Flowchart: Predefined Process 48">
            <a:extLst>
              <a:ext uri="{FF2B5EF4-FFF2-40B4-BE49-F238E27FC236}">
                <a16:creationId xmlns:a16="http://schemas.microsoft.com/office/drawing/2014/main" id="{9B8CEEE3-33DE-2FB9-502B-B8B3B5325122}"/>
              </a:ext>
            </a:extLst>
          </p:cNvPr>
          <p:cNvSpPr/>
          <p:nvPr/>
        </p:nvSpPr>
        <p:spPr>
          <a:xfrm>
            <a:off x="9923907" y="1055454"/>
            <a:ext cx="1471216"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S4. Create Start-Up Incident</a:t>
            </a:r>
          </a:p>
        </p:txBody>
      </p:sp>
      <p:sp>
        <p:nvSpPr>
          <p:cNvPr id="50" name="Flowchart: Predefined Process 49">
            <a:extLst>
              <a:ext uri="{FF2B5EF4-FFF2-40B4-BE49-F238E27FC236}">
                <a16:creationId xmlns:a16="http://schemas.microsoft.com/office/drawing/2014/main" id="{2FC645AE-9C42-3D28-007A-BC759ED1ED12}"/>
              </a:ext>
            </a:extLst>
          </p:cNvPr>
          <p:cNvSpPr/>
          <p:nvPr/>
        </p:nvSpPr>
        <p:spPr>
          <a:xfrm>
            <a:off x="405360" y="4455642"/>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S8. Add Start-Up Notes</a:t>
            </a:r>
          </a:p>
        </p:txBody>
      </p:sp>
      <p:cxnSp>
        <p:nvCxnSpPr>
          <p:cNvPr id="51" name="Connector: Elbow 50">
            <a:extLst>
              <a:ext uri="{FF2B5EF4-FFF2-40B4-BE49-F238E27FC236}">
                <a16:creationId xmlns:a16="http://schemas.microsoft.com/office/drawing/2014/main" id="{621D2721-380D-F810-2A52-54FD317138F2}"/>
              </a:ext>
            </a:extLst>
          </p:cNvPr>
          <p:cNvCxnSpPr>
            <a:cxnSpLocks/>
            <a:stCxn id="49" idx="2"/>
            <a:endCxn id="50" idx="0"/>
          </p:cNvCxnSpPr>
          <p:nvPr/>
        </p:nvCxnSpPr>
        <p:spPr>
          <a:xfrm rot="5400000">
            <a:off x="4475717" y="-1728156"/>
            <a:ext cx="2931114" cy="9436483"/>
          </a:xfrm>
          <a:prstGeom prst="bentConnector3">
            <a:avLst>
              <a:gd name="adj1" fmla="val 85478"/>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52" name="Flowchart: Predefined Process 51">
            <a:extLst>
              <a:ext uri="{FF2B5EF4-FFF2-40B4-BE49-F238E27FC236}">
                <a16:creationId xmlns:a16="http://schemas.microsoft.com/office/drawing/2014/main" id="{B8D7EADF-F086-8925-74BC-4D2C08408550}"/>
              </a:ext>
            </a:extLst>
          </p:cNvPr>
          <p:cNvSpPr/>
          <p:nvPr/>
        </p:nvSpPr>
        <p:spPr>
          <a:xfrm>
            <a:off x="2431645" y="4448976"/>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S9. Add Line</a:t>
            </a:r>
          </a:p>
        </p:txBody>
      </p:sp>
      <p:sp>
        <p:nvSpPr>
          <p:cNvPr id="53" name="Flowchart: Predefined Process 52">
            <a:extLst>
              <a:ext uri="{FF2B5EF4-FFF2-40B4-BE49-F238E27FC236}">
                <a16:creationId xmlns:a16="http://schemas.microsoft.com/office/drawing/2014/main" id="{E3D6356F-7298-7D87-7E7F-27E2AE39A40F}"/>
              </a:ext>
            </a:extLst>
          </p:cNvPr>
          <p:cNvSpPr/>
          <p:nvPr/>
        </p:nvSpPr>
        <p:spPr>
          <a:xfrm>
            <a:off x="4426735" y="4449327"/>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S10. Convert to SRO and Schedule</a:t>
            </a:r>
          </a:p>
        </p:txBody>
      </p:sp>
      <p:sp>
        <p:nvSpPr>
          <p:cNvPr id="54" name="Flowchart: Predefined Process 53">
            <a:extLst>
              <a:ext uri="{FF2B5EF4-FFF2-40B4-BE49-F238E27FC236}">
                <a16:creationId xmlns:a16="http://schemas.microsoft.com/office/drawing/2014/main" id="{95F912C4-899C-B294-597C-D1B162B1B261}"/>
              </a:ext>
            </a:extLst>
          </p:cNvPr>
          <p:cNvSpPr/>
          <p:nvPr/>
        </p:nvSpPr>
        <p:spPr>
          <a:xfrm>
            <a:off x="6576675" y="4448804"/>
            <a:ext cx="1375653" cy="438417"/>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S11. Print Pick Ticket</a:t>
            </a:r>
          </a:p>
        </p:txBody>
      </p:sp>
      <p:sp>
        <p:nvSpPr>
          <p:cNvPr id="55" name="Flowchart: Predefined Process 54">
            <a:extLst>
              <a:ext uri="{FF2B5EF4-FFF2-40B4-BE49-F238E27FC236}">
                <a16:creationId xmlns:a16="http://schemas.microsoft.com/office/drawing/2014/main" id="{8B9BB804-AD93-2AD9-2295-9AC56CC9E7AB}"/>
              </a:ext>
            </a:extLst>
          </p:cNvPr>
          <p:cNvSpPr/>
          <p:nvPr/>
        </p:nvSpPr>
        <p:spPr>
          <a:xfrm>
            <a:off x="8429193" y="4438973"/>
            <a:ext cx="1469923"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S12. Shipping Feedback Ship </a:t>
            </a:r>
          </a:p>
        </p:txBody>
      </p:sp>
      <p:sp>
        <p:nvSpPr>
          <p:cNvPr id="56" name="Flowchart: Process 55">
            <a:extLst>
              <a:ext uri="{FF2B5EF4-FFF2-40B4-BE49-F238E27FC236}">
                <a16:creationId xmlns:a16="http://schemas.microsoft.com/office/drawing/2014/main" id="{96AE56FC-5D45-4FB5-E2E1-67AEF646AE29}"/>
              </a:ext>
            </a:extLst>
          </p:cNvPr>
          <p:cNvSpPr/>
          <p:nvPr/>
        </p:nvSpPr>
        <p:spPr>
          <a:xfrm>
            <a:off x="10234705" y="4422303"/>
            <a:ext cx="1327355" cy="47175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S13. Tech Performs Start-Up</a:t>
            </a:r>
          </a:p>
        </p:txBody>
      </p:sp>
      <p:sp>
        <p:nvSpPr>
          <p:cNvPr id="57" name="Flowchart: Predefined Process 56">
            <a:extLst>
              <a:ext uri="{FF2B5EF4-FFF2-40B4-BE49-F238E27FC236}">
                <a16:creationId xmlns:a16="http://schemas.microsoft.com/office/drawing/2014/main" id="{9409C340-B500-C1C6-92B5-C263298F0B6E}"/>
              </a:ext>
            </a:extLst>
          </p:cNvPr>
          <p:cNvSpPr/>
          <p:nvPr/>
        </p:nvSpPr>
        <p:spPr>
          <a:xfrm>
            <a:off x="5652740" y="5553462"/>
            <a:ext cx="1469923"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S14. Register A Unit</a:t>
            </a:r>
          </a:p>
        </p:txBody>
      </p:sp>
      <p:cxnSp>
        <p:nvCxnSpPr>
          <p:cNvPr id="58" name="Connector: Elbow 57">
            <a:extLst>
              <a:ext uri="{FF2B5EF4-FFF2-40B4-BE49-F238E27FC236}">
                <a16:creationId xmlns:a16="http://schemas.microsoft.com/office/drawing/2014/main" id="{4C89B40F-B196-B61D-F5E1-AA64EEF93102}"/>
              </a:ext>
            </a:extLst>
          </p:cNvPr>
          <p:cNvCxnSpPr>
            <a:cxnSpLocks/>
            <a:stCxn id="56" idx="2"/>
            <a:endCxn id="57" idx="0"/>
          </p:cNvCxnSpPr>
          <p:nvPr/>
        </p:nvCxnSpPr>
        <p:spPr>
          <a:xfrm rot="5400000">
            <a:off x="8313341" y="2968420"/>
            <a:ext cx="659404" cy="4510681"/>
          </a:xfrm>
          <a:prstGeom prst="bentConnector3">
            <a:avLst>
              <a:gd name="adj1" fmla="val 69033"/>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60" name="Flowchart: Decision 59">
            <a:extLst>
              <a:ext uri="{FF2B5EF4-FFF2-40B4-BE49-F238E27FC236}">
                <a16:creationId xmlns:a16="http://schemas.microsoft.com/office/drawing/2014/main" id="{B78057F3-2011-86F1-AE05-915D568E5D2F}"/>
              </a:ext>
            </a:extLst>
          </p:cNvPr>
          <p:cNvSpPr/>
          <p:nvPr/>
        </p:nvSpPr>
        <p:spPr>
          <a:xfrm>
            <a:off x="4527992" y="1724244"/>
            <a:ext cx="435655" cy="34839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D2</a:t>
            </a:r>
          </a:p>
        </p:txBody>
      </p:sp>
      <p:sp>
        <p:nvSpPr>
          <p:cNvPr id="61" name="Flowchart: Process 60">
            <a:extLst>
              <a:ext uri="{FF2B5EF4-FFF2-40B4-BE49-F238E27FC236}">
                <a16:creationId xmlns:a16="http://schemas.microsoft.com/office/drawing/2014/main" id="{449F8875-3431-662F-340E-1D62DDC187A7}"/>
              </a:ext>
            </a:extLst>
          </p:cNvPr>
          <p:cNvSpPr/>
          <p:nvPr/>
        </p:nvSpPr>
        <p:spPr>
          <a:xfrm>
            <a:off x="4799383" y="1668146"/>
            <a:ext cx="171405" cy="17107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62" name="Flowchart: Process 61">
            <a:extLst>
              <a:ext uri="{FF2B5EF4-FFF2-40B4-BE49-F238E27FC236}">
                <a16:creationId xmlns:a16="http://schemas.microsoft.com/office/drawing/2014/main" id="{A82E433E-9CF7-EE03-B235-C731CE62E6BA}"/>
              </a:ext>
            </a:extLst>
          </p:cNvPr>
          <p:cNvSpPr/>
          <p:nvPr/>
        </p:nvSpPr>
        <p:spPr>
          <a:xfrm>
            <a:off x="4520850" y="1944263"/>
            <a:ext cx="171405" cy="17107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sp>
        <p:nvSpPr>
          <p:cNvPr id="63" name="TextBox 62">
            <a:extLst>
              <a:ext uri="{FF2B5EF4-FFF2-40B4-BE49-F238E27FC236}">
                <a16:creationId xmlns:a16="http://schemas.microsoft.com/office/drawing/2014/main" id="{FD3012DC-27DA-38CF-C3E0-3BBE7F726AD8}"/>
              </a:ext>
            </a:extLst>
          </p:cNvPr>
          <p:cNvSpPr txBox="1"/>
          <p:nvPr/>
        </p:nvSpPr>
        <p:spPr>
          <a:xfrm>
            <a:off x="3882757" y="1378103"/>
            <a:ext cx="948813" cy="507831"/>
          </a:xfrm>
          <a:prstGeom prst="rect">
            <a:avLst/>
          </a:prstGeom>
          <a:noFill/>
        </p:spPr>
        <p:txBody>
          <a:bodyPr wrap="square" rtlCol="0">
            <a:spAutoFit/>
          </a:bodyPr>
          <a:lstStyle/>
          <a:p>
            <a:r>
              <a:rPr lang="en-US" sz="900" dirty="0"/>
              <a:t>Do You Know The Original Order #?</a:t>
            </a:r>
          </a:p>
        </p:txBody>
      </p:sp>
      <p:cxnSp>
        <p:nvCxnSpPr>
          <p:cNvPr id="64" name="Connector: Elbow 63">
            <a:extLst>
              <a:ext uri="{FF2B5EF4-FFF2-40B4-BE49-F238E27FC236}">
                <a16:creationId xmlns:a16="http://schemas.microsoft.com/office/drawing/2014/main" id="{E37738FF-8121-D450-8302-1B29D52044FE}"/>
              </a:ext>
            </a:extLst>
          </p:cNvPr>
          <p:cNvCxnSpPr>
            <a:cxnSpLocks/>
            <a:stCxn id="60" idx="0"/>
            <a:endCxn id="47" idx="1"/>
          </p:cNvCxnSpPr>
          <p:nvPr/>
        </p:nvCxnSpPr>
        <p:spPr>
          <a:xfrm rot="5400000" flipH="1" flipV="1">
            <a:off x="5124592" y="925766"/>
            <a:ext cx="419706" cy="117725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5" name="Flowchart: Predefined Process 64">
            <a:extLst>
              <a:ext uri="{FF2B5EF4-FFF2-40B4-BE49-F238E27FC236}">
                <a16:creationId xmlns:a16="http://schemas.microsoft.com/office/drawing/2014/main" id="{0C879809-EF44-7E3A-11A0-33DD0400D779}"/>
              </a:ext>
            </a:extLst>
          </p:cNvPr>
          <p:cNvSpPr/>
          <p:nvPr/>
        </p:nvSpPr>
        <p:spPr>
          <a:xfrm>
            <a:off x="7519201" y="2231738"/>
            <a:ext cx="1944205"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S5. Order Inquiry Using Serial Number</a:t>
            </a:r>
          </a:p>
        </p:txBody>
      </p:sp>
      <p:sp>
        <p:nvSpPr>
          <p:cNvPr id="66" name="TextBox 65">
            <a:extLst>
              <a:ext uri="{FF2B5EF4-FFF2-40B4-BE49-F238E27FC236}">
                <a16:creationId xmlns:a16="http://schemas.microsoft.com/office/drawing/2014/main" id="{EED605F1-5D19-15FB-22DB-C5B40556E6D8}"/>
              </a:ext>
            </a:extLst>
          </p:cNvPr>
          <p:cNvSpPr txBox="1"/>
          <p:nvPr/>
        </p:nvSpPr>
        <p:spPr>
          <a:xfrm>
            <a:off x="5661054" y="3222725"/>
            <a:ext cx="1205916"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S6. Create A New Unit SOP</a:t>
            </a:r>
          </a:p>
        </p:txBody>
      </p:sp>
      <p:cxnSp>
        <p:nvCxnSpPr>
          <p:cNvPr id="67" name="Connector: Elbow 66">
            <a:extLst>
              <a:ext uri="{FF2B5EF4-FFF2-40B4-BE49-F238E27FC236}">
                <a16:creationId xmlns:a16="http://schemas.microsoft.com/office/drawing/2014/main" id="{44C3E64E-B2C6-636A-C673-49B870957E60}"/>
              </a:ext>
            </a:extLst>
          </p:cNvPr>
          <p:cNvCxnSpPr>
            <a:cxnSpLocks/>
            <a:stCxn id="60" idx="2"/>
            <a:endCxn id="65" idx="1"/>
          </p:cNvCxnSpPr>
          <p:nvPr/>
        </p:nvCxnSpPr>
        <p:spPr>
          <a:xfrm rot="16200000" flipH="1">
            <a:off x="5935693" y="882766"/>
            <a:ext cx="393635" cy="2773381"/>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0" name="Flowchart: Process 69">
            <a:extLst>
              <a:ext uri="{FF2B5EF4-FFF2-40B4-BE49-F238E27FC236}">
                <a16:creationId xmlns:a16="http://schemas.microsoft.com/office/drawing/2014/main" id="{B39AF26F-5D3A-96E3-303B-3CF5E8B18277}"/>
              </a:ext>
            </a:extLst>
          </p:cNvPr>
          <p:cNvSpPr/>
          <p:nvPr/>
        </p:nvSpPr>
        <p:spPr>
          <a:xfrm>
            <a:off x="7827625" y="1057821"/>
            <a:ext cx="1327355" cy="47451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S3. Check With AR To Verify Payment In Full</a:t>
            </a:r>
          </a:p>
        </p:txBody>
      </p:sp>
      <p:cxnSp>
        <p:nvCxnSpPr>
          <p:cNvPr id="71" name="Straight Arrow Connector 70">
            <a:extLst>
              <a:ext uri="{FF2B5EF4-FFF2-40B4-BE49-F238E27FC236}">
                <a16:creationId xmlns:a16="http://schemas.microsoft.com/office/drawing/2014/main" id="{B0A2CDC5-4F0F-8034-7922-AB715E25D974}"/>
              </a:ext>
            </a:extLst>
          </p:cNvPr>
          <p:cNvCxnSpPr>
            <a:cxnSpLocks/>
            <a:stCxn id="47" idx="3"/>
            <a:endCxn id="70" idx="1"/>
          </p:cNvCxnSpPr>
          <p:nvPr/>
        </p:nvCxnSpPr>
        <p:spPr>
          <a:xfrm flipV="1">
            <a:off x="7058698" y="1295078"/>
            <a:ext cx="768927" cy="946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C743E0B0-170B-2979-2F39-E579B8D25A91}"/>
              </a:ext>
            </a:extLst>
          </p:cNvPr>
          <p:cNvCxnSpPr>
            <a:cxnSpLocks/>
            <a:stCxn id="70" idx="3"/>
            <a:endCxn id="49" idx="1"/>
          </p:cNvCxnSpPr>
          <p:nvPr/>
        </p:nvCxnSpPr>
        <p:spPr>
          <a:xfrm flipV="1">
            <a:off x="9154980" y="1289991"/>
            <a:ext cx="768927" cy="5087"/>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32E2DCAB-F89D-6687-5781-D2286A13E407}"/>
              </a:ext>
            </a:extLst>
          </p:cNvPr>
          <p:cNvCxnSpPr>
            <a:cxnSpLocks/>
            <a:stCxn id="66" idx="3"/>
            <a:endCxn id="45" idx="1"/>
          </p:cNvCxnSpPr>
          <p:nvPr/>
        </p:nvCxnSpPr>
        <p:spPr>
          <a:xfrm flipV="1">
            <a:off x="6866970" y="3456649"/>
            <a:ext cx="1898379" cy="195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2F24D4CF-96EF-AE4A-3DF5-42BE88C7B29D}"/>
              </a:ext>
            </a:extLst>
          </p:cNvPr>
          <p:cNvCxnSpPr>
            <a:cxnSpLocks/>
            <a:stCxn id="50" idx="3"/>
            <a:endCxn id="52" idx="1"/>
          </p:cNvCxnSpPr>
          <p:nvPr/>
        </p:nvCxnSpPr>
        <p:spPr>
          <a:xfrm flipV="1">
            <a:off x="2040704" y="4668184"/>
            <a:ext cx="390941" cy="6666"/>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BC65C9B7-8E4C-68F3-47E8-C04D1071F59E}"/>
              </a:ext>
            </a:extLst>
          </p:cNvPr>
          <p:cNvCxnSpPr>
            <a:cxnSpLocks/>
            <a:stCxn id="52" idx="3"/>
            <a:endCxn id="53" idx="1"/>
          </p:cNvCxnSpPr>
          <p:nvPr/>
        </p:nvCxnSpPr>
        <p:spPr>
          <a:xfrm>
            <a:off x="4066989" y="4668184"/>
            <a:ext cx="359746" cy="351"/>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EA06B5E0-772E-CB99-6A89-582E7F21327A}"/>
              </a:ext>
            </a:extLst>
          </p:cNvPr>
          <p:cNvCxnSpPr>
            <a:cxnSpLocks/>
            <a:stCxn id="53" idx="3"/>
            <a:endCxn id="54" idx="1"/>
          </p:cNvCxnSpPr>
          <p:nvPr/>
        </p:nvCxnSpPr>
        <p:spPr>
          <a:xfrm flipV="1">
            <a:off x="6062079" y="4668013"/>
            <a:ext cx="514596" cy="522"/>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911A4F65-31EF-683E-8117-9CACD7627855}"/>
              </a:ext>
            </a:extLst>
          </p:cNvPr>
          <p:cNvCxnSpPr>
            <a:cxnSpLocks/>
            <a:stCxn id="54" idx="3"/>
            <a:endCxn id="55" idx="1"/>
          </p:cNvCxnSpPr>
          <p:nvPr/>
        </p:nvCxnSpPr>
        <p:spPr>
          <a:xfrm flipV="1">
            <a:off x="7952328" y="4658181"/>
            <a:ext cx="476865" cy="9832"/>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CBE4189F-1565-175D-8CE0-9B1F3DA06D9B}"/>
              </a:ext>
            </a:extLst>
          </p:cNvPr>
          <p:cNvCxnSpPr>
            <a:cxnSpLocks/>
            <a:stCxn id="55" idx="3"/>
            <a:endCxn id="56" idx="1"/>
          </p:cNvCxnSpPr>
          <p:nvPr/>
        </p:nvCxnSpPr>
        <p:spPr>
          <a:xfrm>
            <a:off x="9899116" y="4658181"/>
            <a:ext cx="335589" cy="0"/>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41970B9B-FE0A-59AC-940D-76E242980BCE}"/>
              </a:ext>
            </a:extLst>
          </p:cNvPr>
          <p:cNvCxnSpPr>
            <a:cxnSpLocks/>
            <a:stCxn id="39" idx="3"/>
            <a:endCxn id="41" idx="1"/>
          </p:cNvCxnSpPr>
          <p:nvPr/>
        </p:nvCxnSpPr>
        <p:spPr>
          <a:xfrm>
            <a:off x="2040704" y="2738772"/>
            <a:ext cx="926695"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46EE617B-9552-4DDE-66B4-008AE068F165}"/>
              </a:ext>
            </a:extLst>
          </p:cNvPr>
          <p:cNvCxnSpPr>
            <a:cxnSpLocks/>
            <a:stCxn id="65" idx="0"/>
            <a:endCxn id="70" idx="2"/>
          </p:cNvCxnSpPr>
          <p:nvPr/>
        </p:nvCxnSpPr>
        <p:spPr>
          <a:xfrm flipH="1" flipV="1">
            <a:off x="8491303" y="1532334"/>
            <a:ext cx="1" cy="69940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E22400CA-FC0F-D446-2538-9F9993C06FC0}"/>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25 12 28 0800</a:t>
            </a:r>
          </a:p>
        </p:txBody>
      </p:sp>
      <p:sp>
        <p:nvSpPr>
          <p:cNvPr id="2" name="-N2. Un_knwn_SO">
            <a:extLst>
              <a:ext uri="{FF2B5EF4-FFF2-40B4-BE49-F238E27FC236}">
                <a16:creationId xmlns:a16="http://schemas.microsoft.com/office/drawing/2014/main" id="{816422D9-B3B2-F452-29DA-F15DD252F9EA}"/>
              </a:ext>
            </a:extLst>
          </p:cNvPr>
          <p:cNvSpPr>
            <a:spLocks noGrp="1"/>
          </p:cNvSpPr>
          <p:nvPr>
            <p:ph type="title"/>
          </p:nvPr>
        </p:nvSpPr>
        <p:spPr>
          <a:xfrm>
            <a:off x="838200" y="314871"/>
            <a:ext cx="10515600" cy="428753"/>
          </a:xfrm>
        </p:spPr>
        <p:txBody>
          <a:bodyPr>
            <a:noAutofit/>
          </a:bodyPr>
          <a:lstStyle/>
          <a:p>
            <a:pPr algn="ctr"/>
            <a:r>
              <a:rPr lang="en-US" sz="1600" b="1" dirty="0"/>
              <a:t>N2. Original Sale Order Not Known – Startup SOP</a:t>
            </a:r>
          </a:p>
        </p:txBody>
      </p:sp>
      <p:sp>
        <p:nvSpPr>
          <p:cNvPr id="6" name="TextBox 5">
            <a:extLst>
              <a:ext uri="{FF2B5EF4-FFF2-40B4-BE49-F238E27FC236}">
                <a16:creationId xmlns:a16="http://schemas.microsoft.com/office/drawing/2014/main" id="{3BE5D400-AA7B-0F4B-5BC6-20802692D6AB}"/>
              </a:ext>
            </a:extLst>
          </p:cNvPr>
          <p:cNvSpPr txBox="1"/>
          <p:nvPr/>
        </p:nvSpPr>
        <p:spPr>
          <a:xfrm>
            <a:off x="1252978" y="5986802"/>
            <a:ext cx="1135581" cy="655216"/>
          </a:xfrm>
          <a:prstGeom prst="flowChartInternalStorage">
            <a:avLst/>
          </a:prstGeom>
          <a:solidFill>
            <a:srgbClr val="FFFF00"/>
          </a:solidFill>
          <a:ln>
            <a:solidFill>
              <a:schemeClr val="tx1"/>
            </a:solidFill>
          </a:ln>
        </p:spPr>
        <p:txBody>
          <a:bodyPr wrap="square" rtlCol="0">
            <a:spAutoFit/>
          </a:bodyPr>
          <a:lstStyle/>
          <a:p>
            <a:pPr algn="ctr"/>
            <a:r>
              <a:rPr lang="en-US" sz="1050" dirty="0"/>
              <a:t>Note this Indicates a Sub SOP </a:t>
            </a:r>
          </a:p>
        </p:txBody>
      </p:sp>
    </p:spTree>
    <p:extLst>
      <p:ext uri="{BB962C8B-B14F-4D97-AF65-F5344CB8AC3E}">
        <p14:creationId xmlns:p14="http://schemas.microsoft.com/office/powerpoint/2010/main" val="34587420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89045-9A59-FD29-FA40-3C7B92BA0FF6}"/>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10F1FEAD-D69B-EDA1-53AE-D4F276D04533}"/>
              </a:ext>
            </a:extLst>
          </p:cNvPr>
          <p:cNvSpPr/>
          <p:nvPr/>
        </p:nvSpPr>
        <p:spPr>
          <a:xfrm>
            <a:off x="7358681" y="2076820"/>
            <a:ext cx="2565225" cy="947730"/>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sp>
        <p:nvSpPr>
          <p:cNvPr id="39" name="Flowchart: Process 38">
            <a:extLst>
              <a:ext uri="{FF2B5EF4-FFF2-40B4-BE49-F238E27FC236}">
                <a16:creationId xmlns:a16="http://schemas.microsoft.com/office/drawing/2014/main" id="{B08A8A2F-4F74-4931-B479-9E45E85525DA}"/>
              </a:ext>
            </a:extLst>
          </p:cNvPr>
          <p:cNvSpPr/>
          <p:nvPr/>
        </p:nvSpPr>
        <p:spPr>
          <a:xfrm>
            <a:off x="713349" y="2526777"/>
            <a:ext cx="1327355" cy="42399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 Customer Calls For Start-Up</a:t>
            </a:r>
          </a:p>
        </p:txBody>
      </p:sp>
      <p:sp>
        <p:nvSpPr>
          <p:cNvPr id="41" name="Flowchart: Decision 40">
            <a:extLst>
              <a:ext uri="{FF2B5EF4-FFF2-40B4-BE49-F238E27FC236}">
                <a16:creationId xmlns:a16="http://schemas.microsoft.com/office/drawing/2014/main" id="{6337645C-91A9-12A3-9C29-2FC8495A92D9}"/>
              </a:ext>
            </a:extLst>
          </p:cNvPr>
          <p:cNvSpPr/>
          <p:nvPr/>
        </p:nvSpPr>
        <p:spPr>
          <a:xfrm>
            <a:off x="2967399" y="2556048"/>
            <a:ext cx="570871" cy="365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D1</a:t>
            </a:r>
          </a:p>
        </p:txBody>
      </p:sp>
      <p:sp>
        <p:nvSpPr>
          <p:cNvPr id="42" name="Flowchart: Process 41">
            <a:extLst>
              <a:ext uri="{FF2B5EF4-FFF2-40B4-BE49-F238E27FC236}">
                <a16:creationId xmlns:a16="http://schemas.microsoft.com/office/drawing/2014/main" id="{27CC48DF-E39C-672A-569E-95269D902440}"/>
              </a:ext>
            </a:extLst>
          </p:cNvPr>
          <p:cNvSpPr/>
          <p:nvPr/>
        </p:nvSpPr>
        <p:spPr>
          <a:xfrm>
            <a:off x="3323024" y="2497204"/>
            <a:ext cx="224605" cy="17944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43" name="Flowchart: Process 42">
            <a:extLst>
              <a:ext uri="{FF2B5EF4-FFF2-40B4-BE49-F238E27FC236}">
                <a16:creationId xmlns:a16="http://schemas.microsoft.com/office/drawing/2014/main" id="{7B937620-7324-D502-80C6-675C88854C14}"/>
              </a:ext>
            </a:extLst>
          </p:cNvPr>
          <p:cNvSpPr/>
          <p:nvPr/>
        </p:nvSpPr>
        <p:spPr>
          <a:xfrm>
            <a:off x="2958041" y="2786835"/>
            <a:ext cx="224605" cy="17944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sp>
        <p:nvSpPr>
          <p:cNvPr id="44" name="TextBox 43">
            <a:extLst>
              <a:ext uri="{FF2B5EF4-FFF2-40B4-BE49-F238E27FC236}">
                <a16:creationId xmlns:a16="http://schemas.microsoft.com/office/drawing/2014/main" id="{E660B39C-3012-A897-F3CB-6732E2DB77C9}"/>
              </a:ext>
            </a:extLst>
          </p:cNvPr>
          <p:cNvSpPr txBox="1"/>
          <p:nvPr/>
        </p:nvSpPr>
        <p:spPr>
          <a:xfrm>
            <a:off x="2332800" y="2331480"/>
            <a:ext cx="948813" cy="369332"/>
          </a:xfrm>
          <a:prstGeom prst="rect">
            <a:avLst/>
          </a:prstGeom>
          <a:noFill/>
        </p:spPr>
        <p:txBody>
          <a:bodyPr wrap="square" rtlCol="0">
            <a:spAutoFit/>
          </a:bodyPr>
          <a:lstStyle/>
          <a:p>
            <a:r>
              <a:rPr lang="en-US" sz="900" dirty="0"/>
              <a:t>Q1.Did We Sell The Generator? </a:t>
            </a:r>
          </a:p>
        </p:txBody>
      </p:sp>
      <p:sp>
        <p:nvSpPr>
          <p:cNvPr id="45" name="TextBox 44">
            <a:extLst>
              <a:ext uri="{FF2B5EF4-FFF2-40B4-BE49-F238E27FC236}">
                <a16:creationId xmlns:a16="http://schemas.microsoft.com/office/drawing/2014/main" id="{03BE7F83-19F9-2C31-4424-359503312066}"/>
              </a:ext>
            </a:extLst>
          </p:cNvPr>
          <p:cNvSpPr txBox="1"/>
          <p:nvPr/>
        </p:nvSpPr>
        <p:spPr>
          <a:xfrm>
            <a:off x="8765349" y="3220771"/>
            <a:ext cx="1721329"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S7. Service Order Process at charge SOP</a:t>
            </a:r>
          </a:p>
        </p:txBody>
      </p:sp>
      <p:cxnSp>
        <p:nvCxnSpPr>
          <p:cNvPr id="46" name="Connector: Elbow 45">
            <a:extLst>
              <a:ext uri="{FF2B5EF4-FFF2-40B4-BE49-F238E27FC236}">
                <a16:creationId xmlns:a16="http://schemas.microsoft.com/office/drawing/2014/main" id="{E200096E-7146-C613-24AB-736D7221C4A5}"/>
              </a:ext>
            </a:extLst>
          </p:cNvPr>
          <p:cNvCxnSpPr>
            <a:cxnSpLocks/>
            <a:stCxn id="41" idx="2"/>
            <a:endCxn id="66" idx="1"/>
          </p:cNvCxnSpPr>
          <p:nvPr/>
        </p:nvCxnSpPr>
        <p:spPr>
          <a:xfrm rot="16200000" flipH="1">
            <a:off x="4188391" y="1985939"/>
            <a:ext cx="537107" cy="2408219"/>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 name="Flowchart: Predefined Process 46">
            <a:extLst>
              <a:ext uri="{FF2B5EF4-FFF2-40B4-BE49-F238E27FC236}">
                <a16:creationId xmlns:a16="http://schemas.microsoft.com/office/drawing/2014/main" id="{342D0A1E-4A28-8A99-847A-C360F31192F1}"/>
              </a:ext>
            </a:extLst>
          </p:cNvPr>
          <p:cNvSpPr/>
          <p:nvPr/>
        </p:nvSpPr>
        <p:spPr>
          <a:xfrm>
            <a:off x="5923071" y="1070001"/>
            <a:ext cx="1135627"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S2. Order Inquiry </a:t>
            </a:r>
          </a:p>
        </p:txBody>
      </p:sp>
      <p:cxnSp>
        <p:nvCxnSpPr>
          <p:cNvPr id="48" name="Connector: Elbow 47">
            <a:extLst>
              <a:ext uri="{FF2B5EF4-FFF2-40B4-BE49-F238E27FC236}">
                <a16:creationId xmlns:a16="http://schemas.microsoft.com/office/drawing/2014/main" id="{F879352A-4489-DEAD-F38C-4313780CBA6C}"/>
              </a:ext>
            </a:extLst>
          </p:cNvPr>
          <p:cNvCxnSpPr>
            <a:cxnSpLocks/>
            <a:stCxn id="41" idx="0"/>
            <a:endCxn id="60" idx="1"/>
          </p:cNvCxnSpPr>
          <p:nvPr/>
        </p:nvCxnSpPr>
        <p:spPr>
          <a:xfrm rot="5400000" flipH="1" flipV="1">
            <a:off x="3561610" y="1589667"/>
            <a:ext cx="657606" cy="127515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Flowchart: Predefined Process 48">
            <a:extLst>
              <a:ext uri="{FF2B5EF4-FFF2-40B4-BE49-F238E27FC236}">
                <a16:creationId xmlns:a16="http://schemas.microsoft.com/office/drawing/2014/main" id="{C8D1BF49-41A2-3D12-A353-3C6D0736B1C5}"/>
              </a:ext>
            </a:extLst>
          </p:cNvPr>
          <p:cNvSpPr/>
          <p:nvPr/>
        </p:nvSpPr>
        <p:spPr>
          <a:xfrm>
            <a:off x="9923907" y="1055454"/>
            <a:ext cx="1471216"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S4. Create Start-Up Incident</a:t>
            </a:r>
          </a:p>
        </p:txBody>
      </p:sp>
      <p:sp>
        <p:nvSpPr>
          <p:cNvPr id="50" name="Flowchart: Predefined Process 49">
            <a:extLst>
              <a:ext uri="{FF2B5EF4-FFF2-40B4-BE49-F238E27FC236}">
                <a16:creationId xmlns:a16="http://schemas.microsoft.com/office/drawing/2014/main" id="{05D474EC-E702-953B-AA89-A2199682CE54}"/>
              </a:ext>
            </a:extLst>
          </p:cNvPr>
          <p:cNvSpPr/>
          <p:nvPr/>
        </p:nvSpPr>
        <p:spPr>
          <a:xfrm>
            <a:off x="405360" y="4455642"/>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S8. Add Start-Up Notes</a:t>
            </a:r>
          </a:p>
        </p:txBody>
      </p:sp>
      <p:cxnSp>
        <p:nvCxnSpPr>
          <p:cNvPr id="51" name="Connector: Elbow 50">
            <a:extLst>
              <a:ext uri="{FF2B5EF4-FFF2-40B4-BE49-F238E27FC236}">
                <a16:creationId xmlns:a16="http://schemas.microsoft.com/office/drawing/2014/main" id="{BC010AF9-1965-1753-17CF-F2269B3A2B6B}"/>
              </a:ext>
            </a:extLst>
          </p:cNvPr>
          <p:cNvCxnSpPr>
            <a:cxnSpLocks/>
            <a:stCxn id="49" idx="2"/>
            <a:endCxn id="50" idx="0"/>
          </p:cNvCxnSpPr>
          <p:nvPr/>
        </p:nvCxnSpPr>
        <p:spPr>
          <a:xfrm rot="5400000">
            <a:off x="4475717" y="-1728156"/>
            <a:ext cx="2931114" cy="9436483"/>
          </a:xfrm>
          <a:prstGeom prst="bentConnector3">
            <a:avLst>
              <a:gd name="adj1" fmla="val 85478"/>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52" name="Flowchart: Predefined Process 51">
            <a:extLst>
              <a:ext uri="{FF2B5EF4-FFF2-40B4-BE49-F238E27FC236}">
                <a16:creationId xmlns:a16="http://schemas.microsoft.com/office/drawing/2014/main" id="{E5499EFC-A86E-9525-22D2-CDE573C8176B}"/>
              </a:ext>
            </a:extLst>
          </p:cNvPr>
          <p:cNvSpPr/>
          <p:nvPr/>
        </p:nvSpPr>
        <p:spPr>
          <a:xfrm>
            <a:off x="2431645" y="4448976"/>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S9. Add Line</a:t>
            </a:r>
          </a:p>
        </p:txBody>
      </p:sp>
      <p:sp>
        <p:nvSpPr>
          <p:cNvPr id="53" name="Flowchart: Predefined Process 52">
            <a:extLst>
              <a:ext uri="{FF2B5EF4-FFF2-40B4-BE49-F238E27FC236}">
                <a16:creationId xmlns:a16="http://schemas.microsoft.com/office/drawing/2014/main" id="{6E51E3A9-EB7B-6DE6-8265-9235783E70F9}"/>
              </a:ext>
            </a:extLst>
          </p:cNvPr>
          <p:cNvSpPr/>
          <p:nvPr/>
        </p:nvSpPr>
        <p:spPr>
          <a:xfrm>
            <a:off x="4426735" y="4449327"/>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S10. Convert to SRO and Schedule</a:t>
            </a:r>
          </a:p>
        </p:txBody>
      </p:sp>
      <p:sp>
        <p:nvSpPr>
          <p:cNvPr id="54" name="Flowchart: Predefined Process 53">
            <a:extLst>
              <a:ext uri="{FF2B5EF4-FFF2-40B4-BE49-F238E27FC236}">
                <a16:creationId xmlns:a16="http://schemas.microsoft.com/office/drawing/2014/main" id="{ABF38FB9-F43C-8AF8-7CB7-B66258F8F093}"/>
              </a:ext>
            </a:extLst>
          </p:cNvPr>
          <p:cNvSpPr/>
          <p:nvPr/>
        </p:nvSpPr>
        <p:spPr>
          <a:xfrm>
            <a:off x="6576675" y="4448804"/>
            <a:ext cx="1375653" cy="438417"/>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S11. Print Pick Ticket</a:t>
            </a:r>
          </a:p>
        </p:txBody>
      </p:sp>
      <p:sp>
        <p:nvSpPr>
          <p:cNvPr id="55" name="Flowchart: Predefined Process 54">
            <a:extLst>
              <a:ext uri="{FF2B5EF4-FFF2-40B4-BE49-F238E27FC236}">
                <a16:creationId xmlns:a16="http://schemas.microsoft.com/office/drawing/2014/main" id="{4AB0EFF4-BE98-42B2-D51E-1CDE6CB89221}"/>
              </a:ext>
            </a:extLst>
          </p:cNvPr>
          <p:cNvSpPr/>
          <p:nvPr/>
        </p:nvSpPr>
        <p:spPr>
          <a:xfrm>
            <a:off x="8429193" y="4438973"/>
            <a:ext cx="1469923"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S12. Shipping Feedback Ship </a:t>
            </a:r>
          </a:p>
        </p:txBody>
      </p:sp>
      <p:sp>
        <p:nvSpPr>
          <p:cNvPr id="56" name="Flowchart: Process 55">
            <a:extLst>
              <a:ext uri="{FF2B5EF4-FFF2-40B4-BE49-F238E27FC236}">
                <a16:creationId xmlns:a16="http://schemas.microsoft.com/office/drawing/2014/main" id="{8DD7317F-9AE3-EEE2-7AC9-5D011BBC518A}"/>
              </a:ext>
            </a:extLst>
          </p:cNvPr>
          <p:cNvSpPr/>
          <p:nvPr/>
        </p:nvSpPr>
        <p:spPr>
          <a:xfrm>
            <a:off x="10234705" y="4422303"/>
            <a:ext cx="1327355" cy="47175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S13. Tech Performs Start-Up</a:t>
            </a:r>
          </a:p>
        </p:txBody>
      </p:sp>
      <p:sp>
        <p:nvSpPr>
          <p:cNvPr id="57" name="Flowchart: Predefined Process 56">
            <a:extLst>
              <a:ext uri="{FF2B5EF4-FFF2-40B4-BE49-F238E27FC236}">
                <a16:creationId xmlns:a16="http://schemas.microsoft.com/office/drawing/2014/main" id="{FC9B0000-5684-3240-BB1B-459666719713}"/>
              </a:ext>
            </a:extLst>
          </p:cNvPr>
          <p:cNvSpPr/>
          <p:nvPr/>
        </p:nvSpPr>
        <p:spPr>
          <a:xfrm>
            <a:off x="5652740" y="5553462"/>
            <a:ext cx="1469923"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S14. Register A Unit</a:t>
            </a:r>
          </a:p>
        </p:txBody>
      </p:sp>
      <p:cxnSp>
        <p:nvCxnSpPr>
          <p:cNvPr id="58" name="Connector: Elbow 57">
            <a:extLst>
              <a:ext uri="{FF2B5EF4-FFF2-40B4-BE49-F238E27FC236}">
                <a16:creationId xmlns:a16="http://schemas.microsoft.com/office/drawing/2014/main" id="{3BD4FAD7-12EA-17C4-C153-59BBA190786B}"/>
              </a:ext>
            </a:extLst>
          </p:cNvPr>
          <p:cNvCxnSpPr>
            <a:cxnSpLocks/>
            <a:stCxn id="56" idx="2"/>
            <a:endCxn id="57" idx="0"/>
          </p:cNvCxnSpPr>
          <p:nvPr/>
        </p:nvCxnSpPr>
        <p:spPr>
          <a:xfrm rot="5400000">
            <a:off x="8313341" y="2968420"/>
            <a:ext cx="659404" cy="4510681"/>
          </a:xfrm>
          <a:prstGeom prst="bentConnector3">
            <a:avLst>
              <a:gd name="adj1" fmla="val 69033"/>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60" name="Flowchart: Decision 59">
            <a:extLst>
              <a:ext uri="{FF2B5EF4-FFF2-40B4-BE49-F238E27FC236}">
                <a16:creationId xmlns:a16="http://schemas.microsoft.com/office/drawing/2014/main" id="{259FA3F7-66A3-18CE-0E20-CF32589CD58F}"/>
              </a:ext>
            </a:extLst>
          </p:cNvPr>
          <p:cNvSpPr/>
          <p:nvPr/>
        </p:nvSpPr>
        <p:spPr>
          <a:xfrm>
            <a:off x="4527992" y="1724244"/>
            <a:ext cx="435655" cy="34839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D2</a:t>
            </a:r>
          </a:p>
        </p:txBody>
      </p:sp>
      <p:sp>
        <p:nvSpPr>
          <p:cNvPr id="61" name="Flowchart: Process 60">
            <a:extLst>
              <a:ext uri="{FF2B5EF4-FFF2-40B4-BE49-F238E27FC236}">
                <a16:creationId xmlns:a16="http://schemas.microsoft.com/office/drawing/2014/main" id="{FF6B3E42-0447-AE07-78F2-C08EB1A52B90}"/>
              </a:ext>
            </a:extLst>
          </p:cNvPr>
          <p:cNvSpPr/>
          <p:nvPr/>
        </p:nvSpPr>
        <p:spPr>
          <a:xfrm>
            <a:off x="4799383" y="1668146"/>
            <a:ext cx="171405" cy="17107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62" name="Flowchart: Process 61">
            <a:extLst>
              <a:ext uri="{FF2B5EF4-FFF2-40B4-BE49-F238E27FC236}">
                <a16:creationId xmlns:a16="http://schemas.microsoft.com/office/drawing/2014/main" id="{47B1A79B-165D-C633-1715-FA00EA00A3F7}"/>
              </a:ext>
            </a:extLst>
          </p:cNvPr>
          <p:cNvSpPr/>
          <p:nvPr/>
        </p:nvSpPr>
        <p:spPr>
          <a:xfrm>
            <a:off x="4520850" y="1944263"/>
            <a:ext cx="171405" cy="17107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sp>
        <p:nvSpPr>
          <p:cNvPr id="63" name="TextBox 62">
            <a:extLst>
              <a:ext uri="{FF2B5EF4-FFF2-40B4-BE49-F238E27FC236}">
                <a16:creationId xmlns:a16="http://schemas.microsoft.com/office/drawing/2014/main" id="{7E1C5505-AD2E-9F50-7705-A39B79CEC906}"/>
              </a:ext>
            </a:extLst>
          </p:cNvPr>
          <p:cNvSpPr txBox="1"/>
          <p:nvPr/>
        </p:nvSpPr>
        <p:spPr>
          <a:xfrm>
            <a:off x="3882757" y="1378103"/>
            <a:ext cx="948813" cy="507831"/>
          </a:xfrm>
          <a:prstGeom prst="rect">
            <a:avLst/>
          </a:prstGeom>
          <a:noFill/>
        </p:spPr>
        <p:txBody>
          <a:bodyPr wrap="square" rtlCol="0">
            <a:spAutoFit/>
          </a:bodyPr>
          <a:lstStyle/>
          <a:p>
            <a:r>
              <a:rPr lang="en-US" sz="900" dirty="0"/>
              <a:t>Do You Know The Original Order #?</a:t>
            </a:r>
          </a:p>
        </p:txBody>
      </p:sp>
      <p:cxnSp>
        <p:nvCxnSpPr>
          <p:cNvPr id="64" name="Connector: Elbow 63">
            <a:extLst>
              <a:ext uri="{FF2B5EF4-FFF2-40B4-BE49-F238E27FC236}">
                <a16:creationId xmlns:a16="http://schemas.microsoft.com/office/drawing/2014/main" id="{53AF3ADB-3C5A-20CB-8A0F-69CBB76D5705}"/>
              </a:ext>
            </a:extLst>
          </p:cNvPr>
          <p:cNvCxnSpPr>
            <a:cxnSpLocks/>
            <a:stCxn id="60" idx="0"/>
            <a:endCxn id="47" idx="1"/>
          </p:cNvCxnSpPr>
          <p:nvPr/>
        </p:nvCxnSpPr>
        <p:spPr>
          <a:xfrm rot="5400000" flipH="1" flipV="1">
            <a:off x="5124592" y="925766"/>
            <a:ext cx="419706" cy="117725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5" name="Flowchart: Predefined Process 64">
            <a:extLst>
              <a:ext uri="{FF2B5EF4-FFF2-40B4-BE49-F238E27FC236}">
                <a16:creationId xmlns:a16="http://schemas.microsoft.com/office/drawing/2014/main" id="{92574DC8-5E6B-B0D1-3480-1DF6A9DA91D2}"/>
              </a:ext>
            </a:extLst>
          </p:cNvPr>
          <p:cNvSpPr/>
          <p:nvPr/>
        </p:nvSpPr>
        <p:spPr>
          <a:xfrm>
            <a:off x="7519201" y="2231738"/>
            <a:ext cx="1944205"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S5. Order Inquiry Using Serial Number</a:t>
            </a:r>
          </a:p>
        </p:txBody>
      </p:sp>
      <p:sp>
        <p:nvSpPr>
          <p:cNvPr id="66" name="TextBox 65">
            <a:extLst>
              <a:ext uri="{FF2B5EF4-FFF2-40B4-BE49-F238E27FC236}">
                <a16:creationId xmlns:a16="http://schemas.microsoft.com/office/drawing/2014/main" id="{E71FBA03-A740-2F11-7E5A-67B205501594}"/>
              </a:ext>
            </a:extLst>
          </p:cNvPr>
          <p:cNvSpPr txBox="1"/>
          <p:nvPr/>
        </p:nvSpPr>
        <p:spPr>
          <a:xfrm>
            <a:off x="5661054" y="3222725"/>
            <a:ext cx="1205916"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S6. Create A New Unit SOP</a:t>
            </a:r>
          </a:p>
        </p:txBody>
      </p:sp>
      <p:cxnSp>
        <p:nvCxnSpPr>
          <p:cNvPr id="67" name="Connector: Elbow 66">
            <a:extLst>
              <a:ext uri="{FF2B5EF4-FFF2-40B4-BE49-F238E27FC236}">
                <a16:creationId xmlns:a16="http://schemas.microsoft.com/office/drawing/2014/main" id="{755E21C8-9A36-9DB6-CCC8-0092572F658D}"/>
              </a:ext>
            </a:extLst>
          </p:cNvPr>
          <p:cNvCxnSpPr>
            <a:cxnSpLocks/>
            <a:stCxn id="60" idx="2"/>
            <a:endCxn id="65" idx="1"/>
          </p:cNvCxnSpPr>
          <p:nvPr/>
        </p:nvCxnSpPr>
        <p:spPr>
          <a:xfrm rot="16200000" flipH="1">
            <a:off x="5935693" y="882766"/>
            <a:ext cx="393635" cy="2773381"/>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0" name="Flowchart: Process 69">
            <a:extLst>
              <a:ext uri="{FF2B5EF4-FFF2-40B4-BE49-F238E27FC236}">
                <a16:creationId xmlns:a16="http://schemas.microsoft.com/office/drawing/2014/main" id="{6CED5694-AAF4-2A15-3114-213D263EB3A9}"/>
              </a:ext>
            </a:extLst>
          </p:cNvPr>
          <p:cNvSpPr/>
          <p:nvPr/>
        </p:nvSpPr>
        <p:spPr>
          <a:xfrm>
            <a:off x="7827625" y="1057821"/>
            <a:ext cx="1327355" cy="47451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S3. Check With AR To Verify Payment In Full</a:t>
            </a:r>
          </a:p>
        </p:txBody>
      </p:sp>
      <p:cxnSp>
        <p:nvCxnSpPr>
          <p:cNvPr id="71" name="Straight Arrow Connector 70">
            <a:extLst>
              <a:ext uri="{FF2B5EF4-FFF2-40B4-BE49-F238E27FC236}">
                <a16:creationId xmlns:a16="http://schemas.microsoft.com/office/drawing/2014/main" id="{03A40724-AE3A-AE3D-30AF-D05299278D2C}"/>
              </a:ext>
            </a:extLst>
          </p:cNvPr>
          <p:cNvCxnSpPr>
            <a:cxnSpLocks/>
            <a:stCxn id="47" idx="3"/>
            <a:endCxn id="70" idx="1"/>
          </p:cNvCxnSpPr>
          <p:nvPr/>
        </p:nvCxnSpPr>
        <p:spPr>
          <a:xfrm flipV="1">
            <a:off x="7058698" y="1295078"/>
            <a:ext cx="768927" cy="946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52FF0D36-7C81-223E-B470-559337787CF9}"/>
              </a:ext>
            </a:extLst>
          </p:cNvPr>
          <p:cNvCxnSpPr>
            <a:cxnSpLocks/>
            <a:stCxn id="70" idx="3"/>
            <a:endCxn id="49" idx="1"/>
          </p:cNvCxnSpPr>
          <p:nvPr/>
        </p:nvCxnSpPr>
        <p:spPr>
          <a:xfrm flipV="1">
            <a:off x="9154980" y="1289991"/>
            <a:ext cx="768927" cy="5087"/>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033E042F-F1DE-CE42-29E2-D5FFA821585E}"/>
              </a:ext>
            </a:extLst>
          </p:cNvPr>
          <p:cNvCxnSpPr>
            <a:cxnSpLocks/>
            <a:stCxn id="66" idx="3"/>
            <a:endCxn id="45" idx="1"/>
          </p:cNvCxnSpPr>
          <p:nvPr/>
        </p:nvCxnSpPr>
        <p:spPr>
          <a:xfrm flipV="1">
            <a:off x="6866970" y="3456649"/>
            <a:ext cx="1898379" cy="195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5A61F720-606D-9606-455B-15138E767DC3}"/>
              </a:ext>
            </a:extLst>
          </p:cNvPr>
          <p:cNvCxnSpPr>
            <a:cxnSpLocks/>
            <a:stCxn id="50" idx="3"/>
            <a:endCxn id="52" idx="1"/>
          </p:cNvCxnSpPr>
          <p:nvPr/>
        </p:nvCxnSpPr>
        <p:spPr>
          <a:xfrm flipV="1">
            <a:off x="2040704" y="4668184"/>
            <a:ext cx="390941" cy="6666"/>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FB672522-53DA-CFD7-E292-85DF3EAFE718}"/>
              </a:ext>
            </a:extLst>
          </p:cNvPr>
          <p:cNvCxnSpPr>
            <a:cxnSpLocks/>
            <a:stCxn id="52" idx="3"/>
            <a:endCxn id="53" idx="1"/>
          </p:cNvCxnSpPr>
          <p:nvPr/>
        </p:nvCxnSpPr>
        <p:spPr>
          <a:xfrm>
            <a:off x="4066989" y="4668184"/>
            <a:ext cx="359746" cy="351"/>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87559EE5-01B1-849F-2D93-F6B25B1CE0A4}"/>
              </a:ext>
            </a:extLst>
          </p:cNvPr>
          <p:cNvCxnSpPr>
            <a:cxnSpLocks/>
            <a:stCxn id="53" idx="3"/>
            <a:endCxn id="54" idx="1"/>
          </p:cNvCxnSpPr>
          <p:nvPr/>
        </p:nvCxnSpPr>
        <p:spPr>
          <a:xfrm flipV="1">
            <a:off x="6062079" y="4668013"/>
            <a:ext cx="514596" cy="522"/>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4660AF93-0585-7DFD-48DA-7579076A27B5}"/>
              </a:ext>
            </a:extLst>
          </p:cNvPr>
          <p:cNvCxnSpPr>
            <a:cxnSpLocks/>
            <a:stCxn id="54" idx="3"/>
            <a:endCxn id="55" idx="1"/>
          </p:cNvCxnSpPr>
          <p:nvPr/>
        </p:nvCxnSpPr>
        <p:spPr>
          <a:xfrm flipV="1">
            <a:off x="7952328" y="4658181"/>
            <a:ext cx="476865" cy="9832"/>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50B0458E-79EE-6351-A264-8EE742E26992}"/>
              </a:ext>
            </a:extLst>
          </p:cNvPr>
          <p:cNvCxnSpPr>
            <a:cxnSpLocks/>
            <a:stCxn id="55" idx="3"/>
            <a:endCxn id="56" idx="1"/>
          </p:cNvCxnSpPr>
          <p:nvPr/>
        </p:nvCxnSpPr>
        <p:spPr>
          <a:xfrm>
            <a:off x="9899116" y="4658181"/>
            <a:ext cx="335589" cy="0"/>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3E72850D-D26E-CA3B-327A-FB6FDE12DA70}"/>
              </a:ext>
            </a:extLst>
          </p:cNvPr>
          <p:cNvCxnSpPr>
            <a:cxnSpLocks/>
            <a:stCxn id="39" idx="3"/>
            <a:endCxn id="41" idx="1"/>
          </p:cNvCxnSpPr>
          <p:nvPr/>
        </p:nvCxnSpPr>
        <p:spPr>
          <a:xfrm>
            <a:off x="2040704" y="2738772"/>
            <a:ext cx="926695"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4E2DBAF6-9633-7B9B-6C40-15E09946FF1E}"/>
              </a:ext>
            </a:extLst>
          </p:cNvPr>
          <p:cNvCxnSpPr>
            <a:cxnSpLocks/>
            <a:stCxn id="65" idx="0"/>
            <a:endCxn id="70" idx="2"/>
          </p:cNvCxnSpPr>
          <p:nvPr/>
        </p:nvCxnSpPr>
        <p:spPr>
          <a:xfrm flipH="1" flipV="1">
            <a:off x="8491303" y="1532334"/>
            <a:ext cx="1" cy="69940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05725047-78CA-16E7-C87A-EA771CC6B520}"/>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05 12 2025 19 10</a:t>
            </a:r>
          </a:p>
        </p:txBody>
      </p:sp>
      <p:sp>
        <p:nvSpPr>
          <p:cNvPr id="7" name="TextBox 6">
            <a:extLst>
              <a:ext uri="{FF2B5EF4-FFF2-40B4-BE49-F238E27FC236}">
                <a16:creationId xmlns:a16="http://schemas.microsoft.com/office/drawing/2014/main" id="{485C8BE0-DAAA-1242-87F7-ADA764379944}"/>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4" name="TextBox 3">
            <a:extLst>
              <a:ext uri="{FF2B5EF4-FFF2-40B4-BE49-F238E27FC236}">
                <a16:creationId xmlns:a16="http://schemas.microsoft.com/office/drawing/2014/main" id="{28384B62-857D-3B5A-17D7-5B2C491FED4D}"/>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25 12 28 0800</a:t>
            </a:r>
          </a:p>
        </p:txBody>
      </p:sp>
      <p:sp>
        <p:nvSpPr>
          <p:cNvPr id="2" name="-S5 Order_Enq_Sr_Num">
            <a:extLst>
              <a:ext uri="{FF2B5EF4-FFF2-40B4-BE49-F238E27FC236}">
                <a16:creationId xmlns:a16="http://schemas.microsoft.com/office/drawing/2014/main" id="{C072C471-F1E1-6ADB-5C0A-C3D0AED10E1B}"/>
              </a:ext>
            </a:extLst>
          </p:cNvPr>
          <p:cNvSpPr>
            <a:spLocks noGrp="1"/>
          </p:cNvSpPr>
          <p:nvPr>
            <p:ph type="title"/>
          </p:nvPr>
        </p:nvSpPr>
        <p:spPr>
          <a:xfrm>
            <a:off x="838200" y="148058"/>
            <a:ext cx="10515600" cy="428753"/>
          </a:xfrm>
        </p:spPr>
        <p:txBody>
          <a:bodyPr>
            <a:noAutofit/>
          </a:bodyPr>
          <a:lstStyle/>
          <a:p>
            <a:pPr algn="ctr"/>
            <a:r>
              <a:rPr lang="en-US" sz="1600" b="1" dirty="0"/>
              <a:t>S5. Order Enquiry Using Serial Number– Startup SOP</a:t>
            </a:r>
          </a:p>
        </p:txBody>
      </p:sp>
    </p:spTree>
    <p:extLst>
      <p:ext uri="{BB962C8B-B14F-4D97-AF65-F5344CB8AC3E}">
        <p14:creationId xmlns:p14="http://schemas.microsoft.com/office/powerpoint/2010/main" val="4712206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9B1F2-4E03-B35C-117F-AFB67C54427C}"/>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EBB0FA65-CB38-E7A8-9535-BEBF1DAA7AC8}"/>
              </a:ext>
            </a:extLst>
          </p:cNvPr>
          <p:cNvSpPr/>
          <p:nvPr/>
        </p:nvSpPr>
        <p:spPr>
          <a:xfrm>
            <a:off x="7701212" y="796736"/>
            <a:ext cx="1693800" cy="1327661"/>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sp>
        <p:nvSpPr>
          <p:cNvPr id="39" name="Flowchart: Process 38">
            <a:extLst>
              <a:ext uri="{FF2B5EF4-FFF2-40B4-BE49-F238E27FC236}">
                <a16:creationId xmlns:a16="http://schemas.microsoft.com/office/drawing/2014/main" id="{15819992-C86C-9C74-22CF-95DA5008503B}"/>
              </a:ext>
            </a:extLst>
          </p:cNvPr>
          <p:cNvSpPr/>
          <p:nvPr/>
        </p:nvSpPr>
        <p:spPr>
          <a:xfrm>
            <a:off x="713349" y="2526777"/>
            <a:ext cx="1327355" cy="42399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 Customer Calls For Start-Up</a:t>
            </a:r>
          </a:p>
        </p:txBody>
      </p:sp>
      <p:sp>
        <p:nvSpPr>
          <p:cNvPr id="41" name="Flowchart: Decision 40">
            <a:extLst>
              <a:ext uri="{FF2B5EF4-FFF2-40B4-BE49-F238E27FC236}">
                <a16:creationId xmlns:a16="http://schemas.microsoft.com/office/drawing/2014/main" id="{D04D67DF-AEE9-004B-E369-FB548E529E63}"/>
              </a:ext>
            </a:extLst>
          </p:cNvPr>
          <p:cNvSpPr/>
          <p:nvPr/>
        </p:nvSpPr>
        <p:spPr>
          <a:xfrm>
            <a:off x="2967399" y="2556048"/>
            <a:ext cx="570871" cy="365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D1</a:t>
            </a:r>
          </a:p>
        </p:txBody>
      </p:sp>
      <p:sp>
        <p:nvSpPr>
          <p:cNvPr id="42" name="Flowchart: Process 41">
            <a:extLst>
              <a:ext uri="{FF2B5EF4-FFF2-40B4-BE49-F238E27FC236}">
                <a16:creationId xmlns:a16="http://schemas.microsoft.com/office/drawing/2014/main" id="{79CF8F02-C3C3-6D4D-A963-31868F23E016}"/>
              </a:ext>
            </a:extLst>
          </p:cNvPr>
          <p:cNvSpPr/>
          <p:nvPr/>
        </p:nvSpPr>
        <p:spPr>
          <a:xfrm>
            <a:off x="3323024" y="2497204"/>
            <a:ext cx="224605" cy="17944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43" name="Flowchart: Process 42">
            <a:extLst>
              <a:ext uri="{FF2B5EF4-FFF2-40B4-BE49-F238E27FC236}">
                <a16:creationId xmlns:a16="http://schemas.microsoft.com/office/drawing/2014/main" id="{4AAFAFD0-1058-06DE-20E1-9453B4325741}"/>
              </a:ext>
            </a:extLst>
          </p:cNvPr>
          <p:cNvSpPr/>
          <p:nvPr/>
        </p:nvSpPr>
        <p:spPr>
          <a:xfrm>
            <a:off x="2958041" y="2786835"/>
            <a:ext cx="224605" cy="17944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sp>
        <p:nvSpPr>
          <p:cNvPr id="44" name="TextBox 43">
            <a:extLst>
              <a:ext uri="{FF2B5EF4-FFF2-40B4-BE49-F238E27FC236}">
                <a16:creationId xmlns:a16="http://schemas.microsoft.com/office/drawing/2014/main" id="{E67D5FD0-B0C0-B130-A12E-212D6F477CCF}"/>
              </a:ext>
            </a:extLst>
          </p:cNvPr>
          <p:cNvSpPr txBox="1"/>
          <p:nvPr/>
        </p:nvSpPr>
        <p:spPr>
          <a:xfrm>
            <a:off x="2332800" y="2331480"/>
            <a:ext cx="948813" cy="369332"/>
          </a:xfrm>
          <a:prstGeom prst="rect">
            <a:avLst/>
          </a:prstGeom>
          <a:noFill/>
        </p:spPr>
        <p:txBody>
          <a:bodyPr wrap="square" rtlCol="0">
            <a:spAutoFit/>
          </a:bodyPr>
          <a:lstStyle/>
          <a:p>
            <a:r>
              <a:rPr lang="en-US" sz="900" dirty="0"/>
              <a:t>Q1.Did We Sell The Generator? </a:t>
            </a:r>
          </a:p>
        </p:txBody>
      </p:sp>
      <p:sp>
        <p:nvSpPr>
          <p:cNvPr id="45" name="TextBox 44">
            <a:extLst>
              <a:ext uri="{FF2B5EF4-FFF2-40B4-BE49-F238E27FC236}">
                <a16:creationId xmlns:a16="http://schemas.microsoft.com/office/drawing/2014/main" id="{93395C17-86C7-2715-781A-C131988D2266}"/>
              </a:ext>
            </a:extLst>
          </p:cNvPr>
          <p:cNvSpPr txBox="1"/>
          <p:nvPr/>
        </p:nvSpPr>
        <p:spPr>
          <a:xfrm>
            <a:off x="8765349" y="3220771"/>
            <a:ext cx="1721329"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S7. Service Order Process at charge SOP</a:t>
            </a:r>
          </a:p>
        </p:txBody>
      </p:sp>
      <p:cxnSp>
        <p:nvCxnSpPr>
          <p:cNvPr id="46" name="Connector: Elbow 45">
            <a:extLst>
              <a:ext uri="{FF2B5EF4-FFF2-40B4-BE49-F238E27FC236}">
                <a16:creationId xmlns:a16="http://schemas.microsoft.com/office/drawing/2014/main" id="{23E664B9-D947-7599-EAD0-0129A364A74E}"/>
              </a:ext>
            </a:extLst>
          </p:cNvPr>
          <p:cNvCxnSpPr>
            <a:cxnSpLocks/>
            <a:stCxn id="41" idx="2"/>
            <a:endCxn id="66" idx="1"/>
          </p:cNvCxnSpPr>
          <p:nvPr/>
        </p:nvCxnSpPr>
        <p:spPr>
          <a:xfrm rot="16200000" flipH="1">
            <a:off x="4188391" y="1985939"/>
            <a:ext cx="537107" cy="2408219"/>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 name="Flowchart: Predefined Process 46">
            <a:extLst>
              <a:ext uri="{FF2B5EF4-FFF2-40B4-BE49-F238E27FC236}">
                <a16:creationId xmlns:a16="http://schemas.microsoft.com/office/drawing/2014/main" id="{4FAB4E7F-6F34-B95A-3B6A-78E6D04DE80B}"/>
              </a:ext>
            </a:extLst>
          </p:cNvPr>
          <p:cNvSpPr/>
          <p:nvPr/>
        </p:nvSpPr>
        <p:spPr>
          <a:xfrm>
            <a:off x="5923071" y="1070001"/>
            <a:ext cx="1135627"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S2. Order Inquiry </a:t>
            </a:r>
          </a:p>
        </p:txBody>
      </p:sp>
      <p:cxnSp>
        <p:nvCxnSpPr>
          <p:cNvPr id="48" name="Connector: Elbow 47">
            <a:extLst>
              <a:ext uri="{FF2B5EF4-FFF2-40B4-BE49-F238E27FC236}">
                <a16:creationId xmlns:a16="http://schemas.microsoft.com/office/drawing/2014/main" id="{ED51E516-DB3A-0998-74D1-8519A4B91B27}"/>
              </a:ext>
            </a:extLst>
          </p:cNvPr>
          <p:cNvCxnSpPr>
            <a:cxnSpLocks/>
            <a:stCxn id="41" idx="0"/>
            <a:endCxn id="60" idx="1"/>
          </p:cNvCxnSpPr>
          <p:nvPr/>
        </p:nvCxnSpPr>
        <p:spPr>
          <a:xfrm rot="5400000" flipH="1" flipV="1">
            <a:off x="3561610" y="1589667"/>
            <a:ext cx="657606" cy="127515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Flowchart: Predefined Process 48">
            <a:extLst>
              <a:ext uri="{FF2B5EF4-FFF2-40B4-BE49-F238E27FC236}">
                <a16:creationId xmlns:a16="http://schemas.microsoft.com/office/drawing/2014/main" id="{5572D13F-94EF-F46B-1BF2-8753E07F7E60}"/>
              </a:ext>
            </a:extLst>
          </p:cNvPr>
          <p:cNvSpPr/>
          <p:nvPr/>
        </p:nvSpPr>
        <p:spPr>
          <a:xfrm>
            <a:off x="9923907" y="1055454"/>
            <a:ext cx="1471216"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S4. Create Start-Up Incident</a:t>
            </a:r>
          </a:p>
        </p:txBody>
      </p:sp>
      <p:sp>
        <p:nvSpPr>
          <p:cNvPr id="50" name="Flowchart: Predefined Process 49">
            <a:extLst>
              <a:ext uri="{FF2B5EF4-FFF2-40B4-BE49-F238E27FC236}">
                <a16:creationId xmlns:a16="http://schemas.microsoft.com/office/drawing/2014/main" id="{9CD5F547-E92C-7F32-057D-146159A92AE0}"/>
              </a:ext>
            </a:extLst>
          </p:cNvPr>
          <p:cNvSpPr/>
          <p:nvPr/>
        </p:nvSpPr>
        <p:spPr>
          <a:xfrm>
            <a:off x="405360" y="4455642"/>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S8. Add Start-Up Notes</a:t>
            </a:r>
          </a:p>
        </p:txBody>
      </p:sp>
      <p:cxnSp>
        <p:nvCxnSpPr>
          <p:cNvPr id="51" name="Connector: Elbow 50">
            <a:extLst>
              <a:ext uri="{FF2B5EF4-FFF2-40B4-BE49-F238E27FC236}">
                <a16:creationId xmlns:a16="http://schemas.microsoft.com/office/drawing/2014/main" id="{A7A5A9E4-8441-607E-A8A4-465D1FC49370}"/>
              </a:ext>
            </a:extLst>
          </p:cNvPr>
          <p:cNvCxnSpPr>
            <a:cxnSpLocks/>
            <a:stCxn id="49" idx="2"/>
            <a:endCxn id="50" idx="0"/>
          </p:cNvCxnSpPr>
          <p:nvPr/>
        </p:nvCxnSpPr>
        <p:spPr>
          <a:xfrm rot="5400000">
            <a:off x="4475717" y="-1728156"/>
            <a:ext cx="2931114" cy="9436483"/>
          </a:xfrm>
          <a:prstGeom prst="bentConnector3">
            <a:avLst>
              <a:gd name="adj1" fmla="val 85478"/>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52" name="Flowchart: Predefined Process 51">
            <a:extLst>
              <a:ext uri="{FF2B5EF4-FFF2-40B4-BE49-F238E27FC236}">
                <a16:creationId xmlns:a16="http://schemas.microsoft.com/office/drawing/2014/main" id="{E3FF3106-ED1E-0736-12CC-2BE5C45357D4}"/>
              </a:ext>
            </a:extLst>
          </p:cNvPr>
          <p:cNvSpPr/>
          <p:nvPr/>
        </p:nvSpPr>
        <p:spPr>
          <a:xfrm>
            <a:off x="2431645" y="4448976"/>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S9. Add Line</a:t>
            </a:r>
          </a:p>
        </p:txBody>
      </p:sp>
      <p:sp>
        <p:nvSpPr>
          <p:cNvPr id="53" name="Flowchart: Predefined Process 52">
            <a:extLst>
              <a:ext uri="{FF2B5EF4-FFF2-40B4-BE49-F238E27FC236}">
                <a16:creationId xmlns:a16="http://schemas.microsoft.com/office/drawing/2014/main" id="{2EBB5A0F-BEDE-F6BA-6A96-38E982CFECAC}"/>
              </a:ext>
            </a:extLst>
          </p:cNvPr>
          <p:cNvSpPr/>
          <p:nvPr/>
        </p:nvSpPr>
        <p:spPr>
          <a:xfrm>
            <a:off x="4426735" y="4449327"/>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S10. Convert to SRO and Schedule</a:t>
            </a:r>
          </a:p>
        </p:txBody>
      </p:sp>
      <p:sp>
        <p:nvSpPr>
          <p:cNvPr id="54" name="Flowchart: Predefined Process 53">
            <a:extLst>
              <a:ext uri="{FF2B5EF4-FFF2-40B4-BE49-F238E27FC236}">
                <a16:creationId xmlns:a16="http://schemas.microsoft.com/office/drawing/2014/main" id="{B5FA5F03-5C0B-2A48-3F14-54C1AD02F3C3}"/>
              </a:ext>
            </a:extLst>
          </p:cNvPr>
          <p:cNvSpPr/>
          <p:nvPr/>
        </p:nvSpPr>
        <p:spPr>
          <a:xfrm>
            <a:off x="6576675" y="4448804"/>
            <a:ext cx="1375653" cy="438417"/>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S11. Print Pick Ticket</a:t>
            </a:r>
          </a:p>
        </p:txBody>
      </p:sp>
      <p:sp>
        <p:nvSpPr>
          <p:cNvPr id="55" name="Flowchart: Predefined Process 54">
            <a:extLst>
              <a:ext uri="{FF2B5EF4-FFF2-40B4-BE49-F238E27FC236}">
                <a16:creationId xmlns:a16="http://schemas.microsoft.com/office/drawing/2014/main" id="{857B4BDD-89B1-8657-9421-A932EBAD1AA5}"/>
              </a:ext>
            </a:extLst>
          </p:cNvPr>
          <p:cNvSpPr/>
          <p:nvPr/>
        </p:nvSpPr>
        <p:spPr>
          <a:xfrm>
            <a:off x="8429193" y="4438973"/>
            <a:ext cx="1469923"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S12. Shipping Feedback Ship </a:t>
            </a:r>
          </a:p>
        </p:txBody>
      </p:sp>
      <p:sp>
        <p:nvSpPr>
          <p:cNvPr id="56" name="Flowchart: Process 55">
            <a:extLst>
              <a:ext uri="{FF2B5EF4-FFF2-40B4-BE49-F238E27FC236}">
                <a16:creationId xmlns:a16="http://schemas.microsoft.com/office/drawing/2014/main" id="{231DC013-43CA-7EB9-2183-3C256880D349}"/>
              </a:ext>
            </a:extLst>
          </p:cNvPr>
          <p:cNvSpPr/>
          <p:nvPr/>
        </p:nvSpPr>
        <p:spPr>
          <a:xfrm>
            <a:off x="10234705" y="4422303"/>
            <a:ext cx="1327355" cy="47175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S13. Tech Performs Start-Up</a:t>
            </a:r>
          </a:p>
        </p:txBody>
      </p:sp>
      <p:sp>
        <p:nvSpPr>
          <p:cNvPr id="57" name="Flowchart: Predefined Process 56">
            <a:extLst>
              <a:ext uri="{FF2B5EF4-FFF2-40B4-BE49-F238E27FC236}">
                <a16:creationId xmlns:a16="http://schemas.microsoft.com/office/drawing/2014/main" id="{8BBEBBF0-E503-E10D-050A-542C4688F5E7}"/>
              </a:ext>
            </a:extLst>
          </p:cNvPr>
          <p:cNvSpPr/>
          <p:nvPr/>
        </p:nvSpPr>
        <p:spPr>
          <a:xfrm>
            <a:off x="5661054" y="5340892"/>
            <a:ext cx="1469923"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S14. Register A Unit</a:t>
            </a:r>
          </a:p>
        </p:txBody>
      </p:sp>
      <p:cxnSp>
        <p:nvCxnSpPr>
          <p:cNvPr id="58" name="Connector: Elbow 57">
            <a:extLst>
              <a:ext uri="{FF2B5EF4-FFF2-40B4-BE49-F238E27FC236}">
                <a16:creationId xmlns:a16="http://schemas.microsoft.com/office/drawing/2014/main" id="{18BC05F6-A1A6-6468-6382-2E5C17A9CA3D}"/>
              </a:ext>
            </a:extLst>
          </p:cNvPr>
          <p:cNvCxnSpPr>
            <a:cxnSpLocks/>
            <a:stCxn id="56" idx="2"/>
            <a:endCxn id="57" idx="0"/>
          </p:cNvCxnSpPr>
          <p:nvPr/>
        </p:nvCxnSpPr>
        <p:spPr>
          <a:xfrm rot="5400000">
            <a:off x="8423783" y="2866292"/>
            <a:ext cx="446834" cy="4502367"/>
          </a:xfrm>
          <a:prstGeom prst="bentConnector3">
            <a:avLst>
              <a:gd name="adj1" fmla="val 50000"/>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60" name="Flowchart: Decision 59">
            <a:extLst>
              <a:ext uri="{FF2B5EF4-FFF2-40B4-BE49-F238E27FC236}">
                <a16:creationId xmlns:a16="http://schemas.microsoft.com/office/drawing/2014/main" id="{632570EA-E6E2-8B74-FBCE-578286750C06}"/>
              </a:ext>
            </a:extLst>
          </p:cNvPr>
          <p:cNvSpPr/>
          <p:nvPr/>
        </p:nvSpPr>
        <p:spPr>
          <a:xfrm>
            <a:off x="4527992" y="1724244"/>
            <a:ext cx="435655" cy="34839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D2</a:t>
            </a:r>
          </a:p>
        </p:txBody>
      </p:sp>
      <p:sp>
        <p:nvSpPr>
          <p:cNvPr id="61" name="Flowchart: Process 60">
            <a:extLst>
              <a:ext uri="{FF2B5EF4-FFF2-40B4-BE49-F238E27FC236}">
                <a16:creationId xmlns:a16="http://schemas.microsoft.com/office/drawing/2014/main" id="{608C8881-92E1-4C0D-651F-8ABB2E49ED8F}"/>
              </a:ext>
            </a:extLst>
          </p:cNvPr>
          <p:cNvSpPr/>
          <p:nvPr/>
        </p:nvSpPr>
        <p:spPr>
          <a:xfrm>
            <a:off x="4799383" y="1668146"/>
            <a:ext cx="171405" cy="17107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62" name="Flowchart: Process 61">
            <a:extLst>
              <a:ext uri="{FF2B5EF4-FFF2-40B4-BE49-F238E27FC236}">
                <a16:creationId xmlns:a16="http://schemas.microsoft.com/office/drawing/2014/main" id="{0707F4BF-7B65-05DC-7DA5-1A864D694CDC}"/>
              </a:ext>
            </a:extLst>
          </p:cNvPr>
          <p:cNvSpPr/>
          <p:nvPr/>
        </p:nvSpPr>
        <p:spPr>
          <a:xfrm>
            <a:off x="4520850" y="1944263"/>
            <a:ext cx="171405" cy="17107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sp>
        <p:nvSpPr>
          <p:cNvPr id="63" name="TextBox 62">
            <a:extLst>
              <a:ext uri="{FF2B5EF4-FFF2-40B4-BE49-F238E27FC236}">
                <a16:creationId xmlns:a16="http://schemas.microsoft.com/office/drawing/2014/main" id="{DFF2B378-5DBE-2F2A-21F4-6A75879402BA}"/>
              </a:ext>
            </a:extLst>
          </p:cNvPr>
          <p:cNvSpPr txBox="1"/>
          <p:nvPr/>
        </p:nvSpPr>
        <p:spPr>
          <a:xfrm>
            <a:off x="3882757" y="1378103"/>
            <a:ext cx="948813" cy="507831"/>
          </a:xfrm>
          <a:prstGeom prst="rect">
            <a:avLst/>
          </a:prstGeom>
          <a:noFill/>
        </p:spPr>
        <p:txBody>
          <a:bodyPr wrap="square" rtlCol="0">
            <a:spAutoFit/>
          </a:bodyPr>
          <a:lstStyle/>
          <a:p>
            <a:r>
              <a:rPr lang="en-US" sz="900" dirty="0"/>
              <a:t>Do You Know The Original Order #?</a:t>
            </a:r>
          </a:p>
        </p:txBody>
      </p:sp>
      <p:cxnSp>
        <p:nvCxnSpPr>
          <p:cNvPr id="64" name="Connector: Elbow 63">
            <a:extLst>
              <a:ext uri="{FF2B5EF4-FFF2-40B4-BE49-F238E27FC236}">
                <a16:creationId xmlns:a16="http://schemas.microsoft.com/office/drawing/2014/main" id="{32D2FC68-88E7-3FA7-C911-201C6B4F5AC5}"/>
              </a:ext>
            </a:extLst>
          </p:cNvPr>
          <p:cNvCxnSpPr>
            <a:cxnSpLocks/>
            <a:stCxn id="60" idx="0"/>
            <a:endCxn id="47" idx="1"/>
          </p:cNvCxnSpPr>
          <p:nvPr/>
        </p:nvCxnSpPr>
        <p:spPr>
          <a:xfrm rot="5400000" flipH="1" flipV="1">
            <a:off x="5124592" y="925766"/>
            <a:ext cx="419706" cy="117725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5" name="Flowchart: Predefined Process 64">
            <a:extLst>
              <a:ext uri="{FF2B5EF4-FFF2-40B4-BE49-F238E27FC236}">
                <a16:creationId xmlns:a16="http://schemas.microsoft.com/office/drawing/2014/main" id="{893772B6-2D0D-0DA0-ACA5-CCEA6F38A268}"/>
              </a:ext>
            </a:extLst>
          </p:cNvPr>
          <p:cNvSpPr/>
          <p:nvPr/>
        </p:nvSpPr>
        <p:spPr>
          <a:xfrm>
            <a:off x="7519201" y="2231738"/>
            <a:ext cx="1944205"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S5. Order Inquiry Using Serial Number</a:t>
            </a:r>
          </a:p>
        </p:txBody>
      </p:sp>
      <p:sp>
        <p:nvSpPr>
          <p:cNvPr id="66" name="TextBox 65">
            <a:extLst>
              <a:ext uri="{FF2B5EF4-FFF2-40B4-BE49-F238E27FC236}">
                <a16:creationId xmlns:a16="http://schemas.microsoft.com/office/drawing/2014/main" id="{D2ED8B7E-6C6C-5EF8-1988-3ED1BBCBDD29}"/>
              </a:ext>
            </a:extLst>
          </p:cNvPr>
          <p:cNvSpPr txBox="1"/>
          <p:nvPr/>
        </p:nvSpPr>
        <p:spPr>
          <a:xfrm>
            <a:off x="5661054" y="3222725"/>
            <a:ext cx="1205916"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S6. Create A New Unit SOP</a:t>
            </a:r>
          </a:p>
        </p:txBody>
      </p:sp>
      <p:cxnSp>
        <p:nvCxnSpPr>
          <p:cNvPr id="67" name="Connector: Elbow 66">
            <a:extLst>
              <a:ext uri="{FF2B5EF4-FFF2-40B4-BE49-F238E27FC236}">
                <a16:creationId xmlns:a16="http://schemas.microsoft.com/office/drawing/2014/main" id="{611F70B3-599F-226F-D76A-BA6925077F7F}"/>
              </a:ext>
            </a:extLst>
          </p:cNvPr>
          <p:cNvCxnSpPr>
            <a:cxnSpLocks/>
            <a:stCxn id="60" idx="2"/>
            <a:endCxn id="65" idx="1"/>
          </p:cNvCxnSpPr>
          <p:nvPr/>
        </p:nvCxnSpPr>
        <p:spPr>
          <a:xfrm rot="16200000" flipH="1">
            <a:off x="5935693" y="882766"/>
            <a:ext cx="393635" cy="2773381"/>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0" name="Flowchart: Process 69">
            <a:extLst>
              <a:ext uri="{FF2B5EF4-FFF2-40B4-BE49-F238E27FC236}">
                <a16:creationId xmlns:a16="http://schemas.microsoft.com/office/drawing/2014/main" id="{EAC4628C-2603-0A89-5C79-B4591902D3C6}"/>
              </a:ext>
            </a:extLst>
          </p:cNvPr>
          <p:cNvSpPr/>
          <p:nvPr/>
        </p:nvSpPr>
        <p:spPr>
          <a:xfrm>
            <a:off x="7827625" y="1057821"/>
            <a:ext cx="1327355" cy="47451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S3. Check With AR To Verify Payment In Full</a:t>
            </a:r>
          </a:p>
        </p:txBody>
      </p:sp>
      <p:cxnSp>
        <p:nvCxnSpPr>
          <p:cNvPr id="71" name="Straight Arrow Connector 70">
            <a:extLst>
              <a:ext uri="{FF2B5EF4-FFF2-40B4-BE49-F238E27FC236}">
                <a16:creationId xmlns:a16="http://schemas.microsoft.com/office/drawing/2014/main" id="{CD4D61EF-0464-D45D-3BC2-F1FB731EADA5}"/>
              </a:ext>
            </a:extLst>
          </p:cNvPr>
          <p:cNvCxnSpPr>
            <a:cxnSpLocks/>
            <a:stCxn id="47" idx="3"/>
            <a:endCxn id="70" idx="1"/>
          </p:cNvCxnSpPr>
          <p:nvPr/>
        </p:nvCxnSpPr>
        <p:spPr>
          <a:xfrm flipV="1">
            <a:off x="7058698" y="1295078"/>
            <a:ext cx="768927" cy="946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DBA62293-C531-047B-DB2E-7A5BEF6DBF44}"/>
              </a:ext>
            </a:extLst>
          </p:cNvPr>
          <p:cNvCxnSpPr>
            <a:cxnSpLocks/>
            <a:stCxn id="70" idx="3"/>
            <a:endCxn id="49" idx="1"/>
          </p:cNvCxnSpPr>
          <p:nvPr/>
        </p:nvCxnSpPr>
        <p:spPr>
          <a:xfrm flipV="1">
            <a:off x="9154980" y="1289991"/>
            <a:ext cx="768927" cy="5087"/>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0A8AFFEE-F5F9-725D-BF48-8EFAA750DBFE}"/>
              </a:ext>
            </a:extLst>
          </p:cNvPr>
          <p:cNvCxnSpPr>
            <a:cxnSpLocks/>
            <a:stCxn id="66" idx="3"/>
            <a:endCxn id="45" idx="1"/>
          </p:cNvCxnSpPr>
          <p:nvPr/>
        </p:nvCxnSpPr>
        <p:spPr>
          <a:xfrm flipV="1">
            <a:off x="6866970" y="3456649"/>
            <a:ext cx="1898379" cy="195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6E28250A-3C01-F712-7DFA-D556D47E2707}"/>
              </a:ext>
            </a:extLst>
          </p:cNvPr>
          <p:cNvCxnSpPr>
            <a:cxnSpLocks/>
            <a:stCxn id="50" idx="3"/>
            <a:endCxn id="52" idx="1"/>
          </p:cNvCxnSpPr>
          <p:nvPr/>
        </p:nvCxnSpPr>
        <p:spPr>
          <a:xfrm flipV="1">
            <a:off x="2040704" y="4668184"/>
            <a:ext cx="390941" cy="6666"/>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06E785F7-4E7B-DA2E-665D-0393CA046546}"/>
              </a:ext>
            </a:extLst>
          </p:cNvPr>
          <p:cNvCxnSpPr>
            <a:cxnSpLocks/>
            <a:stCxn id="52" idx="3"/>
            <a:endCxn id="53" idx="1"/>
          </p:cNvCxnSpPr>
          <p:nvPr/>
        </p:nvCxnSpPr>
        <p:spPr>
          <a:xfrm>
            <a:off x="4066989" y="4668184"/>
            <a:ext cx="359746" cy="351"/>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C1295238-C732-9F57-71C0-A3BC2761DF98}"/>
              </a:ext>
            </a:extLst>
          </p:cNvPr>
          <p:cNvCxnSpPr>
            <a:cxnSpLocks/>
            <a:stCxn id="53" idx="3"/>
            <a:endCxn id="54" idx="1"/>
          </p:cNvCxnSpPr>
          <p:nvPr/>
        </p:nvCxnSpPr>
        <p:spPr>
          <a:xfrm flipV="1">
            <a:off x="6062079" y="4668013"/>
            <a:ext cx="514596" cy="522"/>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75650F64-5F31-10D9-F6DF-5F4511487226}"/>
              </a:ext>
            </a:extLst>
          </p:cNvPr>
          <p:cNvCxnSpPr>
            <a:cxnSpLocks/>
            <a:stCxn id="54" idx="3"/>
            <a:endCxn id="55" idx="1"/>
          </p:cNvCxnSpPr>
          <p:nvPr/>
        </p:nvCxnSpPr>
        <p:spPr>
          <a:xfrm flipV="1">
            <a:off x="7952328" y="4658181"/>
            <a:ext cx="476865" cy="9832"/>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E44EEA36-5ECA-3FDB-F76E-7BE756FBB358}"/>
              </a:ext>
            </a:extLst>
          </p:cNvPr>
          <p:cNvCxnSpPr>
            <a:cxnSpLocks/>
            <a:stCxn id="55" idx="3"/>
            <a:endCxn id="56" idx="1"/>
          </p:cNvCxnSpPr>
          <p:nvPr/>
        </p:nvCxnSpPr>
        <p:spPr>
          <a:xfrm>
            <a:off x="9899116" y="4658181"/>
            <a:ext cx="335589" cy="0"/>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EFEC624F-9657-CDCE-E7F7-EDE10009425B}"/>
              </a:ext>
            </a:extLst>
          </p:cNvPr>
          <p:cNvCxnSpPr>
            <a:cxnSpLocks/>
            <a:stCxn id="39" idx="3"/>
            <a:endCxn id="41" idx="1"/>
          </p:cNvCxnSpPr>
          <p:nvPr/>
        </p:nvCxnSpPr>
        <p:spPr>
          <a:xfrm>
            <a:off x="2040704" y="2738772"/>
            <a:ext cx="926695"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253B2F0B-8CBC-F2C2-8BCF-7262F0774CA4}"/>
              </a:ext>
            </a:extLst>
          </p:cNvPr>
          <p:cNvCxnSpPr>
            <a:cxnSpLocks/>
            <a:stCxn id="65" idx="0"/>
            <a:endCxn id="70" idx="2"/>
          </p:cNvCxnSpPr>
          <p:nvPr/>
        </p:nvCxnSpPr>
        <p:spPr>
          <a:xfrm flipH="1" flipV="1">
            <a:off x="8491303" y="1532334"/>
            <a:ext cx="1" cy="69940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9C9D1B3-0CCF-CB47-FA92-5EB526924A14}"/>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05 12 2025 19 10</a:t>
            </a:r>
          </a:p>
        </p:txBody>
      </p:sp>
      <p:sp>
        <p:nvSpPr>
          <p:cNvPr id="7" name="TextBox 6">
            <a:extLst>
              <a:ext uri="{FF2B5EF4-FFF2-40B4-BE49-F238E27FC236}">
                <a16:creationId xmlns:a16="http://schemas.microsoft.com/office/drawing/2014/main" id="{B2835AFE-739C-4C90-2E73-099FDBDC93F7}"/>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4" name="TextBox 3">
            <a:extLst>
              <a:ext uri="{FF2B5EF4-FFF2-40B4-BE49-F238E27FC236}">
                <a16:creationId xmlns:a16="http://schemas.microsoft.com/office/drawing/2014/main" id="{9EFCCD92-0DA6-C4B0-519E-F9A0FECC150E}"/>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25 12 28 0800</a:t>
            </a:r>
          </a:p>
        </p:txBody>
      </p:sp>
      <p:sp>
        <p:nvSpPr>
          <p:cNvPr id="2" name="-S3. Ver_Pay_status">
            <a:extLst>
              <a:ext uri="{FF2B5EF4-FFF2-40B4-BE49-F238E27FC236}">
                <a16:creationId xmlns:a16="http://schemas.microsoft.com/office/drawing/2014/main" id="{215BFAC6-C5E0-FDB4-948B-5BA2B0FCAA73}"/>
              </a:ext>
            </a:extLst>
          </p:cNvPr>
          <p:cNvSpPr>
            <a:spLocks noGrp="1"/>
          </p:cNvSpPr>
          <p:nvPr>
            <p:ph type="title"/>
          </p:nvPr>
        </p:nvSpPr>
        <p:spPr>
          <a:xfrm>
            <a:off x="838200" y="314871"/>
            <a:ext cx="10515600" cy="428753"/>
          </a:xfrm>
        </p:spPr>
        <p:txBody>
          <a:bodyPr>
            <a:noAutofit/>
          </a:bodyPr>
          <a:lstStyle/>
          <a:p>
            <a:pPr algn="ctr"/>
            <a:r>
              <a:rPr lang="en-US" sz="1600" b="1" dirty="0"/>
              <a:t>S3a. Verify Payment Status – Startup SOP</a:t>
            </a:r>
          </a:p>
        </p:txBody>
      </p:sp>
    </p:spTree>
    <p:extLst>
      <p:ext uri="{BB962C8B-B14F-4D97-AF65-F5344CB8AC3E}">
        <p14:creationId xmlns:p14="http://schemas.microsoft.com/office/powerpoint/2010/main" val="22224005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D412E-D935-2B60-1C08-81FE38D29356}"/>
            </a:ext>
          </a:extLst>
        </p:cNvPr>
        <p:cNvGrpSpPr/>
        <p:nvPr/>
      </p:nvGrpSpPr>
      <p:grpSpPr>
        <a:xfrm>
          <a:off x="0" y="0"/>
          <a:ext cx="0" cy="0"/>
          <a:chOff x="0" y="0"/>
          <a:chExt cx="0" cy="0"/>
        </a:xfrm>
      </p:grpSpPr>
      <p:sp>
        <p:nvSpPr>
          <p:cNvPr id="62" name="TextBox 61">
            <a:extLst>
              <a:ext uri="{FF2B5EF4-FFF2-40B4-BE49-F238E27FC236}">
                <a16:creationId xmlns:a16="http://schemas.microsoft.com/office/drawing/2014/main" id="{B6382E67-08C4-7BEE-09CE-559D91AF41B8}"/>
              </a:ext>
            </a:extLst>
          </p:cNvPr>
          <p:cNvSpPr txBox="1"/>
          <p:nvPr/>
        </p:nvSpPr>
        <p:spPr>
          <a:xfrm>
            <a:off x="10660" y="5873315"/>
            <a:ext cx="994285" cy="461665"/>
          </a:xfrm>
          <a:prstGeom prst="rect">
            <a:avLst/>
          </a:prstGeom>
          <a:noFill/>
        </p:spPr>
        <p:txBody>
          <a:bodyPr wrap="square" rtlCol="0">
            <a:spAutoFit/>
          </a:bodyPr>
          <a:lstStyle/>
          <a:p>
            <a:r>
              <a:rPr lang="en-US" sz="800" dirty="0"/>
              <a:t>Base Created by TS VM TSD KC and BW  06 09 2025 </a:t>
            </a:r>
          </a:p>
        </p:txBody>
      </p:sp>
      <p:sp>
        <p:nvSpPr>
          <p:cNvPr id="66" name="TextBox 65">
            <a:extLst>
              <a:ext uri="{FF2B5EF4-FFF2-40B4-BE49-F238E27FC236}">
                <a16:creationId xmlns:a16="http://schemas.microsoft.com/office/drawing/2014/main" id="{BBD5B151-FD70-3155-7895-B0EB7A1425A2}"/>
              </a:ext>
            </a:extLst>
          </p:cNvPr>
          <p:cNvSpPr txBox="1"/>
          <p:nvPr/>
        </p:nvSpPr>
        <p:spPr>
          <a:xfrm>
            <a:off x="1252978" y="5986802"/>
            <a:ext cx="1135581" cy="655216"/>
          </a:xfrm>
          <a:prstGeom prst="flowChartInternalStorage">
            <a:avLst/>
          </a:prstGeom>
          <a:solidFill>
            <a:srgbClr val="FFFF00"/>
          </a:solidFill>
          <a:ln>
            <a:solidFill>
              <a:schemeClr val="tx1"/>
            </a:solidFill>
          </a:ln>
        </p:spPr>
        <p:txBody>
          <a:bodyPr wrap="square" rtlCol="0">
            <a:spAutoFit/>
          </a:bodyPr>
          <a:lstStyle/>
          <a:p>
            <a:pPr algn="ctr"/>
            <a:r>
              <a:rPr lang="en-US" sz="1050" dirty="0"/>
              <a:t>Note this Indicates a Sub SOP </a:t>
            </a:r>
          </a:p>
        </p:txBody>
      </p:sp>
      <p:sp>
        <p:nvSpPr>
          <p:cNvPr id="22" name="TextBox 21">
            <a:extLst>
              <a:ext uri="{FF2B5EF4-FFF2-40B4-BE49-F238E27FC236}">
                <a16:creationId xmlns:a16="http://schemas.microsoft.com/office/drawing/2014/main" id="{A34E2B3B-A0D6-5C06-8E67-2527F53277D9}"/>
              </a:ext>
            </a:extLst>
          </p:cNvPr>
          <p:cNvSpPr txBox="1"/>
          <p:nvPr/>
        </p:nvSpPr>
        <p:spPr>
          <a:xfrm>
            <a:off x="2896280" y="4826874"/>
            <a:ext cx="6009141" cy="1277273"/>
          </a:xfrm>
          <a:prstGeom prst="rect">
            <a:avLst/>
          </a:prstGeom>
          <a:noFill/>
        </p:spPr>
        <p:txBody>
          <a:bodyPr wrap="square" rtlCol="0">
            <a:spAutoFit/>
          </a:bodyPr>
          <a:lstStyle/>
          <a:p>
            <a:pPr algn="ctr"/>
            <a:r>
              <a:rPr lang="en-US" sz="1100" b="1" dirty="0"/>
              <a:t>Ever heard the phrase “Practice makes perfect ? – if you had not then now you have !</a:t>
            </a:r>
          </a:p>
          <a:p>
            <a:pPr algn="ctr"/>
            <a:endParaRPr lang="en-US" sz="1100" b="1" dirty="0"/>
          </a:p>
          <a:p>
            <a:pPr algn="ctr"/>
            <a:r>
              <a:rPr lang="en-US" sz="1100" b="1" dirty="0"/>
              <a:t>The Management and your project team would like you to practice this and other processes so that the Go live is smooth or if your new to the company or are new to the role you can get proficient in the training environment </a:t>
            </a:r>
            <a:br>
              <a:rPr lang="en-US" sz="1100" b="1" dirty="0"/>
            </a:br>
            <a:r>
              <a:rPr lang="en-US" sz="1100" b="1" dirty="0"/>
              <a:t>As one becomes more proficient in this system it behooves us to share that knowledge and help other so the Company can  achieve its destiny </a:t>
            </a:r>
          </a:p>
        </p:txBody>
      </p:sp>
      <p:pic>
        <p:nvPicPr>
          <p:cNvPr id="5" name="Picture 4" descr="A diagram of a computer&#10;&#10;AI-generated content may be incorrect.">
            <a:extLst>
              <a:ext uri="{FF2B5EF4-FFF2-40B4-BE49-F238E27FC236}">
                <a16:creationId xmlns:a16="http://schemas.microsoft.com/office/drawing/2014/main" id="{0BAE6092-C4D9-F50A-4176-779137642087}"/>
              </a:ext>
            </a:extLst>
          </p:cNvPr>
          <p:cNvPicPr>
            <a:picLocks noChangeAspect="1"/>
          </p:cNvPicPr>
          <p:nvPr/>
        </p:nvPicPr>
        <p:blipFill>
          <a:blip r:embed="rId3"/>
          <a:stretch>
            <a:fillRect/>
          </a:stretch>
        </p:blipFill>
        <p:spPr>
          <a:xfrm>
            <a:off x="2690999" y="769753"/>
            <a:ext cx="6799996" cy="3824775"/>
          </a:xfrm>
          <a:prstGeom prst="rect">
            <a:avLst/>
          </a:prstGeom>
        </p:spPr>
      </p:pic>
      <p:sp>
        <p:nvSpPr>
          <p:cNvPr id="6" name="TextBox 5">
            <a:extLst>
              <a:ext uri="{FF2B5EF4-FFF2-40B4-BE49-F238E27FC236}">
                <a16:creationId xmlns:a16="http://schemas.microsoft.com/office/drawing/2014/main" id="{4CC8A69F-5E93-818D-69E4-BC86B66AA01D}"/>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25 12 28 0800</a:t>
            </a:r>
          </a:p>
        </p:txBody>
      </p:sp>
      <p:sp>
        <p:nvSpPr>
          <p:cNvPr id="3" name="- S998. You have come to the end of the path selected">
            <a:extLst>
              <a:ext uri="{FF2B5EF4-FFF2-40B4-BE49-F238E27FC236}">
                <a16:creationId xmlns:a16="http://schemas.microsoft.com/office/drawing/2014/main" id="{2AD02089-0CC6-EDD2-673A-AEBA35138297}"/>
              </a:ext>
            </a:extLst>
          </p:cNvPr>
          <p:cNvSpPr txBox="1">
            <a:spLocks noGrp="1"/>
          </p:cNvSpPr>
          <p:nvPr>
            <p:ph type="title"/>
          </p:nvPr>
        </p:nvSpPr>
        <p:spPr>
          <a:xfrm>
            <a:off x="833197" y="234503"/>
            <a:ext cx="10515600" cy="369332"/>
          </a:xfrm>
          <a:prstGeom prst="rect">
            <a:avLst/>
          </a:prstGeom>
          <a:noFill/>
        </p:spPr>
        <p:txBody>
          <a:bodyPr wrap="square" rtlCol="0">
            <a:spAutoFit/>
          </a:bodyPr>
          <a:lstStyle/>
          <a:p>
            <a:pPr algn="ctr"/>
            <a:r>
              <a:rPr lang="en-US" sz="2000" b="1" dirty="0"/>
              <a:t>S998b. You have come to the end of the path selected in the – Generator Startup Process</a:t>
            </a:r>
          </a:p>
        </p:txBody>
      </p:sp>
    </p:spTree>
    <p:extLst>
      <p:ext uri="{BB962C8B-B14F-4D97-AF65-F5344CB8AC3E}">
        <p14:creationId xmlns:p14="http://schemas.microsoft.com/office/powerpoint/2010/main" val="5530998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C95F0-1BFA-64EC-260C-9EC709A46C4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C88A27B-9E4C-D3C1-D327-1F2A6E4BFB6A}"/>
              </a:ext>
            </a:extLst>
          </p:cNvPr>
          <p:cNvSpPr txBox="1"/>
          <p:nvPr/>
        </p:nvSpPr>
        <p:spPr>
          <a:xfrm>
            <a:off x="196571" y="6001546"/>
            <a:ext cx="994285" cy="338554"/>
          </a:xfrm>
          <a:prstGeom prst="rect">
            <a:avLst/>
          </a:prstGeom>
          <a:noFill/>
        </p:spPr>
        <p:txBody>
          <a:bodyPr wrap="square" rtlCol="0">
            <a:spAutoFit/>
          </a:bodyPr>
          <a:lstStyle/>
          <a:p>
            <a:r>
              <a:rPr lang="en-US" sz="800" dirty="0"/>
              <a:t>Draft Started 06 10 2025</a:t>
            </a:r>
          </a:p>
        </p:txBody>
      </p:sp>
      <p:sp>
        <p:nvSpPr>
          <p:cNvPr id="38" name="Rectangle 37">
            <a:extLst>
              <a:ext uri="{FF2B5EF4-FFF2-40B4-BE49-F238E27FC236}">
                <a16:creationId xmlns:a16="http://schemas.microsoft.com/office/drawing/2014/main" id="{CAAD7EE6-CE08-34BC-4C71-56961E1D0B4F}"/>
              </a:ext>
            </a:extLst>
          </p:cNvPr>
          <p:cNvSpPr/>
          <p:nvPr/>
        </p:nvSpPr>
        <p:spPr>
          <a:xfrm>
            <a:off x="2825358" y="2761834"/>
            <a:ext cx="1257671" cy="1054262"/>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sp>
        <p:nvSpPr>
          <p:cNvPr id="39" name="Flowchart: Process 38">
            <a:extLst>
              <a:ext uri="{FF2B5EF4-FFF2-40B4-BE49-F238E27FC236}">
                <a16:creationId xmlns:a16="http://schemas.microsoft.com/office/drawing/2014/main" id="{6D7E2E0A-3CBB-5C58-0637-2CBF932AF2A1}"/>
              </a:ext>
            </a:extLst>
          </p:cNvPr>
          <p:cNvSpPr/>
          <p:nvPr/>
        </p:nvSpPr>
        <p:spPr>
          <a:xfrm>
            <a:off x="713349" y="2526777"/>
            <a:ext cx="1327355" cy="42399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 Customer Calls For Start-Up</a:t>
            </a:r>
          </a:p>
        </p:txBody>
      </p:sp>
      <p:sp>
        <p:nvSpPr>
          <p:cNvPr id="41" name="Flowchart: Decision 40">
            <a:extLst>
              <a:ext uri="{FF2B5EF4-FFF2-40B4-BE49-F238E27FC236}">
                <a16:creationId xmlns:a16="http://schemas.microsoft.com/office/drawing/2014/main" id="{6DEC290B-EBDB-223C-A11F-0734B9F831FC}"/>
              </a:ext>
            </a:extLst>
          </p:cNvPr>
          <p:cNvSpPr/>
          <p:nvPr/>
        </p:nvSpPr>
        <p:spPr>
          <a:xfrm>
            <a:off x="2967399" y="2556048"/>
            <a:ext cx="570871" cy="365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D1</a:t>
            </a:r>
          </a:p>
        </p:txBody>
      </p:sp>
      <p:sp>
        <p:nvSpPr>
          <p:cNvPr id="42" name="Flowchart: Process 41">
            <a:extLst>
              <a:ext uri="{FF2B5EF4-FFF2-40B4-BE49-F238E27FC236}">
                <a16:creationId xmlns:a16="http://schemas.microsoft.com/office/drawing/2014/main" id="{D29AB6FF-5C1A-F864-BA84-AAC4B0600ED1}"/>
              </a:ext>
            </a:extLst>
          </p:cNvPr>
          <p:cNvSpPr/>
          <p:nvPr/>
        </p:nvSpPr>
        <p:spPr>
          <a:xfrm>
            <a:off x="3323024" y="2497204"/>
            <a:ext cx="224605" cy="17944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43" name="Flowchart: Process 42">
            <a:extLst>
              <a:ext uri="{FF2B5EF4-FFF2-40B4-BE49-F238E27FC236}">
                <a16:creationId xmlns:a16="http://schemas.microsoft.com/office/drawing/2014/main" id="{5BD8EDC0-D4DF-D75C-AB94-EC48D111AD2D}"/>
              </a:ext>
            </a:extLst>
          </p:cNvPr>
          <p:cNvSpPr/>
          <p:nvPr/>
        </p:nvSpPr>
        <p:spPr>
          <a:xfrm>
            <a:off x="2958041" y="2786835"/>
            <a:ext cx="224605" cy="17944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sp>
        <p:nvSpPr>
          <p:cNvPr id="44" name="TextBox 43">
            <a:extLst>
              <a:ext uri="{FF2B5EF4-FFF2-40B4-BE49-F238E27FC236}">
                <a16:creationId xmlns:a16="http://schemas.microsoft.com/office/drawing/2014/main" id="{2A74E8C6-FFB8-9D36-1516-196BB854DFEB}"/>
              </a:ext>
            </a:extLst>
          </p:cNvPr>
          <p:cNvSpPr txBox="1"/>
          <p:nvPr/>
        </p:nvSpPr>
        <p:spPr>
          <a:xfrm>
            <a:off x="2332800" y="2331480"/>
            <a:ext cx="948813" cy="369332"/>
          </a:xfrm>
          <a:prstGeom prst="rect">
            <a:avLst/>
          </a:prstGeom>
          <a:noFill/>
        </p:spPr>
        <p:txBody>
          <a:bodyPr wrap="square" rtlCol="0">
            <a:spAutoFit/>
          </a:bodyPr>
          <a:lstStyle/>
          <a:p>
            <a:r>
              <a:rPr lang="en-US" sz="900" dirty="0"/>
              <a:t>Q1.Did We Sell The Generator? </a:t>
            </a:r>
          </a:p>
        </p:txBody>
      </p:sp>
      <p:sp>
        <p:nvSpPr>
          <p:cNvPr id="45" name="TextBox 44">
            <a:extLst>
              <a:ext uri="{FF2B5EF4-FFF2-40B4-BE49-F238E27FC236}">
                <a16:creationId xmlns:a16="http://schemas.microsoft.com/office/drawing/2014/main" id="{317B5FF4-3530-6850-D01E-4231ADCB293D}"/>
              </a:ext>
            </a:extLst>
          </p:cNvPr>
          <p:cNvSpPr txBox="1"/>
          <p:nvPr/>
        </p:nvSpPr>
        <p:spPr>
          <a:xfrm>
            <a:off x="8765349" y="3220771"/>
            <a:ext cx="1721329"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S7. Service Order Process at charge SOP</a:t>
            </a:r>
          </a:p>
        </p:txBody>
      </p:sp>
      <p:cxnSp>
        <p:nvCxnSpPr>
          <p:cNvPr id="46" name="Connector: Elbow 45">
            <a:extLst>
              <a:ext uri="{FF2B5EF4-FFF2-40B4-BE49-F238E27FC236}">
                <a16:creationId xmlns:a16="http://schemas.microsoft.com/office/drawing/2014/main" id="{1AF51ED8-6A5E-F34F-07C2-AE2CAFC1CD01}"/>
              </a:ext>
            </a:extLst>
          </p:cNvPr>
          <p:cNvCxnSpPr>
            <a:cxnSpLocks/>
            <a:stCxn id="41" idx="2"/>
            <a:endCxn id="66" idx="1"/>
          </p:cNvCxnSpPr>
          <p:nvPr/>
        </p:nvCxnSpPr>
        <p:spPr>
          <a:xfrm rot="16200000" flipH="1">
            <a:off x="4188391" y="1985939"/>
            <a:ext cx="537107" cy="2408219"/>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 name="Flowchart: Predefined Process 46">
            <a:extLst>
              <a:ext uri="{FF2B5EF4-FFF2-40B4-BE49-F238E27FC236}">
                <a16:creationId xmlns:a16="http://schemas.microsoft.com/office/drawing/2014/main" id="{2F8078D4-6576-CF84-CFAD-63CD38975804}"/>
              </a:ext>
            </a:extLst>
          </p:cNvPr>
          <p:cNvSpPr/>
          <p:nvPr/>
        </p:nvSpPr>
        <p:spPr>
          <a:xfrm>
            <a:off x="5923071" y="1070001"/>
            <a:ext cx="1135627"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S2. Order Inquiry </a:t>
            </a:r>
          </a:p>
        </p:txBody>
      </p:sp>
      <p:cxnSp>
        <p:nvCxnSpPr>
          <p:cNvPr id="48" name="Connector: Elbow 47">
            <a:extLst>
              <a:ext uri="{FF2B5EF4-FFF2-40B4-BE49-F238E27FC236}">
                <a16:creationId xmlns:a16="http://schemas.microsoft.com/office/drawing/2014/main" id="{F38A26E7-327D-4291-38DC-236FBE2F8204}"/>
              </a:ext>
            </a:extLst>
          </p:cNvPr>
          <p:cNvCxnSpPr>
            <a:cxnSpLocks/>
            <a:stCxn id="41" idx="0"/>
            <a:endCxn id="60" idx="1"/>
          </p:cNvCxnSpPr>
          <p:nvPr/>
        </p:nvCxnSpPr>
        <p:spPr>
          <a:xfrm rot="5400000" flipH="1" flipV="1">
            <a:off x="3561610" y="1589667"/>
            <a:ext cx="657606" cy="127515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Flowchart: Predefined Process 48">
            <a:extLst>
              <a:ext uri="{FF2B5EF4-FFF2-40B4-BE49-F238E27FC236}">
                <a16:creationId xmlns:a16="http://schemas.microsoft.com/office/drawing/2014/main" id="{B643CC2B-8F57-06DA-FED6-E061181B5146}"/>
              </a:ext>
            </a:extLst>
          </p:cNvPr>
          <p:cNvSpPr/>
          <p:nvPr/>
        </p:nvSpPr>
        <p:spPr>
          <a:xfrm>
            <a:off x="9923907" y="1055454"/>
            <a:ext cx="1471216"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S4. Create Start-Up Incident</a:t>
            </a:r>
          </a:p>
        </p:txBody>
      </p:sp>
      <p:sp>
        <p:nvSpPr>
          <p:cNvPr id="50" name="Flowchart: Predefined Process 49">
            <a:extLst>
              <a:ext uri="{FF2B5EF4-FFF2-40B4-BE49-F238E27FC236}">
                <a16:creationId xmlns:a16="http://schemas.microsoft.com/office/drawing/2014/main" id="{0E86887A-C3CA-7EB4-ECE4-8DD8DE74698E}"/>
              </a:ext>
            </a:extLst>
          </p:cNvPr>
          <p:cNvSpPr/>
          <p:nvPr/>
        </p:nvSpPr>
        <p:spPr>
          <a:xfrm>
            <a:off x="405360" y="4455642"/>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S8. Add Start-Up Notes</a:t>
            </a:r>
          </a:p>
        </p:txBody>
      </p:sp>
      <p:cxnSp>
        <p:nvCxnSpPr>
          <p:cNvPr id="51" name="Connector: Elbow 50">
            <a:extLst>
              <a:ext uri="{FF2B5EF4-FFF2-40B4-BE49-F238E27FC236}">
                <a16:creationId xmlns:a16="http://schemas.microsoft.com/office/drawing/2014/main" id="{49158886-0C92-7392-D388-B44C3FF6B599}"/>
              </a:ext>
            </a:extLst>
          </p:cNvPr>
          <p:cNvCxnSpPr>
            <a:cxnSpLocks/>
            <a:stCxn id="49" idx="2"/>
            <a:endCxn id="50" idx="0"/>
          </p:cNvCxnSpPr>
          <p:nvPr/>
        </p:nvCxnSpPr>
        <p:spPr>
          <a:xfrm rot="5400000">
            <a:off x="4475717" y="-1728156"/>
            <a:ext cx="2931114" cy="9436483"/>
          </a:xfrm>
          <a:prstGeom prst="bentConnector3">
            <a:avLst>
              <a:gd name="adj1" fmla="val 85478"/>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52" name="Flowchart: Predefined Process 51">
            <a:extLst>
              <a:ext uri="{FF2B5EF4-FFF2-40B4-BE49-F238E27FC236}">
                <a16:creationId xmlns:a16="http://schemas.microsoft.com/office/drawing/2014/main" id="{A228728C-E4D2-8753-E927-7A656F34C3DA}"/>
              </a:ext>
            </a:extLst>
          </p:cNvPr>
          <p:cNvSpPr/>
          <p:nvPr/>
        </p:nvSpPr>
        <p:spPr>
          <a:xfrm>
            <a:off x="2431645" y="4448976"/>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S9. Add Line</a:t>
            </a:r>
          </a:p>
        </p:txBody>
      </p:sp>
      <p:sp>
        <p:nvSpPr>
          <p:cNvPr id="53" name="Flowchart: Predefined Process 52">
            <a:extLst>
              <a:ext uri="{FF2B5EF4-FFF2-40B4-BE49-F238E27FC236}">
                <a16:creationId xmlns:a16="http://schemas.microsoft.com/office/drawing/2014/main" id="{2E80D1EE-A9FF-C504-2C5E-D2503DF7EAC6}"/>
              </a:ext>
            </a:extLst>
          </p:cNvPr>
          <p:cNvSpPr/>
          <p:nvPr/>
        </p:nvSpPr>
        <p:spPr>
          <a:xfrm>
            <a:off x="4426735" y="4449327"/>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S10. Convert to SRO and Schedule</a:t>
            </a:r>
          </a:p>
        </p:txBody>
      </p:sp>
      <p:sp>
        <p:nvSpPr>
          <p:cNvPr id="54" name="Flowchart: Predefined Process 53">
            <a:extLst>
              <a:ext uri="{FF2B5EF4-FFF2-40B4-BE49-F238E27FC236}">
                <a16:creationId xmlns:a16="http://schemas.microsoft.com/office/drawing/2014/main" id="{AC7568E7-6639-92A2-63F5-1902F34A8F84}"/>
              </a:ext>
            </a:extLst>
          </p:cNvPr>
          <p:cNvSpPr/>
          <p:nvPr/>
        </p:nvSpPr>
        <p:spPr>
          <a:xfrm>
            <a:off x="6576675" y="4448804"/>
            <a:ext cx="1375653" cy="438417"/>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S11. Print Pick Ticket</a:t>
            </a:r>
          </a:p>
        </p:txBody>
      </p:sp>
      <p:sp>
        <p:nvSpPr>
          <p:cNvPr id="55" name="Flowchart: Predefined Process 54">
            <a:extLst>
              <a:ext uri="{FF2B5EF4-FFF2-40B4-BE49-F238E27FC236}">
                <a16:creationId xmlns:a16="http://schemas.microsoft.com/office/drawing/2014/main" id="{7EFBE032-B36A-A49E-0ADE-46EC079BD197}"/>
              </a:ext>
            </a:extLst>
          </p:cNvPr>
          <p:cNvSpPr/>
          <p:nvPr/>
        </p:nvSpPr>
        <p:spPr>
          <a:xfrm>
            <a:off x="8429193" y="4438973"/>
            <a:ext cx="1469923"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S12. Shipping Feedback Ship </a:t>
            </a:r>
          </a:p>
        </p:txBody>
      </p:sp>
      <p:sp>
        <p:nvSpPr>
          <p:cNvPr id="56" name="Flowchart: Process 55">
            <a:extLst>
              <a:ext uri="{FF2B5EF4-FFF2-40B4-BE49-F238E27FC236}">
                <a16:creationId xmlns:a16="http://schemas.microsoft.com/office/drawing/2014/main" id="{97B367EA-A4DB-37EC-22CC-FCAA32AC6ABF}"/>
              </a:ext>
            </a:extLst>
          </p:cNvPr>
          <p:cNvSpPr/>
          <p:nvPr/>
        </p:nvSpPr>
        <p:spPr>
          <a:xfrm>
            <a:off x="10234705" y="4422303"/>
            <a:ext cx="1327355" cy="47175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S13. Tech Performs Start-Up</a:t>
            </a:r>
          </a:p>
        </p:txBody>
      </p:sp>
      <p:sp>
        <p:nvSpPr>
          <p:cNvPr id="57" name="Flowchart: Predefined Process 56">
            <a:extLst>
              <a:ext uri="{FF2B5EF4-FFF2-40B4-BE49-F238E27FC236}">
                <a16:creationId xmlns:a16="http://schemas.microsoft.com/office/drawing/2014/main" id="{CE078DE5-5CA2-BC3B-30BD-F764B0D15D6C}"/>
              </a:ext>
            </a:extLst>
          </p:cNvPr>
          <p:cNvSpPr/>
          <p:nvPr/>
        </p:nvSpPr>
        <p:spPr>
          <a:xfrm>
            <a:off x="5652740" y="5553462"/>
            <a:ext cx="1469923"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S14. Register A Unit</a:t>
            </a:r>
          </a:p>
        </p:txBody>
      </p:sp>
      <p:cxnSp>
        <p:nvCxnSpPr>
          <p:cNvPr id="58" name="Connector: Elbow 57">
            <a:extLst>
              <a:ext uri="{FF2B5EF4-FFF2-40B4-BE49-F238E27FC236}">
                <a16:creationId xmlns:a16="http://schemas.microsoft.com/office/drawing/2014/main" id="{74483B27-BEA6-ADFD-44B1-E5B8782B3688}"/>
              </a:ext>
            </a:extLst>
          </p:cNvPr>
          <p:cNvCxnSpPr>
            <a:cxnSpLocks/>
            <a:stCxn id="56" idx="2"/>
            <a:endCxn id="57" idx="0"/>
          </p:cNvCxnSpPr>
          <p:nvPr/>
        </p:nvCxnSpPr>
        <p:spPr>
          <a:xfrm rot="5400000">
            <a:off x="8313341" y="2968420"/>
            <a:ext cx="659404" cy="4510681"/>
          </a:xfrm>
          <a:prstGeom prst="bentConnector3">
            <a:avLst>
              <a:gd name="adj1" fmla="val 69033"/>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60" name="Flowchart: Decision 59">
            <a:extLst>
              <a:ext uri="{FF2B5EF4-FFF2-40B4-BE49-F238E27FC236}">
                <a16:creationId xmlns:a16="http://schemas.microsoft.com/office/drawing/2014/main" id="{A92E4650-42B1-3D22-488A-AF01B78E8FD4}"/>
              </a:ext>
            </a:extLst>
          </p:cNvPr>
          <p:cNvSpPr/>
          <p:nvPr/>
        </p:nvSpPr>
        <p:spPr>
          <a:xfrm>
            <a:off x="4527992" y="1724244"/>
            <a:ext cx="435655" cy="34839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D2</a:t>
            </a:r>
          </a:p>
        </p:txBody>
      </p:sp>
      <p:sp>
        <p:nvSpPr>
          <p:cNvPr id="61" name="Flowchart: Process 60">
            <a:extLst>
              <a:ext uri="{FF2B5EF4-FFF2-40B4-BE49-F238E27FC236}">
                <a16:creationId xmlns:a16="http://schemas.microsoft.com/office/drawing/2014/main" id="{067BF75D-C51A-D0D3-2EE1-FF9642121E65}"/>
              </a:ext>
            </a:extLst>
          </p:cNvPr>
          <p:cNvSpPr/>
          <p:nvPr/>
        </p:nvSpPr>
        <p:spPr>
          <a:xfrm>
            <a:off x="4799383" y="1668146"/>
            <a:ext cx="171405" cy="17107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62" name="Flowchart: Process 61">
            <a:extLst>
              <a:ext uri="{FF2B5EF4-FFF2-40B4-BE49-F238E27FC236}">
                <a16:creationId xmlns:a16="http://schemas.microsoft.com/office/drawing/2014/main" id="{690E09D3-6AD0-A5F9-D35C-853B29F41097}"/>
              </a:ext>
            </a:extLst>
          </p:cNvPr>
          <p:cNvSpPr/>
          <p:nvPr/>
        </p:nvSpPr>
        <p:spPr>
          <a:xfrm>
            <a:off x="4520850" y="1944263"/>
            <a:ext cx="171405" cy="17107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sp>
        <p:nvSpPr>
          <p:cNvPr id="63" name="TextBox 62">
            <a:extLst>
              <a:ext uri="{FF2B5EF4-FFF2-40B4-BE49-F238E27FC236}">
                <a16:creationId xmlns:a16="http://schemas.microsoft.com/office/drawing/2014/main" id="{AD29DB7B-9B0F-64F0-F86E-04118604790D}"/>
              </a:ext>
            </a:extLst>
          </p:cNvPr>
          <p:cNvSpPr txBox="1"/>
          <p:nvPr/>
        </p:nvSpPr>
        <p:spPr>
          <a:xfrm>
            <a:off x="3882757" y="1378103"/>
            <a:ext cx="948813" cy="507831"/>
          </a:xfrm>
          <a:prstGeom prst="rect">
            <a:avLst/>
          </a:prstGeom>
          <a:noFill/>
        </p:spPr>
        <p:txBody>
          <a:bodyPr wrap="square" rtlCol="0">
            <a:spAutoFit/>
          </a:bodyPr>
          <a:lstStyle/>
          <a:p>
            <a:r>
              <a:rPr lang="en-US" sz="900" dirty="0"/>
              <a:t>Do You Know The Original Order #?</a:t>
            </a:r>
          </a:p>
        </p:txBody>
      </p:sp>
      <p:cxnSp>
        <p:nvCxnSpPr>
          <p:cNvPr id="64" name="Connector: Elbow 63">
            <a:extLst>
              <a:ext uri="{FF2B5EF4-FFF2-40B4-BE49-F238E27FC236}">
                <a16:creationId xmlns:a16="http://schemas.microsoft.com/office/drawing/2014/main" id="{6238F2B0-8865-70AA-FC23-1A11DF3EC48D}"/>
              </a:ext>
            </a:extLst>
          </p:cNvPr>
          <p:cNvCxnSpPr>
            <a:cxnSpLocks/>
            <a:stCxn id="60" idx="0"/>
            <a:endCxn id="47" idx="1"/>
          </p:cNvCxnSpPr>
          <p:nvPr/>
        </p:nvCxnSpPr>
        <p:spPr>
          <a:xfrm rot="5400000" flipH="1" flipV="1">
            <a:off x="5124592" y="925766"/>
            <a:ext cx="419706" cy="117725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5" name="Flowchart: Predefined Process 64">
            <a:extLst>
              <a:ext uri="{FF2B5EF4-FFF2-40B4-BE49-F238E27FC236}">
                <a16:creationId xmlns:a16="http://schemas.microsoft.com/office/drawing/2014/main" id="{14F6D973-71D1-8DC1-BE86-B8C6FBD63D71}"/>
              </a:ext>
            </a:extLst>
          </p:cNvPr>
          <p:cNvSpPr/>
          <p:nvPr/>
        </p:nvSpPr>
        <p:spPr>
          <a:xfrm>
            <a:off x="7519201" y="2231738"/>
            <a:ext cx="1944205"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S5. Order Inquiry Using Serial Number</a:t>
            </a:r>
          </a:p>
        </p:txBody>
      </p:sp>
      <p:sp>
        <p:nvSpPr>
          <p:cNvPr id="66" name="TextBox 65">
            <a:extLst>
              <a:ext uri="{FF2B5EF4-FFF2-40B4-BE49-F238E27FC236}">
                <a16:creationId xmlns:a16="http://schemas.microsoft.com/office/drawing/2014/main" id="{5CFD9240-B990-0139-5F16-2F186D3ACF46}"/>
              </a:ext>
            </a:extLst>
          </p:cNvPr>
          <p:cNvSpPr txBox="1"/>
          <p:nvPr/>
        </p:nvSpPr>
        <p:spPr>
          <a:xfrm>
            <a:off x="5661054" y="3222725"/>
            <a:ext cx="1205916"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S6. Create A New Unit SOP</a:t>
            </a:r>
          </a:p>
        </p:txBody>
      </p:sp>
      <p:cxnSp>
        <p:nvCxnSpPr>
          <p:cNvPr id="67" name="Connector: Elbow 66">
            <a:extLst>
              <a:ext uri="{FF2B5EF4-FFF2-40B4-BE49-F238E27FC236}">
                <a16:creationId xmlns:a16="http://schemas.microsoft.com/office/drawing/2014/main" id="{BDB1B5B1-16BD-06EB-8FE4-1E964555B3E5}"/>
              </a:ext>
            </a:extLst>
          </p:cNvPr>
          <p:cNvCxnSpPr>
            <a:cxnSpLocks/>
            <a:stCxn id="60" idx="2"/>
            <a:endCxn id="65" idx="1"/>
          </p:cNvCxnSpPr>
          <p:nvPr/>
        </p:nvCxnSpPr>
        <p:spPr>
          <a:xfrm rot="16200000" flipH="1">
            <a:off x="5935693" y="882766"/>
            <a:ext cx="393635" cy="2773381"/>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0" name="Flowchart: Process 69">
            <a:extLst>
              <a:ext uri="{FF2B5EF4-FFF2-40B4-BE49-F238E27FC236}">
                <a16:creationId xmlns:a16="http://schemas.microsoft.com/office/drawing/2014/main" id="{FA73B9EF-9A06-E8FB-6551-9639CA1319C6}"/>
              </a:ext>
            </a:extLst>
          </p:cNvPr>
          <p:cNvSpPr/>
          <p:nvPr/>
        </p:nvSpPr>
        <p:spPr>
          <a:xfrm>
            <a:off x="7827625" y="1057821"/>
            <a:ext cx="1327355" cy="47451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S3. Check With AR To Verify Payment In Full</a:t>
            </a:r>
          </a:p>
        </p:txBody>
      </p:sp>
      <p:cxnSp>
        <p:nvCxnSpPr>
          <p:cNvPr id="71" name="Straight Arrow Connector 70">
            <a:extLst>
              <a:ext uri="{FF2B5EF4-FFF2-40B4-BE49-F238E27FC236}">
                <a16:creationId xmlns:a16="http://schemas.microsoft.com/office/drawing/2014/main" id="{0D081A51-C2A9-8950-971B-A19CBCC6A1B4}"/>
              </a:ext>
            </a:extLst>
          </p:cNvPr>
          <p:cNvCxnSpPr>
            <a:cxnSpLocks/>
            <a:stCxn id="47" idx="3"/>
            <a:endCxn id="70" idx="1"/>
          </p:cNvCxnSpPr>
          <p:nvPr/>
        </p:nvCxnSpPr>
        <p:spPr>
          <a:xfrm flipV="1">
            <a:off x="7058698" y="1295078"/>
            <a:ext cx="768927" cy="946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78E30BF0-2863-A325-C388-F812FCFF462E}"/>
              </a:ext>
            </a:extLst>
          </p:cNvPr>
          <p:cNvCxnSpPr>
            <a:cxnSpLocks/>
            <a:stCxn id="70" idx="3"/>
            <a:endCxn id="49" idx="1"/>
          </p:cNvCxnSpPr>
          <p:nvPr/>
        </p:nvCxnSpPr>
        <p:spPr>
          <a:xfrm flipV="1">
            <a:off x="9154980" y="1289991"/>
            <a:ext cx="768927" cy="5087"/>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78DD096D-31DD-E513-927E-E68743589AC1}"/>
              </a:ext>
            </a:extLst>
          </p:cNvPr>
          <p:cNvCxnSpPr>
            <a:cxnSpLocks/>
            <a:stCxn id="66" idx="3"/>
            <a:endCxn id="45" idx="1"/>
          </p:cNvCxnSpPr>
          <p:nvPr/>
        </p:nvCxnSpPr>
        <p:spPr>
          <a:xfrm flipV="1">
            <a:off x="6866970" y="3456649"/>
            <a:ext cx="1898379" cy="195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890AD9A1-737B-D533-DA76-33D6EA90BBC1}"/>
              </a:ext>
            </a:extLst>
          </p:cNvPr>
          <p:cNvCxnSpPr>
            <a:cxnSpLocks/>
            <a:stCxn id="50" idx="3"/>
            <a:endCxn id="52" idx="1"/>
          </p:cNvCxnSpPr>
          <p:nvPr/>
        </p:nvCxnSpPr>
        <p:spPr>
          <a:xfrm flipV="1">
            <a:off x="2040704" y="4668184"/>
            <a:ext cx="390941" cy="6666"/>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9D9C661E-83C6-71D4-63D2-FB7DE1BECC0C}"/>
              </a:ext>
            </a:extLst>
          </p:cNvPr>
          <p:cNvCxnSpPr>
            <a:cxnSpLocks/>
            <a:stCxn id="52" idx="3"/>
            <a:endCxn id="53" idx="1"/>
          </p:cNvCxnSpPr>
          <p:nvPr/>
        </p:nvCxnSpPr>
        <p:spPr>
          <a:xfrm>
            <a:off x="4066989" y="4668184"/>
            <a:ext cx="359746" cy="351"/>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66DC8161-33FD-79EE-3435-3871A0A43293}"/>
              </a:ext>
            </a:extLst>
          </p:cNvPr>
          <p:cNvCxnSpPr>
            <a:cxnSpLocks/>
            <a:stCxn id="53" idx="3"/>
            <a:endCxn id="54" idx="1"/>
          </p:cNvCxnSpPr>
          <p:nvPr/>
        </p:nvCxnSpPr>
        <p:spPr>
          <a:xfrm flipV="1">
            <a:off x="6062079" y="4668013"/>
            <a:ext cx="514596" cy="522"/>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E153EA2C-3907-68F5-38E5-3B905D13B913}"/>
              </a:ext>
            </a:extLst>
          </p:cNvPr>
          <p:cNvCxnSpPr>
            <a:cxnSpLocks/>
            <a:stCxn id="54" idx="3"/>
            <a:endCxn id="55" idx="1"/>
          </p:cNvCxnSpPr>
          <p:nvPr/>
        </p:nvCxnSpPr>
        <p:spPr>
          <a:xfrm flipV="1">
            <a:off x="7952328" y="4658181"/>
            <a:ext cx="476865" cy="9832"/>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82038975-6185-7A21-73BE-2C832A99562F}"/>
              </a:ext>
            </a:extLst>
          </p:cNvPr>
          <p:cNvCxnSpPr>
            <a:cxnSpLocks/>
            <a:stCxn id="55" idx="3"/>
            <a:endCxn id="56" idx="1"/>
          </p:cNvCxnSpPr>
          <p:nvPr/>
        </p:nvCxnSpPr>
        <p:spPr>
          <a:xfrm>
            <a:off x="9899116" y="4658181"/>
            <a:ext cx="335589" cy="0"/>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FD8CC49D-D776-FDBD-6758-F1D3A8C68F0C}"/>
              </a:ext>
            </a:extLst>
          </p:cNvPr>
          <p:cNvCxnSpPr>
            <a:cxnSpLocks/>
            <a:stCxn id="39" idx="3"/>
            <a:endCxn id="41" idx="1"/>
          </p:cNvCxnSpPr>
          <p:nvPr/>
        </p:nvCxnSpPr>
        <p:spPr>
          <a:xfrm>
            <a:off x="2040704" y="2738772"/>
            <a:ext cx="926695"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A0FA7BBA-57DC-7FF9-2548-1E259BA17E05}"/>
              </a:ext>
            </a:extLst>
          </p:cNvPr>
          <p:cNvCxnSpPr>
            <a:cxnSpLocks/>
            <a:stCxn id="65" idx="0"/>
            <a:endCxn id="70" idx="2"/>
          </p:cNvCxnSpPr>
          <p:nvPr/>
        </p:nvCxnSpPr>
        <p:spPr>
          <a:xfrm flipH="1" flipV="1">
            <a:off x="8491303" y="1532334"/>
            <a:ext cx="1" cy="69940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BA29453C-BCB9-DE4D-DDB8-723958549924}"/>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25 12 28 0800</a:t>
            </a:r>
          </a:p>
        </p:txBody>
      </p:sp>
      <p:sp>
        <p:nvSpPr>
          <p:cNvPr id="2" name="- N2. No Gen Set Not sold by Palco">
            <a:extLst>
              <a:ext uri="{FF2B5EF4-FFF2-40B4-BE49-F238E27FC236}">
                <a16:creationId xmlns:a16="http://schemas.microsoft.com/office/drawing/2014/main" id="{07007F4B-7E79-EED8-51F2-6E53B738D389}"/>
              </a:ext>
            </a:extLst>
          </p:cNvPr>
          <p:cNvSpPr>
            <a:spLocks noGrp="1"/>
          </p:cNvSpPr>
          <p:nvPr>
            <p:ph type="title"/>
          </p:nvPr>
        </p:nvSpPr>
        <p:spPr>
          <a:xfrm>
            <a:off x="838200" y="314871"/>
            <a:ext cx="10515600" cy="428753"/>
          </a:xfrm>
        </p:spPr>
        <p:txBody>
          <a:bodyPr>
            <a:noAutofit/>
          </a:bodyPr>
          <a:lstStyle/>
          <a:p>
            <a:pPr algn="ctr"/>
            <a:r>
              <a:rPr lang="en-US" sz="1600" b="1" dirty="0"/>
              <a:t>N1. No Gen Set Not sold by Palco – Startup SOP</a:t>
            </a:r>
          </a:p>
        </p:txBody>
      </p:sp>
      <p:sp>
        <p:nvSpPr>
          <p:cNvPr id="10" name="TextBox 9">
            <a:extLst>
              <a:ext uri="{FF2B5EF4-FFF2-40B4-BE49-F238E27FC236}">
                <a16:creationId xmlns:a16="http://schemas.microsoft.com/office/drawing/2014/main" id="{F72D1406-FAD1-112F-C4A2-3CE5AA2B85C8}"/>
              </a:ext>
            </a:extLst>
          </p:cNvPr>
          <p:cNvSpPr txBox="1"/>
          <p:nvPr/>
        </p:nvSpPr>
        <p:spPr>
          <a:xfrm>
            <a:off x="1252978" y="5986802"/>
            <a:ext cx="1135581" cy="655216"/>
          </a:xfrm>
          <a:prstGeom prst="flowChartInternalStorage">
            <a:avLst/>
          </a:prstGeom>
          <a:solidFill>
            <a:srgbClr val="FFFF00"/>
          </a:solidFill>
          <a:ln>
            <a:solidFill>
              <a:schemeClr val="tx1"/>
            </a:solidFill>
          </a:ln>
        </p:spPr>
        <p:txBody>
          <a:bodyPr wrap="square" rtlCol="0">
            <a:spAutoFit/>
          </a:bodyPr>
          <a:lstStyle/>
          <a:p>
            <a:pPr algn="ctr"/>
            <a:r>
              <a:rPr lang="en-US" sz="1050" dirty="0"/>
              <a:t>Note this Indicates a Sub SOP </a:t>
            </a:r>
          </a:p>
        </p:txBody>
      </p:sp>
    </p:spTree>
    <p:extLst>
      <p:ext uri="{BB962C8B-B14F-4D97-AF65-F5344CB8AC3E}">
        <p14:creationId xmlns:p14="http://schemas.microsoft.com/office/powerpoint/2010/main" val="26507813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608EE-3DFD-7A9C-0229-39095262BF63}"/>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DD618266-4FB5-58BD-89C6-5789A6D4081E}"/>
              </a:ext>
            </a:extLst>
          </p:cNvPr>
          <p:cNvSpPr/>
          <p:nvPr/>
        </p:nvSpPr>
        <p:spPr>
          <a:xfrm>
            <a:off x="5244407" y="2919802"/>
            <a:ext cx="2151794" cy="1054262"/>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sp>
        <p:nvSpPr>
          <p:cNvPr id="39" name="Flowchart: Process 38">
            <a:extLst>
              <a:ext uri="{FF2B5EF4-FFF2-40B4-BE49-F238E27FC236}">
                <a16:creationId xmlns:a16="http://schemas.microsoft.com/office/drawing/2014/main" id="{D8CC502B-D060-0273-BBCC-4B43B4526700}"/>
              </a:ext>
            </a:extLst>
          </p:cNvPr>
          <p:cNvSpPr/>
          <p:nvPr/>
        </p:nvSpPr>
        <p:spPr>
          <a:xfrm>
            <a:off x="713349" y="2526777"/>
            <a:ext cx="1327355" cy="42399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 Customer Calls For Start-Up</a:t>
            </a:r>
          </a:p>
        </p:txBody>
      </p:sp>
      <p:sp>
        <p:nvSpPr>
          <p:cNvPr id="41" name="Flowchart: Decision 40">
            <a:extLst>
              <a:ext uri="{FF2B5EF4-FFF2-40B4-BE49-F238E27FC236}">
                <a16:creationId xmlns:a16="http://schemas.microsoft.com/office/drawing/2014/main" id="{208DBB94-6393-DBE3-C453-86DFFEFE080F}"/>
              </a:ext>
            </a:extLst>
          </p:cNvPr>
          <p:cNvSpPr/>
          <p:nvPr/>
        </p:nvSpPr>
        <p:spPr>
          <a:xfrm>
            <a:off x="2967399" y="2556048"/>
            <a:ext cx="570871" cy="365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D1</a:t>
            </a:r>
          </a:p>
        </p:txBody>
      </p:sp>
      <p:sp>
        <p:nvSpPr>
          <p:cNvPr id="42" name="Flowchart: Process 41">
            <a:extLst>
              <a:ext uri="{FF2B5EF4-FFF2-40B4-BE49-F238E27FC236}">
                <a16:creationId xmlns:a16="http://schemas.microsoft.com/office/drawing/2014/main" id="{8EC5B26D-FF99-4CBB-63C0-E31A515E9214}"/>
              </a:ext>
            </a:extLst>
          </p:cNvPr>
          <p:cNvSpPr/>
          <p:nvPr/>
        </p:nvSpPr>
        <p:spPr>
          <a:xfrm>
            <a:off x="3323024" y="2497204"/>
            <a:ext cx="224605" cy="17944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43" name="Flowchart: Process 42">
            <a:extLst>
              <a:ext uri="{FF2B5EF4-FFF2-40B4-BE49-F238E27FC236}">
                <a16:creationId xmlns:a16="http://schemas.microsoft.com/office/drawing/2014/main" id="{BFD29F73-2CEF-2CC8-BD8A-32563B0CDF4D}"/>
              </a:ext>
            </a:extLst>
          </p:cNvPr>
          <p:cNvSpPr/>
          <p:nvPr/>
        </p:nvSpPr>
        <p:spPr>
          <a:xfrm>
            <a:off x="2958041" y="2786835"/>
            <a:ext cx="224605" cy="17944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sp>
        <p:nvSpPr>
          <p:cNvPr id="44" name="TextBox 43">
            <a:extLst>
              <a:ext uri="{FF2B5EF4-FFF2-40B4-BE49-F238E27FC236}">
                <a16:creationId xmlns:a16="http://schemas.microsoft.com/office/drawing/2014/main" id="{7F2D5160-5F09-7465-0FFC-3D1DD24C6AAA}"/>
              </a:ext>
            </a:extLst>
          </p:cNvPr>
          <p:cNvSpPr txBox="1"/>
          <p:nvPr/>
        </p:nvSpPr>
        <p:spPr>
          <a:xfrm>
            <a:off x="2332800" y="2331480"/>
            <a:ext cx="948813" cy="369332"/>
          </a:xfrm>
          <a:prstGeom prst="rect">
            <a:avLst/>
          </a:prstGeom>
          <a:noFill/>
        </p:spPr>
        <p:txBody>
          <a:bodyPr wrap="square" rtlCol="0">
            <a:spAutoFit/>
          </a:bodyPr>
          <a:lstStyle/>
          <a:p>
            <a:r>
              <a:rPr lang="en-US" sz="900" dirty="0"/>
              <a:t>Q1.Did We Sell The Generator? </a:t>
            </a:r>
          </a:p>
        </p:txBody>
      </p:sp>
      <p:sp>
        <p:nvSpPr>
          <p:cNvPr id="45" name="TextBox 44">
            <a:extLst>
              <a:ext uri="{FF2B5EF4-FFF2-40B4-BE49-F238E27FC236}">
                <a16:creationId xmlns:a16="http://schemas.microsoft.com/office/drawing/2014/main" id="{1354E001-F7EA-5B02-83DA-301D8849E024}"/>
              </a:ext>
            </a:extLst>
          </p:cNvPr>
          <p:cNvSpPr txBox="1"/>
          <p:nvPr/>
        </p:nvSpPr>
        <p:spPr>
          <a:xfrm>
            <a:off x="8765349" y="3220771"/>
            <a:ext cx="1721329"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S7. Service Order Process at charge SOP</a:t>
            </a:r>
          </a:p>
        </p:txBody>
      </p:sp>
      <p:cxnSp>
        <p:nvCxnSpPr>
          <p:cNvPr id="46" name="Connector: Elbow 45">
            <a:extLst>
              <a:ext uri="{FF2B5EF4-FFF2-40B4-BE49-F238E27FC236}">
                <a16:creationId xmlns:a16="http://schemas.microsoft.com/office/drawing/2014/main" id="{FDFBAE54-9BF8-19BA-7DED-CC0FBA5B10C8}"/>
              </a:ext>
            </a:extLst>
          </p:cNvPr>
          <p:cNvCxnSpPr>
            <a:cxnSpLocks/>
            <a:stCxn id="41" idx="2"/>
            <a:endCxn id="66" idx="1"/>
          </p:cNvCxnSpPr>
          <p:nvPr/>
        </p:nvCxnSpPr>
        <p:spPr>
          <a:xfrm rot="16200000" flipH="1">
            <a:off x="4188391" y="1985939"/>
            <a:ext cx="537107" cy="2408219"/>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 name="Flowchart: Predefined Process 46">
            <a:extLst>
              <a:ext uri="{FF2B5EF4-FFF2-40B4-BE49-F238E27FC236}">
                <a16:creationId xmlns:a16="http://schemas.microsoft.com/office/drawing/2014/main" id="{BD1A0290-9AB3-9B94-9C6F-47C1AAFD73B0}"/>
              </a:ext>
            </a:extLst>
          </p:cNvPr>
          <p:cNvSpPr/>
          <p:nvPr/>
        </p:nvSpPr>
        <p:spPr>
          <a:xfrm>
            <a:off x="5923071" y="1070001"/>
            <a:ext cx="1135627"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S2. Order Inquiry </a:t>
            </a:r>
          </a:p>
        </p:txBody>
      </p:sp>
      <p:cxnSp>
        <p:nvCxnSpPr>
          <p:cNvPr id="48" name="Connector: Elbow 47">
            <a:extLst>
              <a:ext uri="{FF2B5EF4-FFF2-40B4-BE49-F238E27FC236}">
                <a16:creationId xmlns:a16="http://schemas.microsoft.com/office/drawing/2014/main" id="{3702ADAD-0277-045C-D090-A69B143DA030}"/>
              </a:ext>
            </a:extLst>
          </p:cNvPr>
          <p:cNvCxnSpPr>
            <a:cxnSpLocks/>
            <a:stCxn id="41" idx="0"/>
            <a:endCxn id="60" idx="1"/>
          </p:cNvCxnSpPr>
          <p:nvPr/>
        </p:nvCxnSpPr>
        <p:spPr>
          <a:xfrm rot="5400000" flipH="1" flipV="1">
            <a:off x="3561610" y="1589667"/>
            <a:ext cx="657606" cy="127515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Flowchart: Predefined Process 48">
            <a:extLst>
              <a:ext uri="{FF2B5EF4-FFF2-40B4-BE49-F238E27FC236}">
                <a16:creationId xmlns:a16="http://schemas.microsoft.com/office/drawing/2014/main" id="{26A2B13C-89A1-9DC3-777D-F0EAC57EA71C}"/>
              </a:ext>
            </a:extLst>
          </p:cNvPr>
          <p:cNvSpPr/>
          <p:nvPr/>
        </p:nvSpPr>
        <p:spPr>
          <a:xfrm>
            <a:off x="9923907" y="1055454"/>
            <a:ext cx="1471216"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S4. Create Start-Up Incident</a:t>
            </a:r>
          </a:p>
        </p:txBody>
      </p:sp>
      <p:sp>
        <p:nvSpPr>
          <p:cNvPr id="50" name="Flowchart: Predefined Process 49">
            <a:extLst>
              <a:ext uri="{FF2B5EF4-FFF2-40B4-BE49-F238E27FC236}">
                <a16:creationId xmlns:a16="http://schemas.microsoft.com/office/drawing/2014/main" id="{0074D6BB-7414-772B-F240-6662BBA0127F}"/>
              </a:ext>
            </a:extLst>
          </p:cNvPr>
          <p:cNvSpPr/>
          <p:nvPr/>
        </p:nvSpPr>
        <p:spPr>
          <a:xfrm>
            <a:off x="405360" y="4455642"/>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S8. Add Start-Up Notes</a:t>
            </a:r>
          </a:p>
        </p:txBody>
      </p:sp>
      <p:cxnSp>
        <p:nvCxnSpPr>
          <p:cNvPr id="51" name="Connector: Elbow 50">
            <a:extLst>
              <a:ext uri="{FF2B5EF4-FFF2-40B4-BE49-F238E27FC236}">
                <a16:creationId xmlns:a16="http://schemas.microsoft.com/office/drawing/2014/main" id="{0D7573D4-EC94-361A-529F-2C863BF9EDBE}"/>
              </a:ext>
            </a:extLst>
          </p:cNvPr>
          <p:cNvCxnSpPr>
            <a:cxnSpLocks/>
            <a:stCxn id="49" idx="2"/>
            <a:endCxn id="50" idx="0"/>
          </p:cNvCxnSpPr>
          <p:nvPr/>
        </p:nvCxnSpPr>
        <p:spPr>
          <a:xfrm rot="5400000">
            <a:off x="4475717" y="-1728156"/>
            <a:ext cx="2931114" cy="9436483"/>
          </a:xfrm>
          <a:prstGeom prst="bentConnector3">
            <a:avLst>
              <a:gd name="adj1" fmla="val 85478"/>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52" name="Flowchart: Predefined Process 51">
            <a:extLst>
              <a:ext uri="{FF2B5EF4-FFF2-40B4-BE49-F238E27FC236}">
                <a16:creationId xmlns:a16="http://schemas.microsoft.com/office/drawing/2014/main" id="{A7393420-6949-8CC1-09C8-4A5900D518AF}"/>
              </a:ext>
            </a:extLst>
          </p:cNvPr>
          <p:cNvSpPr/>
          <p:nvPr/>
        </p:nvSpPr>
        <p:spPr>
          <a:xfrm>
            <a:off x="2431645" y="4448976"/>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S9. Add Line</a:t>
            </a:r>
          </a:p>
        </p:txBody>
      </p:sp>
      <p:sp>
        <p:nvSpPr>
          <p:cNvPr id="53" name="Flowchart: Predefined Process 52">
            <a:extLst>
              <a:ext uri="{FF2B5EF4-FFF2-40B4-BE49-F238E27FC236}">
                <a16:creationId xmlns:a16="http://schemas.microsoft.com/office/drawing/2014/main" id="{DAAF2B41-1A05-965B-8D68-5C28780C7F50}"/>
              </a:ext>
            </a:extLst>
          </p:cNvPr>
          <p:cNvSpPr/>
          <p:nvPr/>
        </p:nvSpPr>
        <p:spPr>
          <a:xfrm>
            <a:off x="4426735" y="4449327"/>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S10. Convert to SRO and Schedule</a:t>
            </a:r>
          </a:p>
        </p:txBody>
      </p:sp>
      <p:sp>
        <p:nvSpPr>
          <p:cNvPr id="54" name="Flowchart: Predefined Process 53">
            <a:extLst>
              <a:ext uri="{FF2B5EF4-FFF2-40B4-BE49-F238E27FC236}">
                <a16:creationId xmlns:a16="http://schemas.microsoft.com/office/drawing/2014/main" id="{1813CF1A-30BE-E967-932E-60364CEBC61B}"/>
              </a:ext>
            </a:extLst>
          </p:cNvPr>
          <p:cNvSpPr/>
          <p:nvPr/>
        </p:nvSpPr>
        <p:spPr>
          <a:xfrm>
            <a:off x="6576675" y="4448804"/>
            <a:ext cx="1375653" cy="438417"/>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S11. Print Pick Ticket</a:t>
            </a:r>
          </a:p>
        </p:txBody>
      </p:sp>
      <p:sp>
        <p:nvSpPr>
          <p:cNvPr id="55" name="Flowchart: Predefined Process 54">
            <a:extLst>
              <a:ext uri="{FF2B5EF4-FFF2-40B4-BE49-F238E27FC236}">
                <a16:creationId xmlns:a16="http://schemas.microsoft.com/office/drawing/2014/main" id="{D1D5F416-0D3E-6451-E5BC-54767A144D43}"/>
              </a:ext>
            </a:extLst>
          </p:cNvPr>
          <p:cNvSpPr/>
          <p:nvPr/>
        </p:nvSpPr>
        <p:spPr>
          <a:xfrm>
            <a:off x="8429193" y="4438973"/>
            <a:ext cx="1469923"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S12. Shipping Feedback Ship </a:t>
            </a:r>
          </a:p>
        </p:txBody>
      </p:sp>
      <p:sp>
        <p:nvSpPr>
          <p:cNvPr id="56" name="Flowchart: Process 55">
            <a:extLst>
              <a:ext uri="{FF2B5EF4-FFF2-40B4-BE49-F238E27FC236}">
                <a16:creationId xmlns:a16="http://schemas.microsoft.com/office/drawing/2014/main" id="{6DAA0BB2-C3DF-5F23-CB0D-97851D7160A4}"/>
              </a:ext>
            </a:extLst>
          </p:cNvPr>
          <p:cNvSpPr/>
          <p:nvPr/>
        </p:nvSpPr>
        <p:spPr>
          <a:xfrm>
            <a:off x="10234705" y="4422303"/>
            <a:ext cx="1327355" cy="47175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S13. Tech Performs Start-Up</a:t>
            </a:r>
          </a:p>
        </p:txBody>
      </p:sp>
      <p:sp>
        <p:nvSpPr>
          <p:cNvPr id="57" name="Flowchart: Predefined Process 56">
            <a:extLst>
              <a:ext uri="{FF2B5EF4-FFF2-40B4-BE49-F238E27FC236}">
                <a16:creationId xmlns:a16="http://schemas.microsoft.com/office/drawing/2014/main" id="{C99F9E71-C3C2-0066-E927-460D06B7E975}"/>
              </a:ext>
            </a:extLst>
          </p:cNvPr>
          <p:cNvSpPr/>
          <p:nvPr/>
        </p:nvSpPr>
        <p:spPr>
          <a:xfrm>
            <a:off x="5652740" y="5553462"/>
            <a:ext cx="1469923"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S14. Register A Unit</a:t>
            </a:r>
          </a:p>
        </p:txBody>
      </p:sp>
      <p:cxnSp>
        <p:nvCxnSpPr>
          <p:cNvPr id="58" name="Connector: Elbow 57">
            <a:extLst>
              <a:ext uri="{FF2B5EF4-FFF2-40B4-BE49-F238E27FC236}">
                <a16:creationId xmlns:a16="http://schemas.microsoft.com/office/drawing/2014/main" id="{5FA4BCCD-3069-D81E-4458-37A8E3110ED6}"/>
              </a:ext>
            </a:extLst>
          </p:cNvPr>
          <p:cNvCxnSpPr>
            <a:cxnSpLocks/>
            <a:stCxn id="56" idx="2"/>
            <a:endCxn id="57" idx="0"/>
          </p:cNvCxnSpPr>
          <p:nvPr/>
        </p:nvCxnSpPr>
        <p:spPr>
          <a:xfrm rot="5400000">
            <a:off x="8313341" y="2968420"/>
            <a:ext cx="659404" cy="4510681"/>
          </a:xfrm>
          <a:prstGeom prst="bentConnector3">
            <a:avLst>
              <a:gd name="adj1" fmla="val 69033"/>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60" name="Flowchart: Decision 59">
            <a:extLst>
              <a:ext uri="{FF2B5EF4-FFF2-40B4-BE49-F238E27FC236}">
                <a16:creationId xmlns:a16="http://schemas.microsoft.com/office/drawing/2014/main" id="{6F656968-E0A6-89CC-31C8-A8378C61295F}"/>
              </a:ext>
            </a:extLst>
          </p:cNvPr>
          <p:cNvSpPr/>
          <p:nvPr/>
        </p:nvSpPr>
        <p:spPr>
          <a:xfrm>
            <a:off x="4527992" y="1724244"/>
            <a:ext cx="435655" cy="34839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D2</a:t>
            </a:r>
          </a:p>
        </p:txBody>
      </p:sp>
      <p:sp>
        <p:nvSpPr>
          <p:cNvPr id="61" name="Flowchart: Process 60">
            <a:extLst>
              <a:ext uri="{FF2B5EF4-FFF2-40B4-BE49-F238E27FC236}">
                <a16:creationId xmlns:a16="http://schemas.microsoft.com/office/drawing/2014/main" id="{FCA253E8-9A96-7BF4-E626-A8B9E6625145}"/>
              </a:ext>
            </a:extLst>
          </p:cNvPr>
          <p:cNvSpPr/>
          <p:nvPr/>
        </p:nvSpPr>
        <p:spPr>
          <a:xfrm>
            <a:off x="4799383" y="1668146"/>
            <a:ext cx="171405" cy="17107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62" name="Flowchart: Process 61">
            <a:extLst>
              <a:ext uri="{FF2B5EF4-FFF2-40B4-BE49-F238E27FC236}">
                <a16:creationId xmlns:a16="http://schemas.microsoft.com/office/drawing/2014/main" id="{4996E91C-B32D-7AC7-2512-03BA8C18E81F}"/>
              </a:ext>
            </a:extLst>
          </p:cNvPr>
          <p:cNvSpPr/>
          <p:nvPr/>
        </p:nvSpPr>
        <p:spPr>
          <a:xfrm>
            <a:off x="4520850" y="1944263"/>
            <a:ext cx="171405" cy="17107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sp>
        <p:nvSpPr>
          <p:cNvPr id="63" name="TextBox 62">
            <a:extLst>
              <a:ext uri="{FF2B5EF4-FFF2-40B4-BE49-F238E27FC236}">
                <a16:creationId xmlns:a16="http://schemas.microsoft.com/office/drawing/2014/main" id="{30204EB9-EC46-9CBC-6130-8B6B1A7898BD}"/>
              </a:ext>
            </a:extLst>
          </p:cNvPr>
          <p:cNvSpPr txBox="1"/>
          <p:nvPr/>
        </p:nvSpPr>
        <p:spPr>
          <a:xfrm>
            <a:off x="3882757" y="1378103"/>
            <a:ext cx="948813" cy="507831"/>
          </a:xfrm>
          <a:prstGeom prst="rect">
            <a:avLst/>
          </a:prstGeom>
          <a:noFill/>
        </p:spPr>
        <p:txBody>
          <a:bodyPr wrap="square" rtlCol="0">
            <a:spAutoFit/>
          </a:bodyPr>
          <a:lstStyle/>
          <a:p>
            <a:r>
              <a:rPr lang="en-US" sz="900" dirty="0"/>
              <a:t>Do You Know The Original Order #?</a:t>
            </a:r>
          </a:p>
        </p:txBody>
      </p:sp>
      <p:cxnSp>
        <p:nvCxnSpPr>
          <p:cNvPr id="64" name="Connector: Elbow 63">
            <a:extLst>
              <a:ext uri="{FF2B5EF4-FFF2-40B4-BE49-F238E27FC236}">
                <a16:creationId xmlns:a16="http://schemas.microsoft.com/office/drawing/2014/main" id="{F08BDA36-1194-865E-6ED6-58CA74FEA032}"/>
              </a:ext>
            </a:extLst>
          </p:cNvPr>
          <p:cNvCxnSpPr>
            <a:cxnSpLocks/>
            <a:stCxn id="60" idx="0"/>
            <a:endCxn id="47" idx="1"/>
          </p:cNvCxnSpPr>
          <p:nvPr/>
        </p:nvCxnSpPr>
        <p:spPr>
          <a:xfrm rot="5400000" flipH="1" flipV="1">
            <a:off x="5124592" y="925766"/>
            <a:ext cx="419706" cy="117725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5" name="Flowchart: Predefined Process 64">
            <a:extLst>
              <a:ext uri="{FF2B5EF4-FFF2-40B4-BE49-F238E27FC236}">
                <a16:creationId xmlns:a16="http://schemas.microsoft.com/office/drawing/2014/main" id="{8303728B-93CD-344C-AA85-9877829AAF1B}"/>
              </a:ext>
            </a:extLst>
          </p:cNvPr>
          <p:cNvSpPr/>
          <p:nvPr/>
        </p:nvSpPr>
        <p:spPr>
          <a:xfrm>
            <a:off x="7519201" y="2231738"/>
            <a:ext cx="1944205"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S5. Order Inquiry Using Serial Number</a:t>
            </a:r>
          </a:p>
        </p:txBody>
      </p:sp>
      <p:sp>
        <p:nvSpPr>
          <p:cNvPr id="66" name="TextBox 65">
            <a:extLst>
              <a:ext uri="{FF2B5EF4-FFF2-40B4-BE49-F238E27FC236}">
                <a16:creationId xmlns:a16="http://schemas.microsoft.com/office/drawing/2014/main" id="{521DFA58-0667-DE86-4CCF-8ACDF0F368E1}"/>
              </a:ext>
            </a:extLst>
          </p:cNvPr>
          <p:cNvSpPr txBox="1"/>
          <p:nvPr/>
        </p:nvSpPr>
        <p:spPr>
          <a:xfrm>
            <a:off x="5661054" y="3222725"/>
            <a:ext cx="1205916"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S6. Create A New Unit SOP</a:t>
            </a:r>
          </a:p>
        </p:txBody>
      </p:sp>
      <p:cxnSp>
        <p:nvCxnSpPr>
          <p:cNvPr id="67" name="Connector: Elbow 66">
            <a:extLst>
              <a:ext uri="{FF2B5EF4-FFF2-40B4-BE49-F238E27FC236}">
                <a16:creationId xmlns:a16="http://schemas.microsoft.com/office/drawing/2014/main" id="{A68158D2-BBE8-7006-ADEE-26D8933DA0DA}"/>
              </a:ext>
            </a:extLst>
          </p:cNvPr>
          <p:cNvCxnSpPr>
            <a:cxnSpLocks/>
            <a:stCxn id="60" idx="2"/>
            <a:endCxn id="65" idx="1"/>
          </p:cNvCxnSpPr>
          <p:nvPr/>
        </p:nvCxnSpPr>
        <p:spPr>
          <a:xfrm rot="16200000" flipH="1">
            <a:off x="5935693" y="882766"/>
            <a:ext cx="393635" cy="2773381"/>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0" name="Flowchart: Process 69">
            <a:extLst>
              <a:ext uri="{FF2B5EF4-FFF2-40B4-BE49-F238E27FC236}">
                <a16:creationId xmlns:a16="http://schemas.microsoft.com/office/drawing/2014/main" id="{EA25E002-A824-38DD-60CA-E4354CD698C6}"/>
              </a:ext>
            </a:extLst>
          </p:cNvPr>
          <p:cNvSpPr/>
          <p:nvPr/>
        </p:nvSpPr>
        <p:spPr>
          <a:xfrm>
            <a:off x="7827625" y="1057821"/>
            <a:ext cx="1327355" cy="47451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S3. Check With AR To Verify Payment In Full</a:t>
            </a:r>
          </a:p>
        </p:txBody>
      </p:sp>
      <p:cxnSp>
        <p:nvCxnSpPr>
          <p:cNvPr id="71" name="Straight Arrow Connector 70">
            <a:extLst>
              <a:ext uri="{FF2B5EF4-FFF2-40B4-BE49-F238E27FC236}">
                <a16:creationId xmlns:a16="http://schemas.microsoft.com/office/drawing/2014/main" id="{4719747F-4459-3F95-F950-E2161E159608}"/>
              </a:ext>
            </a:extLst>
          </p:cNvPr>
          <p:cNvCxnSpPr>
            <a:cxnSpLocks/>
            <a:stCxn id="47" idx="3"/>
            <a:endCxn id="70" idx="1"/>
          </p:cNvCxnSpPr>
          <p:nvPr/>
        </p:nvCxnSpPr>
        <p:spPr>
          <a:xfrm flipV="1">
            <a:off x="7058698" y="1295078"/>
            <a:ext cx="768927" cy="946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2595B532-8322-EA12-914A-AF85801C0052}"/>
              </a:ext>
            </a:extLst>
          </p:cNvPr>
          <p:cNvCxnSpPr>
            <a:cxnSpLocks/>
            <a:stCxn id="70" idx="3"/>
            <a:endCxn id="49" idx="1"/>
          </p:cNvCxnSpPr>
          <p:nvPr/>
        </p:nvCxnSpPr>
        <p:spPr>
          <a:xfrm flipV="1">
            <a:off x="9154980" y="1289991"/>
            <a:ext cx="768927" cy="5087"/>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8663815D-FBAF-48A2-5F11-F4DA8CF3AC44}"/>
              </a:ext>
            </a:extLst>
          </p:cNvPr>
          <p:cNvCxnSpPr>
            <a:cxnSpLocks/>
            <a:stCxn id="66" idx="3"/>
            <a:endCxn id="45" idx="1"/>
          </p:cNvCxnSpPr>
          <p:nvPr/>
        </p:nvCxnSpPr>
        <p:spPr>
          <a:xfrm flipV="1">
            <a:off x="6866970" y="3456649"/>
            <a:ext cx="1898379" cy="195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453A63D8-E6EA-1676-BC1F-84263B52A3F5}"/>
              </a:ext>
            </a:extLst>
          </p:cNvPr>
          <p:cNvCxnSpPr>
            <a:cxnSpLocks/>
            <a:stCxn id="50" idx="3"/>
            <a:endCxn id="52" idx="1"/>
          </p:cNvCxnSpPr>
          <p:nvPr/>
        </p:nvCxnSpPr>
        <p:spPr>
          <a:xfrm flipV="1">
            <a:off x="2040704" y="4668184"/>
            <a:ext cx="390941" cy="6666"/>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C5A7F59F-05A5-8EF2-11D7-539301C9367C}"/>
              </a:ext>
            </a:extLst>
          </p:cNvPr>
          <p:cNvCxnSpPr>
            <a:cxnSpLocks/>
            <a:stCxn id="52" idx="3"/>
            <a:endCxn id="53" idx="1"/>
          </p:cNvCxnSpPr>
          <p:nvPr/>
        </p:nvCxnSpPr>
        <p:spPr>
          <a:xfrm>
            <a:off x="4066989" y="4668184"/>
            <a:ext cx="359746" cy="351"/>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3056B216-55BC-F03B-DAE1-F1C80FF6BC17}"/>
              </a:ext>
            </a:extLst>
          </p:cNvPr>
          <p:cNvCxnSpPr>
            <a:cxnSpLocks/>
            <a:stCxn id="53" idx="3"/>
            <a:endCxn id="54" idx="1"/>
          </p:cNvCxnSpPr>
          <p:nvPr/>
        </p:nvCxnSpPr>
        <p:spPr>
          <a:xfrm flipV="1">
            <a:off x="6062079" y="4668013"/>
            <a:ext cx="514596" cy="522"/>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2964ECD7-1BE6-7B38-9C3E-8A87AE53337E}"/>
              </a:ext>
            </a:extLst>
          </p:cNvPr>
          <p:cNvCxnSpPr>
            <a:cxnSpLocks/>
            <a:stCxn id="54" idx="3"/>
            <a:endCxn id="55" idx="1"/>
          </p:cNvCxnSpPr>
          <p:nvPr/>
        </p:nvCxnSpPr>
        <p:spPr>
          <a:xfrm flipV="1">
            <a:off x="7952328" y="4658181"/>
            <a:ext cx="476865" cy="9832"/>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C64E42DD-B73F-226A-196C-754F01F6520E}"/>
              </a:ext>
            </a:extLst>
          </p:cNvPr>
          <p:cNvCxnSpPr>
            <a:cxnSpLocks/>
            <a:stCxn id="55" idx="3"/>
            <a:endCxn id="56" idx="1"/>
          </p:cNvCxnSpPr>
          <p:nvPr/>
        </p:nvCxnSpPr>
        <p:spPr>
          <a:xfrm>
            <a:off x="9899116" y="4658181"/>
            <a:ext cx="335589" cy="0"/>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8C9E9C69-D974-368D-E0CD-91487942C6D6}"/>
              </a:ext>
            </a:extLst>
          </p:cNvPr>
          <p:cNvCxnSpPr>
            <a:cxnSpLocks/>
            <a:stCxn id="39" idx="3"/>
            <a:endCxn id="41" idx="1"/>
          </p:cNvCxnSpPr>
          <p:nvPr/>
        </p:nvCxnSpPr>
        <p:spPr>
          <a:xfrm>
            <a:off x="2040704" y="2738772"/>
            <a:ext cx="926695"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EE8C1065-4F4F-8A6C-6965-B6A6E18D8F52}"/>
              </a:ext>
            </a:extLst>
          </p:cNvPr>
          <p:cNvCxnSpPr>
            <a:cxnSpLocks/>
            <a:stCxn id="65" idx="0"/>
            <a:endCxn id="70" idx="2"/>
          </p:cNvCxnSpPr>
          <p:nvPr/>
        </p:nvCxnSpPr>
        <p:spPr>
          <a:xfrm flipH="1" flipV="1">
            <a:off x="8491303" y="1532334"/>
            <a:ext cx="1" cy="69940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17BB8732-20C1-65F6-8039-DFF2358EBD9E}"/>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05 12 2025 19 10</a:t>
            </a:r>
          </a:p>
        </p:txBody>
      </p:sp>
      <p:sp>
        <p:nvSpPr>
          <p:cNvPr id="7" name="TextBox 6">
            <a:extLst>
              <a:ext uri="{FF2B5EF4-FFF2-40B4-BE49-F238E27FC236}">
                <a16:creationId xmlns:a16="http://schemas.microsoft.com/office/drawing/2014/main" id="{9D6C0BE2-944C-A4EC-C0FE-8232891207D3}"/>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4" name="TextBox 3">
            <a:extLst>
              <a:ext uri="{FF2B5EF4-FFF2-40B4-BE49-F238E27FC236}">
                <a16:creationId xmlns:a16="http://schemas.microsoft.com/office/drawing/2014/main" id="{B0A6AA29-EBD9-0032-960D-0092EE29B841}"/>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25 12 28 0800</a:t>
            </a:r>
          </a:p>
        </p:txBody>
      </p:sp>
      <p:sp>
        <p:nvSpPr>
          <p:cNvPr id="2" name="-S6 New_Unit_Cret">
            <a:extLst>
              <a:ext uri="{FF2B5EF4-FFF2-40B4-BE49-F238E27FC236}">
                <a16:creationId xmlns:a16="http://schemas.microsoft.com/office/drawing/2014/main" id="{0DA6DE01-079A-D80F-6F65-4A94D953D987}"/>
              </a:ext>
            </a:extLst>
          </p:cNvPr>
          <p:cNvSpPr>
            <a:spLocks noGrp="1"/>
          </p:cNvSpPr>
          <p:nvPr>
            <p:ph type="title"/>
          </p:nvPr>
        </p:nvSpPr>
        <p:spPr>
          <a:xfrm>
            <a:off x="838200" y="170421"/>
            <a:ext cx="10515600" cy="428753"/>
          </a:xfrm>
        </p:spPr>
        <p:txBody>
          <a:bodyPr>
            <a:noAutofit/>
          </a:bodyPr>
          <a:lstStyle/>
          <a:p>
            <a:pPr algn="ctr"/>
            <a:r>
              <a:rPr lang="en-US" sz="1600" b="1" dirty="0"/>
              <a:t>S6. Create New Unit – Startup SOP</a:t>
            </a:r>
          </a:p>
        </p:txBody>
      </p:sp>
    </p:spTree>
    <p:extLst>
      <p:ext uri="{BB962C8B-B14F-4D97-AF65-F5344CB8AC3E}">
        <p14:creationId xmlns:p14="http://schemas.microsoft.com/office/powerpoint/2010/main" val="14567096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F5B48-7D77-1425-30E0-49C217D8D47E}"/>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9DAFAD5F-D466-E990-A599-366114FEEAD2}"/>
              </a:ext>
            </a:extLst>
          </p:cNvPr>
          <p:cNvSpPr/>
          <p:nvPr/>
        </p:nvSpPr>
        <p:spPr>
          <a:xfrm>
            <a:off x="8429193" y="2929517"/>
            <a:ext cx="2151794" cy="1054262"/>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sp>
        <p:nvSpPr>
          <p:cNvPr id="39" name="Flowchart: Process 38">
            <a:extLst>
              <a:ext uri="{FF2B5EF4-FFF2-40B4-BE49-F238E27FC236}">
                <a16:creationId xmlns:a16="http://schemas.microsoft.com/office/drawing/2014/main" id="{08476A20-EC53-C454-00B2-C14CF103BFD5}"/>
              </a:ext>
            </a:extLst>
          </p:cNvPr>
          <p:cNvSpPr/>
          <p:nvPr/>
        </p:nvSpPr>
        <p:spPr>
          <a:xfrm>
            <a:off x="713349" y="2526777"/>
            <a:ext cx="1327355" cy="42399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 Customer Calls For Start-Up</a:t>
            </a:r>
          </a:p>
        </p:txBody>
      </p:sp>
      <p:sp>
        <p:nvSpPr>
          <p:cNvPr id="41" name="Flowchart: Decision 40">
            <a:extLst>
              <a:ext uri="{FF2B5EF4-FFF2-40B4-BE49-F238E27FC236}">
                <a16:creationId xmlns:a16="http://schemas.microsoft.com/office/drawing/2014/main" id="{B701CCB6-A8E3-568D-8074-9569A9D78B6D}"/>
              </a:ext>
            </a:extLst>
          </p:cNvPr>
          <p:cNvSpPr/>
          <p:nvPr/>
        </p:nvSpPr>
        <p:spPr>
          <a:xfrm>
            <a:off x="2967399" y="2556048"/>
            <a:ext cx="570871" cy="365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D1</a:t>
            </a:r>
          </a:p>
        </p:txBody>
      </p:sp>
      <p:sp>
        <p:nvSpPr>
          <p:cNvPr id="42" name="Flowchart: Process 41">
            <a:extLst>
              <a:ext uri="{FF2B5EF4-FFF2-40B4-BE49-F238E27FC236}">
                <a16:creationId xmlns:a16="http://schemas.microsoft.com/office/drawing/2014/main" id="{94C8CC2C-1B3E-D0CD-F212-368D3E71A86E}"/>
              </a:ext>
            </a:extLst>
          </p:cNvPr>
          <p:cNvSpPr/>
          <p:nvPr/>
        </p:nvSpPr>
        <p:spPr>
          <a:xfrm>
            <a:off x="3323024" y="2497204"/>
            <a:ext cx="224605" cy="17944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43" name="Flowchart: Process 42">
            <a:extLst>
              <a:ext uri="{FF2B5EF4-FFF2-40B4-BE49-F238E27FC236}">
                <a16:creationId xmlns:a16="http://schemas.microsoft.com/office/drawing/2014/main" id="{C036DF85-5A1A-6CA6-43E8-C592A1867C30}"/>
              </a:ext>
            </a:extLst>
          </p:cNvPr>
          <p:cNvSpPr/>
          <p:nvPr/>
        </p:nvSpPr>
        <p:spPr>
          <a:xfrm>
            <a:off x="2958041" y="2786835"/>
            <a:ext cx="224605" cy="17944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sp>
        <p:nvSpPr>
          <p:cNvPr id="44" name="TextBox 43">
            <a:extLst>
              <a:ext uri="{FF2B5EF4-FFF2-40B4-BE49-F238E27FC236}">
                <a16:creationId xmlns:a16="http://schemas.microsoft.com/office/drawing/2014/main" id="{0D411E5B-498E-8D86-B186-C8F21319BD90}"/>
              </a:ext>
            </a:extLst>
          </p:cNvPr>
          <p:cNvSpPr txBox="1"/>
          <p:nvPr/>
        </p:nvSpPr>
        <p:spPr>
          <a:xfrm>
            <a:off x="2332800" y="2331480"/>
            <a:ext cx="948813" cy="369332"/>
          </a:xfrm>
          <a:prstGeom prst="rect">
            <a:avLst/>
          </a:prstGeom>
          <a:noFill/>
        </p:spPr>
        <p:txBody>
          <a:bodyPr wrap="square" rtlCol="0">
            <a:spAutoFit/>
          </a:bodyPr>
          <a:lstStyle/>
          <a:p>
            <a:r>
              <a:rPr lang="en-US" sz="900" dirty="0"/>
              <a:t>Q1.Did We Sell The Generator? </a:t>
            </a:r>
          </a:p>
        </p:txBody>
      </p:sp>
      <p:sp>
        <p:nvSpPr>
          <p:cNvPr id="45" name="TextBox 44">
            <a:extLst>
              <a:ext uri="{FF2B5EF4-FFF2-40B4-BE49-F238E27FC236}">
                <a16:creationId xmlns:a16="http://schemas.microsoft.com/office/drawing/2014/main" id="{A6461A7E-ACB7-43CB-62CF-1B36EF34FA21}"/>
              </a:ext>
            </a:extLst>
          </p:cNvPr>
          <p:cNvSpPr txBox="1"/>
          <p:nvPr/>
        </p:nvSpPr>
        <p:spPr>
          <a:xfrm>
            <a:off x="8765349" y="3220771"/>
            <a:ext cx="1721329"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S7. Service Order Process at charge SOP</a:t>
            </a:r>
          </a:p>
        </p:txBody>
      </p:sp>
      <p:cxnSp>
        <p:nvCxnSpPr>
          <p:cNvPr id="46" name="Connector: Elbow 45">
            <a:extLst>
              <a:ext uri="{FF2B5EF4-FFF2-40B4-BE49-F238E27FC236}">
                <a16:creationId xmlns:a16="http://schemas.microsoft.com/office/drawing/2014/main" id="{BE885A73-7734-0DB5-70D8-F5A71BAEFCE3}"/>
              </a:ext>
            </a:extLst>
          </p:cNvPr>
          <p:cNvCxnSpPr>
            <a:cxnSpLocks/>
            <a:stCxn id="41" idx="2"/>
            <a:endCxn id="66" idx="1"/>
          </p:cNvCxnSpPr>
          <p:nvPr/>
        </p:nvCxnSpPr>
        <p:spPr>
          <a:xfrm rot="16200000" flipH="1">
            <a:off x="4188391" y="1985939"/>
            <a:ext cx="537107" cy="2408219"/>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 name="Flowchart: Predefined Process 46">
            <a:extLst>
              <a:ext uri="{FF2B5EF4-FFF2-40B4-BE49-F238E27FC236}">
                <a16:creationId xmlns:a16="http://schemas.microsoft.com/office/drawing/2014/main" id="{5C6C7147-57A5-3501-BEB2-8E557B95F5B1}"/>
              </a:ext>
            </a:extLst>
          </p:cNvPr>
          <p:cNvSpPr/>
          <p:nvPr/>
        </p:nvSpPr>
        <p:spPr>
          <a:xfrm>
            <a:off x="5923071" y="1070001"/>
            <a:ext cx="1135627"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S2. Order Inquiry </a:t>
            </a:r>
          </a:p>
        </p:txBody>
      </p:sp>
      <p:cxnSp>
        <p:nvCxnSpPr>
          <p:cNvPr id="48" name="Connector: Elbow 47">
            <a:extLst>
              <a:ext uri="{FF2B5EF4-FFF2-40B4-BE49-F238E27FC236}">
                <a16:creationId xmlns:a16="http://schemas.microsoft.com/office/drawing/2014/main" id="{E7F72BF9-F81D-9B5B-5ED5-19B1B3C2AA50}"/>
              </a:ext>
            </a:extLst>
          </p:cNvPr>
          <p:cNvCxnSpPr>
            <a:cxnSpLocks/>
            <a:stCxn id="41" idx="0"/>
            <a:endCxn id="60" idx="1"/>
          </p:cNvCxnSpPr>
          <p:nvPr/>
        </p:nvCxnSpPr>
        <p:spPr>
          <a:xfrm rot="5400000" flipH="1" flipV="1">
            <a:off x="3561610" y="1589667"/>
            <a:ext cx="657606" cy="127515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Flowchart: Predefined Process 48">
            <a:extLst>
              <a:ext uri="{FF2B5EF4-FFF2-40B4-BE49-F238E27FC236}">
                <a16:creationId xmlns:a16="http://schemas.microsoft.com/office/drawing/2014/main" id="{23368173-AED4-A86F-9F20-E05BA7EAC72E}"/>
              </a:ext>
            </a:extLst>
          </p:cNvPr>
          <p:cNvSpPr/>
          <p:nvPr/>
        </p:nvSpPr>
        <p:spPr>
          <a:xfrm>
            <a:off x="9923907" y="1055454"/>
            <a:ext cx="1471216"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S4. Create Start-Up Incident</a:t>
            </a:r>
          </a:p>
        </p:txBody>
      </p:sp>
      <p:sp>
        <p:nvSpPr>
          <p:cNvPr id="50" name="Flowchart: Predefined Process 49">
            <a:extLst>
              <a:ext uri="{FF2B5EF4-FFF2-40B4-BE49-F238E27FC236}">
                <a16:creationId xmlns:a16="http://schemas.microsoft.com/office/drawing/2014/main" id="{416757DE-8147-80EB-7E00-3ADEC613749B}"/>
              </a:ext>
            </a:extLst>
          </p:cNvPr>
          <p:cNvSpPr/>
          <p:nvPr/>
        </p:nvSpPr>
        <p:spPr>
          <a:xfrm>
            <a:off x="405360" y="4455642"/>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S8. Add Start-Up Notes</a:t>
            </a:r>
          </a:p>
        </p:txBody>
      </p:sp>
      <p:cxnSp>
        <p:nvCxnSpPr>
          <p:cNvPr id="51" name="Connector: Elbow 50">
            <a:extLst>
              <a:ext uri="{FF2B5EF4-FFF2-40B4-BE49-F238E27FC236}">
                <a16:creationId xmlns:a16="http://schemas.microsoft.com/office/drawing/2014/main" id="{EC16874A-6059-408D-8B94-D4181DE59D4F}"/>
              </a:ext>
            </a:extLst>
          </p:cNvPr>
          <p:cNvCxnSpPr>
            <a:cxnSpLocks/>
            <a:stCxn id="49" idx="2"/>
            <a:endCxn id="50" idx="0"/>
          </p:cNvCxnSpPr>
          <p:nvPr/>
        </p:nvCxnSpPr>
        <p:spPr>
          <a:xfrm rot="5400000">
            <a:off x="4475717" y="-1728156"/>
            <a:ext cx="2931114" cy="9436483"/>
          </a:xfrm>
          <a:prstGeom prst="bentConnector3">
            <a:avLst>
              <a:gd name="adj1" fmla="val 85478"/>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52" name="Flowchart: Predefined Process 51">
            <a:extLst>
              <a:ext uri="{FF2B5EF4-FFF2-40B4-BE49-F238E27FC236}">
                <a16:creationId xmlns:a16="http://schemas.microsoft.com/office/drawing/2014/main" id="{692092F0-44EC-E0DC-C67C-874EAFE943AF}"/>
              </a:ext>
            </a:extLst>
          </p:cNvPr>
          <p:cNvSpPr/>
          <p:nvPr/>
        </p:nvSpPr>
        <p:spPr>
          <a:xfrm>
            <a:off x="2431645" y="4448976"/>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S9. Add Line</a:t>
            </a:r>
          </a:p>
        </p:txBody>
      </p:sp>
      <p:sp>
        <p:nvSpPr>
          <p:cNvPr id="53" name="Flowchart: Predefined Process 52">
            <a:extLst>
              <a:ext uri="{FF2B5EF4-FFF2-40B4-BE49-F238E27FC236}">
                <a16:creationId xmlns:a16="http://schemas.microsoft.com/office/drawing/2014/main" id="{21EE2B54-83B5-48A7-5077-C4BCF7F83ECD}"/>
              </a:ext>
            </a:extLst>
          </p:cNvPr>
          <p:cNvSpPr/>
          <p:nvPr/>
        </p:nvSpPr>
        <p:spPr>
          <a:xfrm>
            <a:off x="4426735" y="4449327"/>
            <a:ext cx="1635344"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S10. Convert to SRO and Schedule</a:t>
            </a:r>
          </a:p>
        </p:txBody>
      </p:sp>
      <p:sp>
        <p:nvSpPr>
          <p:cNvPr id="54" name="Flowchart: Predefined Process 53">
            <a:extLst>
              <a:ext uri="{FF2B5EF4-FFF2-40B4-BE49-F238E27FC236}">
                <a16:creationId xmlns:a16="http://schemas.microsoft.com/office/drawing/2014/main" id="{A1DC4C5D-AD1B-B08E-4E1D-342ECF4E1361}"/>
              </a:ext>
            </a:extLst>
          </p:cNvPr>
          <p:cNvSpPr/>
          <p:nvPr/>
        </p:nvSpPr>
        <p:spPr>
          <a:xfrm>
            <a:off x="6576675" y="4448804"/>
            <a:ext cx="1375653" cy="438417"/>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S11. Print Pick Ticket</a:t>
            </a:r>
          </a:p>
        </p:txBody>
      </p:sp>
      <p:sp>
        <p:nvSpPr>
          <p:cNvPr id="55" name="Flowchart: Predefined Process 54">
            <a:extLst>
              <a:ext uri="{FF2B5EF4-FFF2-40B4-BE49-F238E27FC236}">
                <a16:creationId xmlns:a16="http://schemas.microsoft.com/office/drawing/2014/main" id="{8A5D1111-A6B0-5C99-4D3C-49FBA25A19DF}"/>
              </a:ext>
            </a:extLst>
          </p:cNvPr>
          <p:cNvSpPr/>
          <p:nvPr/>
        </p:nvSpPr>
        <p:spPr>
          <a:xfrm>
            <a:off x="8429193" y="4438973"/>
            <a:ext cx="1469923"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S12. Shipping Feedback Ship </a:t>
            </a:r>
          </a:p>
        </p:txBody>
      </p:sp>
      <p:sp>
        <p:nvSpPr>
          <p:cNvPr id="56" name="Flowchart: Process 55">
            <a:extLst>
              <a:ext uri="{FF2B5EF4-FFF2-40B4-BE49-F238E27FC236}">
                <a16:creationId xmlns:a16="http://schemas.microsoft.com/office/drawing/2014/main" id="{7F356D7F-9B4D-0DE3-DF40-70ECF1634650}"/>
              </a:ext>
            </a:extLst>
          </p:cNvPr>
          <p:cNvSpPr/>
          <p:nvPr/>
        </p:nvSpPr>
        <p:spPr>
          <a:xfrm>
            <a:off x="10234705" y="4422303"/>
            <a:ext cx="1327355" cy="47175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S13. Tech Performs Start-Up</a:t>
            </a:r>
          </a:p>
        </p:txBody>
      </p:sp>
      <p:sp>
        <p:nvSpPr>
          <p:cNvPr id="57" name="Flowchart: Predefined Process 56">
            <a:extLst>
              <a:ext uri="{FF2B5EF4-FFF2-40B4-BE49-F238E27FC236}">
                <a16:creationId xmlns:a16="http://schemas.microsoft.com/office/drawing/2014/main" id="{4852E76F-5AB3-0502-F880-BC2ABFCDD6EB}"/>
              </a:ext>
            </a:extLst>
          </p:cNvPr>
          <p:cNvSpPr/>
          <p:nvPr/>
        </p:nvSpPr>
        <p:spPr>
          <a:xfrm>
            <a:off x="5652740" y="5553462"/>
            <a:ext cx="1469923" cy="438416"/>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S14. Register A Unit</a:t>
            </a:r>
          </a:p>
        </p:txBody>
      </p:sp>
      <p:cxnSp>
        <p:nvCxnSpPr>
          <p:cNvPr id="58" name="Connector: Elbow 57">
            <a:extLst>
              <a:ext uri="{FF2B5EF4-FFF2-40B4-BE49-F238E27FC236}">
                <a16:creationId xmlns:a16="http://schemas.microsoft.com/office/drawing/2014/main" id="{AAEC160F-D3FD-8E49-EFA2-621E3778E8E3}"/>
              </a:ext>
            </a:extLst>
          </p:cNvPr>
          <p:cNvCxnSpPr>
            <a:cxnSpLocks/>
            <a:stCxn id="56" idx="2"/>
            <a:endCxn id="57" idx="0"/>
          </p:cNvCxnSpPr>
          <p:nvPr/>
        </p:nvCxnSpPr>
        <p:spPr>
          <a:xfrm rot="5400000">
            <a:off x="8313341" y="2968420"/>
            <a:ext cx="659404" cy="4510681"/>
          </a:xfrm>
          <a:prstGeom prst="bentConnector3">
            <a:avLst>
              <a:gd name="adj1" fmla="val 69033"/>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60" name="Flowchart: Decision 59">
            <a:extLst>
              <a:ext uri="{FF2B5EF4-FFF2-40B4-BE49-F238E27FC236}">
                <a16:creationId xmlns:a16="http://schemas.microsoft.com/office/drawing/2014/main" id="{AF489765-81F4-16EF-0815-19C90DC21599}"/>
              </a:ext>
            </a:extLst>
          </p:cNvPr>
          <p:cNvSpPr/>
          <p:nvPr/>
        </p:nvSpPr>
        <p:spPr>
          <a:xfrm>
            <a:off x="4527992" y="1724244"/>
            <a:ext cx="435655" cy="34839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D2</a:t>
            </a:r>
          </a:p>
        </p:txBody>
      </p:sp>
      <p:sp>
        <p:nvSpPr>
          <p:cNvPr id="61" name="Flowchart: Process 60">
            <a:extLst>
              <a:ext uri="{FF2B5EF4-FFF2-40B4-BE49-F238E27FC236}">
                <a16:creationId xmlns:a16="http://schemas.microsoft.com/office/drawing/2014/main" id="{4C7791E0-7590-CAE2-919B-80B978032E16}"/>
              </a:ext>
            </a:extLst>
          </p:cNvPr>
          <p:cNvSpPr/>
          <p:nvPr/>
        </p:nvSpPr>
        <p:spPr>
          <a:xfrm>
            <a:off x="4799383" y="1668146"/>
            <a:ext cx="171405" cy="17107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62" name="Flowchart: Process 61">
            <a:extLst>
              <a:ext uri="{FF2B5EF4-FFF2-40B4-BE49-F238E27FC236}">
                <a16:creationId xmlns:a16="http://schemas.microsoft.com/office/drawing/2014/main" id="{F2CCF8DB-DA88-D4B0-20D3-0786992BB19B}"/>
              </a:ext>
            </a:extLst>
          </p:cNvPr>
          <p:cNvSpPr/>
          <p:nvPr/>
        </p:nvSpPr>
        <p:spPr>
          <a:xfrm>
            <a:off x="4520850" y="1944263"/>
            <a:ext cx="171405" cy="171070"/>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sp>
        <p:nvSpPr>
          <p:cNvPr id="63" name="TextBox 62">
            <a:extLst>
              <a:ext uri="{FF2B5EF4-FFF2-40B4-BE49-F238E27FC236}">
                <a16:creationId xmlns:a16="http://schemas.microsoft.com/office/drawing/2014/main" id="{B133B4CA-9E0C-AF39-6231-0098DCDEE4D2}"/>
              </a:ext>
            </a:extLst>
          </p:cNvPr>
          <p:cNvSpPr txBox="1"/>
          <p:nvPr/>
        </p:nvSpPr>
        <p:spPr>
          <a:xfrm>
            <a:off x="3882757" y="1378103"/>
            <a:ext cx="948813" cy="507831"/>
          </a:xfrm>
          <a:prstGeom prst="rect">
            <a:avLst/>
          </a:prstGeom>
          <a:noFill/>
        </p:spPr>
        <p:txBody>
          <a:bodyPr wrap="square" rtlCol="0">
            <a:spAutoFit/>
          </a:bodyPr>
          <a:lstStyle/>
          <a:p>
            <a:r>
              <a:rPr lang="en-US" sz="900" dirty="0"/>
              <a:t>Do You Know The Original Order #?</a:t>
            </a:r>
          </a:p>
        </p:txBody>
      </p:sp>
      <p:cxnSp>
        <p:nvCxnSpPr>
          <p:cNvPr id="64" name="Connector: Elbow 63">
            <a:extLst>
              <a:ext uri="{FF2B5EF4-FFF2-40B4-BE49-F238E27FC236}">
                <a16:creationId xmlns:a16="http://schemas.microsoft.com/office/drawing/2014/main" id="{41584011-A946-2682-87F8-6B3E3CCBA658}"/>
              </a:ext>
            </a:extLst>
          </p:cNvPr>
          <p:cNvCxnSpPr>
            <a:cxnSpLocks/>
            <a:stCxn id="60" idx="0"/>
            <a:endCxn id="47" idx="1"/>
          </p:cNvCxnSpPr>
          <p:nvPr/>
        </p:nvCxnSpPr>
        <p:spPr>
          <a:xfrm rot="5400000" flipH="1" flipV="1">
            <a:off x="5124592" y="925766"/>
            <a:ext cx="419706" cy="117725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5" name="Flowchart: Predefined Process 64">
            <a:extLst>
              <a:ext uri="{FF2B5EF4-FFF2-40B4-BE49-F238E27FC236}">
                <a16:creationId xmlns:a16="http://schemas.microsoft.com/office/drawing/2014/main" id="{95CF95B1-72F6-EBA4-0395-426B21E86EB4}"/>
              </a:ext>
            </a:extLst>
          </p:cNvPr>
          <p:cNvSpPr/>
          <p:nvPr/>
        </p:nvSpPr>
        <p:spPr>
          <a:xfrm>
            <a:off x="7519201" y="2231738"/>
            <a:ext cx="1944205" cy="4690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S5. Order Inquiry Using Serial Number</a:t>
            </a:r>
          </a:p>
        </p:txBody>
      </p:sp>
      <p:sp>
        <p:nvSpPr>
          <p:cNvPr id="66" name="TextBox 65">
            <a:extLst>
              <a:ext uri="{FF2B5EF4-FFF2-40B4-BE49-F238E27FC236}">
                <a16:creationId xmlns:a16="http://schemas.microsoft.com/office/drawing/2014/main" id="{75F7B882-4C70-4EE5-B14E-3B35F256BFBE}"/>
              </a:ext>
            </a:extLst>
          </p:cNvPr>
          <p:cNvSpPr txBox="1"/>
          <p:nvPr/>
        </p:nvSpPr>
        <p:spPr>
          <a:xfrm>
            <a:off x="5661054" y="3222725"/>
            <a:ext cx="1205916"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S6. Create A New Unit SOP</a:t>
            </a:r>
          </a:p>
        </p:txBody>
      </p:sp>
      <p:cxnSp>
        <p:nvCxnSpPr>
          <p:cNvPr id="67" name="Connector: Elbow 66">
            <a:extLst>
              <a:ext uri="{FF2B5EF4-FFF2-40B4-BE49-F238E27FC236}">
                <a16:creationId xmlns:a16="http://schemas.microsoft.com/office/drawing/2014/main" id="{A414830F-53E0-18E2-B183-EAB75CDE5EB9}"/>
              </a:ext>
            </a:extLst>
          </p:cNvPr>
          <p:cNvCxnSpPr>
            <a:cxnSpLocks/>
            <a:stCxn id="60" idx="2"/>
            <a:endCxn id="65" idx="1"/>
          </p:cNvCxnSpPr>
          <p:nvPr/>
        </p:nvCxnSpPr>
        <p:spPr>
          <a:xfrm rot="16200000" flipH="1">
            <a:off x="5935693" y="882766"/>
            <a:ext cx="393635" cy="2773381"/>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0" name="Flowchart: Process 69">
            <a:extLst>
              <a:ext uri="{FF2B5EF4-FFF2-40B4-BE49-F238E27FC236}">
                <a16:creationId xmlns:a16="http://schemas.microsoft.com/office/drawing/2014/main" id="{D55F487D-D4FC-2E8E-7101-1D79349108AE}"/>
              </a:ext>
            </a:extLst>
          </p:cNvPr>
          <p:cNvSpPr/>
          <p:nvPr/>
        </p:nvSpPr>
        <p:spPr>
          <a:xfrm>
            <a:off x="7827625" y="1057821"/>
            <a:ext cx="1327355" cy="47451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S3. Check With AR To Verify Payment In Full</a:t>
            </a:r>
          </a:p>
        </p:txBody>
      </p:sp>
      <p:cxnSp>
        <p:nvCxnSpPr>
          <p:cNvPr id="71" name="Straight Arrow Connector 70">
            <a:extLst>
              <a:ext uri="{FF2B5EF4-FFF2-40B4-BE49-F238E27FC236}">
                <a16:creationId xmlns:a16="http://schemas.microsoft.com/office/drawing/2014/main" id="{0CF8C243-9D25-7EE2-A50D-B911644608B6}"/>
              </a:ext>
            </a:extLst>
          </p:cNvPr>
          <p:cNvCxnSpPr>
            <a:cxnSpLocks/>
            <a:stCxn id="47" idx="3"/>
            <a:endCxn id="70" idx="1"/>
          </p:cNvCxnSpPr>
          <p:nvPr/>
        </p:nvCxnSpPr>
        <p:spPr>
          <a:xfrm flipV="1">
            <a:off x="7058698" y="1295078"/>
            <a:ext cx="768927" cy="946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E544C4E3-9277-EB2C-E4B9-359E40D7C3E1}"/>
              </a:ext>
            </a:extLst>
          </p:cNvPr>
          <p:cNvCxnSpPr>
            <a:cxnSpLocks/>
            <a:stCxn id="70" idx="3"/>
            <a:endCxn id="49" idx="1"/>
          </p:cNvCxnSpPr>
          <p:nvPr/>
        </p:nvCxnSpPr>
        <p:spPr>
          <a:xfrm flipV="1">
            <a:off x="9154980" y="1289991"/>
            <a:ext cx="768927" cy="5087"/>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84ACF7A7-2831-3D3B-E38F-485845D31CBE}"/>
              </a:ext>
            </a:extLst>
          </p:cNvPr>
          <p:cNvCxnSpPr>
            <a:cxnSpLocks/>
            <a:stCxn id="66" idx="3"/>
            <a:endCxn id="45" idx="1"/>
          </p:cNvCxnSpPr>
          <p:nvPr/>
        </p:nvCxnSpPr>
        <p:spPr>
          <a:xfrm flipV="1">
            <a:off x="6866970" y="3456649"/>
            <a:ext cx="1898379" cy="195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C8D32DB7-5679-4C18-D8CF-FA59953C61C9}"/>
              </a:ext>
            </a:extLst>
          </p:cNvPr>
          <p:cNvCxnSpPr>
            <a:cxnSpLocks/>
            <a:stCxn id="50" idx="3"/>
            <a:endCxn id="52" idx="1"/>
          </p:cNvCxnSpPr>
          <p:nvPr/>
        </p:nvCxnSpPr>
        <p:spPr>
          <a:xfrm flipV="1">
            <a:off x="2040704" y="4668184"/>
            <a:ext cx="390941" cy="6666"/>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4499EF64-41F8-7BA1-7F31-6D22CF6DBB33}"/>
              </a:ext>
            </a:extLst>
          </p:cNvPr>
          <p:cNvCxnSpPr>
            <a:cxnSpLocks/>
            <a:stCxn id="52" idx="3"/>
            <a:endCxn id="53" idx="1"/>
          </p:cNvCxnSpPr>
          <p:nvPr/>
        </p:nvCxnSpPr>
        <p:spPr>
          <a:xfrm>
            <a:off x="4066989" y="4668184"/>
            <a:ext cx="359746" cy="351"/>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146B3906-5B5B-9E57-64E2-63F6DD3AEE60}"/>
              </a:ext>
            </a:extLst>
          </p:cNvPr>
          <p:cNvCxnSpPr>
            <a:cxnSpLocks/>
            <a:stCxn id="53" idx="3"/>
            <a:endCxn id="54" idx="1"/>
          </p:cNvCxnSpPr>
          <p:nvPr/>
        </p:nvCxnSpPr>
        <p:spPr>
          <a:xfrm flipV="1">
            <a:off x="6062079" y="4668013"/>
            <a:ext cx="514596" cy="522"/>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566694F5-456C-04B5-AEFB-4E6A2657734D}"/>
              </a:ext>
            </a:extLst>
          </p:cNvPr>
          <p:cNvCxnSpPr>
            <a:cxnSpLocks/>
            <a:stCxn id="54" idx="3"/>
            <a:endCxn id="55" idx="1"/>
          </p:cNvCxnSpPr>
          <p:nvPr/>
        </p:nvCxnSpPr>
        <p:spPr>
          <a:xfrm flipV="1">
            <a:off x="7952328" y="4658181"/>
            <a:ext cx="476865" cy="9832"/>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634DD170-B64C-5BB6-88B2-55126243EAEC}"/>
              </a:ext>
            </a:extLst>
          </p:cNvPr>
          <p:cNvCxnSpPr>
            <a:cxnSpLocks/>
            <a:stCxn id="55" idx="3"/>
            <a:endCxn id="56" idx="1"/>
          </p:cNvCxnSpPr>
          <p:nvPr/>
        </p:nvCxnSpPr>
        <p:spPr>
          <a:xfrm>
            <a:off x="9899116" y="4658181"/>
            <a:ext cx="335589" cy="0"/>
          </a:xfrm>
          <a:prstGeom prst="straightConnector1">
            <a:avLst/>
          </a:prstGeom>
          <a:ln w="254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CFB6088B-FBA6-C869-A702-8B0D4826304A}"/>
              </a:ext>
            </a:extLst>
          </p:cNvPr>
          <p:cNvCxnSpPr>
            <a:cxnSpLocks/>
            <a:stCxn id="39" idx="3"/>
            <a:endCxn id="41" idx="1"/>
          </p:cNvCxnSpPr>
          <p:nvPr/>
        </p:nvCxnSpPr>
        <p:spPr>
          <a:xfrm>
            <a:off x="2040704" y="2738772"/>
            <a:ext cx="926695"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CA43C557-9F7E-35FA-9268-57ABA51E0366}"/>
              </a:ext>
            </a:extLst>
          </p:cNvPr>
          <p:cNvCxnSpPr>
            <a:cxnSpLocks/>
            <a:stCxn id="65" idx="0"/>
            <a:endCxn id="70" idx="2"/>
          </p:cNvCxnSpPr>
          <p:nvPr/>
        </p:nvCxnSpPr>
        <p:spPr>
          <a:xfrm flipH="1" flipV="1">
            <a:off x="8491303" y="1532334"/>
            <a:ext cx="1" cy="69940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F8167AE-65C6-C30D-3BE5-33A9E68BD9A8}"/>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05 12 2025 19 10</a:t>
            </a:r>
          </a:p>
        </p:txBody>
      </p:sp>
      <p:sp>
        <p:nvSpPr>
          <p:cNvPr id="7" name="TextBox 6">
            <a:extLst>
              <a:ext uri="{FF2B5EF4-FFF2-40B4-BE49-F238E27FC236}">
                <a16:creationId xmlns:a16="http://schemas.microsoft.com/office/drawing/2014/main" id="{C9D1B9D4-05C6-89B6-DD45-EC49BEC79772}"/>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4" name="TextBox 3">
            <a:extLst>
              <a:ext uri="{FF2B5EF4-FFF2-40B4-BE49-F238E27FC236}">
                <a16:creationId xmlns:a16="http://schemas.microsoft.com/office/drawing/2014/main" id="{2928DFEE-2EDC-5645-131F-7020547F3F57}"/>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25 12 28 0800</a:t>
            </a:r>
          </a:p>
        </p:txBody>
      </p:sp>
      <p:sp>
        <p:nvSpPr>
          <p:cNvPr id="2" name="-S7 Chargeable_SRO">
            <a:extLst>
              <a:ext uri="{FF2B5EF4-FFF2-40B4-BE49-F238E27FC236}">
                <a16:creationId xmlns:a16="http://schemas.microsoft.com/office/drawing/2014/main" id="{E1E3185C-1F59-F95A-8CE5-9E26B8321FDC}"/>
              </a:ext>
            </a:extLst>
          </p:cNvPr>
          <p:cNvSpPr>
            <a:spLocks noGrp="1"/>
          </p:cNvSpPr>
          <p:nvPr>
            <p:ph type="title"/>
          </p:nvPr>
        </p:nvSpPr>
        <p:spPr>
          <a:xfrm>
            <a:off x="838200" y="314871"/>
            <a:ext cx="10515600" cy="428753"/>
          </a:xfrm>
        </p:spPr>
        <p:txBody>
          <a:bodyPr>
            <a:noAutofit/>
          </a:bodyPr>
          <a:lstStyle/>
          <a:p>
            <a:pPr algn="ctr"/>
            <a:r>
              <a:rPr lang="en-US" sz="1600" b="1" dirty="0"/>
              <a:t>S7. Create Chargeable SRO – Startup SOP</a:t>
            </a:r>
          </a:p>
        </p:txBody>
      </p:sp>
    </p:spTree>
    <p:extLst>
      <p:ext uri="{BB962C8B-B14F-4D97-AF65-F5344CB8AC3E}">
        <p14:creationId xmlns:p14="http://schemas.microsoft.com/office/powerpoint/2010/main" val="16059890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4A257-4F47-E545-C0CF-8BBA4C1B51B2}"/>
            </a:ext>
          </a:extLst>
        </p:cNvPr>
        <p:cNvGrpSpPr/>
        <p:nvPr/>
      </p:nvGrpSpPr>
      <p:grpSpPr>
        <a:xfrm>
          <a:off x="0" y="0"/>
          <a:ext cx="0" cy="0"/>
          <a:chOff x="0" y="0"/>
          <a:chExt cx="0" cy="0"/>
        </a:xfrm>
      </p:grpSpPr>
      <p:sp>
        <p:nvSpPr>
          <p:cNvPr id="62" name="TextBox 61">
            <a:extLst>
              <a:ext uri="{FF2B5EF4-FFF2-40B4-BE49-F238E27FC236}">
                <a16:creationId xmlns:a16="http://schemas.microsoft.com/office/drawing/2014/main" id="{51CD4E5E-4352-6F84-8C6D-B62A73288C96}"/>
              </a:ext>
            </a:extLst>
          </p:cNvPr>
          <p:cNvSpPr txBox="1"/>
          <p:nvPr/>
        </p:nvSpPr>
        <p:spPr>
          <a:xfrm>
            <a:off x="10660" y="5873315"/>
            <a:ext cx="994285" cy="461665"/>
          </a:xfrm>
          <a:prstGeom prst="rect">
            <a:avLst/>
          </a:prstGeom>
          <a:noFill/>
        </p:spPr>
        <p:txBody>
          <a:bodyPr wrap="square" rtlCol="0">
            <a:spAutoFit/>
          </a:bodyPr>
          <a:lstStyle/>
          <a:p>
            <a:r>
              <a:rPr lang="en-US" sz="800" dirty="0"/>
              <a:t>Base Created by TS VM TSD KC and BW  06 09 2025 </a:t>
            </a:r>
          </a:p>
        </p:txBody>
      </p:sp>
      <p:sp>
        <p:nvSpPr>
          <p:cNvPr id="66" name="TextBox 65">
            <a:extLst>
              <a:ext uri="{FF2B5EF4-FFF2-40B4-BE49-F238E27FC236}">
                <a16:creationId xmlns:a16="http://schemas.microsoft.com/office/drawing/2014/main" id="{88D007BA-343E-E732-982C-A0C0DA96A6D7}"/>
              </a:ext>
            </a:extLst>
          </p:cNvPr>
          <p:cNvSpPr txBox="1"/>
          <p:nvPr/>
        </p:nvSpPr>
        <p:spPr>
          <a:xfrm>
            <a:off x="1252978" y="5986802"/>
            <a:ext cx="1135581" cy="655216"/>
          </a:xfrm>
          <a:prstGeom prst="flowChartInternalStorage">
            <a:avLst/>
          </a:prstGeom>
          <a:solidFill>
            <a:srgbClr val="FFFF00"/>
          </a:solidFill>
          <a:ln>
            <a:solidFill>
              <a:schemeClr val="tx1"/>
            </a:solidFill>
          </a:ln>
        </p:spPr>
        <p:txBody>
          <a:bodyPr wrap="square" rtlCol="0">
            <a:spAutoFit/>
          </a:bodyPr>
          <a:lstStyle/>
          <a:p>
            <a:pPr algn="ctr"/>
            <a:r>
              <a:rPr lang="en-US" sz="1050" dirty="0"/>
              <a:t>Note this Indicates a Sub SOP </a:t>
            </a:r>
          </a:p>
        </p:txBody>
      </p:sp>
      <p:sp>
        <p:nvSpPr>
          <p:cNvPr id="22" name="TextBox 21">
            <a:extLst>
              <a:ext uri="{FF2B5EF4-FFF2-40B4-BE49-F238E27FC236}">
                <a16:creationId xmlns:a16="http://schemas.microsoft.com/office/drawing/2014/main" id="{3F16D31F-0A1B-F43C-B4D3-86D84C583CC4}"/>
              </a:ext>
            </a:extLst>
          </p:cNvPr>
          <p:cNvSpPr txBox="1"/>
          <p:nvPr/>
        </p:nvSpPr>
        <p:spPr>
          <a:xfrm>
            <a:off x="2896280" y="4826874"/>
            <a:ext cx="6009141" cy="1277273"/>
          </a:xfrm>
          <a:prstGeom prst="rect">
            <a:avLst/>
          </a:prstGeom>
          <a:noFill/>
        </p:spPr>
        <p:txBody>
          <a:bodyPr wrap="square" rtlCol="0">
            <a:spAutoFit/>
          </a:bodyPr>
          <a:lstStyle/>
          <a:p>
            <a:pPr algn="ctr"/>
            <a:r>
              <a:rPr lang="en-US" sz="1100" b="1" dirty="0"/>
              <a:t>Ever heard the phrase “Practice makes perfect ? – if you had not then now you have !</a:t>
            </a:r>
          </a:p>
          <a:p>
            <a:pPr algn="ctr"/>
            <a:endParaRPr lang="en-US" sz="1100" b="1" dirty="0"/>
          </a:p>
          <a:p>
            <a:pPr algn="ctr"/>
            <a:r>
              <a:rPr lang="en-US" sz="1100" b="1" dirty="0"/>
              <a:t>The Management and your project team would like you to practice this and other processes so that the Go live is smooth or if your new to the company or are new to the role you can get proficient in the training environment </a:t>
            </a:r>
            <a:br>
              <a:rPr lang="en-US" sz="1100" b="1" dirty="0"/>
            </a:br>
            <a:r>
              <a:rPr lang="en-US" sz="1100" b="1" dirty="0"/>
              <a:t>As one becomes more proficient in this system it behooves us to share that knowledge and help other so the Company can  achieve its destiny </a:t>
            </a:r>
          </a:p>
        </p:txBody>
      </p:sp>
      <p:pic>
        <p:nvPicPr>
          <p:cNvPr id="5" name="Picture 4" descr="A diagram of a computer&#10;&#10;AI-generated content may be incorrect.">
            <a:extLst>
              <a:ext uri="{FF2B5EF4-FFF2-40B4-BE49-F238E27FC236}">
                <a16:creationId xmlns:a16="http://schemas.microsoft.com/office/drawing/2014/main" id="{763BA9F5-8638-48CC-B1D6-3F9FD17B2352}"/>
              </a:ext>
            </a:extLst>
          </p:cNvPr>
          <p:cNvPicPr>
            <a:picLocks noChangeAspect="1"/>
          </p:cNvPicPr>
          <p:nvPr/>
        </p:nvPicPr>
        <p:blipFill>
          <a:blip r:embed="rId3"/>
          <a:stretch>
            <a:fillRect/>
          </a:stretch>
        </p:blipFill>
        <p:spPr>
          <a:xfrm>
            <a:off x="2690999" y="769753"/>
            <a:ext cx="6799996" cy="3824775"/>
          </a:xfrm>
          <a:prstGeom prst="rect">
            <a:avLst/>
          </a:prstGeom>
        </p:spPr>
      </p:pic>
      <p:sp>
        <p:nvSpPr>
          <p:cNvPr id="6" name="TextBox 5">
            <a:extLst>
              <a:ext uri="{FF2B5EF4-FFF2-40B4-BE49-F238E27FC236}">
                <a16:creationId xmlns:a16="http://schemas.microsoft.com/office/drawing/2014/main" id="{B360840A-D9E5-803F-C32C-EA94590D9014}"/>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25 12 28 0800</a:t>
            </a:r>
          </a:p>
        </p:txBody>
      </p:sp>
      <p:sp>
        <p:nvSpPr>
          <p:cNvPr id="3" name="- S998. You have come to the end of the path selected">
            <a:extLst>
              <a:ext uri="{FF2B5EF4-FFF2-40B4-BE49-F238E27FC236}">
                <a16:creationId xmlns:a16="http://schemas.microsoft.com/office/drawing/2014/main" id="{4330C9FE-53DB-B9E7-338B-E44730DBD34A}"/>
              </a:ext>
            </a:extLst>
          </p:cNvPr>
          <p:cNvSpPr txBox="1">
            <a:spLocks noGrp="1"/>
          </p:cNvSpPr>
          <p:nvPr>
            <p:ph type="title"/>
          </p:nvPr>
        </p:nvSpPr>
        <p:spPr>
          <a:xfrm>
            <a:off x="833197" y="234503"/>
            <a:ext cx="10515600" cy="369332"/>
          </a:xfrm>
          <a:prstGeom prst="rect">
            <a:avLst/>
          </a:prstGeom>
          <a:noFill/>
        </p:spPr>
        <p:txBody>
          <a:bodyPr wrap="square" rtlCol="0">
            <a:spAutoFit/>
          </a:bodyPr>
          <a:lstStyle/>
          <a:p>
            <a:pPr algn="ctr"/>
            <a:r>
              <a:rPr lang="en-US" sz="2000" b="1"/>
              <a:t>S998</a:t>
            </a:r>
            <a:r>
              <a:rPr lang="en-US" sz="2000" b="1" dirty="0"/>
              <a:t>. You have come to the end of the path selected in the – Generator Startup Process</a:t>
            </a:r>
          </a:p>
        </p:txBody>
      </p:sp>
    </p:spTree>
    <p:extLst>
      <p:ext uri="{BB962C8B-B14F-4D97-AF65-F5344CB8AC3E}">
        <p14:creationId xmlns:p14="http://schemas.microsoft.com/office/powerpoint/2010/main" val="1404145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6BE03-F932-51DA-3A05-B579CB4669E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8D62D53-A217-E9BA-F0C5-A41E384C0E58}"/>
              </a:ext>
            </a:extLst>
          </p:cNvPr>
          <p:cNvSpPr txBox="1"/>
          <p:nvPr/>
        </p:nvSpPr>
        <p:spPr>
          <a:xfrm>
            <a:off x="2108912" y="4033800"/>
            <a:ext cx="8050924" cy="2492990"/>
          </a:xfrm>
          <a:prstGeom prst="rect">
            <a:avLst/>
          </a:prstGeom>
          <a:noFill/>
        </p:spPr>
        <p:txBody>
          <a:bodyPr wrap="square" rtlCol="0">
            <a:spAutoFit/>
          </a:bodyPr>
          <a:lstStyle/>
          <a:p>
            <a:r>
              <a:rPr lang="en-US" sz="1200" b="1" dirty="0"/>
              <a:t>Thank you for completing this module on Generator Startup Procedure SOP .</a:t>
            </a:r>
            <a:r>
              <a:rPr lang="en-US" sz="1200" dirty="0"/>
              <a:t> The ERP Project Team and Training Group appreciate your time, attention, and commitment to learning our new systems and processes.</a:t>
            </a:r>
          </a:p>
          <a:p>
            <a:endParaRPr lang="en-US" sz="1200" dirty="0"/>
          </a:p>
          <a:p>
            <a:r>
              <a:rPr lang="en-US" sz="1200" dirty="0"/>
              <a:t>To be confident in your day-to-day work—and to avoid surprises at Go Live or when you move into a new role—please set aside time to </a:t>
            </a:r>
            <a:r>
              <a:rPr lang="en-US" sz="1200" b="1" dirty="0"/>
              <a:t>practice this SOP in the training environment</a:t>
            </a:r>
            <a:r>
              <a:rPr lang="en-US" sz="1200" dirty="0"/>
              <a:t>. Working through realistic examples several times will help you:</a:t>
            </a:r>
            <a:br>
              <a:rPr lang="en-US" sz="1200" dirty="0"/>
            </a:br>
            <a:r>
              <a:rPr lang="en-US" sz="1200" dirty="0"/>
              <a:t>• Follow the steps in the correct sequence</a:t>
            </a:r>
            <a:br>
              <a:rPr lang="en-US" sz="1200" dirty="0"/>
            </a:br>
            <a:r>
              <a:rPr lang="en-US" sz="1200" dirty="0"/>
              <a:t>• Understand what the key fields and options do</a:t>
            </a:r>
            <a:br>
              <a:rPr lang="en-US" sz="1200" dirty="0"/>
            </a:br>
            <a:r>
              <a:rPr lang="en-US" sz="1200" dirty="0"/>
              <a:t>• Reduce errors when you work in the live system</a:t>
            </a:r>
            <a:br>
              <a:rPr lang="en-US" sz="1200" dirty="0"/>
            </a:br>
            <a:r>
              <a:rPr lang="en-US" sz="1200" dirty="0"/>
              <a:t>• Handle real customer and business situations with confidence</a:t>
            </a:r>
          </a:p>
          <a:p>
            <a:endParaRPr lang="en-US" sz="1200" dirty="0"/>
          </a:p>
          <a:p>
            <a:r>
              <a:rPr lang="en-US" sz="1200" dirty="0"/>
              <a:t>The </a:t>
            </a:r>
            <a:r>
              <a:rPr lang="en-US" sz="1200" b="1" dirty="0"/>
              <a:t>training environment is the safest place to practice</a:t>
            </a:r>
            <a:r>
              <a:rPr lang="en-US" sz="1200" dirty="0"/>
              <a:t>, ask questions, and learn from mistakes—before they affect real orders, inventory, equipment, or customers. The more you use the training environment now, the smoother your work will be later in the live system.</a:t>
            </a:r>
          </a:p>
        </p:txBody>
      </p:sp>
      <p:sp>
        <p:nvSpPr>
          <p:cNvPr id="9" name="Parlance">
            <a:extLst>
              <a:ext uri="{FF2B5EF4-FFF2-40B4-BE49-F238E27FC236}">
                <a16:creationId xmlns:a16="http://schemas.microsoft.com/office/drawing/2014/main" id="{225CD0B5-A601-6D52-53A1-DD7EF8B4FF01}"/>
              </a:ext>
            </a:extLst>
          </p:cNvPr>
          <p:cNvSpPr txBox="1"/>
          <p:nvPr/>
        </p:nvSpPr>
        <p:spPr>
          <a:xfrm>
            <a:off x="1253231" y="714232"/>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pic>
        <p:nvPicPr>
          <p:cNvPr id="10" name="Picture 9">
            <a:extLst>
              <a:ext uri="{FF2B5EF4-FFF2-40B4-BE49-F238E27FC236}">
                <a16:creationId xmlns:a16="http://schemas.microsoft.com/office/drawing/2014/main" id="{3B39B194-C498-95B3-A280-6CC04F2BF7F0}"/>
              </a:ext>
            </a:extLst>
          </p:cNvPr>
          <p:cNvPicPr>
            <a:picLocks noChangeAspect="1"/>
          </p:cNvPicPr>
          <p:nvPr/>
        </p:nvPicPr>
        <p:blipFill>
          <a:blip r:embed="rId3"/>
          <a:stretch>
            <a:fillRect/>
          </a:stretch>
        </p:blipFill>
        <p:spPr>
          <a:xfrm>
            <a:off x="3174380" y="714232"/>
            <a:ext cx="5310928" cy="3029373"/>
          </a:xfrm>
          <a:prstGeom prst="rect">
            <a:avLst/>
          </a:prstGeom>
        </p:spPr>
      </p:pic>
      <p:sp>
        <p:nvSpPr>
          <p:cNvPr id="4" name="TextBox 3">
            <a:extLst>
              <a:ext uri="{FF2B5EF4-FFF2-40B4-BE49-F238E27FC236}">
                <a16:creationId xmlns:a16="http://schemas.microsoft.com/office/drawing/2014/main" id="{5D2503AF-99D5-2E9C-759D-043890D63DA6}"/>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25 12 28 0800</a:t>
            </a:r>
          </a:p>
        </p:txBody>
      </p:sp>
      <p:sp>
        <p:nvSpPr>
          <p:cNvPr id="3" name="-S999. You have successfully completed this SOP">
            <a:extLst>
              <a:ext uri="{FF2B5EF4-FFF2-40B4-BE49-F238E27FC236}">
                <a16:creationId xmlns:a16="http://schemas.microsoft.com/office/drawing/2014/main" id="{F8D84980-CBA2-BEF8-AB8B-0A9E6DBA426A}"/>
              </a:ext>
            </a:extLst>
          </p:cNvPr>
          <p:cNvSpPr txBox="1">
            <a:spLocks/>
          </p:cNvSpPr>
          <p:nvPr/>
        </p:nvSpPr>
        <p:spPr>
          <a:xfrm>
            <a:off x="838198" y="162630"/>
            <a:ext cx="10515600" cy="26140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S999. You have successfully completed this SOP on Generator Startup at PPS </a:t>
            </a:r>
          </a:p>
        </p:txBody>
      </p:sp>
    </p:spTree>
    <p:extLst>
      <p:ext uri="{BB962C8B-B14F-4D97-AF65-F5344CB8AC3E}">
        <p14:creationId xmlns:p14="http://schemas.microsoft.com/office/powerpoint/2010/main" val="7874569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ubi template for Process etc" id="{BF4A0D7B-CA68-4AFE-9D83-A41674BFC30D}" vid="{A1D45B32-9E08-4E92-AC68-322278330F18}"/>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ubi template for Process etc" id="{BF4A0D7B-CA68-4AFE-9D83-A41674BFC30D}" vid="{65D0A2C0-6B61-4A40-BDFF-355584D2D2D8}"/>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Subi template for Process etc</Template>
  <TotalTime>9325</TotalTime>
  <Words>5119</Words>
  <Application>Microsoft Office PowerPoint</Application>
  <PresentationFormat>Widescreen</PresentationFormat>
  <Paragraphs>874</Paragraphs>
  <Slides>30</Slides>
  <Notes>7</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30</vt:i4>
      </vt:variant>
    </vt:vector>
  </HeadingPairs>
  <TitlesOfParts>
    <vt:vector size="35" baseType="lpstr">
      <vt:lpstr>Arial</vt:lpstr>
      <vt:lpstr>Calibri</vt:lpstr>
      <vt:lpstr>Calibri Light</vt:lpstr>
      <vt:lpstr>Office Theme</vt:lpstr>
      <vt:lpstr>1_Office Theme</vt:lpstr>
      <vt:lpstr>PowerPoint Presentation</vt:lpstr>
      <vt:lpstr>S001. About Palco Power Systems and Scott Electric -and  a Welcome to Training</vt:lpstr>
      <vt:lpstr>PowerPoint Presentation</vt:lpstr>
      <vt:lpstr>PowerPoint Presentation</vt:lpstr>
      <vt:lpstr>PowerPoint Presentation</vt:lpstr>
      <vt:lpstr>S1. Customer Calls For Start Up– Startup SOP</vt:lpstr>
      <vt:lpstr>D1. Genset Sold by Palco – Startup SOP</vt:lpstr>
      <vt:lpstr>Y1. Yes Genset Sold by Palco – Startup SOP</vt:lpstr>
      <vt:lpstr>D2. Is Original Order Known– Startup SOP</vt:lpstr>
      <vt:lpstr>Y2. Order Number is known– Startup SOP</vt:lpstr>
      <vt:lpstr>S2. Perform Order Enquiry – Startup SOP</vt:lpstr>
      <vt:lpstr>S3. Verify Payment Status – Startup SOP</vt:lpstr>
      <vt:lpstr>S4. Create Startup Incident – Startup SOP</vt:lpstr>
      <vt:lpstr>S8. Add Startup Notes– Startup SOP</vt:lpstr>
      <vt:lpstr>S9. Add Lines– Startup SOP</vt:lpstr>
      <vt:lpstr>S10. Schedule startup – Startup SOP</vt:lpstr>
      <vt:lpstr>S11. Print Pick ticket– Startup SOP</vt:lpstr>
      <vt:lpstr>S12. Shipping Feed back – Startup SOP</vt:lpstr>
      <vt:lpstr>S13. Assigned Tech Performs Start-up– Startup SOP</vt:lpstr>
      <vt:lpstr>S14. Register Unit– Startup SOP</vt:lpstr>
      <vt:lpstr>S998a. You have come to the end of the path selected in the – Generator Startup Process</vt:lpstr>
      <vt:lpstr>N2. Original Sale Order Not Known – Startup SOP</vt:lpstr>
      <vt:lpstr>S5. Order Enquiry Using Serial Number– Startup SOP</vt:lpstr>
      <vt:lpstr>S3a. Verify Payment Status – Startup SOP</vt:lpstr>
      <vt:lpstr>S998b. You have come to the end of the path selected in the – Generator Startup Process</vt:lpstr>
      <vt:lpstr>N1. No Gen Set Not sold by Palco – Startup SOP</vt:lpstr>
      <vt:lpstr>S6. Create New Unit – Startup SOP</vt:lpstr>
      <vt:lpstr>S7. Create Chargeable SRO – Startup SOP</vt:lpstr>
      <vt:lpstr>S998. You have come to the end of the path selected in the – Generator Startup Process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Subi Rajagopalan</dc:creator>
  <cp:lastModifiedBy>Subi R</cp:lastModifiedBy>
  <cp:revision>61</cp:revision>
  <dcterms:created xsi:type="dcterms:W3CDTF">2025-06-03T13:31:39Z</dcterms:created>
  <dcterms:modified xsi:type="dcterms:W3CDTF">2025-12-29T20:10:18Z</dcterms:modified>
</cp:coreProperties>
</file>