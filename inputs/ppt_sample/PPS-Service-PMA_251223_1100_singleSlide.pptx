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49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4" autoAdjust="0"/>
    <p:restoredTop sz="94660"/>
  </p:normalViewPr>
  <p:slideViewPr>
    <p:cSldViewPr snapToGrid="0">
      <p:cViewPr varScale="1">
        <p:scale>
          <a:sx n="78" d="100"/>
          <a:sy n="78"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1B134-4E08-449B-82FE-29A664AB4BEE}" type="datetimeFigureOut">
              <a:rPr lang="en-US" smtClean="0"/>
              <a:t>12/23/2025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0FDBD-BFEB-42EC-A344-C2503F255273}" type="slidenum">
              <a:rPr lang="en-US" smtClean="0"/>
              <a:t>‹#›</a:t>
            </a:fld>
            <a:endParaRPr lang="en-US"/>
          </a:p>
        </p:txBody>
      </p:sp>
    </p:spTree>
    <p:extLst>
      <p:ext uri="{BB962C8B-B14F-4D97-AF65-F5344CB8AC3E}">
        <p14:creationId xmlns:p14="http://schemas.microsoft.com/office/powerpoint/2010/main" val="1040096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p:cNvSpPr>
            <a:spLocks noGrp="1"/>
          </p:cNvSpPr>
          <p:nvPr>
            <p:ph type="sldNum" sz="quarter" idx="5"/>
          </p:nvPr>
        </p:nvSpPr>
        <p:spPr/>
        <p:txBody>
          <a:bodyPr/>
          <a:lstStyle/>
          <a:p>
            <a:fld id="{73D03784-C198-49B1-BBEF-9EB2D7F83474}" type="slidenum">
              <a:rPr lang="en-US" smtClean="0"/>
              <a:t>1</a:t>
            </a:fld>
            <a:endParaRPr lang="en-US" dirty="0"/>
          </a:p>
        </p:txBody>
      </p:sp>
    </p:spTree>
    <p:extLst>
      <p:ext uri="{BB962C8B-B14F-4D97-AF65-F5344CB8AC3E}">
        <p14:creationId xmlns:p14="http://schemas.microsoft.com/office/powerpoint/2010/main" val="1093449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F1864-C2D5-842D-3B4C-8753AD3FC3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59C6E7-2035-DDE9-D7F7-977EA9EC2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E9D7F9-BFDB-F699-0167-0CF239751157}"/>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5" name="Footer Placeholder 4">
            <a:extLst>
              <a:ext uri="{FF2B5EF4-FFF2-40B4-BE49-F238E27FC236}">
                <a16:creationId xmlns:a16="http://schemas.microsoft.com/office/drawing/2014/main" id="{1DA110D5-8D2A-9425-1945-14B61C762D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C9536-F5A2-D6AC-5C29-07C830EDC15D}"/>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3788658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CEBBF-8785-8121-97E1-BD3E0A91D0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641473-EF0B-363C-80AA-CC4997D433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B73D8-4F3C-1E6A-9AA8-43AB42A75047}"/>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5" name="Footer Placeholder 4">
            <a:extLst>
              <a:ext uri="{FF2B5EF4-FFF2-40B4-BE49-F238E27FC236}">
                <a16:creationId xmlns:a16="http://schemas.microsoft.com/office/drawing/2014/main" id="{FCCC9CC4-2E29-F610-24F9-E0E9C5F52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9A3C54-9655-AB89-6698-0A5672F5E816}"/>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273732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9341C-E77E-1592-A9DC-9A190ADB0A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486528-6CD7-C331-7A03-3594CB7FF8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555922-68E0-AA01-0DA8-25452CB4A9F9}"/>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5" name="Footer Placeholder 4">
            <a:extLst>
              <a:ext uri="{FF2B5EF4-FFF2-40B4-BE49-F238E27FC236}">
                <a16:creationId xmlns:a16="http://schemas.microsoft.com/office/drawing/2014/main" id="{76C00103-4C0C-FE79-169A-EEFA7FC902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FD891-EA0A-C051-54A0-6D8D6C46B7A3}"/>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772294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B3EAB-3119-6F9A-0C0B-55A51D9415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8020AC-CB6D-0E7B-3A07-C291A0BE69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20535A-729D-E163-0A79-DD7B489BA4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C0E01-0FCB-6116-EF0A-EBA402B0B74B}"/>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6" name="Footer Placeholder 5">
            <a:extLst>
              <a:ext uri="{FF2B5EF4-FFF2-40B4-BE49-F238E27FC236}">
                <a16:creationId xmlns:a16="http://schemas.microsoft.com/office/drawing/2014/main" id="{79F51D47-6370-F203-C199-3939CB1317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E8C7FB-3CEC-19B6-89AA-564806A437E6}"/>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3937758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D7EBB-18DB-F314-AE23-9D3E85970C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E9803B-22B6-13C0-6C4C-956440F52A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1C46C-0305-FB1D-20F9-3C770B7570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3D8D24-A640-E880-3D0C-1502FBBC90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FDE6E6-7058-A6A6-F1A4-2A5798EEDA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5906A6-5D9B-99F8-B28C-5493D4420CA1}"/>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8" name="Footer Placeholder 7">
            <a:extLst>
              <a:ext uri="{FF2B5EF4-FFF2-40B4-BE49-F238E27FC236}">
                <a16:creationId xmlns:a16="http://schemas.microsoft.com/office/drawing/2014/main" id="{AD58041E-1370-82A3-0C81-B6CA9F8DB7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386818-D766-4B75-3DD0-AFFBEB0A5815}"/>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2139331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442B9-514E-929E-1BD9-6E393CC4A9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012A79-4A6C-8105-443B-5CEC5C4685C8}"/>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4" name="Footer Placeholder 3">
            <a:extLst>
              <a:ext uri="{FF2B5EF4-FFF2-40B4-BE49-F238E27FC236}">
                <a16:creationId xmlns:a16="http://schemas.microsoft.com/office/drawing/2014/main" id="{EB108B75-AA15-0A81-D03A-2D1D106438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D9DD05-78ED-DDE0-D974-73B51796F2C9}"/>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1712152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506E0C-F39C-7924-E4A5-0D0D29E3A139}"/>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3" name="Footer Placeholder 2">
            <a:extLst>
              <a:ext uri="{FF2B5EF4-FFF2-40B4-BE49-F238E27FC236}">
                <a16:creationId xmlns:a16="http://schemas.microsoft.com/office/drawing/2014/main" id="{0094E435-20BF-A044-DDB6-6CEE33CCF9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B6FF85-6BC4-D1C9-CB53-CEA7BC27B56E}"/>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3535035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F38FC-8B2E-E95B-3CAF-1069C161A0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20A6F6-F8AD-9BEE-7135-D8622E1A00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06F53C-56A8-9D3B-22DD-3D4C8E6FF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E4F68D-5836-F633-94CF-CAFD882F1CBF}"/>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6" name="Footer Placeholder 5">
            <a:extLst>
              <a:ext uri="{FF2B5EF4-FFF2-40B4-BE49-F238E27FC236}">
                <a16:creationId xmlns:a16="http://schemas.microsoft.com/office/drawing/2014/main" id="{2E2C3768-0296-F215-EB9C-62DE53A3A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8B74F0-8836-4D62-29B0-1B58AB9AAFB2}"/>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2159623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06ED9-6636-878D-0112-AEABC276EB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A6FC78-D872-7947-ECB3-0D81EBA343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308D1D-CD50-C8DD-3D21-8983B75DB5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2F212B-3EFD-A58C-0126-299777180978}"/>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6" name="Footer Placeholder 5">
            <a:extLst>
              <a:ext uri="{FF2B5EF4-FFF2-40B4-BE49-F238E27FC236}">
                <a16:creationId xmlns:a16="http://schemas.microsoft.com/office/drawing/2014/main" id="{880430DF-1446-B7CD-9530-2F8F364562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F5FD83-B198-70FF-0898-6D9AD4A57BEB}"/>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3001030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36C0E-DD18-5551-86A0-96DB5BEE25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E9EEE4-43C5-5CB3-A606-EE26CC856E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F83B4-7D00-1609-C6EB-7A01775317E3}"/>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5" name="Footer Placeholder 4">
            <a:extLst>
              <a:ext uri="{FF2B5EF4-FFF2-40B4-BE49-F238E27FC236}">
                <a16:creationId xmlns:a16="http://schemas.microsoft.com/office/drawing/2014/main" id="{2DC9A08D-BC3D-3327-014E-63F0B81EB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4F97FB-64E7-B137-959C-B385BDE0DADB}"/>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392423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C1D1CE-82B4-943A-28BF-C6EEE14D72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4FAD96-E1A7-D7CB-B798-3DC7D5B93F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2CA92-702C-0019-084F-723D83764C45}"/>
              </a:ext>
            </a:extLst>
          </p:cNvPr>
          <p:cNvSpPr>
            <a:spLocks noGrp="1"/>
          </p:cNvSpPr>
          <p:nvPr>
            <p:ph type="dt" sz="half" idx="10"/>
          </p:nvPr>
        </p:nvSpPr>
        <p:spPr/>
        <p:txBody>
          <a:bodyPr/>
          <a:lstStyle/>
          <a:p>
            <a:fld id="{6B8A686B-081A-4413-95E3-E09E6241C808}" type="datetimeFigureOut">
              <a:rPr lang="en-US" smtClean="0"/>
              <a:t>12/23/2025</a:t>
            </a:fld>
            <a:endParaRPr lang="en-US"/>
          </a:p>
        </p:txBody>
      </p:sp>
      <p:sp>
        <p:nvSpPr>
          <p:cNvPr id="5" name="Footer Placeholder 4">
            <a:extLst>
              <a:ext uri="{FF2B5EF4-FFF2-40B4-BE49-F238E27FC236}">
                <a16:creationId xmlns:a16="http://schemas.microsoft.com/office/drawing/2014/main" id="{B0DC9273-82BE-CF96-E89A-A00F177D6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787EF-F49F-EE4E-2F91-399E0DF2BBD9}"/>
              </a:ext>
            </a:extLst>
          </p:cNvPr>
          <p:cNvSpPr>
            <a:spLocks noGrp="1"/>
          </p:cNvSpPr>
          <p:nvPr>
            <p:ph type="sldNum" sz="quarter" idx="12"/>
          </p:nvPr>
        </p:nvSpPr>
        <p:spPr/>
        <p:txBody>
          <a:bodyPr/>
          <a:lstStyle/>
          <a:p>
            <a:fld id="{6E69911C-DAEA-487A-B95E-7D740C4B38A4}" type="slidenum">
              <a:rPr lang="en-US" smtClean="0"/>
              <a:t>‹#›</a:t>
            </a:fld>
            <a:endParaRPr lang="en-US"/>
          </a:p>
        </p:txBody>
      </p:sp>
    </p:spTree>
    <p:extLst>
      <p:ext uri="{BB962C8B-B14F-4D97-AF65-F5344CB8AC3E}">
        <p14:creationId xmlns:p14="http://schemas.microsoft.com/office/powerpoint/2010/main" val="3814761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ABB926-F2F3-7AE2-C1EE-AFE15F4008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325E5A-D058-F53C-A704-878BDED43B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5799C8-8129-4C09-4669-1BAF3E6DC5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8A686B-081A-4413-95E3-E09E6241C808}" type="datetimeFigureOut">
              <a:rPr lang="en-US" smtClean="0"/>
              <a:t>12/23/2025</a:t>
            </a:fld>
            <a:endParaRPr lang="en-US"/>
          </a:p>
        </p:txBody>
      </p:sp>
      <p:sp>
        <p:nvSpPr>
          <p:cNvPr id="5" name="Footer Placeholder 4">
            <a:extLst>
              <a:ext uri="{FF2B5EF4-FFF2-40B4-BE49-F238E27FC236}">
                <a16:creationId xmlns:a16="http://schemas.microsoft.com/office/drawing/2014/main" id="{FB4308DC-1DED-9A1E-EAEB-E735814D17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F71EA7-9BAE-8016-BA5A-FC6D32C7AB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69911C-DAEA-487A-B95E-7D740C4B38A4}" type="slidenum">
              <a:rPr lang="en-US" smtClean="0"/>
              <a:t>‹#›</a:t>
            </a:fld>
            <a:endParaRPr lang="en-US"/>
          </a:p>
        </p:txBody>
      </p:sp>
    </p:spTree>
    <p:extLst>
      <p:ext uri="{BB962C8B-B14F-4D97-AF65-F5344CB8AC3E}">
        <p14:creationId xmlns:p14="http://schemas.microsoft.com/office/powerpoint/2010/main" val="506616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BAEEC-1F2E-8DFF-13B7-FBAE34B97712}"/>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32D3AF6-8347-0097-D160-CC79F647F3F8}"/>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21DB4962-CCB1-63C4-A44E-C5BA45DBD93A}"/>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25 12 23  1120</a:t>
            </a:r>
          </a:p>
        </p:txBody>
      </p:sp>
      <p:sp>
        <p:nvSpPr>
          <p:cNvPr id="38" name="Rectangle 37">
            <a:extLst>
              <a:ext uri="{FF2B5EF4-FFF2-40B4-BE49-F238E27FC236}">
                <a16:creationId xmlns:a16="http://schemas.microsoft.com/office/drawing/2014/main" id="{F342C44E-7092-9672-3D52-C210F03528AA}"/>
              </a:ext>
            </a:extLst>
          </p:cNvPr>
          <p:cNvSpPr/>
          <p:nvPr/>
        </p:nvSpPr>
        <p:spPr>
          <a:xfrm>
            <a:off x="3388789" y="438332"/>
            <a:ext cx="5155275" cy="23634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45" name="TextBox 44">
            <a:extLst>
              <a:ext uri="{FF2B5EF4-FFF2-40B4-BE49-F238E27FC236}">
                <a16:creationId xmlns:a16="http://schemas.microsoft.com/office/drawing/2014/main" id="{693227D3-AA2E-371C-EB56-3A080384EF87}"/>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0" name="TextBox 49">
            <a:extLst>
              <a:ext uri="{FF2B5EF4-FFF2-40B4-BE49-F238E27FC236}">
                <a16:creationId xmlns:a16="http://schemas.microsoft.com/office/drawing/2014/main" id="{C7463970-846D-9CE1-CD4A-56191746C19D}"/>
              </a:ext>
            </a:extLst>
          </p:cNvPr>
          <p:cNvSpPr txBox="1"/>
          <p:nvPr/>
        </p:nvSpPr>
        <p:spPr>
          <a:xfrm>
            <a:off x="4362280" y="5764453"/>
            <a:ext cx="4173546" cy="415498"/>
          </a:xfrm>
          <a:prstGeom prst="rect">
            <a:avLst/>
          </a:prstGeom>
          <a:noFill/>
        </p:spPr>
        <p:txBody>
          <a:bodyPr wrap="square" rtlCol="0">
            <a:spAutoFit/>
          </a:bodyPr>
          <a:lstStyle/>
          <a:p>
            <a:r>
              <a:rPr lang="en-US" sz="1050" dirty="0"/>
              <a:t>Normally this would fall under the preview of an Operation Procedure Manual or OPM  since it call on a SOP it is treated as a SOP </a:t>
            </a:r>
          </a:p>
        </p:txBody>
      </p:sp>
      <p:sp>
        <p:nvSpPr>
          <p:cNvPr id="52" name="Rectangle 51">
            <a:extLst>
              <a:ext uri="{FF2B5EF4-FFF2-40B4-BE49-F238E27FC236}">
                <a16:creationId xmlns:a16="http://schemas.microsoft.com/office/drawing/2014/main" id="{D317E8B3-8EF2-2A67-3F7E-B8351A63CEB4}"/>
              </a:ext>
            </a:extLst>
          </p:cNvPr>
          <p:cNvSpPr/>
          <p:nvPr/>
        </p:nvSpPr>
        <p:spPr>
          <a:xfrm>
            <a:off x="1275588" y="2336858"/>
            <a:ext cx="1641715"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S1 Contract is created using a template and a Line/SN is added</a:t>
            </a:r>
          </a:p>
        </p:txBody>
      </p:sp>
      <p:cxnSp>
        <p:nvCxnSpPr>
          <p:cNvPr id="54" name="Connector: Elbow 28">
            <a:extLst>
              <a:ext uri="{FF2B5EF4-FFF2-40B4-BE49-F238E27FC236}">
                <a16:creationId xmlns:a16="http://schemas.microsoft.com/office/drawing/2014/main" id="{6A05EFB7-9018-31D4-9E0E-D82086C91CF9}"/>
              </a:ext>
            </a:extLst>
          </p:cNvPr>
          <p:cNvCxnSpPr>
            <a:cxnSpLocks/>
            <a:stCxn id="52" idx="3"/>
            <a:endCxn id="56" idx="1"/>
          </p:cNvCxnSpPr>
          <p:nvPr/>
        </p:nvCxnSpPr>
        <p:spPr>
          <a:xfrm>
            <a:off x="2917303" y="2658443"/>
            <a:ext cx="568085"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CD98BA2-0012-3A40-9A4A-2134713F5FD6}"/>
              </a:ext>
            </a:extLst>
          </p:cNvPr>
          <p:cNvSpPr/>
          <p:nvPr/>
        </p:nvSpPr>
        <p:spPr>
          <a:xfrm>
            <a:off x="3485388" y="2336858"/>
            <a:ext cx="2097391"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S2. Contract Maintenance schedule is filled out. Using the first day of what month service is requested</a:t>
            </a:r>
          </a:p>
        </p:txBody>
      </p:sp>
      <p:sp>
        <p:nvSpPr>
          <p:cNvPr id="57" name="Rectangle 56">
            <a:extLst>
              <a:ext uri="{FF2B5EF4-FFF2-40B4-BE49-F238E27FC236}">
                <a16:creationId xmlns:a16="http://schemas.microsoft.com/office/drawing/2014/main" id="{29485E4D-DB90-5E74-2104-D9644DF5FAFE}"/>
              </a:ext>
            </a:extLst>
          </p:cNvPr>
          <p:cNvSpPr/>
          <p:nvPr/>
        </p:nvSpPr>
        <p:spPr>
          <a:xfrm>
            <a:off x="6096000" y="2336858"/>
            <a:ext cx="1155559"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S3. Fixed billing total is entered</a:t>
            </a:r>
          </a:p>
        </p:txBody>
      </p:sp>
      <p:cxnSp>
        <p:nvCxnSpPr>
          <p:cNvPr id="60" name="Connector: Elbow 28">
            <a:extLst>
              <a:ext uri="{FF2B5EF4-FFF2-40B4-BE49-F238E27FC236}">
                <a16:creationId xmlns:a16="http://schemas.microsoft.com/office/drawing/2014/main" id="{38DB3EFF-025D-6E41-C22E-24877544FA88}"/>
              </a:ext>
            </a:extLst>
          </p:cNvPr>
          <p:cNvCxnSpPr>
            <a:cxnSpLocks/>
            <a:stCxn id="56" idx="3"/>
            <a:endCxn id="57" idx="1"/>
          </p:cNvCxnSpPr>
          <p:nvPr/>
        </p:nvCxnSpPr>
        <p:spPr>
          <a:xfrm>
            <a:off x="5582779" y="2658443"/>
            <a:ext cx="513221"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CA548CBE-714A-AC01-F240-8BFD281F34C6}"/>
              </a:ext>
            </a:extLst>
          </p:cNvPr>
          <p:cNvSpPr/>
          <p:nvPr/>
        </p:nvSpPr>
        <p:spPr>
          <a:xfrm>
            <a:off x="7775448"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S4. Contract SRO generator utility is run in the middle of each month </a:t>
            </a:r>
          </a:p>
        </p:txBody>
      </p:sp>
      <p:sp>
        <p:nvSpPr>
          <p:cNvPr id="63" name="Rectangle 62">
            <a:extLst>
              <a:ext uri="{FF2B5EF4-FFF2-40B4-BE49-F238E27FC236}">
                <a16:creationId xmlns:a16="http://schemas.microsoft.com/office/drawing/2014/main" id="{8B609459-6D92-A614-B39E-C01A7A6EC881}"/>
              </a:ext>
            </a:extLst>
          </p:cNvPr>
          <p:cNvSpPr/>
          <p:nvPr/>
        </p:nvSpPr>
        <p:spPr>
          <a:xfrm>
            <a:off x="9519271" y="2336858"/>
            <a:ext cx="1263763" cy="6431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S5. SRO is generated for all required PMA services in the next month</a:t>
            </a:r>
          </a:p>
        </p:txBody>
      </p:sp>
      <p:sp>
        <p:nvSpPr>
          <p:cNvPr id="65" name="Flowchart: Internal Storage 64">
            <a:extLst>
              <a:ext uri="{FF2B5EF4-FFF2-40B4-BE49-F238E27FC236}">
                <a16:creationId xmlns:a16="http://schemas.microsoft.com/office/drawing/2014/main" id="{842F76C1-605E-C783-BFE3-E4459F3E40A2}"/>
              </a:ext>
            </a:extLst>
          </p:cNvPr>
          <p:cNvSpPr/>
          <p:nvPr/>
        </p:nvSpPr>
        <p:spPr>
          <a:xfrm>
            <a:off x="4849183" y="3729070"/>
            <a:ext cx="2010726" cy="643170"/>
          </a:xfrm>
          <a:prstGeom prst="flowChartInternalStorage">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S6. See Service Order Process starting from Schedule </a:t>
            </a:r>
          </a:p>
        </p:txBody>
      </p:sp>
      <p:cxnSp>
        <p:nvCxnSpPr>
          <p:cNvPr id="67" name="Connector: Elbow 28">
            <a:extLst>
              <a:ext uri="{FF2B5EF4-FFF2-40B4-BE49-F238E27FC236}">
                <a16:creationId xmlns:a16="http://schemas.microsoft.com/office/drawing/2014/main" id="{2500267A-85C4-2704-E35F-D5EE555CA9D4}"/>
              </a:ext>
            </a:extLst>
          </p:cNvPr>
          <p:cNvCxnSpPr>
            <a:cxnSpLocks/>
            <a:stCxn id="57" idx="3"/>
            <a:endCxn id="62" idx="1"/>
          </p:cNvCxnSpPr>
          <p:nvPr/>
        </p:nvCxnSpPr>
        <p:spPr>
          <a:xfrm>
            <a:off x="7251559" y="2658443"/>
            <a:ext cx="523889"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28">
            <a:extLst>
              <a:ext uri="{FF2B5EF4-FFF2-40B4-BE49-F238E27FC236}">
                <a16:creationId xmlns:a16="http://schemas.microsoft.com/office/drawing/2014/main" id="{CE0F1F37-0137-E389-989C-A54140D26AB7}"/>
              </a:ext>
            </a:extLst>
          </p:cNvPr>
          <p:cNvCxnSpPr>
            <a:cxnSpLocks/>
            <a:stCxn id="62" idx="3"/>
            <a:endCxn id="63" idx="1"/>
          </p:cNvCxnSpPr>
          <p:nvPr/>
        </p:nvCxnSpPr>
        <p:spPr>
          <a:xfrm>
            <a:off x="9039211" y="2658443"/>
            <a:ext cx="480060" cy="0"/>
          </a:xfrm>
          <a:prstGeom prst="straightConnector1">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F74373C8-D302-EB0D-22D6-F465A64BA301}"/>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9" name="Connector: Elbow 28">
            <a:extLst>
              <a:ext uri="{FF2B5EF4-FFF2-40B4-BE49-F238E27FC236}">
                <a16:creationId xmlns:a16="http://schemas.microsoft.com/office/drawing/2014/main" id="{8F39E30D-D1C1-426E-50C3-D0AC4BDF5FE9}"/>
              </a:ext>
            </a:extLst>
          </p:cNvPr>
          <p:cNvCxnSpPr>
            <a:cxnSpLocks/>
            <a:stCxn id="63" idx="2"/>
            <a:endCxn id="65" idx="0"/>
          </p:cNvCxnSpPr>
          <p:nvPr/>
        </p:nvCxnSpPr>
        <p:spPr>
          <a:xfrm rot="5400000">
            <a:off x="7628329" y="1206246"/>
            <a:ext cx="749042" cy="429660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 name="-M1. Rental process at Palco">
            <a:extLst>
              <a:ext uri="{FF2B5EF4-FFF2-40B4-BE49-F238E27FC236}">
                <a16:creationId xmlns:a16="http://schemas.microsoft.com/office/drawing/2014/main" id="{93CFC48F-7F5B-EDDB-0BF8-42EDFA6554A0}"/>
              </a:ext>
            </a:extLst>
          </p:cNvPr>
          <p:cNvSpPr>
            <a:spLocks noGrp="1"/>
          </p:cNvSpPr>
          <p:nvPr>
            <p:ph type="title"/>
          </p:nvPr>
        </p:nvSpPr>
        <p:spPr>
          <a:xfrm>
            <a:off x="726132" y="122387"/>
            <a:ext cx="10515600" cy="399216"/>
          </a:xfrm>
        </p:spPr>
        <p:txBody>
          <a:bodyPr>
            <a:noAutofit/>
          </a:bodyPr>
          <a:lstStyle/>
          <a:p>
            <a:pPr algn="ctr"/>
            <a:r>
              <a:rPr lang="en-US" sz="1800" b="1" dirty="0"/>
              <a:t>M1. PMA SOP  - PPS Service Rental</a:t>
            </a:r>
          </a:p>
        </p:txBody>
      </p:sp>
      <p:sp>
        <p:nvSpPr>
          <p:cNvPr id="70" name="Flowchart: Document 69">
            <a:extLst>
              <a:ext uri="{FF2B5EF4-FFF2-40B4-BE49-F238E27FC236}">
                <a16:creationId xmlns:a16="http://schemas.microsoft.com/office/drawing/2014/main" id="{E6DF0C6D-8DAD-AD8C-B8EF-FBE1CE26DB9C}"/>
              </a:ext>
            </a:extLst>
          </p:cNvPr>
          <p:cNvSpPr/>
          <p:nvPr/>
        </p:nvSpPr>
        <p:spPr>
          <a:xfrm>
            <a:off x="549402" y="1006795"/>
            <a:ext cx="1641714" cy="862354"/>
          </a:xfrm>
          <a:prstGeom prst="flowChartDocumen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Our PMA Sales staff contacts the customer or a recently installed generator customer calls us on the suggestion of the Technician</a:t>
            </a:r>
          </a:p>
        </p:txBody>
      </p:sp>
      <p:cxnSp>
        <p:nvCxnSpPr>
          <p:cNvPr id="71" name="Connector: Elbow 28">
            <a:extLst>
              <a:ext uri="{FF2B5EF4-FFF2-40B4-BE49-F238E27FC236}">
                <a16:creationId xmlns:a16="http://schemas.microsoft.com/office/drawing/2014/main" id="{56152E86-4173-08D1-149A-872286CE9FBA}"/>
              </a:ext>
            </a:extLst>
          </p:cNvPr>
          <p:cNvCxnSpPr>
            <a:cxnSpLocks/>
            <a:stCxn id="70" idx="2"/>
            <a:endCxn id="52" idx="0"/>
          </p:cNvCxnSpPr>
          <p:nvPr/>
        </p:nvCxnSpPr>
        <p:spPr>
          <a:xfrm rot="16200000" flipH="1">
            <a:off x="1470992" y="1711404"/>
            <a:ext cx="524720" cy="726187"/>
          </a:xfrm>
          <a:prstGeom prst="bentConnector3">
            <a:avLst>
              <a:gd name="adj1" fmla="val 50000"/>
            </a:avLst>
          </a:prstGeom>
          <a:ln w="381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3203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337</Words>
  <Application>Microsoft Office PowerPoint</Application>
  <PresentationFormat>Widescreen</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M1. PMA SOP  - PPS Service Rental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dc:creator>
  <cp:lastModifiedBy>Subi R</cp:lastModifiedBy>
  <cp:revision>1</cp:revision>
  <dcterms:created xsi:type="dcterms:W3CDTF">2025-12-23T16:31:54Z</dcterms:created>
  <dcterms:modified xsi:type="dcterms:W3CDTF">2025-12-23T16:32:57Z</dcterms:modified>
</cp:coreProperties>
</file>