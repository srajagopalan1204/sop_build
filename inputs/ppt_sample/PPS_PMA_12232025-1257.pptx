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542" r:id="rId2"/>
    <p:sldId id="547" r:id="rId3"/>
    <p:sldId id="604" r:id="rId4"/>
    <p:sldId id="543" r:id="rId5"/>
    <p:sldId id="494" r:id="rId6"/>
    <p:sldId id="605" r:id="rId7"/>
    <p:sldId id="606" r:id="rId8"/>
    <p:sldId id="607" r:id="rId9"/>
    <p:sldId id="608" r:id="rId10"/>
    <p:sldId id="609" r:id="rId11"/>
    <p:sldId id="610" r:id="rId12"/>
    <p:sldId id="611" r:id="rId13"/>
    <p:sldId id="592" r:id="rId14"/>
    <p:sldId id="570"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531" autoAdjust="0"/>
    <p:restoredTop sz="94660"/>
  </p:normalViewPr>
  <p:slideViewPr>
    <p:cSldViewPr snapToGrid="0">
      <p:cViewPr>
        <p:scale>
          <a:sx n="82" d="100"/>
          <a:sy n="82" d="100"/>
        </p:scale>
        <p:origin x="294"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A809902-B30B-4A76-9E88-BB5628ED2258}" type="datetimeFigureOut">
              <a:rPr lang="en-US" smtClean="0"/>
              <a:t>12/23/2025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6D0B617-B4D1-442B-9DFF-FBD0C579F96B}" type="slidenum">
              <a:rPr lang="en-US" smtClean="0"/>
              <a:t>‹#›</a:t>
            </a:fld>
            <a:endParaRPr lang="en-US"/>
          </a:p>
        </p:txBody>
      </p:sp>
    </p:spTree>
    <p:extLst>
      <p:ext uri="{BB962C8B-B14F-4D97-AF65-F5344CB8AC3E}">
        <p14:creationId xmlns:p14="http://schemas.microsoft.com/office/powerpoint/2010/main" val="9711011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a:r>
          </a:p>
          <a:p>
            <a:r>
              <a:rPr lang="en-US" dirty="0"/>
              <a:t>.</a:t>
            </a:r>
          </a:p>
          <a:p>
            <a:endParaRPr lang="en-US" dirty="0"/>
          </a:p>
          <a:p>
            <a:endParaRPr lang="en-US" dirty="0"/>
          </a:p>
          <a:p>
            <a:endParaRPr lang="en-US" dirty="0"/>
          </a:p>
          <a:p>
            <a:r>
              <a:rPr lang="en-US" dirty="0"/>
              <a:t>This was updated by SR on 1122 11 23 2025 with input from TS VM and TD</a:t>
            </a:r>
          </a:p>
          <a:p>
            <a:endParaRPr lang="en-US" dirty="0"/>
          </a:p>
          <a:p>
            <a:r>
              <a:rPr lang="en-US" dirty="0"/>
              <a:t>OGN</a:t>
            </a:r>
          </a:p>
          <a:p>
            <a:endParaRPr lang="en-US" dirty="0"/>
          </a:p>
          <a:p>
            <a:endParaRPr lang="en-US" dirty="0"/>
          </a:p>
          <a:p>
            <a:endParaRPr lang="en-US" dirty="0"/>
          </a:p>
          <a:p>
            <a:endParaRPr lang="en-US" dirty="0"/>
          </a:p>
          <a:p>
            <a:r>
              <a:rPr lang="en-US" dirty="0"/>
              <a:t>OGN</a:t>
            </a:r>
          </a:p>
        </p:txBody>
      </p:sp>
      <p:sp>
        <p:nvSpPr>
          <p:cNvPr id="4" name="Slide Number Placeholder 3"/>
          <p:cNvSpPr>
            <a:spLocks noGrp="1"/>
          </p:cNvSpPr>
          <p:nvPr>
            <p:ph type="sldNum" sz="quarter" idx="5"/>
          </p:nvPr>
        </p:nvSpPr>
        <p:spPr/>
        <p:txBody>
          <a:bodyPr/>
          <a:lstStyle/>
          <a:p>
            <a:fld id="{5FD2EF15-161C-458A-BBAC-40A3953D9DA9}" type="slidenum">
              <a:rPr lang="en-US" smtClean="0"/>
              <a:t>3</a:t>
            </a:fld>
            <a:endParaRPr lang="en-US"/>
          </a:p>
        </p:txBody>
      </p:sp>
    </p:spTree>
    <p:extLst>
      <p:ext uri="{BB962C8B-B14F-4D97-AF65-F5344CB8AC3E}">
        <p14:creationId xmlns:p14="http://schemas.microsoft.com/office/powerpoint/2010/main" val="38740101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a:r>
          </a:p>
          <a:p>
            <a:endParaRPr lang="en-US" dirty="0"/>
          </a:p>
          <a:p>
            <a:endParaRPr lang="en-US" dirty="0"/>
          </a:p>
          <a:p>
            <a:endParaRPr lang="en-US" dirty="0"/>
          </a:p>
          <a:p>
            <a:endParaRPr lang="en-US" dirty="0"/>
          </a:p>
          <a:p>
            <a:endParaRPr lang="en-US" dirty="0"/>
          </a:p>
          <a:p>
            <a:r>
              <a:rPr lang="en-US" dirty="0"/>
              <a:t>This is a static slide to introduce the user to the overall picture </a:t>
            </a:r>
          </a:p>
          <a:p>
            <a:r>
              <a:rPr lang="en-US" dirty="0"/>
              <a:t>OGN</a:t>
            </a:r>
          </a:p>
        </p:txBody>
      </p:sp>
      <p:sp>
        <p:nvSpPr>
          <p:cNvPr id="4" name="Slide Number Placeholder 3"/>
          <p:cNvSpPr>
            <a:spLocks noGrp="1"/>
          </p:cNvSpPr>
          <p:nvPr>
            <p:ph type="sldNum" sz="quarter" idx="5"/>
          </p:nvPr>
        </p:nvSpPr>
        <p:spPr/>
        <p:txBody>
          <a:bodyPr/>
          <a:lstStyle/>
          <a:p>
            <a:fld id="{5FD2EF15-161C-458A-BBAC-40A3953D9DA9}" type="slidenum">
              <a:rPr lang="en-US" smtClean="0"/>
              <a:t>4</a:t>
            </a:fld>
            <a:endParaRPr lang="en-US"/>
          </a:p>
        </p:txBody>
      </p:sp>
    </p:spTree>
    <p:extLst>
      <p:ext uri="{BB962C8B-B14F-4D97-AF65-F5344CB8AC3E}">
        <p14:creationId xmlns:p14="http://schemas.microsoft.com/office/powerpoint/2010/main" val="37509128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a:r>
          </a:p>
          <a:p>
            <a:endParaRPr lang="en-US" dirty="0"/>
          </a:p>
          <a:p>
            <a:endParaRPr lang="en-US" dirty="0"/>
          </a:p>
          <a:p>
            <a:endParaRPr lang="en-US" dirty="0"/>
          </a:p>
          <a:p>
            <a:endParaRPr lang="en-US" dirty="0"/>
          </a:p>
          <a:p>
            <a:endParaRPr lang="en-US" dirty="0"/>
          </a:p>
          <a:p>
            <a:r>
              <a:rPr lang="en-US" dirty="0"/>
              <a:t>This is a static slide to introduce the user to the overall picture </a:t>
            </a:r>
          </a:p>
          <a:p>
            <a:r>
              <a:rPr lang="en-US" dirty="0"/>
              <a:t>OGN</a:t>
            </a:r>
          </a:p>
          <a:p>
            <a:r>
              <a:rPr lang="en-US" dirty="0"/>
              <a:t>This was also an attempt to see how to make up for the fact that access to Monday.com had been restricted and even though the go live was pushed back to April the sense of urgency is yet to be in </a:t>
            </a:r>
            <a:r>
              <a:rPr lang="en-US" dirty="0" err="1"/>
              <a:t>th</a:t>
            </a:r>
            <a:r>
              <a:rPr lang="en-US" dirty="0"/>
              <a:t> mindset of the upper management </a:t>
            </a:r>
          </a:p>
          <a:p>
            <a:r>
              <a:rPr lang="en-US" dirty="0"/>
              <a:t>UAP production has stopped so the authors of these documents are going to use as many customized and generic </a:t>
            </a:r>
            <a:r>
              <a:rPr lang="en-US" dirty="0" err="1"/>
              <a:t>upa’s</a:t>
            </a:r>
            <a:r>
              <a:rPr lang="en-US" dirty="0"/>
              <a:t>  </a:t>
            </a:r>
            <a:br>
              <a:rPr lang="en-US" dirty="0"/>
            </a:br>
            <a:r>
              <a:rPr lang="en-US" dirty="0"/>
              <a:t>the hope is two fold </a:t>
            </a:r>
            <a:br>
              <a:rPr lang="en-US" dirty="0"/>
            </a:br>
            <a:r>
              <a:rPr lang="en-US" dirty="0"/>
              <a:t>one to show those using the system how the UAP SOP WF all work together and if better participation from Champion SME’s and users was available not just one person trying to do all this against all odds could have produced a world class LMS</a:t>
            </a:r>
            <a:br>
              <a:rPr lang="en-US" dirty="0"/>
            </a:br>
            <a:r>
              <a:rPr lang="en-US" dirty="0"/>
              <a:t>note by SR 11272025 – thanks Giving day </a:t>
            </a:r>
          </a:p>
          <a:p>
            <a:r>
              <a:rPr lang="en-US" dirty="0"/>
              <a:t>OGN</a:t>
            </a:r>
          </a:p>
          <a:p>
            <a:endParaRPr lang="en-US" dirty="0"/>
          </a:p>
        </p:txBody>
      </p:sp>
      <p:sp>
        <p:nvSpPr>
          <p:cNvPr id="4" name="Slide Number Placeholder 3"/>
          <p:cNvSpPr>
            <a:spLocks noGrp="1"/>
          </p:cNvSpPr>
          <p:nvPr>
            <p:ph type="sldNum" sz="quarter" idx="5"/>
          </p:nvPr>
        </p:nvSpPr>
        <p:spPr/>
        <p:txBody>
          <a:bodyPr/>
          <a:lstStyle/>
          <a:p>
            <a:fld id="{73D03784-C198-49B1-BBEF-9EB2D7F83474}" type="slidenum">
              <a:rPr lang="en-US" smtClean="0"/>
              <a:t>5</a:t>
            </a:fld>
            <a:endParaRPr lang="en-US" dirty="0"/>
          </a:p>
        </p:txBody>
      </p:sp>
    </p:spTree>
    <p:extLst>
      <p:ext uri="{BB962C8B-B14F-4D97-AF65-F5344CB8AC3E}">
        <p14:creationId xmlns:p14="http://schemas.microsoft.com/office/powerpoint/2010/main" val="10934495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0BA68D-9726-EF85-D068-633A44BE8B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D88C60-1A68-A7F1-D818-2AA6F6DFCAF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44AED94-D89C-131D-1627-4055746B39E4}"/>
              </a:ext>
            </a:extLst>
          </p:cNvPr>
          <p:cNvSpPr>
            <a:spLocks noGrp="1"/>
          </p:cNvSpPr>
          <p:nvPr>
            <p:ph type="body" idx="1"/>
          </p:nvPr>
        </p:nvSpPr>
        <p:spPr/>
        <p:txBody>
          <a:bodyPr/>
          <a:lstStyle/>
          <a:p>
            <a:r>
              <a:rPr lang="en-US" dirty="0"/>
              <a:t>.</a:t>
            </a:r>
          </a:p>
          <a:p>
            <a:endParaRPr lang="en-US" dirty="0"/>
          </a:p>
          <a:p>
            <a:endParaRPr lang="en-US" dirty="0"/>
          </a:p>
          <a:p>
            <a:endParaRPr lang="en-US" dirty="0"/>
          </a:p>
          <a:p>
            <a:endParaRPr lang="en-US" dirty="0"/>
          </a:p>
          <a:p>
            <a:endParaRPr lang="en-US" dirty="0"/>
          </a:p>
          <a:p>
            <a:r>
              <a:rPr lang="en-US" dirty="0"/>
              <a:t>This is a static slide to introduce the user to the overall picture </a:t>
            </a:r>
          </a:p>
          <a:p>
            <a:r>
              <a:rPr lang="en-US" dirty="0"/>
              <a:t>OGN</a:t>
            </a:r>
          </a:p>
          <a:p>
            <a:r>
              <a:rPr lang="en-US" dirty="0"/>
              <a:t>This was also an attempt to see how to make up for the fact that access to Monday.com had been restricted and even though the go live was pushed back to April the sense of urgency is yet to be in </a:t>
            </a:r>
            <a:r>
              <a:rPr lang="en-US" dirty="0" err="1"/>
              <a:t>th</a:t>
            </a:r>
            <a:r>
              <a:rPr lang="en-US" dirty="0"/>
              <a:t> mindset of the upper management </a:t>
            </a:r>
          </a:p>
          <a:p>
            <a:r>
              <a:rPr lang="en-US" dirty="0"/>
              <a:t>UAP production has stopped so the authors of these documents are going to use as many customized and generic </a:t>
            </a:r>
            <a:r>
              <a:rPr lang="en-US" dirty="0" err="1"/>
              <a:t>upa’s</a:t>
            </a:r>
            <a:r>
              <a:rPr lang="en-US" dirty="0"/>
              <a:t>  </a:t>
            </a:r>
            <a:br>
              <a:rPr lang="en-US" dirty="0"/>
            </a:br>
            <a:r>
              <a:rPr lang="en-US" dirty="0"/>
              <a:t>the hope is two fold </a:t>
            </a:r>
            <a:br>
              <a:rPr lang="en-US" dirty="0"/>
            </a:br>
            <a:r>
              <a:rPr lang="en-US" dirty="0"/>
              <a:t>one to show those using the system how the UAP SOP WF all work together and if better participation from Champion SME’s and users was available not just one person trying to do all this against all odds could have produced a world class LMS</a:t>
            </a:r>
            <a:br>
              <a:rPr lang="en-US" dirty="0"/>
            </a:br>
            <a:r>
              <a:rPr lang="en-US" dirty="0"/>
              <a:t>note by SR 11272025 – thanks Giving day </a:t>
            </a:r>
          </a:p>
          <a:p>
            <a:r>
              <a:rPr lang="en-US" dirty="0"/>
              <a:t>OGN</a:t>
            </a:r>
          </a:p>
          <a:p>
            <a:endParaRPr lang="en-US" dirty="0"/>
          </a:p>
        </p:txBody>
      </p:sp>
      <p:sp>
        <p:nvSpPr>
          <p:cNvPr id="4" name="Slide Number Placeholder 3">
            <a:extLst>
              <a:ext uri="{FF2B5EF4-FFF2-40B4-BE49-F238E27FC236}">
                <a16:creationId xmlns:a16="http://schemas.microsoft.com/office/drawing/2014/main" id="{F3C8A351-2FA9-A04C-C99A-3E442C792FBC}"/>
              </a:ext>
            </a:extLst>
          </p:cNvPr>
          <p:cNvSpPr>
            <a:spLocks noGrp="1"/>
          </p:cNvSpPr>
          <p:nvPr>
            <p:ph type="sldNum" sz="quarter" idx="5"/>
          </p:nvPr>
        </p:nvSpPr>
        <p:spPr/>
        <p:txBody>
          <a:bodyPr/>
          <a:lstStyle/>
          <a:p>
            <a:fld id="{73D03784-C198-49B1-BBEF-9EB2D7F83474}" type="slidenum">
              <a:rPr lang="en-US" smtClean="0"/>
              <a:t>6</a:t>
            </a:fld>
            <a:endParaRPr lang="en-US" dirty="0"/>
          </a:p>
        </p:txBody>
      </p:sp>
    </p:spTree>
    <p:extLst>
      <p:ext uri="{BB962C8B-B14F-4D97-AF65-F5344CB8AC3E}">
        <p14:creationId xmlns:p14="http://schemas.microsoft.com/office/powerpoint/2010/main" val="21700015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E353F0-9688-4A22-470B-B4F9042672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0CE2B7-9C18-59BF-1083-23DFF16730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CFBD07-0736-A923-AA34-B89332EA90A1}"/>
              </a:ext>
            </a:extLst>
          </p:cNvPr>
          <p:cNvSpPr>
            <a:spLocks noGrp="1"/>
          </p:cNvSpPr>
          <p:nvPr>
            <p:ph type="body" idx="1"/>
          </p:nvPr>
        </p:nvSpPr>
        <p:spPr/>
        <p:txBody>
          <a:bodyPr/>
          <a:lstStyle/>
          <a:p>
            <a:r>
              <a:rPr lang="en-US" dirty="0"/>
              <a:t>.</a:t>
            </a:r>
          </a:p>
          <a:p>
            <a:endParaRPr lang="en-US" dirty="0"/>
          </a:p>
          <a:p>
            <a:endParaRPr lang="en-US" dirty="0"/>
          </a:p>
          <a:p>
            <a:endParaRPr lang="en-US" dirty="0"/>
          </a:p>
          <a:p>
            <a:endParaRPr lang="en-US" dirty="0"/>
          </a:p>
          <a:p>
            <a:endParaRPr lang="en-US" dirty="0"/>
          </a:p>
          <a:p>
            <a:r>
              <a:rPr lang="en-US" dirty="0"/>
              <a:t>This is a static slide to introduce the user to the overall picture </a:t>
            </a:r>
          </a:p>
          <a:p>
            <a:r>
              <a:rPr lang="en-US" dirty="0"/>
              <a:t>OGN</a:t>
            </a:r>
          </a:p>
          <a:p>
            <a:r>
              <a:rPr lang="en-US" dirty="0"/>
              <a:t>This was also an attempt to see how to make up for the fact that access to Monday.com had been restricted and even though the go live was pushed back to April the sense of urgency is yet to be in </a:t>
            </a:r>
            <a:r>
              <a:rPr lang="en-US" dirty="0" err="1"/>
              <a:t>th</a:t>
            </a:r>
            <a:r>
              <a:rPr lang="en-US" dirty="0"/>
              <a:t> mindset of the upper management </a:t>
            </a:r>
          </a:p>
          <a:p>
            <a:r>
              <a:rPr lang="en-US" dirty="0"/>
              <a:t>UAP production has stopped so the authors of these documents are going to use as many customized and generic </a:t>
            </a:r>
            <a:r>
              <a:rPr lang="en-US" dirty="0" err="1"/>
              <a:t>upa’s</a:t>
            </a:r>
            <a:r>
              <a:rPr lang="en-US" dirty="0"/>
              <a:t>  </a:t>
            </a:r>
            <a:br>
              <a:rPr lang="en-US" dirty="0"/>
            </a:br>
            <a:r>
              <a:rPr lang="en-US" dirty="0"/>
              <a:t>the hope is two fold </a:t>
            </a:r>
            <a:br>
              <a:rPr lang="en-US" dirty="0"/>
            </a:br>
            <a:r>
              <a:rPr lang="en-US" dirty="0"/>
              <a:t>one to show those using the system how the UAP SOP WF all work together and if better participation from Champion SME’s and users was available not just one person trying to do all this against all odds could have produced a world class LMS</a:t>
            </a:r>
            <a:br>
              <a:rPr lang="en-US" dirty="0"/>
            </a:br>
            <a:r>
              <a:rPr lang="en-US" dirty="0"/>
              <a:t>note by SR 11272025 – thanks Giving day </a:t>
            </a:r>
          </a:p>
          <a:p>
            <a:r>
              <a:rPr lang="en-US" dirty="0"/>
              <a:t>OGN</a:t>
            </a:r>
          </a:p>
          <a:p>
            <a:endParaRPr lang="en-US" dirty="0"/>
          </a:p>
        </p:txBody>
      </p:sp>
      <p:sp>
        <p:nvSpPr>
          <p:cNvPr id="4" name="Slide Number Placeholder 3">
            <a:extLst>
              <a:ext uri="{FF2B5EF4-FFF2-40B4-BE49-F238E27FC236}">
                <a16:creationId xmlns:a16="http://schemas.microsoft.com/office/drawing/2014/main" id="{546F3AD0-19DC-E759-02F8-F45412BBBB68}"/>
              </a:ext>
            </a:extLst>
          </p:cNvPr>
          <p:cNvSpPr>
            <a:spLocks noGrp="1"/>
          </p:cNvSpPr>
          <p:nvPr>
            <p:ph type="sldNum" sz="quarter" idx="5"/>
          </p:nvPr>
        </p:nvSpPr>
        <p:spPr/>
        <p:txBody>
          <a:bodyPr/>
          <a:lstStyle/>
          <a:p>
            <a:fld id="{73D03784-C198-49B1-BBEF-9EB2D7F83474}" type="slidenum">
              <a:rPr lang="en-US" smtClean="0"/>
              <a:t>7</a:t>
            </a:fld>
            <a:endParaRPr lang="en-US" dirty="0"/>
          </a:p>
        </p:txBody>
      </p:sp>
    </p:spTree>
    <p:extLst>
      <p:ext uri="{BB962C8B-B14F-4D97-AF65-F5344CB8AC3E}">
        <p14:creationId xmlns:p14="http://schemas.microsoft.com/office/powerpoint/2010/main" val="477319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194178-679F-3E91-2523-87AA788571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2B26F5-860D-12DD-05B0-09C78E30243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9FE54CF-5774-7A73-0670-9FD455468B59}"/>
              </a:ext>
            </a:extLst>
          </p:cNvPr>
          <p:cNvSpPr>
            <a:spLocks noGrp="1"/>
          </p:cNvSpPr>
          <p:nvPr>
            <p:ph type="body" idx="1"/>
          </p:nvPr>
        </p:nvSpPr>
        <p:spPr/>
        <p:txBody>
          <a:bodyPr/>
          <a:lstStyle/>
          <a:p>
            <a:r>
              <a:rPr lang="en-US" dirty="0"/>
              <a:t>.</a:t>
            </a:r>
          </a:p>
          <a:p>
            <a:endParaRPr lang="en-US" dirty="0"/>
          </a:p>
          <a:p>
            <a:endParaRPr lang="en-US" dirty="0"/>
          </a:p>
          <a:p>
            <a:endParaRPr lang="en-US" dirty="0"/>
          </a:p>
          <a:p>
            <a:endParaRPr lang="en-US" dirty="0"/>
          </a:p>
          <a:p>
            <a:endParaRPr lang="en-US" dirty="0"/>
          </a:p>
          <a:p>
            <a:r>
              <a:rPr lang="en-US" dirty="0"/>
              <a:t>This is a static slide to introduce the user to the overall picture </a:t>
            </a:r>
          </a:p>
          <a:p>
            <a:r>
              <a:rPr lang="en-US" dirty="0"/>
              <a:t>OGN</a:t>
            </a:r>
          </a:p>
          <a:p>
            <a:r>
              <a:rPr lang="en-US" dirty="0"/>
              <a:t>This was also an attempt to see how to make up for the fact that access to Monday.com had been restricted and even though the go live was pushed back to April the sense of urgency is yet to be in </a:t>
            </a:r>
            <a:r>
              <a:rPr lang="en-US" dirty="0" err="1"/>
              <a:t>th</a:t>
            </a:r>
            <a:r>
              <a:rPr lang="en-US" dirty="0"/>
              <a:t> mindset of the upper management </a:t>
            </a:r>
          </a:p>
          <a:p>
            <a:r>
              <a:rPr lang="en-US" dirty="0"/>
              <a:t>UAP production has stopped so the authors of these documents are going to use as many customized and generic </a:t>
            </a:r>
            <a:r>
              <a:rPr lang="en-US" dirty="0" err="1"/>
              <a:t>upa’s</a:t>
            </a:r>
            <a:r>
              <a:rPr lang="en-US" dirty="0"/>
              <a:t>  </a:t>
            </a:r>
            <a:br>
              <a:rPr lang="en-US" dirty="0"/>
            </a:br>
            <a:r>
              <a:rPr lang="en-US" dirty="0"/>
              <a:t>the hope is two fold </a:t>
            </a:r>
            <a:br>
              <a:rPr lang="en-US" dirty="0"/>
            </a:br>
            <a:r>
              <a:rPr lang="en-US" dirty="0"/>
              <a:t>one to show those using the system how the UAP SOP WF all work together and if better participation from Champion SME’s and users was available not just one person trying to do all this against all odds could have produced a world class LMS</a:t>
            </a:r>
            <a:br>
              <a:rPr lang="en-US" dirty="0"/>
            </a:br>
            <a:r>
              <a:rPr lang="en-US" dirty="0"/>
              <a:t>note by SR 11272025 – thanks Giving day </a:t>
            </a:r>
          </a:p>
          <a:p>
            <a:r>
              <a:rPr lang="en-US" dirty="0"/>
              <a:t>OGN</a:t>
            </a:r>
          </a:p>
          <a:p>
            <a:endParaRPr lang="en-US" dirty="0"/>
          </a:p>
        </p:txBody>
      </p:sp>
      <p:sp>
        <p:nvSpPr>
          <p:cNvPr id="4" name="Slide Number Placeholder 3">
            <a:extLst>
              <a:ext uri="{FF2B5EF4-FFF2-40B4-BE49-F238E27FC236}">
                <a16:creationId xmlns:a16="http://schemas.microsoft.com/office/drawing/2014/main" id="{01E9CA96-F425-8009-B6E0-3AC7520862F0}"/>
              </a:ext>
            </a:extLst>
          </p:cNvPr>
          <p:cNvSpPr>
            <a:spLocks noGrp="1"/>
          </p:cNvSpPr>
          <p:nvPr>
            <p:ph type="sldNum" sz="quarter" idx="5"/>
          </p:nvPr>
        </p:nvSpPr>
        <p:spPr/>
        <p:txBody>
          <a:bodyPr/>
          <a:lstStyle/>
          <a:p>
            <a:fld id="{73D03784-C198-49B1-BBEF-9EB2D7F83474}" type="slidenum">
              <a:rPr lang="en-US" smtClean="0"/>
              <a:t>8</a:t>
            </a:fld>
            <a:endParaRPr lang="en-US" dirty="0"/>
          </a:p>
        </p:txBody>
      </p:sp>
    </p:spTree>
    <p:extLst>
      <p:ext uri="{BB962C8B-B14F-4D97-AF65-F5344CB8AC3E}">
        <p14:creationId xmlns:p14="http://schemas.microsoft.com/office/powerpoint/2010/main" val="241870396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F77980-8B81-C55D-DAFC-572D183375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E783CD-9CF6-16A6-BFC8-19D1CBA08B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7B63C5-5094-0520-63E5-F0BCE9A53419}"/>
              </a:ext>
            </a:extLst>
          </p:cNvPr>
          <p:cNvSpPr>
            <a:spLocks noGrp="1"/>
          </p:cNvSpPr>
          <p:nvPr>
            <p:ph type="body" idx="1"/>
          </p:nvPr>
        </p:nvSpPr>
        <p:spPr/>
        <p:txBody>
          <a:bodyPr/>
          <a:lstStyle/>
          <a:p>
            <a:r>
              <a:rPr lang="en-US" dirty="0"/>
              <a:t>.</a:t>
            </a:r>
          </a:p>
          <a:p>
            <a:endParaRPr lang="en-US" dirty="0"/>
          </a:p>
          <a:p>
            <a:endParaRPr lang="en-US" dirty="0"/>
          </a:p>
          <a:p>
            <a:endParaRPr lang="en-US" dirty="0"/>
          </a:p>
          <a:p>
            <a:endParaRPr lang="en-US" dirty="0"/>
          </a:p>
          <a:p>
            <a:endParaRPr lang="en-US" dirty="0"/>
          </a:p>
          <a:p>
            <a:r>
              <a:rPr lang="en-US" dirty="0"/>
              <a:t>This is a static slide to introduce the user to the overall picture </a:t>
            </a:r>
          </a:p>
          <a:p>
            <a:r>
              <a:rPr lang="en-US" dirty="0"/>
              <a:t>OGN</a:t>
            </a:r>
          </a:p>
          <a:p>
            <a:r>
              <a:rPr lang="en-US" dirty="0"/>
              <a:t>This was also an attempt to see how to make up for the fact that access to Monday.com had been restricted and even though the go live was pushed back to April the sense of urgency is yet to be in </a:t>
            </a:r>
            <a:r>
              <a:rPr lang="en-US" dirty="0" err="1"/>
              <a:t>th</a:t>
            </a:r>
            <a:r>
              <a:rPr lang="en-US" dirty="0"/>
              <a:t> mindset of the upper management </a:t>
            </a:r>
          </a:p>
          <a:p>
            <a:r>
              <a:rPr lang="en-US" dirty="0"/>
              <a:t>UAP production has stopped so the authors of these documents are going to use as many customized and generic </a:t>
            </a:r>
            <a:r>
              <a:rPr lang="en-US" dirty="0" err="1"/>
              <a:t>upa’s</a:t>
            </a:r>
            <a:r>
              <a:rPr lang="en-US" dirty="0"/>
              <a:t>  </a:t>
            </a:r>
            <a:br>
              <a:rPr lang="en-US" dirty="0"/>
            </a:br>
            <a:r>
              <a:rPr lang="en-US" dirty="0"/>
              <a:t>the hope is two fold </a:t>
            </a:r>
            <a:br>
              <a:rPr lang="en-US" dirty="0"/>
            </a:br>
            <a:r>
              <a:rPr lang="en-US" dirty="0"/>
              <a:t>one to show those using the system how the UAP SOP WF all work together and if better participation from Champion SME’s and users was available not just one person trying to do all this against all odds could have produced a world class LMS</a:t>
            </a:r>
            <a:br>
              <a:rPr lang="en-US" dirty="0"/>
            </a:br>
            <a:r>
              <a:rPr lang="en-US" dirty="0"/>
              <a:t>note by SR 11272025 – thanks Giving day </a:t>
            </a:r>
          </a:p>
          <a:p>
            <a:r>
              <a:rPr lang="en-US" dirty="0"/>
              <a:t>OGN</a:t>
            </a:r>
          </a:p>
          <a:p>
            <a:endParaRPr lang="en-US" dirty="0"/>
          </a:p>
        </p:txBody>
      </p:sp>
      <p:sp>
        <p:nvSpPr>
          <p:cNvPr id="4" name="Slide Number Placeholder 3">
            <a:extLst>
              <a:ext uri="{FF2B5EF4-FFF2-40B4-BE49-F238E27FC236}">
                <a16:creationId xmlns:a16="http://schemas.microsoft.com/office/drawing/2014/main" id="{7697EED9-1A7E-FDA0-C9E1-98EC766D727F}"/>
              </a:ext>
            </a:extLst>
          </p:cNvPr>
          <p:cNvSpPr>
            <a:spLocks noGrp="1"/>
          </p:cNvSpPr>
          <p:nvPr>
            <p:ph type="sldNum" sz="quarter" idx="5"/>
          </p:nvPr>
        </p:nvSpPr>
        <p:spPr/>
        <p:txBody>
          <a:bodyPr/>
          <a:lstStyle/>
          <a:p>
            <a:fld id="{73D03784-C198-49B1-BBEF-9EB2D7F83474}" type="slidenum">
              <a:rPr lang="en-US" smtClean="0"/>
              <a:t>9</a:t>
            </a:fld>
            <a:endParaRPr lang="en-US" dirty="0"/>
          </a:p>
        </p:txBody>
      </p:sp>
    </p:spTree>
    <p:extLst>
      <p:ext uri="{BB962C8B-B14F-4D97-AF65-F5344CB8AC3E}">
        <p14:creationId xmlns:p14="http://schemas.microsoft.com/office/powerpoint/2010/main" val="425178845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524FBF-1CBD-C8D9-D7C2-FF943FB6C7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131F52-A4E1-041A-E568-92C348A79F5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0143EE0-CD5E-607E-0C2D-0B21A9274928}"/>
              </a:ext>
            </a:extLst>
          </p:cNvPr>
          <p:cNvSpPr>
            <a:spLocks noGrp="1"/>
          </p:cNvSpPr>
          <p:nvPr>
            <p:ph type="body" idx="1"/>
          </p:nvPr>
        </p:nvSpPr>
        <p:spPr/>
        <p:txBody>
          <a:bodyPr/>
          <a:lstStyle/>
          <a:p>
            <a:r>
              <a:rPr lang="en-US" dirty="0"/>
              <a:t>.</a:t>
            </a:r>
          </a:p>
          <a:p>
            <a:endParaRPr lang="en-US" dirty="0"/>
          </a:p>
          <a:p>
            <a:endParaRPr lang="en-US" dirty="0"/>
          </a:p>
          <a:p>
            <a:endParaRPr lang="en-US" dirty="0"/>
          </a:p>
          <a:p>
            <a:endParaRPr lang="en-US" dirty="0"/>
          </a:p>
          <a:p>
            <a:endParaRPr lang="en-US" dirty="0"/>
          </a:p>
          <a:p>
            <a:r>
              <a:rPr lang="en-US" dirty="0"/>
              <a:t>This is a static slide to introduce the user to the overall picture </a:t>
            </a:r>
          </a:p>
          <a:p>
            <a:r>
              <a:rPr lang="en-US" dirty="0"/>
              <a:t>OGN</a:t>
            </a:r>
          </a:p>
          <a:p>
            <a:r>
              <a:rPr lang="en-US" dirty="0"/>
              <a:t>This was also an attempt to see how to make up for the fact that access to Monday.com had been restricted and even though the go live was pushed back to April the sense of urgency is yet to be in </a:t>
            </a:r>
            <a:r>
              <a:rPr lang="en-US" dirty="0" err="1"/>
              <a:t>th</a:t>
            </a:r>
            <a:r>
              <a:rPr lang="en-US" dirty="0"/>
              <a:t> mindset of the upper management </a:t>
            </a:r>
          </a:p>
          <a:p>
            <a:r>
              <a:rPr lang="en-US" dirty="0"/>
              <a:t>UAP production has stopped so the authors of these documents are going to use as many customized and generic </a:t>
            </a:r>
            <a:r>
              <a:rPr lang="en-US" dirty="0" err="1"/>
              <a:t>upa’s</a:t>
            </a:r>
            <a:r>
              <a:rPr lang="en-US" dirty="0"/>
              <a:t>  </a:t>
            </a:r>
            <a:br>
              <a:rPr lang="en-US" dirty="0"/>
            </a:br>
            <a:r>
              <a:rPr lang="en-US" dirty="0"/>
              <a:t>the hope is two fold </a:t>
            </a:r>
            <a:br>
              <a:rPr lang="en-US" dirty="0"/>
            </a:br>
            <a:r>
              <a:rPr lang="en-US" dirty="0"/>
              <a:t>one to show those using the system how the UAP SOP WF all work together and if better participation from Champion SME’s and users was available not just one person trying to do all this against all odds could have produced a world class LMS</a:t>
            </a:r>
            <a:br>
              <a:rPr lang="en-US" dirty="0"/>
            </a:br>
            <a:r>
              <a:rPr lang="en-US" dirty="0"/>
              <a:t>note by SR 11272025 – thanks Giving day </a:t>
            </a:r>
          </a:p>
          <a:p>
            <a:r>
              <a:rPr lang="en-US" dirty="0"/>
              <a:t>OGN</a:t>
            </a:r>
          </a:p>
          <a:p>
            <a:endParaRPr lang="en-US" dirty="0"/>
          </a:p>
        </p:txBody>
      </p:sp>
      <p:sp>
        <p:nvSpPr>
          <p:cNvPr id="4" name="Slide Number Placeholder 3">
            <a:extLst>
              <a:ext uri="{FF2B5EF4-FFF2-40B4-BE49-F238E27FC236}">
                <a16:creationId xmlns:a16="http://schemas.microsoft.com/office/drawing/2014/main" id="{26E32CB8-0FFC-0A50-2184-CA705ED4BBDF}"/>
              </a:ext>
            </a:extLst>
          </p:cNvPr>
          <p:cNvSpPr>
            <a:spLocks noGrp="1"/>
          </p:cNvSpPr>
          <p:nvPr>
            <p:ph type="sldNum" sz="quarter" idx="5"/>
          </p:nvPr>
        </p:nvSpPr>
        <p:spPr/>
        <p:txBody>
          <a:bodyPr/>
          <a:lstStyle/>
          <a:p>
            <a:fld id="{73D03784-C198-49B1-BBEF-9EB2D7F83474}" type="slidenum">
              <a:rPr lang="en-US" smtClean="0"/>
              <a:t>10</a:t>
            </a:fld>
            <a:endParaRPr lang="en-US" dirty="0"/>
          </a:p>
        </p:txBody>
      </p:sp>
    </p:spTree>
    <p:extLst>
      <p:ext uri="{BB962C8B-B14F-4D97-AF65-F5344CB8AC3E}">
        <p14:creationId xmlns:p14="http://schemas.microsoft.com/office/powerpoint/2010/main" val="41146414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F80B6D-4932-75D0-F700-4F61581BCC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1175BB-E31A-B4DD-C209-DA1DDA2BB4D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65E199-0EB5-5BF2-2429-AD3F6A324C24}"/>
              </a:ext>
            </a:extLst>
          </p:cNvPr>
          <p:cNvSpPr>
            <a:spLocks noGrp="1"/>
          </p:cNvSpPr>
          <p:nvPr>
            <p:ph type="body" idx="1"/>
          </p:nvPr>
        </p:nvSpPr>
        <p:spPr/>
        <p:txBody>
          <a:bodyPr/>
          <a:lstStyle/>
          <a:p>
            <a:r>
              <a:rPr lang="en-US" dirty="0"/>
              <a:t>.</a:t>
            </a:r>
          </a:p>
          <a:p>
            <a:endParaRPr lang="en-US" dirty="0"/>
          </a:p>
          <a:p>
            <a:endParaRPr lang="en-US" dirty="0"/>
          </a:p>
          <a:p>
            <a:endParaRPr lang="en-US" dirty="0"/>
          </a:p>
          <a:p>
            <a:endParaRPr lang="en-US" dirty="0"/>
          </a:p>
          <a:p>
            <a:endParaRPr lang="en-US" dirty="0"/>
          </a:p>
          <a:p>
            <a:r>
              <a:rPr lang="en-US" dirty="0"/>
              <a:t>This is a static slide to introduce the user to the overall picture </a:t>
            </a:r>
          </a:p>
          <a:p>
            <a:r>
              <a:rPr lang="en-US" dirty="0"/>
              <a:t>OGN</a:t>
            </a:r>
          </a:p>
          <a:p>
            <a:r>
              <a:rPr lang="en-US" dirty="0"/>
              <a:t>This was also an attempt to see how to make up for the fact that access to Monday.com had been restricted and even though the go live was pushed back to April the sense of urgency is yet to be in </a:t>
            </a:r>
            <a:r>
              <a:rPr lang="en-US" dirty="0" err="1"/>
              <a:t>th</a:t>
            </a:r>
            <a:r>
              <a:rPr lang="en-US" dirty="0"/>
              <a:t> mindset of the upper management </a:t>
            </a:r>
          </a:p>
          <a:p>
            <a:r>
              <a:rPr lang="en-US" dirty="0"/>
              <a:t>UAP production has stopped so the authors of these documents are going to use as many customized and generic </a:t>
            </a:r>
            <a:r>
              <a:rPr lang="en-US" dirty="0" err="1"/>
              <a:t>upa’s</a:t>
            </a:r>
            <a:r>
              <a:rPr lang="en-US" dirty="0"/>
              <a:t>  </a:t>
            </a:r>
            <a:br>
              <a:rPr lang="en-US" dirty="0"/>
            </a:br>
            <a:r>
              <a:rPr lang="en-US" dirty="0"/>
              <a:t>the hope is two fold </a:t>
            </a:r>
            <a:br>
              <a:rPr lang="en-US" dirty="0"/>
            </a:br>
            <a:r>
              <a:rPr lang="en-US" dirty="0"/>
              <a:t>one to show those using the system how the UAP SOP WF all work together and if better participation from Champion SME’s and users was available not just one person trying to do all this against all odds could have produced a world class LMS</a:t>
            </a:r>
            <a:br>
              <a:rPr lang="en-US" dirty="0"/>
            </a:br>
            <a:r>
              <a:rPr lang="en-US" dirty="0"/>
              <a:t>note by SR 11272025 – thanks Giving day </a:t>
            </a:r>
          </a:p>
          <a:p>
            <a:r>
              <a:rPr lang="en-US" dirty="0"/>
              <a:t>OGN</a:t>
            </a:r>
          </a:p>
          <a:p>
            <a:endParaRPr lang="en-US" dirty="0"/>
          </a:p>
        </p:txBody>
      </p:sp>
      <p:sp>
        <p:nvSpPr>
          <p:cNvPr id="4" name="Slide Number Placeholder 3">
            <a:extLst>
              <a:ext uri="{FF2B5EF4-FFF2-40B4-BE49-F238E27FC236}">
                <a16:creationId xmlns:a16="http://schemas.microsoft.com/office/drawing/2014/main" id="{FF99A3F3-8722-3867-C7F8-2DE7BD2DB011}"/>
              </a:ext>
            </a:extLst>
          </p:cNvPr>
          <p:cNvSpPr>
            <a:spLocks noGrp="1"/>
          </p:cNvSpPr>
          <p:nvPr>
            <p:ph type="sldNum" sz="quarter" idx="5"/>
          </p:nvPr>
        </p:nvSpPr>
        <p:spPr/>
        <p:txBody>
          <a:bodyPr/>
          <a:lstStyle/>
          <a:p>
            <a:fld id="{73D03784-C198-49B1-BBEF-9EB2D7F83474}" type="slidenum">
              <a:rPr lang="en-US" smtClean="0"/>
              <a:t>11</a:t>
            </a:fld>
            <a:endParaRPr lang="en-US" dirty="0"/>
          </a:p>
        </p:txBody>
      </p:sp>
    </p:spTree>
    <p:extLst>
      <p:ext uri="{BB962C8B-B14F-4D97-AF65-F5344CB8AC3E}">
        <p14:creationId xmlns:p14="http://schemas.microsoft.com/office/powerpoint/2010/main" val="376736867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BCFE87-3E9A-F913-E5EA-67B18EFF46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2A7394-9488-481B-C01B-C2A3817E0D4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A25270E-243C-1B7E-04B5-63B7AC8B2F35}"/>
              </a:ext>
            </a:extLst>
          </p:cNvPr>
          <p:cNvSpPr>
            <a:spLocks noGrp="1"/>
          </p:cNvSpPr>
          <p:nvPr>
            <p:ph type="body" idx="1"/>
          </p:nvPr>
        </p:nvSpPr>
        <p:spPr/>
        <p:txBody>
          <a:bodyPr/>
          <a:lstStyle/>
          <a:p>
            <a:r>
              <a:rPr lang="en-US" dirty="0"/>
              <a:t>.</a:t>
            </a:r>
          </a:p>
          <a:p>
            <a:endParaRPr lang="en-US" dirty="0"/>
          </a:p>
          <a:p>
            <a:endParaRPr lang="en-US" dirty="0"/>
          </a:p>
          <a:p>
            <a:endParaRPr lang="en-US" dirty="0"/>
          </a:p>
          <a:p>
            <a:endParaRPr lang="en-US" dirty="0"/>
          </a:p>
          <a:p>
            <a:endParaRPr lang="en-US" dirty="0"/>
          </a:p>
          <a:p>
            <a:r>
              <a:rPr lang="en-US" dirty="0"/>
              <a:t>This is a static slide to introduce the user to the overall picture </a:t>
            </a:r>
          </a:p>
          <a:p>
            <a:r>
              <a:rPr lang="en-US" dirty="0"/>
              <a:t>OGN</a:t>
            </a:r>
          </a:p>
          <a:p>
            <a:r>
              <a:rPr lang="en-US" dirty="0"/>
              <a:t>This was also an attempt to see how to make up for the fact that access to Monday.com had been restricted and even though the go live was pushed back to April the sense of urgency is yet to be in </a:t>
            </a:r>
            <a:r>
              <a:rPr lang="en-US" dirty="0" err="1"/>
              <a:t>th</a:t>
            </a:r>
            <a:r>
              <a:rPr lang="en-US" dirty="0"/>
              <a:t> mindset of the upper management </a:t>
            </a:r>
          </a:p>
          <a:p>
            <a:r>
              <a:rPr lang="en-US" dirty="0"/>
              <a:t>UAP production has stopped so the authors of these documents are going to use as many customized and generic </a:t>
            </a:r>
            <a:r>
              <a:rPr lang="en-US" dirty="0" err="1"/>
              <a:t>upa’s</a:t>
            </a:r>
            <a:r>
              <a:rPr lang="en-US" dirty="0"/>
              <a:t>  </a:t>
            </a:r>
            <a:br>
              <a:rPr lang="en-US" dirty="0"/>
            </a:br>
            <a:r>
              <a:rPr lang="en-US" dirty="0"/>
              <a:t>the hope is two fold </a:t>
            </a:r>
            <a:br>
              <a:rPr lang="en-US" dirty="0"/>
            </a:br>
            <a:r>
              <a:rPr lang="en-US" dirty="0"/>
              <a:t>one to show those using the system how the UAP SOP WF all work together and if better participation from Champion SME’s and users was available not just one person trying to do all this against all odds could have produced a world class LMS</a:t>
            </a:r>
            <a:br>
              <a:rPr lang="en-US" dirty="0"/>
            </a:br>
            <a:r>
              <a:rPr lang="en-US" dirty="0"/>
              <a:t>note by SR 11272025 – thanks Giving day </a:t>
            </a:r>
          </a:p>
          <a:p>
            <a:r>
              <a:rPr lang="en-US" dirty="0"/>
              <a:t>OGN</a:t>
            </a:r>
          </a:p>
          <a:p>
            <a:endParaRPr lang="en-US" dirty="0"/>
          </a:p>
        </p:txBody>
      </p:sp>
      <p:sp>
        <p:nvSpPr>
          <p:cNvPr id="4" name="Slide Number Placeholder 3">
            <a:extLst>
              <a:ext uri="{FF2B5EF4-FFF2-40B4-BE49-F238E27FC236}">
                <a16:creationId xmlns:a16="http://schemas.microsoft.com/office/drawing/2014/main" id="{6E07CEC4-0F3A-A111-B4C7-FD6DCD677557}"/>
              </a:ext>
            </a:extLst>
          </p:cNvPr>
          <p:cNvSpPr>
            <a:spLocks noGrp="1"/>
          </p:cNvSpPr>
          <p:nvPr>
            <p:ph type="sldNum" sz="quarter" idx="5"/>
          </p:nvPr>
        </p:nvSpPr>
        <p:spPr/>
        <p:txBody>
          <a:bodyPr/>
          <a:lstStyle/>
          <a:p>
            <a:fld id="{73D03784-C198-49B1-BBEF-9EB2D7F83474}" type="slidenum">
              <a:rPr lang="en-US" smtClean="0"/>
              <a:t>12</a:t>
            </a:fld>
            <a:endParaRPr lang="en-US" dirty="0"/>
          </a:p>
        </p:txBody>
      </p:sp>
    </p:spTree>
    <p:extLst>
      <p:ext uri="{BB962C8B-B14F-4D97-AF65-F5344CB8AC3E}">
        <p14:creationId xmlns:p14="http://schemas.microsoft.com/office/powerpoint/2010/main" val="344702059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83609D-F8CB-F38A-4937-D245A06EEF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0D84F4-2987-3476-89AC-3D5E9613B3C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BA9C708-D2D0-F239-6510-C233F0BE8BA7}"/>
              </a:ext>
            </a:extLst>
          </p:cNvPr>
          <p:cNvSpPr>
            <a:spLocks noGrp="1"/>
          </p:cNvSpPr>
          <p:nvPr>
            <p:ph type="body" idx="1"/>
          </p:nvPr>
        </p:nvSpPr>
        <p:spPr/>
        <p:txBody>
          <a:bodyPr/>
          <a:lstStyle/>
          <a:p>
            <a:r>
              <a:rPr lang="en-US" dirty="0"/>
              <a:t>.</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dirty="0"/>
              <a:t>Making of the master and creating the sub slides for the transition story took 1 hour on a Saturday </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dirty="0"/>
              <a:t>OGN </a:t>
            </a:r>
          </a:p>
          <a:p>
            <a:endParaRPr lang="en-US" dirty="0"/>
          </a:p>
        </p:txBody>
      </p:sp>
      <p:sp>
        <p:nvSpPr>
          <p:cNvPr id="4" name="Slide Number Placeholder 3">
            <a:extLst>
              <a:ext uri="{FF2B5EF4-FFF2-40B4-BE49-F238E27FC236}">
                <a16:creationId xmlns:a16="http://schemas.microsoft.com/office/drawing/2014/main" id="{396CDF9B-70E3-F620-4BF1-3E6157A85F64}"/>
              </a:ext>
            </a:extLst>
          </p:cNvPr>
          <p:cNvSpPr>
            <a:spLocks noGrp="1"/>
          </p:cNvSpPr>
          <p:nvPr>
            <p:ph type="sldNum" sz="quarter" idx="5"/>
          </p:nvPr>
        </p:nvSpPr>
        <p:spPr/>
        <p:txBody>
          <a:bodyPr/>
          <a:lstStyle/>
          <a:p>
            <a:fld id="{73D03784-C198-49B1-BBEF-9EB2D7F83474}" type="slidenum">
              <a:rPr lang="en-US" smtClean="0"/>
              <a:t>13</a:t>
            </a:fld>
            <a:endParaRPr lang="en-US" dirty="0"/>
          </a:p>
        </p:txBody>
      </p:sp>
    </p:spTree>
    <p:extLst>
      <p:ext uri="{BB962C8B-B14F-4D97-AF65-F5344CB8AC3E}">
        <p14:creationId xmlns:p14="http://schemas.microsoft.com/office/powerpoint/2010/main" val="3654250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90050F-28DA-C678-4764-2C11B3297C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2BDCEC-34F9-92EA-BE71-517C7A955D4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97749A-1B1D-9A1C-3500-1CECDACEBBDC}"/>
              </a:ext>
            </a:extLst>
          </p:cNvPr>
          <p:cNvSpPr>
            <a:spLocks noGrp="1"/>
          </p:cNvSpPr>
          <p:nvPr>
            <p:ph type="body" idx="1"/>
          </p:nvPr>
        </p:nvSpPr>
        <p:spPr/>
        <p:txBody>
          <a:bodyPr/>
          <a:lstStyle/>
          <a:p>
            <a:r>
              <a:rPr lang="en-US" dirty="0"/>
              <a:t>.</a:t>
            </a:r>
          </a:p>
          <a:p>
            <a:endParaRPr lang="en-US" dirty="0"/>
          </a:p>
          <a:p>
            <a:endParaRPr lang="en-US" dirty="0"/>
          </a:p>
          <a:p>
            <a:endParaRPr lang="en-US" dirty="0"/>
          </a:p>
          <a:p>
            <a:r>
              <a:rPr lang="en-US" sz="1200" dirty="0"/>
              <a:t>Current thoughts as on 02 13 2025 are</a:t>
            </a:r>
          </a:p>
          <a:p>
            <a:pPr marL="228600" indent="-228600">
              <a:buFont typeface="+mj-lt"/>
              <a:buAutoNum type="arabicPeriod"/>
            </a:pPr>
            <a:r>
              <a:rPr lang="en-US" sz="1200" dirty="0"/>
              <a:t> that all orders are entered as quotes this way the stock availability can be determined and the sourcing function used when needed (need to see how demand is being booked) triggered by a review of fulfillment order and forms</a:t>
            </a:r>
          </a:p>
          <a:p>
            <a:pPr marL="228600" indent="-228600">
              <a:buFont typeface="+mj-lt"/>
              <a:buAutoNum type="arabicPeriod"/>
            </a:pPr>
            <a:endParaRPr lang="en-US" sz="1200" dirty="0"/>
          </a:p>
          <a:p>
            <a:r>
              <a:rPr lang="en-US" sz="1200" dirty="0"/>
              <a:t>Current thoughts as on 02 13 2025 are</a:t>
            </a:r>
          </a:p>
          <a:p>
            <a:pPr marL="228600" indent="-228600">
              <a:buFont typeface="+mj-lt"/>
              <a:buAutoNum type="arabicPeriod"/>
            </a:pPr>
            <a:r>
              <a:rPr lang="en-US" sz="1200" dirty="0"/>
              <a:t>List various Sales order scenarios </a:t>
            </a:r>
          </a:p>
          <a:p>
            <a:pPr marL="228600" indent="-228600">
              <a:buFont typeface="+mj-lt"/>
              <a:buAutoNum type="arabicPeriod"/>
            </a:pPr>
            <a:r>
              <a:rPr lang="en-US" sz="1200" dirty="0"/>
              <a:t>Stock orders</a:t>
            </a:r>
          </a:p>
          <a:p>
            <a:pPr marL="228600" indent="-228600">
              <a:buFont typeface="+mj-lt"/>
              <a:buAutoNum type="arabicPeriod"/>
            </a:pPr>
            <a:r>
              <a:rPr lang="en-US" sz="1200" dirty="0"/>
              <a:t>Non stock order</a:t>
            </a:r>
          </a:p>
          <a:p>
            <a:pPr marL="228600" indent="-228600">
              <a:buFont typeface="+mj-lt"/>
              <a:buAutoNum type="arabicPeriod"/>
            </a:pPr>
            <a:r>
              <a:rPr lang="en-US" sz="1200" dirty="0"/>
              <a:t>Storage orders </a:t>
            </a:r>
          </a:p>
          <a:p>
            <a:pPr marL="228600" indent="-228600">
              <a:buFont typeface="+mj-lt"/>
              <a:buAutoNum type="arabicPeriod"/>
            </a:pPr>
            <a:r>
              <a:rPr lang="en-US" sz="1200" dirty="0"/>
              <a:t>Lot priced </a:t>
            </a:r>
            <a:br>
              <a:rPr lang="en-US" sz="1200" dirty="0"/>
            </a:br>
            <a:r>
              <a:rPr lang="en-US" sz="1200" dirty="0"/>
              <a:t>VA orders</a:t>
            </a:r>
          </a:p>
          <a:p>
            <a:pPr marL="228600" indent="-228600">
              <a:buFont typeface="+mj-lt"/>
              <a:buAutoNum type="arabicPeriod"/>
            </a:pPr>
            <a:r>
              <a:rPr lang="en-US" sz="1200" dirty="0"/>
              <a:t>Blanket orders</a:t>
            </a:r>
          </a:p>
          <a:p>
            <a:pPr marL="228600" indent="-228600">
              <a:buFont typeface="+mj-lt"/>
              <a:buAutoNum type="arabicPeriod"/>
            </a:pPr>
            <a:r>
              <a:rPr lang="en-US" sz="1200" dirty="0"/>
              <a:t>Shopping list </a:t>
            </a:r>
            <a:br>
              <a:rPr lang="en-US" sz="1200" dirty="0"/>
            </a:br>
            <a:r>
              <a:rPr lang="en-US" sz="1200" dirty="0"/>
              <a:t>Wire orders</a:t>
            </a:r>
          </a:p>
          <a:p>
            <a:endParaRPr lang="en-US" dirty="0"/>
          </a:p>
          <a:p>
            <a:r>
              <a:rPr lang="en-US" dirty="0"/>
              <a:t>OGN</a:t>
            </a:r>
          </a:p>
        </p:txBody>
      </p:sp>
      <p:sp>
        <p:nvSpPr>
          <p:cNvPr id="4" name="Slide Number Placeholder 3">
            <a:extLst>
              <a:ext uri="{FF2B5EF4-FFF2-40B4-BE49-F238E27FC236}">
                <a16:creationId xmlns:a16="http://schemas.microsoft.com/office/drawing/2014/main" id="{87ED209F-AD1B-D13B-5BDF-80907AF653F3}"/>
              </a:ext>
            </a:extLst>
          </p:cNvPr>
          <p:cNvSpPr>
            <a:spLocks noGrp="1"/>
          </p:cNvSpPr>
          <p:nvPr>
            <p:ph type="sldNum" sz="quarter" idx="5"/>
          </p:nvPr>
        </p:nvSpPr>
        <p:spPr/>
        <p:txBody>
          <a:bodyPr/>
          <a:lstStyle/>
          <a:p>
            <a:fld id="{5FD2EF15-161C-458A-BBAC-40A3953D9DA9}" type="slidenum">
              <a:rPr lang="en-US" smtClean="0"/>
              <a:t>14</a:t>
            </a:fld>
            <a:endParaRPr lang="en-US"/>
          </a:p>
        </p:txBody>
      </p:sp>
    </p:spTree>
    <p:extLst>
      <p:ext uri="{BB962C8B-B14F-4D97-AF65-F5344CB8AC3E}">
        <p14:creationId xmlns:p14="http://schemas.microsoft.com/office/powerpoint/2010/main" val="29671837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634B4E-A1B2-CBBF-45DD-8C546597D03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83F54BA-024B-4C86-ADF8-A0A1AFB4460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53630D7-289C-F568-FB64-3FE2DF886411}"/>
              </a:ext>
            </a:extLst>
          </p:cNvPr>
          <p:cNvSpPr>
            <a:spLocks noGrp="1"/>
          </p:cNvSpPr>
          <p:nvPr>
            <p:ph type="dt" sz="half" idx="10"/>
          </p:nvPr>
        </p:nvSpPr>
        <p:spPr/>
        <p:txBody>
          <a:bodyPr/>
          <a:lstStyle/>
          <a:p>
            <a:fld id="{30C5F47A-998A-499A-B7F1-1DA0DEF27B77}" type="datetimeFigureOut">
              <a:rPr lang="en-US" smtClean="0"/>
              <a:t>12/23/2025</a:t>
            </a:fld>
            <a:endParaRPr lang="en-US"/>
          </a:p>
        </p:txBody>
      </p:sp>
      <p:sp>
        <p:nvSpPr>
          <p:cNvPr id="5" name="Footer Placeholder 4">
            <a:extLst>
              <a:ext uri="{FF2B5EF4-FFF2-40B4-BE49-F238E27FC236}">
                <a16:creationId xmlns:a16="http://schemas.microsoft.com/office/drawing/2014/main" id="{000C7FF8-31AE-FE13-AF13-A07801F8500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32A6FDC-C4DF-778E-22C1-2B57E68A6B96}"/>
              </a:ext>
            </a:extLst>
          </p:cNvPr>
          <p:cNvSpPr>
            <a:spLocks noGrp="1"/>
          </p:cNvSpPr>
          <p:nvPr>
            <p:ph type="sldNum" sz="quarter" idx="12"/>
          </p:nvPr>
        </p:nvSpPr>
        <p:spPr/>
        <p:txBody>
          <a:bodyPr/>
          <a:lstStyle/>
          <a:p>
            <a:fld id="{88B6A87F-C90F-4410-8C74-D98E66935ACD}" type="slidenum">
              <a:rPr lang="en-US" smtClean="0"/>
              <a:t>‹#›</a:t>
            </a:fld>
            <a:endParaRPr lang="en-US"/>
          </a:p>
        </p:txBody>
      </p:sp>
    </p:spTree>
    <p:extLst>
      <p:ext uri="{BB962C8B-B14F-4D97-AF65-F5344CB8AC3E}">
        <p14:creationId xmlns:p14="http://schemas.microsoft.com/office/powerpoint/2010/main" val="40772656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F34F98-96AD-5B2B-0E6A-736F3CAB51D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84D2182-6DB1-1A75-1900-CA50F1CDBDB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B4F781B-6527-C030-C089-72C8FB7EA341}"/>
              </a:ext>
            </a:extLst>
          </p:cNvPr>
          <p:cNvSpPr>
            <a:spLocks noGrp="1"/>
          </p:cNvSpPr>
          <p:nvPr>
            <p:ph type="dt" sz="half" idx="10"/>
          </p:nvPr>
        </p:nvSpPr>
        <p:spPr/>
        <p:txBody>
          <a:bodyPr/>
          <a:lstStyle/>
          <a:p>
            <a:fld id="{30C5F47A-998A-499A-B7F1-1DA0DEF27B77}" type="datetimeFigureOut">
              <a:rPr lang="en-US" smtClean="0"/>
              <a:t>12/23/2025</a:t>
            </a:fld>
            <a:endParaRPr lang="en-US"/>
          </a:p>
        </p:txBody>
      </p:sp>
      <p:sp>
        <p:nvSpPr>
          <p:cNvPr id="5" name="Footer Placeholder 4">
            <a:extLst>
              <a:ext uri="{FF2B5EF4-FFF2-40B4-BE49-F238E27FC236}">
                <a16:creationId xmlns:a16="http://schemas.microsoft.com/office/drawing/2014/main" id="{A99AF690-2652-AA00-C029-59E3406EB98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E360C55-6091-79F5-7183-6E3AC0819C47}"/>
              </a:ext>
            </a:extLst>
          </p:cNvPr>
          <p:cNvSpPr>
            <a:spLocks noGrp="1"/>
          </p:cNvSpPr>
          <p:nvPr>
            <p:ph type="sldNum" sz="quarter" idx="12"/>
          </p:nvPr>
        </p:nvSpPr>
        <p:spPr/>
        <p:txBody>
          <a:bodyPr/>
          <a:lstStyle/>
          <a:p>
            <a:fld id="{88B6A87F-C90F-4410-8C74-D98E66935ACD}" type="slidenum">
              <a:rPr lang="en-US" smtClean="0"/>
              <a:t>‹#›</a:t>
            </a:fld>
            <a:endParaRPr lang="en-US"/>
          </a:p>
        </p:txBody>
      </p:sp>
    </p:spTree>
    <p:extLst>
      <p:ext uri="{BB962C8B-B14F-4D97-AF65-F5344CB8AC3E}">
        <p14:creationId xmlns:p14="http://schemas.microsoft.com/office/powerpoint/2010/main" val="1870477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6B59A-5F70-02DF-CD85-1FB4F18FDBF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CE72FAE-AB31-12B6-9F16-10DDA031181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80BF358-DB19-8C73-0569-82C81F60F1B5}"/>
              </a:ext>
            </a:extLst>
          </p:cNvPr>
          <p:cNvSpPr>
            <a:spLocks noGrp="1"/>
          </p:cNvSpPr>
          <p:nvPr>
            <p:ph type="dt" sz="half" idx="10"/>
          </p:nvPr>
        </p:nvSpPr>
        <p:spPr/>
        <p:txBody>
          <a:bodyPr/>
          <a:lstStyle/>
          <a:p>
            <a:fld id="{30C5F47A-998A-499A-B7F1-1DA0DEF27B77}" type="datetimeFigureOut">
              <a:rPr lang="en-US" smtClean="0"/>
              <a:t>12/23/2025</a:t>
            </a:fld>
            <a:endParaRPr lang="en-US"/>
          </a:p>
        </p:txBody>
      </p:sp>
      <p:sp>
        <p:nvSpPr>
          <p:cNvPr id="5" name="Footer Placeholder 4">
            <a:extLst>
              <a:ext uri="{FF2B5EF4-FFF2-40B4-BE49-F238E27FC236}">
                <a16:creationId xmlns:a16="http://schemas.microsoft.com/office/drawing/2014/main" id="{419A065E-76FA-84E4-166A-26B434CFBE3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DF1430F-FBAD-07E4-0DA9-64A0AC5BEDC5}"/>
              </a:ext>
            </a:extLst>
          </p:cNvPr>
          <p:cNvSpPr>
            <a:spLocks noGrp="1"/>
          </p:cNvSpPr>
          <p:nvPr>
            <p:ph type="sldNum" sz="quarter" idx="12"/>
          </p:nvPr>
        </p:nvSpPr>
        <p:spPr/>
        <p:txBody>
          <a:bodyPr/>
          <a:lstStyle/>
          <a:p>
            <a:fld id="{88B6A87F-C90F-4410-8C74-D98E66935ACD}" type="slidenum">
              <a:rPr lang="en-US" smtClean="0"/>
              <a:t>‹#›</a:t>
            </a:fld>
            <a:endParaRPr lang="en-US"/>
          </a:p>
        </p:txBody>
      </p:sp>
    </p:spTree>
    <p:extLst>
      <p:ext uri="{BB962C8B-B14F-4D97-AF65-F5344CB8AC3E}">
        <p14:creationId xmlns:p14="http://schemas.microsoft.com/office/powerpoint/2010/main" val="35744438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A59F9E-7633-6579-73D1-26E3D9C8D84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BD1859F-53AB-AA58-FB60-48B7344E86F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0704307-B76C-A270-7BA2-5600174C3F4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8665735-37BE-C861-0E93-496316FB0B7D}"/>
              </a:ext>
            </a:extLst>
          </p:cNvPr>
          <p:cNvSpPr>
            <a:spLocks noGrp="1"/>
          </p:cNvSpPr>
          <p:nvPr>
            <p:ph type="dt" sz="half" idx="10"/>
          </p:nvPr>
        </p:nvSpPr>
        <p:spPr/>
        <p:txBody>
          <a:bodyPr/>
          <a:lstStyle/>
          <a:p>
            <a:fld id="{30C5F47A-998A-499A-B7F1-1DA0DEF27B77}" type="datetimeFigureOut">
              <a:rPr lang="en-US" smtClean="0"/>
              <a:t>12/23/2025</a:t>
            </a:fld>
            <a:endParaRPr lang="en-US"/>
          </a:p>
        </p:txBody>
      </p:sp>
      <p:sp>
        <p:nvSpPr>
          <p:cNvPr id="6" name="Footer Placeholder 5">
            <a:extLst>
              <a:ext uri="{FF2B5EF4-FFF2-40B4-BE49-F238E27FC236}">
                <a16:creationId xmlns:a16="http://schemas.microsoft.com/office/drawing/2014/main" id="{E542A5D0-176C-970E-998D-9815E606EDF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96997A8-B097-04D3-96CF-2A9B21E6379E}"/>
              </a:ext>
            </a:extLst>
          </p:cNvPr>
          <p:cNvSpPr>
            <a:spLocks noGrp="1"/>
          </p:cNvSpPr>
          <p:nvPr>
            <p:ph type="sldNum" sz="quarter" idx="12"/>
          </p:nvPr>
        </p:nvSpPr>
        <p:spPr/>
        <p:txBody>
          <a:bodyPr/>
          <a:lstStyle/>
          <a:p>
            <a:fld id="{88B6A87F-C90F-4410-8C74-D98E66935ACD}" type="slidenum">
              <a:rPr lang="en-US" smtClean="0"/>
              <a:t>‹#›</a:t>
            </a:fld>
            <a:endParaRPr lang="en-US"/>
          </a:p>
        </p:txBody>
      </p:sp>
    </p:spTree>
    <p:extLst>
      <p:ext uri="{BB962C8B-B14F-4D97-AF65-F5344CB8AC3E}">
        <p14:creationId xmlns:p14="http://schemas.microsoft.com/office/powerpoint/2010/main" val="38458820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D1B7FF-33B3-9B5C-075A-CB2BF25E838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F55448B-5A76-6362-2E81-D01495D3111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E330D6D-12E6-6F01-C6B7-9F22FAD0D13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70A51B9-0E81-E6BF-CBF0-4069AC9C477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968105C-48E3-1894-25D6-3C32634EBB9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EB8D244-221F-16E8-FFB0-FB9B4D0BEC67}"/>
              </a:ext>
            </a:extLst>
          </p:cNvPr>
          <p:cNvSpPr>
            <a:spLocks noGrp="1"/>
          </p:cNvSpPr>
          <p:nvPr>
            <p:ph type="dt" sz="half" idx="10"/>
          </p:nvPr>
        </p:nvSpPr>
        <p:spPr/>
        <p:txBody>
          <a:bodyPr/>
          <a:lstStyle/>
          <a:p>
            <a:fld id="{30C5F47A-998A-499A-B7F1-1DA0DEF27B77}" type="datetimeFigureOut">
              <a:rPr lang="en-US" smtClean="0"/>
              <a:t>12/23/2025</a:t>
            </a:fld>
            <a:endParaRPr lang="en-US"/>
          </a:p>
        </p:txBody>
      </p:sp>
      <p:sp>
        <p:nvSpPr>
          <p:cNvPr id="8" name="Footer Placeholder 7">
            <a:extLst>
              <a:ext uri="{FF2B5EF4-FFF2-40B4-BE49-F238E27FC236}">
                <a16:creationId xmlns:a16="http://schemas.microsoft.com/office/drawing/2014/main" id="{C58C581A-9166-91B9-91CD-4879378B41A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6AFFF57-F4F7-1D79-C620-659FFEAE90D2}"/>
              </a:ext>
            </a:extLst>
          </p:cNvPr>
          <p:cNvSpPr>
            <a:spLocks noGrp="1"/>
          </p:cNvSpPr>
          <p:nvPr>
            <p:ph type="sldNum" sz="quarter" idx="12"/>
          </p:nvPr>
        </p:nvSpPr>
        <p:spPr/>
        <p:txBody>
          <a:bodyPr/>
          <a:lstStyle/>
          <a:p>
            <a:fld id="{88B6A87F-C90F-4410-8C74-D98E66935ACD}" type="slidenum">
              <a:rPr lang="en-US" smtClean="0"/>
              <a:t>‹#›</a:t>
            </a:fld>
            <a:endParaRPr lang="en-US"/>
          </a:p>
        </p:txBody>
      </p:sp>
    </p:spTree>
    <p:extLst>
      <p:ext uri="{BB962C8B-B14F-4D97-AF65-F5344CB8AC3E}">
        <p14:creationId xmlns:p14="http://schemas.microsoft.com/office/powerpoint/2010/main" val="8634601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CE02E6-CBBD-9B17-21D9-C9FADB60B4F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8D07FE6-8DBA-0A5E-3F00-B31D1677B606}"/>
              </a:ext>
            </a:extLst>
          </p:cNvPr>
          <p:cNvSpPr>
            <a:spLocks noGrp="1"/>
          </p:cNvSpPr>
          <p:nvPr>
            <p:ph type="dt" sz="half" idx="10"/>
          </p:nvPr>
        </p:nvSpPr>
        <p:spPr/>
        <p:txBody>
          <a:bodyPr/>
          <a:lstStyle/>
          <a:p>
            <a:fld id="{30C5F47A-998A-499A-B7F1-1DA0DEF27B77}" type="datetimeFigureOut">
              <a:rPr lang="en-US" smtClean="0"/>
              <a:t>12/23/2025</a:t>
            </a:fld>
            <a:endParaRPr lang="en-US"/>
          </a:p>
        </p:txBody>
      </p:sp>
      <p:sp>
        <p:nvSpPr>
          <p:cNvPr id="4" name="Footer Placeholder 3">
            <a:extLst>
              <a:ext uri="{FF2B5EF4-FFF2-40B4-BE49-F238E27FC236}">
                <a16:creationId xmlns:a16="http://schemas.microsoft.com/office/drawing/2014/main" id="{C519B1DA-AA96-9289-D991-696D5EDCDBE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04238BC-8120-3631-15A1-2D9AF42C3171}"/>
              </a:ext>
            </a:extLst>
          </p:cNvPr>
          <p:cNvSpPr>
            <a:spLocks noGrp="1"/>
          </p:cNvSpPr>
          <p:nvPr>
            <p:ph type="sldNum" sz="quarter" idx="12"/>
          </p:nvPr>
        </p:nvSpPr>
        <p:spPr/>
        <p:txBody>
          <a:bodyPr/>
          <a:lstStyle/>
          <a:p>
            <a:fld id="{88B6A87F-C90F-4410-8C74-D98E66935ACD}" type="slidenum">
              <a:rPr lang="en-US" smtClean="0"/>
              <a:t>‹#›</a:t>
            </a:fld>
            <a:endParaRPr lang="en-US"/>
          </a:p>
        </p:txBody>
      </p:sp>
    </p:spTree>
    <p:extLst>
      <p:ext uri="{BB962C8B-B14F-4D97-AF65-F5344CB8AC3E}">
        <p14:creationId xmlns:p14="http://schemas.microsoft.com/office/powerpoint/2010/main" val="4820509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ADECFED-6791-D1D0-D8FC-1588BEEEC08D}"/>
              </a:ext>
            </a:extLst>
          </p:cNvPr>
          <p:cNvSpPr>
            <a:spLocks noGrp="1"/>
          </p:cNvSpPr>
          <p:nvPr>
            <p:ph type="dt" sz="half" idx="10"/>
          </p:nvPr>
        </p:nvSpPr>
        <p:spPr/>
        <p:txBody>
          <a:bodyPr/>
          <a:lstStyle/>
          <a:p>
            <a:fld id="{30C5F47A-998A-499A-B7F1-1DA0DEF27B77}" type="datetimeFigureOut">
              <a:rPr lang="en-US" smtClean="0"/>
              <a:t>12/23/2025</a:t>
            </a:fld>
            <a:endParaRPr lang="en-US"/>
          </a:p>
        </p:txBody>
      </p:sp>
      <p:sp>
        <p:nvSpPr>
          <p:cNvPr id="3" name="Footer Placeholder 2">
            <a:extLst>
              <a:ext uri="{FF2B5EF4-FFF2-40B4-BE49-F238E27FC236}">
                <a16:creationId xmlns:a16="http://schemas.microsoft.com/office/drawing/2014/main" id="{401AD270-9325-AD0D-2A5E-6E67057EA62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2A6A82D-0F15-3A7D-5665-C5AC858652FD}"/>
              </a:ext>
            </a:extLst>
          </p:cNvPr>
          <p:cNvSpPr>
            <a:spLocks noGrp="1"/>
          </p:cNvSpPr>
          <p:nvPr>
            <p:ph type="sldNum" sz="quarter" idx="12"/>
          </p:nvPr>
        </p:nvSpPr>
        <p:spPr/>
        <p:txBody>
          <a:bodyPr/>
          <a:lstStyle/>
          <a:p>
            <a:fld id="{88B6A87F-C90F-4410-8C74-D98E66935ACD}" type="slidenum">
              <a:rPr lang="en-US" smtClean="0"/>
              <a:t>‹#›</a:t>
            </a:fld>
            <a:endParaRPr lang="en-US"/>
          </a:p>
        </p:txBody>
      </p:sp>
    </p:spTree>
    <p:extLst>
      <p:ext uri="{BB962C8B-B14F-4D97-AF65-F5344CB8AC3E}">
        <p14:creationId xmlns:p14="http://schemas.microsoft.com/office/powerpoint/2010/main" val="40548487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F62834-A128-7E21-40A1-AFD200B6064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2ABC10E-C8F1-DC8A-0FCE-AB4C4D18531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70E9464-1B1E-6E57-6C56-BDF09AA5A6C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E65048F-4573-E5A5-E179-0FFC20326F7F}"/>
              </a:ext>
            </a:extLst>
          </p:cNvPr>
          <p:cNvSpPr>
            <a:spLocks noGrp="1"/>
          </p:cNvSpPr>
          <p:nvPr>
            <p:ph type="dt" sz="half" idx="10"/>
          </p:nvPr>
        </p:nvSpPr>
        <p:spPr/>
        <p:txBody>
          <a:bodyPr/>
          <a:lstStyle/>
          <a:p>
            <a:fld id="{30C5F47A-998A-499A-B7F1-1DA0DEF27B77}" type="datetimeFigureOut">
              <a:rPr lang="en-US" smtClean="0"/>
              <a:t>12/23/2025</a:t>
            </a:fld>
            <a:endParaRPr lang="en-US"/>
          </a:p>
        </p:txBody>
      </p:sp>
      <p:sp>
        <p:nvSpPr>
          <p:cNvPr id="6" name="Footer Placeholder 5">
            <a:extLst>
              <a:ext uri="{FF2B5EF4-FFF2-40B4-BE49-F238E27FC236}">
                <a16:creationId xmlns:a16="http://schemas.microsoft.com/office/drawing/2014/main" id="{D3D6F42D-5CC2-420C-F31C-CB870FE67EB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63229BB-4CCC-C25F-6D86-23EC8F0688BF}"/>
              </a:ext>
            </a:extLst>
          </p:cNvPr>
          <p:cNvSpPr>
            <a:spLocks noGrp="1"/>
          </p:cNvSpPr>
          <p:nvPr>
            <p:ph type="sldNum" sz="quarter" idx="12"/>
          </p:nvPr>
        </p:nvSpPr>
        <p:spPr/>
        <p:txBody>
          <a:bodyPr/>
          <a:lstStyle/>
          <a:p>
            <a:fld id="{88B6A87F-C90F-4410-8C74-D98E66935ACD}" type="slidenum">
              <a:rPr lang="en-US" smtClean="0"/>
              <a:t>‹#›</a:t>
            </a:fld>
            <a:endParaRPr lang="en-US"/>
          </a:p>
        </p:txBody>
      </p:sp>
    </p:spTree>
    <p:extLst>
      <p:ext uri="{BB962C8B-B14F-4D97-AF65-F5344CB8AC3E}">
        <p14:creationId xmlns:p14="http://schemas.microsoft.com/office/powerpoint/2010/main" val="32644469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57EA5C-4553-4EBB-5D73-AE150F370F8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9934E6F-B4C9-E6AF-E2B6-B76CC738E0D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786EE69-A5FE-BD13-39DA-D1C1E191A06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6BB6775-A603-9D0A-47DB-913531B5FF2A}"/>
              </a:ext>
            </a:extLst>
          </p:cNvPr>
          <p:cNvSpPr>
            <a:spLocks noGrp="1"/>
          </p:cNvSpPr>
          <p:nvPr>
            <p:ph type="dt" sz="half" idx="10"/>
          </p:nvPr>
        </p:nvSpPr>
        <p:spPr/>
        <p:txBody>
          <a:bodyPr/>
          <a:lstStyle/>
          <a:p>
            <a:fld id="{30C5F47A-998A-499A-B7F1-1DA0DEF27B77}" type="datetimeFigureOut">
              <a:rPr lang="en-US" smtClean="0"/>
              <a:t>12/23/2025</a:t>
            </a:fld>
            <a:endParaRPr lang="en-US"/>
          </a:p>
        </p:txBody>
      </p:sp>
      <p:sp>
        <p:nvSpPr>
          <p:cNvPr id="6" name="Footer Placeholder 5">
            <a:extLst>
              <a:ext uri="{FF2B5EF4-FFF2-40B4-BE49-F238E27FC236}">
                <a16:creationId xmlns:a16="http://schemas.microsoft.com/office/drawing/2014/main" id="{7D63C2B6-EAA4-AB08-AB52-AAACD65A652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30DE89A-17C5-389A-AD7C-090E488AF7FE}"/>
              </a:ext>
            </a:extLst>
          </p:cNvPr>
          <p:cNvSpPr>
            <a:spLocks noGrp="1"/>
          </p:cNvSpPr>
          <p:nvPr>
            <p:ph type="sldNum" sz="quarter" idx="12"/>
          </p:nvPr>
        </p:nvSpPr>
        <p:spPr/>
        <p:txBody>
          <a:bodyPr/>
          <a:lstStyle/>
          <a:p>
            <a:fld id="{88B6A87F-C90F-4410-8C74-D98E66935ACD}" type="slidenum">
              <a:rPr lang="en-US" smtClean="0"/>
              <a:t>‹#›</a:t>
            </a:fld>
            <a:endParaRPr lang="en-US"/>
          </a:p>
        </p:txBody>
      </p:sp>
    </p:spTree>
    <p:extLst>
      <p:ext uri="{BB962C8B-B14F-4D97-AF65-F5344CB8AC3E}">
        <p14:creationId xmlns:p14="http://schemas.microsoft.com/office/powerpoint/2010/main" val="22930315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B7403E-2495-6409-DC40-2778EB284EE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8143640-191D-C46A-0E06-11E5D78F122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EAB6077-D2DB-0321-7931-025DA4151127}"/>
              </a:ext>
            </a:extLst>
          </p:cNvPr>
          <p:cNvSpPr>
            <a:spLocks noGrp="1"/>
          </p:cNvSpPr>
          <p:nvPr>
            <p:ph type="dt" sz="half" idx="10"/>
          </p:nvPr>
        </p:nvSpPr>
        <p:spPr/>
        <p:txBody>
          <a:bodyPr/>
          <a:lstStyle/>
          <a:p>
            <a:fld id="{30C5F47A-998A-499A-B7F1-1DA0DEF27B77}" type="datetimeFigureOut">
              <a:rPr lang="en-US" smtClean="0"/>
              <a:t>12/23/2025</a:t>
            </a:fld>
            <a:endParaRPr lang="en-US"/>
          </a:p>
        </p:txBody>
      </p:sp>
      <p:sp>
        <p:nvSpPr>
          <p:cNvPr id="5" name="Footer Placeholder 4">
            <a:extLst>
              <a:ext uri="{FF2B5EF4-FFF2-40B4-BE49-F238E27FC236}">
                <a16:creationId xmlns:a16="http://schemas.microsoft.com/office/drawing/2014/main" id="{F6F07BC4-A4A1-EB23-85EC-97F696E5216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F3A4392-BDAF-52AA-D9E7-63067BD01E2A}"/>
              </a:ext>
            </a:extLst>
          </p:cNvPr>
          <p:cNvSpPr>
            <a:spLocks noGrp="1"/>
          </p:cNvSpPr>
          <p:nvPr>
            <p:ph type="sldNum" sz="quarter" idx="12"/>
          </p:nvPr>
        </p:nvSpPr>
        <p:spPr/>
        <p:txBody>
          <a:bodyPr/>
          <a:lstStyle/>
          <a:p>
            <a:fld id="{88B6A87F-C90F-4410-8C74-D98E66935ACD}" type="slidenum">
              <a:rPr lang="en-US" smtClean="0"/>
              <a:t>‹#›</a:t>
            </a:fld>
            <a:endParaRPr lang="en-US"/>
          </a:p>
        </p:txBody>
      </p:sp>
    </p:spTree>
    <p:extLst>
      <p:ext uri="{BB962C8B-B14F-4D97-AF65-F5344CB8AC3E}">
        <p14:creationId xmlns:p14="http://schemas.microsoft.com/office/powerpoint/2010/main" val="25835133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6E95DAB-D4CE-ABB3-34EB-28A1CAA8F13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4045746-56D7-8433-DC9B-F0A0E3813A0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E7DA5C5-58D8-DD79-107F-47240B2F84EE}"/>
              </a:ext>
            </a:extLst>
          </p:cNvPr>
          <p:cNvSpPr>
            <a:spLocks noGrp="1"/>
          </p:cNvSpPr>
          <p:nvPr>
            <p:ph type="dt" sz="half" idx="10"/>
          </p:nvPr>
        </p:nvSpPr>
        <p:spPr/>
        <p:txBody>
          <a:bodyPr/>
          <a:lstStyle/>
          <a:p>
            <a:fld id="{30C5F47A-998A-499A-B7F1-1DA0DEF27B77}" type="datetimeFigureOut">
              <a:rPr lang="en-US" smtClean="0"/>
              <a:t>12/23/2025</a:t>
            </a:fld>
            <a:endParaRPr lang="en-US"/>
          </a:p>
        </p:txBody>
      </p:sp>
      <p:sp>
        <p:nvSpPr>
          <p:cNvPr id="5" name="Footer Placeholder 4">
            <a:extLst>
              <a:ext uri="{FF2B5EF4-FFF2-40B4-BE49-F238E27FC236}">
                <a16:creationId xmlns:a16="http://schemas.microsoft.com/office/drawing/2014/main" id="{5BA4B00B-DB6B-DE54-468B-B8EE8737D61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2423DA8-A2E6-2435-CB8D-5369B25CA299}"/>
              </a:ext>
            </a:extLst>
          </p:cNvPr>
          <p:cNvSpPr>
            <a:spLocks noGrp="1"/>
          </p:cNvSpPr>
          <p:nvPr>
            <p:ph type="sldNum" sz="quarter" idx="12"/>
          </p:nvPr>
        </p:nvSpPr>
        <p:spPr/>
        <p:txBody>
          <a:bodyPr/>
          <a:lstStyle/>
          <a:p>
            <a:fld id="{88B6A87F-C90F-4410-8C74-D98E66935ACD}" type="slidenum">
              <a:rPr lang="en-US" smtClean="0"/>
              <a:t>‹#›</a:t>
            </a:fld>
            <a:endParaRPr lang="en-US"/>
          </a:p>
        </p:txBody>
      </p:sp>
    </p:spTree>
    <p:extLst>
      <p:ext uri="{BB962C8B-B14F-4D97-AF65-F5344CB8AC3E}">
        <p14:creationId xmlns:p14="http://schemas.microsoft.com/office/powerpoint/2010/main" val="10318001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697433D-D718-3E3D-5A08-7C23721D8DD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BCE7971-DB73-D57E-2E90-950B493B833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EE60FF3-D3CF-87E5-EC6C-4721956B6ED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0C5F47A-998A-499A-B7F1-1DA0DEF27B77}" type="datetimeFigureOut">
              <a:rPr lang="en-US" smtClean="0"/>
              <a:t>12/23/2025</a:t>
            </a:fld>
            <a:endParaRPr lang="en-US"/>
          </a:p>
        </p:txBody>
      </p:sp>
      <p:sp>
        <p:nvSpPr>
          <p:cNvPr id="5" name="Footer Placeholder 4">
            <a:extLst>
              <a:ext uri="{FF2B5EF4-FFF2-40B4-BE49-F238E27FC236}">
                <a16:creationId xmlns:a16="http://schemas.microsoft.com/office/drawing/2014/main" id="{2003FB6E-5FA6-4534-177B-861B5A1379F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C696685-FE8D-887A-99AE-8E5B2D99C3F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8B6A87F-C90F-4410-8C74-D98E66935ACD}" type="slidenum">
              <a:rPr lang="en-US" smtClean="0"/>
              <a:t>‹#›</a:t>
            </a:fld>
            <a:endParaRPr lang="en-US"/>
          </a:p>
        </p:txBody>
      </p:sp>
    </p:spTree>
    <p:extLst>
      <p:ext uri="{BB962C8B-B14F-4D97-AF65-F5344CB8AC3E}">
        <p14:creationId xmlns:p14="http://schemas.microsoft.com/office/powerpoint/2010/main" val="243707952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a:extLst>
              <a:ext uri="{FF2B5EF4-FFF2-40B4-BE49-F238E27FC236}">
                <a16:creationId xmlns:a16="http://schemas.microsoft.com/office/drawing/2014/main" id="{DA1F8BA6-9CAE-8F1B-CE02-5C6FF0007B6F}"/>
              </a:ext>
            </a:extLst>
          </p:cNvPr>
          <p:cNvSpPr txBox="1">
            <a:spLocks/>
          </p:cNvSpPr>
          <p:nvPr/>
        </p:nvSpPr>
        <p:spPr>
          <a:xfrm>
            <a:off x="1524000" y="4158193"/>
            <a:ext cx="9144000" cy="349219"/>
          </a:xfrm>
          <a:prstGeom prst="rect">
            <a:avLst/>
          </a:prstGeom>
        </p:spPr>
        <p:txBody>
          <a:bodyPr vert="horz" lIns="91440" tIns="45720" rIns="91440" bIns="45720" rtlCol="0">
            <a:normAutofit fontScale="925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dirty="0">
                <a:solidFill>
                  <a:schemeClr val="bg1"/>
                </a:solidFill>
              </a:rPr>
              <a:t>Om Gurubhyo Namaha</a:t>
            </a:r>
          </a:p>
        </p:txBody>
      </p:sp>
      <p:sp>
        <p:nvSpPr>
          <p:cNvPr id="3" name="Rectangle 2">
            <a:extLst>
              <a:ext uri="{FF2B5EF4-FFF2-40B4-BE49-F238E27FC236}">
                <a16:creationId xmlns:a16="http://schemas.microsoft.com/office/drawing/2014/main" id="{86EEAC1A-1FE8-426E-CC66-530CFBF801D6}"/>
              </a:ext>
            </a:extLst>
          </p:cNvPr>
          <p:cNvSpPr/>
          <p:nvPr/>
        </p:nvSpPr>
        <p:spPr>
          <a:xfrm>
            <a:off x="1524000" y="2200273"/>
            <a:ext cx="9465734" cy="99906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b="1" dirty="0">
                <a:solidFill>
                  <a:schemeClr val="tx1"/>
                </a:solidFill>
              </a:rPr>
              <a:t>PPS – Service – Processing PMA SOP</a:t>
            </a:r>
          </a:p>
        </p:txBody>
      </p:sp>
      <p:sp>
        <p:nvSpPr>
          <p:cNvPr id="5" name="- S000. Opening Slide for– Rental Process (Owned Fleet) deck">
            <a:extLst>
              <a:ext uri="{FF2B5EF4-FFF2-40B4-BE49-F238E27FC236}">
                <a16:creationId xmlns:a16="http://schemas.microsoft.com/office/drawing/2014/main" id="{9CCAB26E-CA08-A585-5150-232BBE540447}"/>
              </a:ext>
            </a:extLst>
          </p:cNvPr>
          <p:cNvSpPr txBox="1">
            <a:spLocks/>
          </p:cNvSpPr>
          <p:nvPr/>
        </p:nvSpPr>
        <p:spPr>
          <a:xfrm>
            <a:off x="838200" y="1"/>
            <a:ext cx="10515600" cy="494270"/>
          </a:xfrm>
          <a:prstGeom prst="rect">
            <a:avLst/>
          </a:prstGeom>
        </p:spPr>
        <p:txBody>
          <a:bodyPr>
            <a:noAutofit/>
          </a:bodyPr>
          <a:lstStyle>
            <a:lvl1pPr algn="l" defTabSz="914400" rtl="0" eaLnBrk="1" latinLnBrk="0" hangingPunct="1">
              <a:lnSpc>
                <a:spcPct val="90000"/>
              </a:lnSpc>
              <a:spcBef>
                <a:spcPct val="0"/>
              </a:spcBef>
              <a:buNone/>
              <a:defRPr sz="2400" kern="1200">
                <a:solidFill>
                  <a:schemeClr val="tx1"/>
                </a:solidFill>
                <a:latin typeface="+mj-lt"/>
                <a:ea typeface="+mj-ea"/>
                <a:cs typeface="+mj-cs"/>
              </a:defRPr>
            </a:lvl1pPr>
          </a:lstStyle>
          <a:p>
            <a:pPr algn="ctr"/>
            <a:endParaRPr lang="en-US" sz="1400" b="1" dirty="0"/>
          </a:p>
          <a:p>
            <a:pPr algn="ctr"/>
            <a:r>
              <a:rPr lang="en-US" sz="1400" b="1" dirty="0"/>
              <a:t>S000. Opening Slide for PPS – Service – PMA Process </a:t>
            </a:r>
          </a:p>
        </p:txBody>
      </p:sp>
    </p:spTree>
    <p:extLst>
      <p:ext uri="{BB962C8B-B14F-4D97-AF65-F5344CB8AC3E}">
        <p14:creationId xmlns:p14="http://schemas.microsoft.com/office/powerpoint/2010/main" val="27830096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A88B34-2261-391E-E96D-08388362C7EF}"/>
            </a:ext>
          </a:extLst>
        </p:cNvPr>
        <p:cNvGrpSpPr/>
        <p:nvPr/>
      </p:nvGrpSpPr>
      <p:grpSpPr>
        <a:xfrm>
          <a:off x="0" y="0"/>
          <a:ext cx="0" cy="0"/>
          <a:chOff x="0" y="0"/>
          <a:chExt cx="0" cy="0"/>
        </a:xfrm>
      </p:grpSpPr>
      <p:sp>
        <p:nvSpPr>
          <p:cNvPr id="10" name="TextBox 9">
            <a:extLst>
              <a:ext uri="{FF2B5EF4-FFF2-40B4-BE49-F238E27FC236}">
                <a16:creationId xmlns:a16="http://schemas.microsoft.com/office/drawing/2014/main" id="{B0503C8C-1DFA-B676-309A-74B9D91E5C01}"/>
              </a:ext>
            </a:extLst>
          </p:cNvPr>
          <p:cNvSpPr txBox="1"/>
          <p:nvPr/>
        </p:nvSpPr>
        <p:spPr>
          <a:xfrm>
            <a:off x="680830" y="846667"/>
            <a:ext cx="10964632" cy="5909310"/>
          </a:xfrm>
          <a:prstGeom prst="rect">
            <a:avLst/>
          </a:prstGeom>
          <a:noFill/>
        </p:spPr>
        <p:txBody>
          <a:bodyPr wrap="square" rtlCol="0">
            <a:spAutoFit/>
          </a:bodyPr>
          <a:lstStyle/>
          <a:p>
            <a:r>
              <a:rPr lang="en-US" sz="1400" b="1" dirty="0"/>
              <a:t>Palco Power Systems</a:t>
            </a:r>
            <a:r>
              <a:rPr lang="en-US" sz="1400" dirty="0"/>
              <a:t> is a specialized power solutions provider and an authorized </a:t>
            </a:r>
            <a:r>
              <a:rPr lang="en-US" sz="1400" b="1" dirty="0"/>
              <a:t>KOHLER</a:t>
            </a:r>
            <a:r>
              <a:rPr lang="en-US" sz="1400" dirty="0"/>
              <a:t> distributor, serving customers across </a:t>
            </a:r>
            <a:r>
              <a:rPr lang="en-US" sz="1400" b="1" dirty="0"/>
              <a:t>western Pennsylvania, West Virginia, and western Maryland</a:t>
            </a:r>
            <a:r>
              <a:rPr lang="en-US" sz="1400" dirty="0"/>
              <a:t>. Since </a:t>
            </a:r>
            <a:r>
              <a:rPr lang="en-US" sz="1400" b="1" dirty="0"/>
              <a:t>1972</a:t>
            </a:r>
            <a:r>
              <a:rPr lang="en-US" sz="1400" dirty="0"/>
              <a:t>, Palco has supplied reliable generator systems and power equipment to </a:t>
            </a:r>
            <a:r>
              <a:rPr lang="en-US" sz="1400" b="1" dirty="0"/>
              <a:t>industrial, commercial, municipal, healthcare, and residential</a:t>
            </a:r>
            <a:r>
              <a:rPr lang="en-US" sz="1400" dirty="0"/>
              <a:t> customers who depend on </a:t>
            </a:r>
            <a:r>
              <a:rPr lang="en-US" sz="1400" b="1" dirty="0"/>
              <a:t>uninterrupted power</a:t>
            </a:r>
            <a:r>
              <a:rPr lang="en-US" sz="1400" dirty="0"/>
              <a:t>.</a:t>
            </a:r>
          </a:p>
          <a:p>
            <a:r>
              <a:rPr lang="en-US" sz="1400" dirty="0"/>
              <a:t>As part of the </a:t>
            </a:r>
            <a:r>
              <a:rPr lang="en-US" sz="1400" b="1" dirty="0"/>
              <a:t>Scott Electric</a:t>
            </a:r>
            <a:r>
              <a:rPr lang="en-US" sz="1400" dirty="0"/>
              <a:t> family since </a:t>
            </a:r>
            <a:r>
              <a:rPr lang="en-US" sz="1400" b="1" dirty="0"/>
              <a:t>1993</a:t>
            </a:r>
            <a:r>
              <a:rPr lang="en-US" sz="1400" dirty="0"/>
              <a:t>, Palco Power Systems combines </a:t>
            </a:r>
            <a:r>
              <a:rPr lang="en-US" sz="1400" b="1" dirty="0"/>
              <a:t>deep technical expertise</a:t>
            </a:r>
            <a:r>
              <a:rPr lang="en-US" sz="1400" dirty="0"/>
              <a:t> with the broader resources of a </a:t>
            </a:r>
            <a:r>
              <a:rPr lang="en-US" sz="1400" b="1" dirty="0"/>
              <a:t>leading independent electrical distributor</a:t>
            </a:r>
            <a:r>
              <a:rPr lang="en-US" sz="1400" dirty="0"/>
              <a:t>. Our portfolio includes </a:t>
            </a:r>
            <a:r>
              <a:rPr lang="en-US" sz="1400" b="1" dirty="0"/>
              <a:t>KOHLER industrial, mobile (towable), residential, and portable generator systems</a:t>
            </a:r>
            <a:r>
              <a:rPr lang="en-US" sz="1400" dirty="0"/>
              <a:t>; </a:t>
            </a:r>
            <a:r>
              <a:rPr lang="en-US" sz="1400" b="1" dirty="0"/>
              <a:t>pumps</a:t>
            </a:r>
            <a:r>
              <a:rPr lang="en-US" sz="1400" dirty="0"/>
              <a:t>; </a:t>
            </a:r>
            <a:r>
              <a:rPr lang="en-US" sz="1400" b="1" dirty="0"/>
              <a:t>other power systems and components</a:t>
            </a:r>
            <a:r>
              <a:rPr lang="en-US" sz="1400" dirty="0"/>
              <a:t>; </a:t>
            </a:r>
            <a:r>
              <a:rPr lang="en-US" sz="1400" b="1" dirty="0"/>
              <a:t>Honda</a:t>
            </a:r>
            <a:r>
              <a:rPr lang="en-US" sz="1400" dirty="0"/>
              <a:t> portable units; </a:t>
            </a:r>
            <a:r>
              <a:rPr lang="en-US" sz="1400" b="1" dirty="0"/>
              <a:t>transfer equipment</a:t>
            </a:r>
            <a:r>
              <a:rPr lang="en-US" sz="1400" dirty="0"/>
              <a:t>; and related accessories, including </a:t>
            </a:r>
            <a:r>
              <a:rPr lang="en-US" sz="1400" b="1" dirty="0"/>
              <a:t>ASCO</a:t>
            </a:r>
            <a:r>
              <a:rPr lang="en-US" sz="1400" dirty="0"/>
              <a:t> and </a:t>
            </a:r>
            <a:r>
              <a:rPr lang="en-US" sz="1400" b="1" dirty="0"/>
              <a:t>PSP</a:t>
            </a:r>
            <a:r>
              <a:rPr lang="en-US" sz="1400" dirty="0"/>
              <a:t> components.</a:t>
            </a:r>
          </a:p>
          <a:p>
            <a:r>
              <a:rPr lang="en-US" sz="1400" dirty="0"/>
              <a:t>Over the years, Palco’s territory and responsibilities have grown along with its reputation:</a:t>
            </a:r>
            <a:br>
              <a:rPr lang="en-US" sz="1400" dirty="0"/>
            </a:br>
            <a:r>
              <a:rPr lang="en-US" sz="1400" dirty="0"/>
              <a:t>• </a:t>
            </a:r>
            <a:r>
              <a:rPr lang="en-US" sz="1400" b="1" dirty="0"/>
              <a:t>1972</a:t>
            </a:r>
            <a:r>
              <a:rPr lang="en-US" sz="1400" dirty="0"/>
              <a:t> – Palco becomes an authorized KOHLER distributor in western Pennsylvania.</a:t>
            </a:r>
            <a:br>
              <a:rPr lang="en-US" sz="1400" dirty="0"/>
            </a:br>
            <a:r>
              <a:rPr lang="en-US" sz="1400" dirty="0"/>
              <a:t>• </a:t>
            </a:r>
            <a:r>
              <a:rPr lang="en-US" sz="1400" b="1" dirty="0"/>
              <a:t>1984</a:t>
            </a:r>
            <a:r>
              <a:rPr lang="en-US" sz="1400" dirty="0"/>
              <a:t> – Territory expands to include West Virginia and western Maryland.</a:t>
            </a:r>
            <a:br>
              <a:rPr lang="en-US" sz="1400" dirty="0"/>
            </a:br>
            <a:r>
              <a:rPr lang="en-US" sz="1400" dirty="0"/>
              <a:t>• </a:t>
            </a:r>
            <a:r>
              <a:rPr lang="en-US" sz="1400" b="1" dirty="0"/>
              <a:t>1989</a:t>
            </a:r>
            <a:r>
              <a:rPr lang="en-US" sz="1400" dirty="0"/>
              <a:t> – Area of responsibility further expands to include western New York State.</a:t>
            </a:r>
            <a:br>
              <a:rPr lang="en-US" sz="1400" dirty="0"/>
            </a:br>
            <a:r>
              <a:rPr lang="en-US" sz="1400" dirty="0"/>
              <a:t>• </a:t>
            </a:r>
            <a:r>
              <a:rPr lang="en-US" sz="1400" b="1" dirty="0"/>
              <a:t>1993</a:t>
            </a:r>
            <a:r>
              <a:rPr lang="en-US" sz="1400" dirty="0"/>
              <a:t> – Scott Electric Company acquires Palco.</a:t>
            </a:r>
            <a:br>
              <a:rPr lang="en-US" sz="1400" dirty="0"/>
            </a:br>
            <a:r>
              <a:rPr lang="en-US" sz="1400" dirty="0"/>
              <a:t>• </a:t>
            </a:r>
            <a:r>
              <a:rPr lang="en-US" sz="1400" b="1" dirty="0"/>
              <a:t>2001</a:t>
            </a:r>
            <a:r>
              <a:rPr lang="en-US" sz="1400" dirty="0"/>
              <a:t> – Territory is adjusted with the removal of western New York State.</a:t>
            </a:r>
          </a:p>
          <a:p>
            <a:r>
              <a:rPr lang="en-US" sz="1400" dirty="0"/>
              <a:t>Most recently, </a:t>
            </a:r>
            <a:r>
              <a:rPr lang="en-US" sz="1400" b="1" dirty="0"/>
              <a:t>Palco Power Systems was the first Scott Electric division to host a Conference Room Pilot (CRP) for the new Infor </a:t>
            </a:r>
            <a:r>
              <a:rPr lang="en-US" sz="1400" b="1" dirty="0" err="1"/>
              <a:t>CloudSuite</a:t>
            </a:r>
            <a:r>
              <a:rPr lang="en-US" sz="1400" b="1" dirty="0"/>
              <a:t> software</a:t>
            </a:r>
            <a:r>
              <a:rPr lang="en-US" sz="1400" dirty="0"/>
              <a:t>, demonstrating </a:t>
            </a:r>
            <a:r>
              <a:rPr lang="en-US" sz="1400" b="1" dirty="0"/>
              <a:t>leadership and innovation</a:t>
            </a:r>
            <a:r>
              <a:rPr lang="en-US" sz="1400" dirty="0"/>
              <a:t> in how we use technology to support customers and internal operations. This work reflects the dedication of the </a:t>
            </a:r>
            <a:r>
              <a:rPr lang="en-US" sz="1400" b="1" dirty="0"/>
              <a:t>Palco team</a:t>
            </a:r>
            <a:r>
              <a:rPr lang="en-US" sz="1400" dirty="0"/>
              <a:t>—including </a:t>
            </a:r>
            <a:r>
              <a:rPr lang="en-US" sz="1400" b="1" dirty="0"/>
              <a:t>Tanner Schwartz, Valerie Markish, Tim Drop, Jen Schlegel, and Subi Rajagopalan</a:t>
            </a:r>
            <a:r>
              <a:rPr lang="en-US" sz="1400" dirty="0"/>
              <a:t>—along with support from the broader </a:t>
            </a:r>
            <a:r>
              <a:rPr lang="en-US" sz="1400" b="1" dirty="0"/>
              <a:t>ERP project</a:t>
            </a:r>
            <a:r>
              <a:rPr lang="en-US" sz="1400" dirty="0"/>
              <a:t>, </a:t>
            </a:r>
            <a:r>
              <a:rPr lang="en-US" sz="1400" b="1" dirty="0"/>
              <a:t>Champions</a:t>
            </a:r>
            <a:r>
              <a:rPr lang="en-US" sz="1400" dirty="0"/>
              <a:t>, and </a:t>
            </a:r>
            <a:r>
              <a:rPr lang="en-US" sz="1400" b="1" dirty="0"/>
              <a:t>Executive Sponsors</a:t>
            </a:r>
            <a:r>
              <a:rPr lang="en-US" sz="1400" dirty="0"/>
              <a:t>. </a:t>
            </a:r>
            <a:r>
              <a:rPr lang="en-US" sz="1400" b="1" dirty="0"/>
              <a:t>The management teams at Palco Power Systems and Scott Electric continue to support these efforts by prioritizing training, process improvement, and the successful adoption of the new system.</a:t>
            </a:r>
            <a:endParaRPr lang="en-US" sz="1400" dirty="0"/>
          </a:p>
          <a:p>
            <a:endParaRPr lang="en-US" sz="1400" dirty="0"/>
          </a:p>
          <a:p>
            <a:r>
              <a:rPr lang="en-US" sz="1400" b="1" dirty="0"/>
              <a:t>Welcome to the Palco Power Systems Training Site.</a:t>
            </a:r>
            <a:endParaRPr lang="en-US" sz="1400" dirty="0"/>
          </a:p>
          <a:p>
            <a:r>
              <a:rPr lang="en-US" sz="1400" dirty="0"/>
              <a:t>This section of the </a:t>
            </a:r>
            <a:r>
              <a:rPr lang="en-US" sz="1400" b="1" dirty="0"/>
              <a:t>Scott Electric Training Site</a:t>
            </a:r>
            <a:r>
              <a:rPr lang="en-US" sz="1400" dirty="0"/>
              <a:t> is designed to help you </a:t>
            </a:r>
            <a:r>
              <a:rPr lang="en-US" sz="1400" b="1" dirty="0"/>
              <a:t>build the knowledge and skills</a:t>
            </a:r>
            <a:r>
              <a:rPr lang="en-US" sz="1400" dirty="0"/>
              <a:t> needed to support our power systems customers </a:t>
            </a:r>
            <a:r>
              <a:rPr lang="en-US" sz="1400" b="1" dirty="0"/>
              <a:t>safely, accurately, and efficiently</a:t>
            </a:r>
            <a:r>
              <a:rPr lang="en-US" sz="1400" dirty="0"/>
              <a:t>—whether you work in </a:t>
            </a:r>
            <a:r>
              <a:rPr lang="en-US" sz="1400" b="1" dirty="0"/>
              <a:t>sales, service, parts, rentals, administration, or support</a:t>
            </a:r>
            <a:r>
              <a:rPr lang="en-US" sz="1400" dirty="0"/>
              <a:t>. Here you will find </a:t>
            </a:r>
            <a:r>
              <a:rPr lang="en-US" sz="1400" b="1" dirty="0"/>
              <a:t>guided learning, reference materials, and role-based courses</a:t>
            </a:r>
            <a:r>
              <a:rPr lang="en-US" sz="1400" dirty="0"/>
              <a:t> tailored to the work we do every day at Palco: </a:t>
            </a:r>
            <a:r>
              <a:rPr lang="en-US" sz="1400" b="1" dirty="0"/>
              <a:t>sizing and selecting generators, supporting projects, coordinating installations, servicing equipment, and taking care of customers before, during, and after the sale.</a:t>
            </a:r>
            <a:endParaRPr lang="en-US" sz="1400" dirty="0"/>
          </a:p>
          <a:p>
            <a:endParaRPr lang="en-US" sz="1400" b="1" dirty="0"/>
          </a:p>
          <a:p>
            <a:r>
              <a:rPr lang="en-US" sz="1400" b="1" dirty="0"/>
              <a:t>Thank you for investing your time in training.</a:t>
            </a:r>
            <a:r>
              <a:rPr lang="en-US" sz="1400" dirty="0"/>
              <a:t> Your commitment to </a:t>
            </a:r>
            <a:r>
              <a:rPr lang="en-US" sz="1400" b="1" dirty="0"/>
              <a:t>learning and continuous improvement</a:t>
            </a:r>
            <a:r>
              <a:rPr lang="en-US" sz="1400" dirty="0"/>
              <a:t> helps keep </a:t>
            </a:r>
            <a:r>
              <a:rPr lang="en-US" sz="1400" b="1" dirty="0"/>
              <a:t>Palco Power Systems—and Scott Electric as a whole—reliable, responsive, and growing as we continue our customer-focused operations.</a:t>
            </a:r>
            <a:endParaRPr lang="en-US" sz="1400" dirty="0"/>
          </a:p>
        </p:txBody>
      </p:sp>
      <p:sp>
        <p:nvSpPr>
          <p:cNvPr id="6" name="-S001. Alt Introduction to – – Rental Process (Owned Fleet) at PPS">
            <a:extLst>
              <a:ext uri="{FF2B5EF4-FFF2-40B4-BE49-F238E27FC236}">
                <a16:creationId xmlns:a16="http://schemas.microsoft.com/office/drawing/2014/main" id="{7C902527-DA10-578D-9B51-B45F4D419FF0}"/>
              </a:ext>
            </a:extLst>
          </p:cNvPr>
          <p:cNvSpPr>
            <a:spLocks noGrp="1"/>
          </p:cNvSpPr>
          <p:nvPr>
            <p:ph type="ctrTitle"/>
          </p:nvPr>
        </p:nvSpPr>
        <p:spPr>
          <a:xfrm>
            <a:off x="2192189" y="0"/>
            <a:ext cx="7112000" cy="846667"/>
          </a:xfrm>
        </p:spPr>
        <p:txBody>
          <a:bodyPr>
            <a:noAutofit/>
          </a:bodyPr>
          <a:lstStyle/>
          <a:p>
            <a:br>
              <a:rPr lang="en-US" sz="2000" b="1" dirty="0"/>
            </a:br>
            <a:r>
              <a:rPr lang="en-US" sz="2000" b="1" dirty="0"/>
              <a:t>S001. About Palco Power Systems and Scott Electric </a:t>
            </a:r>
            <a:br>
              <a:rPr lang="en-US" sz="2000" b="1" dirty="0"/>
            </a:br>
            <a:r>
              <a:rPr lang="en-US" sz="2000" b="1" dirty="0"/>
              <a:t>and  a Welcome to Training</a:t>
            </a:r>
            <a:endParaRPr lang="en-US" sz="2000" dirty="0"/>
          </a:p>
        </p:txBody>
      </p:sp>
    </p:spTree>
    <p:extLst>
      <p:ext uri="{BB962C8B-B14F-4D97-AF65-F5344CB8AC3E}">
        <p14:creationId xmlns:p14="http://schemas.microsoft.com/office/powerpoint/2010/main" val="19575726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5BD1C1-5A4A-335C-5818-CB1BB4C6F0E3}"/>
            </a:ext>
          </a:extLst>
        </p:cNvPr>
        <p:cNvGrpSpPr/>
        <p:nvPr/>
      </p:nvGrpSpPr>
      <p:grpSpPr>
        <a:xfrm>
          <a:off x="0" y="0"/>
          <a:ext cx="0" cy="0"/>
          <a:chOff x="0" y="0"/>
          <a:chExt cx="0" cy="0"/>
        </a:xfrm>
      </p:grpSpPr>
      <p:sp>
        <p:nvSpPr>
          <p:cNvPr id="15" name="Flowchart: Process 14">
            <a:extLst>
              <a:ext uri="{FF2B5EF4-FFF2-40B4-BE49-F238E27FC236}">
                <a16:creationId xmlns:a16="http://schemas.microsoft.com/office/drawing/2014/main" id="{AC37CE5D-F619-AC3B-8885-D1BCABD46896}"/>
              </a:ext>
            </a:extLst>
          </p:cNvPr>
          <p:cNvSpPr/>
          <p:nvPr/>
        </p:nvSpPr>
        <p:spPr>
          <a:xfrm>
            <a:off x="485638" y="3199496"/>
            <a:ext cx="10974514" cy="2280323"/>
          </a:xfrm>
          <a:prstGeom prst="flowChartProcess">
            <a:avLst/>
          </a:prstGeom>
          <a:solidFill>
            <a:schemeClr val="bg1">
              <a:lumMod val="8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b="1" dirty="0">
                <a:solidFill>
                  <a:schemeClr val="tx1"/>
                </a:solidFill>
              </a:rPr>
              <a:t>What</a:t>
            </a:r>
          </a:p>
        </p:txBody>
      </p:sp>
      <p:sp>
        <p:nvSpPr>
          <p:cNvPr id="4" name="Flowchart: Process 3">
            <a:extLst>
              <a:ext uri="{FF2B5EF4-FFF2-40B4-BE49-F238E27FC236}">
                <a16:creationId xmlns:a16="http://schemas.microsoft.com/office/drawing/2014/main" id="{4EA2E690-702D-C063-D9F6-AA2A184410D5}"/>
              </a:ext>
            </a:extLst>
          </p:cNvPr>
          <p:cNvSpPr/>
          <p:nvPr/>
        </p:nvSpPr>
        <p:spPr>
          <a:xfrm>
            <a:off x="536691" y="648294"/>
            <a:ext cx="10974514" cy="1049413"/>
          </a:xfrm>
          <a:prstGeom prst="flowChartProcess">
            <a:avLst/>
          </a:prstGeom>
          <a:solidFill>
            <a:schemeClr val="bg1">
              <a:lumMod val="8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b="1" dirty="0">
                <a:solidFill>
                  <a:schemeClr val="tx1"/>
                </a:solidFill>
              </a:rPr>
              <a:t>Who</a:t>
            </a:r>
          </a:p>
        </p:txBody>
      </p:sp>
      <p:sp>
        <p:nvSpPr>
          <p:cNvPr id="2" name="TextBox 1">
            <a:extLst>
              <a:ext uri="{FF2B5EF4-FFF2-40B4-BE49-F238E27FC236}">
                <a16:creationId xmlns:a16="http://schemas.microsoft.com/office/drawing/2014/main" id="{44F1D0D7-4B73-F9F0-D885-9C949875253A}"/>
              </a:ext>
            </a:extLst>
          </p:cNvPr>
          <p:cNvSpPr txBox="1"/>
          <p:nvPr/>
        </p:nvSpPr>
        <p:spPr>
          <a:xfrm>
            <a:off x="1238838" y="665168"/>
            <a:ext cx="1050288" cy="1015663"/>
          </a:xfrm>
          <a:prstGeom prst="rect">
            <a:avLst/>
          </a:prstGeom>
          <a:noFill/>
        </p:spPr>
        <p:txBody>
          <a:bodyPr wrap="none" rtlCol="0">
            <a:spAutoFit/>
          </a:bodyPr>
          <a:lstStyle/>
          <a:p>
            <a:r>
              <a:rPr lang="en-US" sz="1200" dirty="0"/>
              <a:t>Out side sales</a:t>
            </a:r>
          </a:p>
          <a:p>
            <a:r>
              <a:rPr lang="en-US" sz="1200" dirty="0"/>
              <a:t>Inside sales </a:t>
            </a:r>
          </a:p>
          <a:p>
            <a:r>
              <a:rPr lang="en-US" sz="1200" dirty="0"/>
              <a:t>Fax </a:t>
            </a:r>
          </a:p>
          <a:p>
            <a:r>
              <a:rPr lang="en-US" sz="1200" dirty="0"/>
              <a:t>Email </a:t>
            </a:r>
          </a:p>
          <a:p>
            <a:r>
              <a:rPr lang="en-US" sz="1200" dirty="0"/>
              <a:t>Phone</a:t>
            </a:r>
          </a:p>
        </p:txBody>
      </p:sp>
      <p:sp>
        <p:nvSpPr>
          <p:cNvPr id="8" name="Arrow: Chevron 7">
            <a:extLst>
              <a:ext uri="{FF2B5EF4-FFF2-40B4-BE49-F238E27FC236}">
                <a16:creationId xmlns:a16="http://schemas.microsoft.com/office/drawing/2014/main" id="{1D0031BD-4C2B-E5CE-F045-8B6A5150635D}"/>
              </a:ext>
            </a:extLst>
          </p:cNvPr>
          <p:cNvSpPr/>
          <p:nvPr/>
        </p:nvSpPr>
        <p:spPr>
          <a:xfrm>
            <a:off x="485638" y="1869353"/>
            <a:ext cx="2900462" cy="1246238"/>
          </a:xfrm>
          <a:prstGeom prst="chevron">
            <a:avLst>
              <a:gd name="adj" fmla="val 71893"/>
            </a:avLst>
          </a:prstGeom>
          <a:solidFill>
            <a:schemeClr val="accent1">
              <a:lumMod val="60000"/>
              <a:lumOff val="4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200" b="1" dirty="0">
                <a:solidFill>
                  <a:schemeClr val="bg1"/>
                </a:solidFill>
              </a:rPr>
              <a:t>Customer Requests Service Or is scheduled for one</a:t>
            </a:r>
          </a:p>
        </p:txBody>
      </p:sp>
      <p:sp>
        <p:nvSpPr>
          <p:cNvPr id="9" name="Arrow: Chevron 8">
            <a:extLst>
              <a:ext uri="{FF2B5EF4-FFF2-40B4-BE49-F238E27FC236}">
                <a16:creationId xmlns:a16="http://schemas.microsoft.com/office/drawing/2014/main" id="{FC5C348B-0097-0C12-7C08-EAF19306732C}"/>
              </a:ext>
            </a:extLst>
          </p:cNvPr>
          <p:cNvSpPr/>
          <p:nvPr/>
        </p:nvSpPr>
        <p:spPr>
          <a:xfrm>
            <a:off x="2257197" y="1862040"/>
            <a:ext cx="3122141" cy="1245333"/>
          </a:xfrm>
          <a:prstGeom prst="chevron">
            <a:avLst>
              <a:gd name="adj" fmla="val 71893"/>
            </a:avLst>
          </a:prstGeom>
          <a:solidFill>
            <a:schemeClr val="accent6">
              <a:lumMod val="7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200" b="1" dirty="0">
                <a:solidFill>
                  <a:schemeClr val="bg1"/>
                </a:solidFill>
              </a:rPr>
              <a:t>Based Type of service SRO (Service Request Order) is Created</a:t>
            </a:r>
            <a:endParaRPr lang="en-US" sz="1050" b="1" dirty="0">
              <a:solidFill>
                <a:schemeClr val="bg1"/>
              </a:solidFill>
            </a:endParaRPr>
          </a:p>
        </p:txBody>
      </p:sp>
      <p:sp>
        <p:nvSpPr>
          <p:cNvPr id="10" name="Arrow: Chevron 9">
            <a:extLst>
              <a:ext uri="{FF2B5EF4-FFF2-40B4-BE49-F238E27FC236}">
                <a16:creationId xmlns:a16="http://schemas.microsoft.com/office/drawing/2014/main" id="{5908C1B1-10CD-2E56-1758-9D18BB847537}"/>
              </a:ext>
            </a:extLst>
          </p:cNvPr>
          <p:cNvSpPr/>
          <p:nvPr/>
        </p:nvSpPr>
        <p:spPr>
          <a:xfrm>
            <a:off x="3867876" y="1869203"/>
            <a:ext cx="2900462" cy="1246238"/>
          </a:xfrm>
          <a:prstGeom prst="chevron">
            <a:avLst>
              <a:gd name="adj" fmla="val 71893"/>
            </a:avLst>
          </a:prstGeom>
          <a:solidFill>
            <a:schemeClr val="accent4">
              <a:lumMod val="7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200" b="1" dirty="0">
                <a:solidFill>
                  <a:srgbClr val="FFFF00"/>
                </a:solidFill>
              </a:rPr>
              <a:t>Based on Assessment and acceptance from Customer a  Service is planned and  scheduled </a:t>
            </a:r>
            <a:endParaRPr lang="en-US" sz="1050" b="1" dirty="0">
              <a:solidFill>
                <a:srgbClr val="FFFF00"/>
              </a:solidFill>
            </a:endParaRPr>
          </a:p>
        </p:txBody>
      </p:sp>
      <p:sp>
        <p:nvSpPr>
          <p:cNvPr id="11" name="Arrow: Chevron 10">
            <a:extLst>
              <a:ext uri="{FF2B5EF4-FFF2-40B4-BE49-F238E27FC236}">
                <a16:creationId xmlns:a16="http://schemas.microsoft.com/office/drawing/2014/main" id="{653CBCA3-A0AC-94A0-51D6-8D2640B0C5DC}"/>
              </a:ext>
            </a:extLst>
          </p:cNvPr>
          <p:cNvSpPr/>
          <p:nvPr/>
        </p:nvSpPr>
        <p:spPr>
          <a:xfrm>
            <a:off x="5700666" y="1869203"/>
            <a:ext cx="2900462" cy="1246238"/>
          </a:xfrm>
          <a:prstGeom prst="chevron">
            <a:avLst>
              <a:gd name="adj" fmla="val 71893"/>
            </a:avLst>
          </a:prstGeom>
          <a:solidFill>
            <a:schemeClr val="tx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200" b="1" dirty="0">
                <a:solidFill>
                  <a:schemeClr val="tx1">
                    <a:lumMod val="85000"/>
                    <a:lumOff val="15000"/>
                  </a:schemeClr>
                </a:solidFill>
              </a:rPr>
              <a:t>Performs service at the site very rarely is service performed at PALCO </a:t>
            </a:r>
            <a:endParaRPr lang="en-US" sz="1050" b="1" dirty="0">
              <a:solidFill>
                <a:schemeClr val="tx1">
                  <a:lumMod val="85000"/>
                  <a:lumOff val="15000"/>
                </a:schemeClr>
              </a:solidFill>
            </a:endParaRPr>
          </a:p>
        </p:txBody>
      </p:sp>
      <p:sp>
        <p:nvSpPr>
          <p:cNvPr id="13" name="TextBox 12">
            <a:extLst>
              <a:ext uri="{FF2B5EF4-FFF2-40B4-BE49-F238E27FC236}">
                <a16:creationId xmlns:a16="http://schemas.microsoft.com/office/drawing/2014/main" id="{1391036B-E0CB-3ED6-612A-2FE673EBCEA6}"/>
              </a:ext>
            </a:extLst>
          </p:cNvPr>
          <p:cNvSpPr txBox="1"/>
          <p:nvPr/>
        </p:nvSpPr>
        <p:spPr>
          <a:xfrm>
            <a:off x="6178683" y="697993"/>
            <a:ext cx="839461" cy="276999"/>
          </a:xfrm>
          <a:prstGeom prst="rect">
            <a:avLst/>
          </a:prstGeom>
          <a:noFill/>
        </p:spPr>
        <p:txBody>
          <a:bodyPr wrap="none" rtlCol="0">
            <a:spAutoFit/>
          </a:bodyPr>
          <a:lstStyle/>
          <a:p>
            <a:r>
              <a:rPr lang="en-US" sz="1200" dirty="0"/>
              <a:t>Technician</a:t>
            </a:r>
          </a:p>
        </p:txBody>
      </p:sp>
      <p:sp>
        <p:nvSpPr>
          <p:cNvPr id="14" name="TextBox 13">
            <a:extLst>
              <a:ext uri="{FF2B5EF4-FFF2-40B4-BE49-F238E27FC236}">
                <a16:creationId xmlns:a16="http://schemas.microsoft.com/office/drawing/2014/main" id="{32CEFF2D-80C8-6AD7-0AE0-E6ECABAC7F2A}"/>
              </a:ext>
            </a:extLst>
          </p:cNvPr>
          <p:cNvSpPr txBox="1"/>
          <p:nvPr/>
        </p:nvSpPr>
        <p:spPr>
          <a:xfrm>
            <a:off x="4630799" y="678953"/>
            <a:ext cx="1287213" cy="830997"/>
          </a:xfrm>
          <a:prstGeom prst="rect">
            <a:avLst/>
          </a:prstGeom>
          <a:noFill/>
        </p:spPr>
        <p:txBody>
          <a:bodyPr wrap="square" rtlCol="0">
            <a:spAutoFit/>
          </a:bodyPr>
          <a:lstStyle/>
          <a:p>
            <a:r>
              <a:rPr lang="en-US" sz="1200" dirty="0"/>
              <a:t>Parts Personnel</a:t>
            </a:r>
          </a:p>
          <a:p>
            <a:r>
              <a:rPr lang="en-US" sz="1200" dirty="0"/>
              <a:t>Technicians</a:t>
            </a:r>
          </a:p>
          <a:p>
            <a:r>
              <a:rPr lang="en-US" sz="1200" dirty="0"/>
              <a:t>Manufacturer’s Guide</a:t>
            </a:r>
          </a:p>
        </p:txBody>
      </p:sp>
      <p:sp>
        <p:nvSpPr>
          <p:cNvPr id="16" name="TextBox 15">
            <a:extLst>
              <a:ext uri="{FF2B5EF4-FFF2-40B4-BE49-F238E27FC236}">
                <a16:creationId xmlns:a16="http://schemas.microsoft.com/office/drawing/2014/main" id="{0CC4D5E9-C5BC-EB68-5061-54FC08BA82F4}"/>
              </a:ext>
            </a:extLst>
          </p:cNvPr>
          <p:cNvSpPr txBox="1"/>
          <p:nvPr/>
        </p:nvSpPr>
        <p:spPr>
          <a:xfrm>
            <a:off x="9465568" y="697993"/>
            <a:ext cx="1126462" cy="461665"/>
          </a:xfrm>
          <a:prstGeom prst="rect">
            <a:avLst/>
          </a:prstGeom>
          <a:noFill/>
        </p:spPr>
        <p:txBody>
          <a:bodyPr wrap="none" rtlCol="0">
            <a:spAutoFit/>
          </a:bodyPr>
          <a:lstStyle/>
          <a:p>
            <a:r>
              <a:rPr lang="en-US" sz="1200" dirty="0"/>
              <a:t>Invoicing  Clerk</a:t>
            </a:r>
          </a:p>
          <a:p>
            <a:r>
              <a:rPr lang="en-US" sz="1200" dirty="0"/>
              <a:t>AR</a:t>
            </a:r>
          </a:p>
        </p:txBody>
      </p:sp>
      <p:sp>
        <p:nvSpPr>
          <p:cNvPr id="17" name="TextBox 16">
            <a:extLst>
              <a:ext uri="{FF2B5EF4-FFF2-40B4-BE49-F238E27FC236}">
                <a16:creationId xmlns:a16="http://schemas.microsoft.com/office/drawing/2014/main" id="{8E4426EB-797F-1006-F108-1BEB02BD6226}"/>
              </a:ext>
            </a:extLst>
          </p:cNvPr>
          <p:cNvSpPr txBox="1"/>
          <p:nvPr/>
        </p:nvSpPr>
        <p:spPr>
          <a:xfrm>
            <a:off x="7683820" y="680401"/>
            <a:ext cx="1451035" cy="830997"/>
          </a:xfrm>
          <a:prstGeom prst="rect">
            <a:avLst/>
          </a:prstGeom>
          <a:noFill/>
        </p:spPr>
        <p:txBody>
          <a:bodyPr wrap="square" rtlCol="0">
            <a:spAutoFit/>
          </a:bodyPr>
          <a:lstStyle/>
          <a:p>
            <a:r>
              <a:rPr lang="en-US" sz="1200" dirty="0"/>
              <a:t>Warranty Processor</a:t>
            </a:r>
          </a:p>
          <a:p>
            <a:r>
              <a:rPr lang="en-US" sz="1200" dirty="0"/>
              <a:t>Or Service Supervisor/ Manager</a:t>
            </a:r>
          </a:p>
        </p:txBody>
      </p:sp>
      <p:sp>
        <p:nvSpPr>
          <p:cNvPr id="18" name="Flowchart: Process 17">
            <a:extLst>
              <a:ext uri="{FF2B5EF4-FFF2-40B4-BE49-F238E27FC236}">
                <a16:creationId xmlns:a16="http://schemas.microsoft.com/office/drawing/2014/main" id="{AA547DF0-52CE-331B-D4CE-5B27A9DC6B22}"/>
              </a:ext>
            </a:extLst>
          </p:cNvPr>
          <p:cNvSpPr/>
          <p:nvPr/>
        </p:nvSpPr>
        <p:spPr>
          <a:xfrm>
            <a:off x="1484101" y="3503782"/>
            <a:ext cx="1440211" cy="345873"/>
          </a:xfrm>
          <a:prstGeom prst="flowChartProcess">
            <a:avLst/>
          </a:prstGeom>
          <a:solidFill>
            <a:schemeClr val="accent1">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Customer details entered checked</a:t>
            </a:r>
          </a:p>
        </p:txBody>
      </p:sp>
      <p:sp>
        <p:nvSpPr>
          <p:cNvPr id="20" name="Flowchart: Process 19">
            <a:extLst>
              <a:ext uri="{FF2B5EF4-FFF2-40B4-BE49-F238E27FC236}">
                <a16:creationId xmlns:a16="http://schemas.microsoft.com/office/drawing/2014/main" id="{AEEBB177-4110-E815-CBC5-84224F7293E1}"/>
              </a:ext>
            </a:extLst>
          </p:cNvPr>
          <p:cNvSpPr/>
          <p:nvPr/>
        </p:nvSpPr>
        <p:spPr>
          <a:xfrm>
            <a:off x="1491104" y="3948958"/>
            <a:ext cx="1433208" cy="712331"/>
          </a:xfrm>
          <a:prstGeom prst="flowChartProcess">
            <a:avLst/>
          </a:prstGeom>
          <a:solidFill>
            <a:schemeClr val="accent1">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Generator information Gathered and verified</a:t>
            </a:r>
          </a:p>
        </p:txBody>
      </p:sp>
      <p:sp>
        <p:nvSpPr>
          <p:cNvPr id="21" name="Flowchart: Process 20">
            <a:extLst>
              <a:ext uri="{FF2B5EF4-FFF2-40B4-BE49-F238E27FC236}">
                <a16:creationId xmlns:a16="http://schemas.microsoft.com/office/drawing/2014/main" id="{252FEE82-8A17-5DA0-49A6-48261E6C57E9}"/>
              </a:ext>
            </a:extLst>
          </p:cNvPr>
          <p:cNvSpPr/>
          <p:nvPr/>
        </p:nvSpPr>
        <p:spPr>
          <a:xfrm>
            <a:off x="3137471" y="3479068"/>
            <a:ext cx="1433208" cy="807196"/>
          </a:xfrm>
          <a:prstGeom prst="flowChartProcess">
            <a:avLst/>
          </a:prstGeom>
          <a:solidFill>
            <a:schemeClr val="accent6">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tx1"/>
                </a:solidFill>
              </a:rPr>
              <a:t>Based on serial number all  service records are reviewed and current issue is noted</a:t>
            </a:r>
          </a:p>
        </p:txBody>
      </p:sp>
      <p:sp>
        <p:nvSpPr>
          <p:cNvPr id="23" name="Flowchart: Process 22">
            <a:extLst>
              <a:ext uri="{FF2B5EF4-FFF2-40B4-BE49-F238E27FC236}">
                <a16:creationId xmlns:a16="http://schemas.microsoft.com/office/drawing/2014/main" id="{6A697C49-E232-514C-8791-0525E55C7275}"/>
              </a:ext>
            </a:extLst>
          </p:cNvPr>
          <p:cNvSpPr/>
          <p:nvPr/>
        </p:nvSpPr>
        <p:spPr>
          <a:xfrm>
            <a:off x="3137468" y="4303137"/>
            <a:ext cx="1433209" cy="675698"/>
          </a:xfrm>
          <a:prstGeom prst="flowChartProcess">
            <a:avLst/>
          </a:prstGeom>
          <a:solidFill>
            <a:schemeClr val="accent6">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tx1"/>
                </a:solidFill>
              </a:rPr>
              <a:t>Estimate is created </a:t>
            </a:r>
          </a:p>
          <a:p>
            <a:pPr algn="ctr"/>
            <a:r>
              <a:rPr lang="en-US" sz="1100" b="1" dirty="0">
                <a:solidFill>
                  <a:schemeClr val="tx1"/>
                </a:solidFill>
              </a:rPr>
              <a:t>And acceptance of Service and Payment terms is received</a:t>
            </a:r>
          </a:p>
        </p:txBody>
      </p:sp>
      <p:sp>
        <p:nvSpPr>
          <p:cNvPr id="24" name="Flowchart: Process 23">
            <a:extLst>
              <a:ext uri="{FF2B5EF4-FFF2-40B4-BE49-F238E27FC236}">
                <a16:creationId xmlns:a16="http://schemas.microsoft.com/office/drawing/2014/main" id="{0E59E359-5D55-532C-2CC2-97E532D901A6}"/>
              </a:ext>
            </a:extLst>
          </p:cNvPr>
          <p:cNvSpPr/>
          <p:nvPr/>
        </p:nvSpPr>
        <p:spPr>
          <a:xfrm>
            <a:off x="3137470" y="5055148"/>
            <a:ext cx="1433208" cy="345873"/>
          </a:xfrm>
          <a:prstGeom prst="flowChartProcess">
            <a:avLst/>
          </a:prstGeom>
          <a:solidFill>
            <a:schemeClr val="accent6">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tx1"/>
                </a:solidFill>
              </a:rPr>
              <a:t>Planned list of Parts added to SRO </a:t>
            </a:r>
          </a:p>
        </p:txBody>
      </p:sp>
      <p:sp>
        <p:nvSpPr>
          <p:cNvPr id="25" name="Flowchart: Process 24">
            <a:extLst>
              <a:ext uri="{FF2B5EF4-FFF2-40B4-BE49-F238E27FC236}">
                <a16:creationId xmlns:a16="http://schemas.microsoft.com/office/drawing/2014/main" id="{21822B76-5A4D-2A84-5985-AB56ED06C8C9}"/>
              </a:ext>
            </a:extLst>
          </p:cNvPr>
          <p:cNvSpPr/>
          <p:nvPr/>
        </p:nvSpPr>
        <p:spPr>
          <a:xfrm>
            <a:off x="4702837" y="4696483"/>
            <a:ext cx="1318936" cy="717330"/>
          </a:xfrm>
          <a:prstGeom prst="flowChartProcess">
            <a:avLst/>
          </a:prstGeom>
          <a:solidFill>
            <a:schemeClr val="accent4">
              <a:lumMod val="60000"/>
              <a:lumOff val="4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tx1"/>
                </a:solidFill>
              </a:rPr>
              <a:t>Items required for the SRO are delivered to the truck</a:t>
            </a:r>
          </a:p>
        </p:txBody>
      </p:sp>
      <p:sp>
        <p:nvSpPr>
          <p:cNvPr id="26" name="Flowchart: Process 25">
            <a:extLst>
              <a:ext uri="{FF2B5EF4-FFF2-40B4-BE49-F238E27FC236}">
                <a16:creationId xmlns:a16="http://schemas.microsoft.com/office/drawing/2014/main" id="{1CE046A7-E7B4-0CA1-20C2-EADA48DD8843}"/>
              </a:ext>
            </a:extLst>
          </p:cNvPr>
          <p:cNvSpPr/>
          <p:nvPr/>
        </p:nvSpPr>
        <p:spPr>
          <a:xfrm>
            <a:off x="4695039" y="4309893"/>
            <a:ext cx="1289220" cy="327961"/>
          </a:xfrm>
          <a:prstGeom prst="flowChartProcess">
            <a:avLst/>
          </a:prstGeom>
          <a:solidFill>
            <a:schemeClr val="accent4">
              <a:lumMod val="60000"/>
              <a:lumOff val="4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tx1"/>
                </a:solidFill>
              </a:rPr>
              <a:t>Tech is scheduled </a:t>
            </a:r>
          </a:p>
        </p:txBody>
      </p:sp>
      <p:sp>
        <p:nvSpPr>
          <p:cNvPr id="27" name="Flowchart: Process 26">
            <a:extLst>
              <a:ext uri="{FF2B5EF4-FFF2-40B4-BE49-F238E27FC236}">
                <a16:creationId xmlns:a16="http://schemas.microsoft.com/office/drawing/2014/main" id="{FCB0BF7C-78ED-2A84-37EF-98829BA8F128}"/>
              </a:ext>
            </a:extLst>
          </p:cNvPr>
          <p:cNvSpPr/>
          <p:nvPr/>
        </p:nvSpPr>
        <p:spPr>
          <a:xfrm>
            <a:off x="6276962" y="3436895"/>
            <a:ext cx="1436195" cy="1935093"/>
          </a:xfrm>
          <a:prstGeom prst="flowChartProcess">
            <a:avLst/>
          </a:prstGeom>
          <a:solidFill>
            <a:schemeClr val="accent3">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Technician performs service as planed, notes if  a Call back is needed or additional much needed service can be performed at that time</a:t>
            </a:r>
          </a:p>
        </p:txBody>
      </p:sp>
      <p:sp>
        <p:nvSpPr>
          <p:cNvPr id="29" name="Flowchart: Process 28">
            <a:extLst>
              <a:ext uri="{FF2B5EF4-FFF2-40B4-BE49-F238E27FC236}">
                <a16:creationId xmlns:a16="http://schemas.microsoft.com/office/drawing/2014/main" id="{89D48BAA-722D-3F69-52B6-BD7C85207243}"/>
              </a:ext>
            </a:extLst>
          </p:cNvPr>
          <p:cNvSpPr/>
          <p:nvPr/>
        </p:nvSpPr>
        <p:spPr>
          <a:xfrm>
            <a:off x="9437755" y="3461149"/>
            <a:ext cx="1543070" cy="717331"/>
          </a:xfrm>
          <a:prstGeom prst="flowChartProcess">
            <a:avLst/>
          </a:prstGeom>
          <a:solidFill>
            <a:schemeClr val="accent6">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Invoice is processed as per the terms (Credit card/ on account)</a:t>
            </a:r>
          </a:p>
        </p:txBody>
      </p:sp>
      <p:sp>
        <p:nvSpPr>
          <p:cNvPr id="30" name="Flowchart: Process 29">
            <a:extLst>
              <a:ext uri="{FF2B5EF4-FFF2-40B4-BE49-F238E27FC236}">
                <a16:creationId xmlns:a16="http://schemas.microsoft.com/office/drawing/2014/main" id="{C1CC1862-B8B0-0099-5444-76EFC7DD0E12}"/>
              </a:ext>
            </a:extLst>
          </p:cNvPr>
          <p:cNvSpPr/>
          <p:nvPr/>
        </p:nvSpPr>
        <p:spPr>
          <a:xfrm>
            <a:off x="9437755" y="4290240"/>
            <a:ext cx="1543070" cy="345873"/>
          </a:xfrm>
          <a:prstGeom prst="flowChartProcess">
            <a:avLst/>
          </a:prstGeom>
          <a:solidFill>
            <a:schemeClr val="accent6">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Payment Collection</a:t>
            </a:r>
          </a:p>
        </p:txBody>
      </p:sp>
      <p:sp>
        <p:nvSpPr>
          <p:cNvPr id="31" name="Flowchart: Process 30">
            <a:extLst>
              <a:ext uri="{FF2B5EF4-FFF2-40B4-BE49-F238E27FC236}">
                <a16:creationId xmlns:a16="http://schemas.microsoft.com/office/drawing/2014/main" id="{8B261F88-C24A-ADA1-5EEF-7B6C724D66E5}"/>
              </a:ext>
            </a:extLst>
          </p:cNvPr>
          <p:cNvSpPr/>
          <p:nvPr/>
        </p:nvSpPr>
        <p:spPr>
          <a:xfrm>
            <a:off x="462109" y="5652358"/>
            <a:ext cx="10974514" cy="1049413"/>
          </a:xfrm>
          <a:prstGeom prst="flowChartProcess">
            <a:avLst/>
          </a:prstGeom>
          <a:solidFill>
            <a:schemeClr val="bg1">
              <a:lumMod val="8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b="1" dirty="0">
                <a:solidFill>
                  <a:schemeClr val="tx1"/>
                </a:solidFill>
              </a:rPr>
              <a:t>Where</a:t>
            </a:r>
          </a:p>
        </p:txBody>
      </p:sp>
      <p:sp>
        <p:nvSpPr>
          <p:cNvPr id="32" name="TextBox 31">
            <a:extLst>
              <a:ext uri="{FF2B5EF4-FFF2-40B4-BE49-F238E27FC236}">
                <a16:creationId xmlns:a16="http://schemas.microsoft.com/office/drawing/2014/main" id="{245206B2-7C95-14AE-6BD9-344E5ED282D9}"/>
              </a:ext>
            </a:extLst>
          </p:cNvPr>
          <p:cNvSpPr txBox="1"/>
          <p:nvPr/>
        </p:nvSpPr>
        <p:spPr>
          <a:xfrm>
            <a:off x="1579459" y="5643732"/>
            <a:ext cx="1419334" cy="1015663"/>
          </a:xfrm>
          <a:prstGeom prst="rect">
            <a:avLst/>
          </a:prstGeom>
          <a:noFill/>
        </p:spPr>
        <p:txBody>
          <a:bodyPr wrap="square" rtlCol="0">
            <a:spAutoFit/>
          </a:bodyPr>
          <a:lstStyle/>
          <a:p>
            <a:r>
              <a:rPr lang="en-US" sz="1200" b="1" dirty="0"/>
              <a:t>Outside salesman </a:t>
            </a:r>
            <a:r>
              <a:rPr lang="en-US" sz="1200" dirty="0"/>
              <a:t>Laptop</a:t>
            </a:r>
          </a:p>
          <a:p>
            <a:r>
              <a:rPr lang="en-US" sz="1200" b="1" dirty="0"/>
              <a:t>Inside Service </a:t>
            </a:r>
            <a:r>
              <a:rPr lang="en-US" sz="1200" dirty="0"/>
              <a:t>Create Incident or SRO </a:t>
            </a:r>
          </a:p>
        </p:txBody>
      </p:sp>
      <p:sp>
        <p:nvSpPr>
          <p:cNvPr id="33" name="TextBox 32">
            <a:extLst>
              <a:ext uri="{FF2B5EF4-FFF2-40B4-BE49-F238E27FC236}">
                <a16:creationId xmlns:a16="http://schemas.microsoft.com/office/drawing/2014/main" id="{E5433C48-DE39-64B6-5AAC-830877BD5480}"/>
              </a:ext>
            </a:extLst>
          </p:cNvPr>
          <p:cNvSpPr txBox="1"/>
          <p:nvPr/>
        </p:nvSpPr>
        <p:spPr>
          <a:xfrm>
            <a:off x="3229653" y="5669235"/>
            <a:ext cx="1401146" cy="1015663"/>
          </a:xfrm>
          <a:prstGeom prst="rect">
            <a:avLst/>
          </a:prstGeom>
          <a:noFill/>
        </p:spPr>
        <p:txBody>
          <a:bodyPr wrap="square" rtlCol="0">
            <a:spAutoFit/>
          </a:bodyPr>
          <a:lstStyle/>
          <a:p>
            <a:r>
              <a:rPr lang="en-US" sz="1200" dirty="0"/>
              <a:t>On ISM module of CSD, Manufacturers trouble shooting Guide. </a:t>
            </a:r>
          </a:p>
        </p:txBody>
      </p:sp>
      <p:sp>
        <p:nvSpPr>
          <p:cNvPr id="35" name="TextBox 34">
            <a:extLst>
              <a:ext uri="{FF2B5EF4-FFF2-40B4-BE49-F238E27FC236}">
                <a16:creationId xmlns:a16="http://schemas.microsoft.com/office/drawing/2014/main" id="{74D943FE-3ECE-D73D-DDD7-BB677C3E398D}"/>
              </a:ext>
            </a:extLst>
          </p:cNvPr>
          <p:cNvSpPr txBox="1"/>
          <p:nvPr/>
        </p:nvSpPr>
        <p:spPr>
          <a:xfrm>
            <a:off x="9516178" y="5761567"/>
            <a:ext cx="1924573" cy="461665"/>
          </a:xfrm>
          <a:prstGeom prst="rect">
            <a:avLst/>
          </a:prstGeom>
          <a:noFill/>
        </p:spPr>
        <p:txBody>
          <a:bodyPr wrap="square" rtlCol="0">
            <a:spAutoFit/>
          </a:bodyPr>
          <a:lstStyle/>
          <a:p>
            <a:r>
              <a:rPr lang="en-US" sz="1200" dirty="0"/>
              <a:t>CSD </a:t>
            </a:r>
            <a:br>
              <a:rPr lang="en-US" sz="1200" dirty="0"/>
            </a:br>
            <a:r>
              <a:rPr lang="en-US" sz="1200" dirty="0"/>
              <a:t>Credit card Processing</a:t>
            </a:r>
          </a:p>
        </p:txBody>
      </p:sp>
      <p:sp>
        <p:nvSpPr>
          <p:cNvPr id="36" name="TextBox 35">
            <a:extLst>
              <a:ext uri="{FF2B5EF4-FFF2-40B4-BE49-F238E27FC236}">
                <a16:creationId xmlns:a16="http://schemas.microsoft.com/office/drawing/2014/main" id="{D943F870-5E59-554B-2A3F-0323924397F9}"/>
              </a:ext>
            </a:extLst>
          </p:cNvPr>
          <p:cNvSpPr txBox="1"/>
          <p:nvPr/>
        </p:nvSpPr>
        <p:spPr>
          <a:xfrm>
            <a:off x="7784751" y="5661455"/>
            <a:ext cx="1632754" cy="1015663"/>
          </a:xfrm>
          <a:prstGeom prst="rect">
            <a:avLst/>
          </a:prstGeom>
          <a:noFill/>
        </p:spPr>
        <p:txBody>
          <a:bodyPr wrap="square" rtlCol="0">
            <a:spAutoFit/>
          </a:bodyPr>
          <a:lstStyle/>
          <a:p>
            <a:r>
              <a:rPr lang="en-US" sz="1200" dirty="0"/>
              <a:t>Based on prevailing Warranty a warranty claim is entered in the Manufacturer’s system</a:t>
            </a:r>
          </a:p>
          <a:p>
            <a:r>
              <a:rPr lang="en-US" sz="1200" dirty="0"/>
              <a:t>ISM /CSD</a:t>
            </a:r>
          </a:p>
        </p:txBody>
      </p:sp>
      <p:sp>
        <p:nvSpPr>
          <p:cNvPr id="3" name="Flowchart: Process 2">
            <a:extLst>
              <a:ext uri="{FF2B5EF4-FFF2-40B4-BE49-F238E27FC236}">
                <a16:creationId xmlns:a16="http://schemas.microsoft.com/office/drawing/2014/main" id="{0CD03DFF-88C7-51B7-CDF8-AEB7D0CC75DF}"/>
              </a:ext>
            </a:extLst>
          </p:cNvPr>
          <p:cNvSpPr/>
          <p:nvPr/>
        </p:nvSpPr>
        <p:spPr>
          <a:xfrm>
            <a:off x="1491104" y="4675364"/>
            <a:ext cx="1433208" cy="712332"/>
          </a:xfrm>
          <a:prstGeom prst="flowChartProcess">
            <a:avLst/>
          </a:prstGeom>
          <a:solidFill>
            <a:schemeClr val="accent1">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Warranty PMA status etc determined</a:t>
            </a:r>
          </a:p>
        </p:txBody>
      </p:sp>
      <p:sp>
        <p:nvSpPr>
          <p:cNvPr id="5" name="Flowchart: Process 4">
            <a:extLst>
              <a:ext uri="{FF2B5EF4-FFF2-40B4-BE49-F238E27FC236}">
                <a16:creationId xmlns:a16="http://schemas.microsoft.com/office/drawing/2014/main" id="{6B478F17-8A55-7C4B-A6FD-D175382B0ECC}"/>
              </a:ext>
            </a:extLst>
          </p:cNvPr>
          <p:cNvSpPr/>
          <p:nvPr/>
        </p:nvSpPr>
        <p:spPr>
          <a:xfrm>
            <a:off x="4702837" y="3464820"/>
            <a:ext cx="1318937" cy="751063"/>
          </a:xfrm>
          <a:prstGeom prst="flowChartProcess">
            <a:avLst/>
          </a:prstGeom>
          <a:solidFill>
            <a:schemeClr val="accent4">
              <a:lumMod val="60000"/>
              <a:lumOff val="4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dirty="0">
                <a:solidFill>
                  <a:schemeClr val="tx1"/>
                </a:solidFill>
              </a:rPr>
              <a:t>If parts are not carried in stock, they are picked up from Part stores or ordered </a:t>
            </a:r>
          </a:p>
        </p:txBody>
      </p:sp>
      <p:sp>
        <p:nvSpPr>
          <p:cNvPr id="6" name="TextBox 5">
            <a:extLst>
              <a:ext uri="{FF2B5EF4-FFF2-40B4-BE49-F238E27FC236}">
                <a16:creationId xmlns:a16="http://schemas.microsoft.com/office/drawing/2014/main" id="{525134E9-642D-2CEC-3A64-F91A61D5A177}"/>
              </a:ext>
            </a:extLst>
          </p:cNvPr>
          <p:cNvSpPr txBox="1"/>
          <p:nvPr/>
        </p:nvSpPr>
        <p:spPr>
          <a:xfrm>
            <a:off x="4644208" y="5661456"/>
            <a:ext cx="1377565" cy="830997"/>
          </a:xfrm>
          <a:prstGeom prst="rect">
            <a:avLst/>
          </a:prstGeom>
          <a:noFill/>
        </p:spPr>
        <p:txBody>
          <a:bodyPr wrap="square" rtlCol="0">
            <a:spAutoFit/>
          </a:bodyPr>
          <a:lstStyle/>
          <a:p>
            <a:r>
              <a:rPr lang="en-US" sz="1200" dirty="0"/>
              <a:t>Parts in SD and ISM</a:t>
            </a:r>
          </a:p>
          <a:p>
            <a:r>
              <a:rPr lang="en-US" sz="1200" dirty="0"/>
              <a:t>ISM Tech Mobile</a:t>
            </a:r>
          </a:p>
          <a:p>
            <a:r>
              <a:rPr lang="en-US" sz="1200" dirty="0"/>
              <a:t>CSD</a:t>
            </a:r>
          </a:p>
        </p:txBody>
      </p:sp>
      <p:sp>
        <p:nvSpPr>
          <p:cNvPr id="19" name="TextBox 18">
            <a:extLst>
              <a:ext uri="{FF2B5EF4-FFF2-40B4-BE49-F238E27FC236}">
                <a16:creationId xmlns:a16="http://schemas.microsoft.com/office/drawing/2014/main" id="{AF2F8D8B-E3A0-4398-2AF5-5D30AB3F8107}"/>
              </a:ext>
            </a:extLst>
          </p:cNvPr>
          <p:cNvSpPr txBox="1"/>
          <p:nvPr/>
        </p:nvSpPr>
        <p:spPr>
          <a:xfrm>
            <a:off x="2864990" y="677505"/>
            <a:ext cx="1126270" cy="830997"/>
          </a:xfrm>
          <a:prstGeom prst="rect">
            <a:avLst/>
          </a:prstGeom>
          <a:noFill/>
        </p:spPr>
        <p:txBody>
          <a:bodyPr wrap="none" rtlCol="0">
            <a:spAutoFit/>
          </a:bodyPr>
          <a:lstStyle/>
          <a:p>
            <a:r>
              <a:rPr lang="en-US" sz="1200" dirty="0"/>
              <a:t>Service Writers</a:t>
            </a:r>
          </a:p>
          <a:p>
            <a:r>
              <a:rPr lang="en-US" sz="1200" dirty="0"/>
              <a:t>Coordinator</a:t>
            </a:r>
          </a:p>
          <a:p>
            <a:r>
              <a:rPr lang="en-US" sz="1200" dirty="0"/>
              <a:t>Supervisor</a:t>
            </a:r>
          </a:p>
          <a:p>
            <a:r>
              <a:rPr lang="en-US" sz="1200" dirty="0"/>
              <a:t>Manager</a:t>
            </a:r>
          </a:p>
        </p:txBody>
      </p:sp>
      <p:sp>
        <p:nvSpPr>
          <p:cNvPr id="22" name="Arrow: Chevron 21">
            <a:extLst>
              <a:ext uri="{FF2B5EF4-FFF2-40B4-BE49-F238E27FC236}">
                <a16:creationId xmlns:a16="http://schemas.microsoft.com/office/drawing/2014/main" id="{3DA32B5D-6D78-87F5-51FA-77BA6F200AD6}"/>
              </a:ext>
            </a:extLst>
          </p:cNvPr>
          <p:cNvSpPr/>
          <p:nvPr/>
        </p:nvSpPr>
        <p:spPr>
          <a:xfrm>
            <a:off x="7382242" y="1869203"/>
            <a:ext cx="2758454" cy="1246238"/>
          </a:xfrm>
          <a:prstGeom prst="chevron">
            <a:avLst>
              <a:gd name="adj" fmla="val 71893"/>
            </a:avLst>
          </a:prstGeom>
          <a:solidFill>
            <a:schemeClr val="accent6">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200" b="1" dirty="0">
                <a:solidFill>
                  <a:schemeClr val="accent6">
                    <a:lumMod val="50000"/>
                  </a:schemeClr>
                </a:solidFill>
              </a:rPr>
              <a:t>Warranty Coverage Verified or Billed accordingly</a:t>
            </a:r>
          </a:p>
        </p:txBody>
      </p:sp>
      <p:sp>
        <p:nvSpPr>
          <p:cNvPr id="12" name="Arrow: Chevron 11">
            <a:extLst>
              <a:ext uri="{FF2B5EF4-FFF2-40B4-BE49-F238E27FC236}">
                <a16:creationId xmlns:a16="http://schemas.microsoft.com/office/drawing/2014/main" id="{5B580A3B-5307-713B-1DC0-5CA2033EDE2A}"/>
              </a:ext>
            </a:extLst>
          </p:cNvPr>
          <p:cNvSpPr/>
          <p:nvPr/>
        </p:nvSpPr>
        <p:spPr>
          <a:xfrm>
            <a:off x="9034570" y="1869203"/>
            <a:ext cx="2402053" cy="1246238"/>
          </a:xfrm>
          <a:prstGeom prst="chevron">
            <a:avLst>
              <a:gd name="adj" fmla="val 71893"/>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200" b="1" dirty="0">
                <a:solidFill>
                  <a:srgbClr val="FFFF00"/>
                </a:solidFill>
              </a:rPr>
              <a:t>Payment received and applied</a:t>
            </a:r>
            <a:endParaRPr lang="en-US" sz="1050" b="1" dirty="0">
              <a:solidFill>
                <a:srgbClr val="FFFF00"/>
              </a:solidFill>
            </a:endParaRPr>
          </a:p>
        </p:txBody>
      </p:sp>
      <p:sp>
        <p:nvSpPr>
          <p:cNvPr id="28" name="Flowchart: Process 27">
            <a:extLst>
              <a:ext uri="{FF2B5EF4-FFF2-40B4-BE49-F238E27FC236}">
                <a16:creationId xmlns:a16="http://schemas.microsoft.com/office/drawing/2014/main" id="{8CB82E60-21AF-C03A-6355-9B4245146E0D}"/>
              </a:ext>
            </a:extLst>
          </p:cNvPr>
          <p:cNvSpPr/>
          <p:nvPr/>
        </p:nvSpPr>
        <p:spPr>
          <a:xfrm>
            <a:off x="7857358" y="3429000"/>
            <a:ext cx="1436195" cy="1935093"/>
          </a:xfrm>
          <a:prstGeom prst="flowChartProcess">
            <a:avLst/>
          </a:prstGeom>
          <a:solidFill>
            <a:schemeClr val="accent3">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accent6">
                    <a:lumMod val="50000"/>
                  </a:schemeClr>
                </a:solidFill>
              </a:rPr>
              <a:t>Warranty claim is processed if applicable and applied if accepted else billing is finalized  </a:t>
            </a:r>
          </a:p>
        </p:txBody>
      </p:sp>
      <p:sp>
        <p:nvSpPr>
          <p:cNvPr id="34" name="TextBox 33">
            <a:extLst>
              <a:ext uri="{FF2B5EF4-FFF2-40B4-BE49-F238E27FC236}">
                <a16:creationId xmlns:a16="http://schemas.microsoft.com/office/drawing/2014/main" id="{F4C0EF1F-618B-673E-D91D-2BD731E3DAFB}"/>
              </a:ext>
            </a:extLst>
          </p:cNvPr>
          <p:cNvSpPr txBox="1"/>
          <p:nvPr/>
        </p:nvSpPr>
        <p:spPr>
          <a:xfrm>
            <a:off x="6157347" y="5661455"/>
            <a:ext cx="1377565" cy="1015663"/>
          </a:xfrm>
          <a:prstGeom prst="rect">
            <a:avLst/>
          </a:prstGeom>
          <a:noFill/>
        </p:spPr>
        <p:txBody>
          <a:bodyPr wrap="square" rtlCol="0">
            <a:spAutoFit/>
          </a:bodyPr>
          <a:lstStyle/>
          <a:p>
            <a:r>
              <a:rPr lang="en-US" sz="1200" dirty="0"/>
              <a:t>Tech Mobile </a:t>
            </a:r>
            <a:br>
              <a:rPr lang="en-US" sz="1200" dirty="0"/>
            </a:br>
            <a:r>
              <a:rPr lang="en-US" sz="1200" dirty="0"/>
              <a:t>on Laptop etc </a:t>
            </a:r>
            <a:br>
              <a:rPr lang="en-US" sz="1200" dirty="0"/>
            </a:br>
            <a:r>
              <a:rPr lang="en-US" sz="1200" dirty="0"/>
              <a:t>tech Mobile on </a:t>
            </a:r>
            <a:br>
              <a:rPr lang="en-US" sz="1200" dirty="0"/>
            </a:br>
            <a:r>
              <a:rPr lang="en-US" sz="1200" dirty="0"/>
              <a:t>Tablet</a:t>
            </a:r>
          </a:p>
          <a:p>
            <a:endParaRPr lang="en-US" sz="1200" dirty="0"/>
          </a:p>
        </p:txBody>
      </p:sp>
      <p:sp>
        <p:nvSpPr>
          <p:cNvPr id="37" name="- S002. Palco Power Systems  Service to Cash Work Flow">
            <a:extLst>
              <a:ext uri="{FF2B5EF4-FFF2-40B4-BE49-F238E27FC236}">
                <a16:creationId xmlns:a16="http://schemas.microsoft.com/office/drawing/2014/main" id="{09B2AB88-9084-F604-55DF-1DC0019134CE}"/>
              </a:ext>
            </a:extLst>
          </p:cNvPr>
          <p:cNvSpPr txBox="1">
            <a:spLocks/>
          </p:cNvSpPr>
          <p:nvPr/>
        </p:nvSpPr>
        <p:spPr>
          <a:xfrm>
            <a:off x="838200" y="1"/>
            <a:ext cx="10515600" cy="494270"/>
          </a:xfrm>
          <a:prstGeom prst="rect">
            <a:avLst/>
          </a:prstGeom>
        </p:spPr>
        <p:txBody>
          <a:bodyPr>
            <a:noAutofit/>
          </a:bodyPr>
          <a:lstStyle>
            <a:lvl1pPr algn="l" defTabSz="914400" rtl="0" eaLnBrk="1" latinLnBrk="0" hangingPunct="1">
              <a:lnSpc>
                <a:spcPct val="90000"/>
              </a:lnSpc>
              <a:spcBef>
                <a:spcPct val="0"/>
              </a:spcBef>
              <a:buNone/>
              <a:defRPr sz="2400" kern="1200">
                <a:solidFill>
                  <a:schemeClr val="tx1"/>
                </a:solidFill>
                <a:latin typeface="+mj-lt"/>
                <a:ea typeface="+mj-ea"/>
                <a:cs typeface="+mj-cs"/>
              </a:defRPr>
            </a:lvl1pPr>
          </a:lstStyle>
          <a:p>
            <a:pPr algn="ctr"/>
            <a:endParaRPr lang="en-US" sz="1400" b="1" dirty="0"/>
          </a:p>
          <a:p>
            <a:pPr algn="ctr"/>
            <a:r>
              <a:rPr lang="en-US" sz="1400" b="1" dirty="0"/>
              <a:t>S002. Palco Power Systems  Service to Cash Work Flow – at Palco Power Systems</a:t>
            </a:r>
          </a:p>
        </p:txBody>
      </p:sp>
    </p:spTree>
    <p:extLst>
      <p:ext uri="{BB962C8B-B14F-4D97-AF65-F5344CB8AC3E}">
        <p14:creationId xmlns:p14="http://schemas.microsoft.com/office/powerpoint/2010/main" val="17797143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A134AD-68CC-CCE0-4FE3-381B94AD157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943DE6-37F9-9F5E-EC7B-7653240E7C10}"/>
              </a:ext>
            </a:extLst>
          </p:cNvPr>
          <p:cNvSpPr txBox="1"/>
          <p:nvPr/>
        </p:nvSpPr>
        <p:spPr>
          <a:xfrm>
            <a:off x="67762" y="5881044"/>
            <a:ext cx="994285" cy="338554"/>
          </a:xfrm>
          <a:prstGeom prst="rect">
            <a:avLst/>
          </a:prstGeom>
          <a:noFill/>
        </p:spPr>
        <p:txBody>
          <a:bodyPr wrap="square" rtlCol="0">
            <a:spAutoFit/>
          </a:bodyPr>
          <a:lstStyle/>
          <a:p>
            <a:r>
              <a:rPr lang="en-US" sz="800" dirty="0"/>
              <a:t>Draft completed on 02 15 2025 19 10</a:t>
            </a:r>
          </a:p>
        </p:txBody>
      </p:sp>
      <p:sp>
        <p:nvSpPr>
          <p:cNvPr id="3" name="TextBox 2">
            <a:extLst>
              <a:ext uri="{FF2B5EF4-FFF2-40B4-BE49-F238E27FC236}">
                <a16:creationId xmlns:a16="http://schemas.microsoft.com/office/drawing/2014/main" id="{C9B7EB14-303C-41D6-C490-A682348F05C8}"/>
              </a:ext>
            </a:extLst>
          </p:cNvPr>
          <p:cNvSpPr txBox="1"/>
          <p:nvPr/>
        </p:nvSpPr>
        <p:spPr>
          <a:xfrm>
            <a:off x="67762" y="6282898"/>
            <a:ext cx="1015649" cy="461665"/>
          </a:xfrm>
          <a:prstGeom prst="rect">
            <a:avLst/>
          </a:prstGeom>
          <a:noFill/>
        </p:spPr>
        <p:txBody>
          <a:bodyPr wrap="square" rtlCol="0">
            <a:spAutoFit/>
          </a:bodyPr>
          <a:lstStyle/>
          <a:p>
            <a:r>
              <a:rPr lang="en-US" sz="800" dirty="0"/>
              <a:t>Train Slide updated by TS VM SR TD MS</a:t>
            </a:r>
          </a:p>
          <a:p>
            <a:r>
              <a:rPr lang="en-US" sz="800" dirty="0"/>
              <a:t> 25 11 12 1203</a:t>
            </a:r>
          </a:p>
        </p:txBody>
      </p:sp>
      <p:sp>
        <p:nvSpPr>
          <p:cNvPr id="21" name="TextBox 20">
            <a:extLst>
              <a:ext uri="{FF2B5EF4-FFF2-40B4-BE49-F238E27FC236}">
                <a16:creationId xmlns:a16="http://schemas.microsoft.com/office/drawing/2014/main" id="{3A8628C4-F9C0-ADD2-DE6E-9063C1AD40F4}"/>
              </a:ext>
            </a:extLst>
          </p:cNvPr>
          <p:cNvSpPr txBox="1"/>
          <p:nvPr/>
        </p:nvSpPr>
        <p:spPr>
          <a:xfrm>
            <a:off x="1597397" y="5972202"/>
            <a:ext cx="1015649" cy="471755"/>
          </a:xfrm>
          <a:prstGeom prst="flowChartInternalStorage">
            <a:avLst/>
          </a:prstGeom>
          <a:solidFill>
            <a:srgbClr val="FFFF00"/>
          </a:solidFill>
          <a:ln>
            <a:solidFill>
              <a:schemeClr val="tx1"/>
            </a:solidFill>
          </a:ln>
        </p:spPr>
        <p:txBody>
          <a:bodyPr wrap="square" rtlCol="0">
            <a:spAutoFit/>
          </a:bodyPr>
          <a:lstStyle/>
          <a:p>
            <a:pPr algn="ctr"/>
            <a:r>
              <a:rPr lang="en-US" sz="1050" b="1" dirty="0"/>
              <a:t>Represents a Sub SOP</a:t>
            </a:r>
          </a:p>
        </p:txBody>
      </p:sp>
      <p:sp>
        <p:nvSpPr>
          <p:cNvPr id="55" name="TextBox 54">
            <a:extLst>
              <a:ext uri="{FF2B5EF4-FFF2-40B4-BE49-F238E27FC236}">
                <a16:creationId xmlns:a16="http://schemas.microsoft.com/office/drawing/2014/main" id="{84CFC4A8-FF05-93A7-16B0-E5C732CB5305}"/>
              </a:ext>
            </a:extLst>
          </p:cNvPr>
          <p:cNvSpPr txBox="1"/>
          <p:nvPr/>
        </p:nvSpPr>
        <p:spPr>
          <a:xfrm>
            <a:off x="2073152" y="4745267"/>
            <a:ext cx="8462326" cy="830997"/>
          </a:xfrm>
          <a:prstGeom prst="rect">
            <a:avLst/>
          </a:prstGeom>
          <a:noFill/>
        </p:spPr>
        <p:txBody>
          <a:bodyPr wrap="square" rtlCol="0">
            <a:spAutoFit/>
          </a:bodyPr>
          <a:lstStyle/>
          <a:p>
            <a:pPr algn="ctr"/>
            <a:r>
              <a:rPr lang="en-US" sz="1600" b="1" dirty="0"/>
              <a:t>It is important to understand that every action in any part of this has an impact on other areas so it behooves  each  and one of us to  practice daily and diligently as trainees in other areas need your input to train .</a:t>
            </a:r>
          </a:p>
        </p:txBody>
      </p:sp>
      <p:grpSp>
        <p:nvGrpSpPr>
          <p:cNvPr id="66" name="Group 65">
            <a:extLst>
              <a:ext uri="{FF2B5EF4-FFF2-40B4-BE49-F238E27FC236}">
                <a16:creationId xmlns:a16="http://schemas.microsoft.com/office/drawing/2014/main" id="{D3423085-2497-ED5F-ED1C-6C73948C6016}"/>
              </a:ext>
            </a:extLst>
          </p:cNvPr>
          <p:cNvGrpSpPr/>
          <p:nvPr/>
        </p:nvGrpSpPr>
        <p:grpSpPr>
          <a:xfrm>
            <a:off x="1062047" y="1319348"/>
            <a:ext cx="9679873" cy="3173182"/>
            <a:chOff x="1597397" y="1895816"/>
            <a:chExt cx="9144523" cy="3173182"/>
          </a:xfrm>
        </p:grpSpPr>
        <p:sp>
          <p:nvSpPr>
            <p:cNvPr id="18" name="Flowchart: Process 17">
              <a:extLst>
                <a:ext uri="{FF2B5EF4-FFF2-40B4-BE49-F238E27FC236}">
                  <a16:creationId xmlns:a16="http://schemas.microsoft.com/office/drawing/2014/main" id="{6E15E37E-B4B8-018E-F8C3-64A83B59F4B7}"/>
                </a:ext>
              </a:extLst>
            </p:cNvPr>
            <p:cNvSpPr/>
            <p:nvPr/>
          </p:nvSpPr>
          <p:spPr>
            <a:xfrm>
              <a:off x="7852012" y="4002981"/>
              <a:ext cx="1791208" cy="1049413"/>
            </a:xfrm>
            <a:prstGeom prst="flowChartProcess">
              <a:avLst/>
            </a:prstGeom>
            <a:solidFill>
              <a:schemeClr val="bg1">
                <a:lumMod val="8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400" b="1" dirty="0">
                  <a:solidFill>
                    <a:schemeClr val="tx1"/>
                  </a:solidFill>
                </a:rPr>
                <a:t>Fin. plan to Report</a:t>
              </a:r>
            </a:p>
          </p:txBody>
        </p:sp>
        <p:sp>
          <p:nvSpPr>
            <p:cNvPr id="17" name="Flowchart: Process 16">
              <a:extLst>
                <a:ext uri="{FF2B5EF4-FFF2-40B4-BE49-F238E27FC236}">
                  <a16:creationId xmlns:a16="http://schemas.microsoft.com/office/drawing/2014/main" id="{E1902368-1EAD-67DB-350B-7EB56EDDA487}"/>
                </a:ext>
              </a:extLst>
            </p:cNvPr>
            <p:cNvSpPr/>
            <p:nvPr/>
          </p:nvSpPr>
          <p:spPr>
            <a:xfrm>
              <a:off x="5666126" y="4010695"/>
              <a:ext cx="1791208" cy="1049413"/>
            </a:xfrm>
            <a:prstGeom prst="flowChartProcess">
              <a:avLst/>
            </a:prstGeom>
            <a:solidFill>
              <a:schemeClr val="bg1">
                <a:lumMod val="8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400" b="1" dirty="0">
                  <a:solidFill>
                    <a:schemeClr val="tx1"/>
                  </a:solidFill>
                </a:rPr>
                <a:t>Count to Adjust</a:t>
              </a:r>
            </a:p>
          </p:txBody>
        </p:sp>
        <p:sp>
          <p:nvSpPr>
            <p:cNvPr id="16" name="Flowchart: Process 15">
              <a:extLst>
                <a:ext uri="{FF2B5EF4-FFF2-40B4-BE49-F238E27FC236}">
                  <a16:creationId xmlns:a16="http://schemas.microsoft.com/office/drawing/2014/main" id="{687794C2-BB51-EFBE-3B96-E382FFCE6A14}"/>
                </a:ext>
              </a:extLst>
            </p:cNvPr>
            <p:cNvSpPr/>
            <p:nvPr/>
          </p:nvSpPr>
          <p:spPr>
            <a:xfrm>
              <a:off x="3375789" y="4019585"/>
              <a:ext cx="1791208" cy="1049413"/>
            </a:xfrm>
            <a:prstGeom prst="flowChartProcess">
              <a:avLst/>
            </a:prstGeom>
            <a:solidFill>
              <a:schemeClr val="bg1">
                <a:lumMod val="8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400" b="1" dirty="0">
                  <a:solidFill>
                    <a:schemeClr val="tx1"/>
                  </a:solidFill>
                </a:rPr>
                <a:t>Procure to Pay</a:t>
              </a:r>
            </a:p>
          </p:txBody>
        </p:sp>
        <p:sp>
          <p:nvSpPr>
            <p:cNvPr id="15" name="Flowchart: Process 14">
              <a:extLst>
                <a:ext uri="{FF2B5EF4-FFF2-40B4-BE49-F238E27FC236}">
                  <a16:creationId xmlns:a16="http://schemas.microsoft.com/office/drawing/2014/main" id="{B4A817C9-AAD9-C5B7-E924-0B7A6FC4B3F6}"/>
                </a:ext>
              </a:extLst>
            </p:cNvPr>
            <p:cNvSpPr/>
            <p:nvPr/>
          </p:nvSpPr>
          <p:spPr>
            <a:xfrm>
              <a:off x="1597397" y="1895816"/>
              <a:ext cx="9144523" cy="1049413"/>
            </a:xfrm>
            <a:prstGeom prst="flowChartProcess">
              <a:avLst/>
            </a:prstGeom>
            <a:solidFill>
              <a:schemeClr val="bg1">
                <a:lumMod val="8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b="1" dirty="0">
                  <a:solidFill>
                    <a:schemeClr val="tx1"/>
                  </a:solidFill>
                </a:rPr>
                <a:t>Quote to Cash</a:t>
              </a:r>
            </a:p>
          </p:txBody>
        </p:sp>
        <p:sp>
          <p:nvSpPr>
            <p:cNvPr id="6" name="TextBox 5">
              <a:extLst>
                <a:ext uri="{FF2B5EF4-FFF2-40B4-BE49-F238E27FC236}">
                  <a16:creationId xmlns:a16="http://schemas.microsoft.com/office/drawing/2014/main" id="{BF7AD1D1-0ABE-DF39-DB03-AA0D5DDC75B8}"/>
                </a:ext>
              </a:extLst>
            </p:cNvPr>
            <p:cNvSpPr txBox="1"/>
            <p:nvPr/>
          </p:nvSpPr>
          <p:spPr>
            <a:xfrm>
              <a:off x="2882317" y="2162494"/>
              <a:ext cx="1285363" cy="471755"/>
            </a:xfrm>
            <a:prstGeom prst="flowChartInternalStorage">
              <a:avLst/>
            </a:prstGeom>
            <a:solidFill>
              <a:srgbClr val="FFFF00"/>
            </a:solidFill>
            <a:ln>
              <a:solidFill>
                <a:schemeClr val="tx1"/>
              </a:solidFill>
            </a:ln>
          </p:spPr>
          <p:txBody>
            <a:bodyPr wrap="square" rtlCol="0">
              <a:spAutoFit/>
            </a:bodyPr>
            <a:lstStyle/>
            <a:p>
              <a:pPr algn="ctr"/>
              <a:r>
                <a:rPr lang="en-US" sz="1050" dirty="0"/>
                <a:t>1.Quote to Service Order</a:t>
              </a:r>
            </a:p>
          </p:txBody>
        </p:sp>
        <p:sp>
          <p:nvSpPr>
            <p:cNvPr id="7" name="TextBox 6">
              <a:extLst>
                <a:ext uri="{FF2B5EF4-FFF2-40B4-BE49-F238E27FC236}">
                  <a16:creationId xmlns:a16="http://schemas.microsoft.com/office/drawing/2014/main" id="{4F30204D-DAB0-84E5-FA64-273F7758AF49}"/>
                </a:ext>
              </a:extLst>
            </p:cNvPr>
            <p:cNvSpPr txBox="1"/>
            <p:nvPr/>
          </p:nvSpPr>
          <p:spPr>
            <a:xfrm>
              <a:off x="4338690" y="2162494"/>
              <a:ext cx="1339751" cy="471755"/>
            </a:xfrm>
            <a:prstGeom prst="flowChartInternalStorage">
              <a:avLst/>
            </a:prstGeom>
            <a:solidFill>
              <a:srgbClr val="FFFF00"/>
            </a:solidFill>
            <a:ln>
              <a:solidFill>
                <a:schemeClr val="tx1"/>
              </a:solidFill>
            </a:ln>
          </p:spPr>
          <p:txBody>
            <a:bodyPr wrap="square" rtlCol="0">
              <a:spAutoFit/>
            </a:bodyPr>
            <a:lstStyle/>
            <a:p>
              <a:pPr algn="ctr"/>
              <a:r>
                <a:rPr lang="en-US" sz="1050" dirty="0"/>
                <a:t>2.Service order to Picking Scheduling</a:t>
              </a:r>
            </a:p>
          </p:txBody>
        </p:sp>
        <p:sp>
          <p:nvSpPr>
            <p:cNvPr id="9" name="TextBox 8">
              <a:extLst>
                <a:ext uri="{FF2B5EF4-FFF2-40B4-BE49-F238E27FC236}">
                  <a16:creationId xmlns:a16="http://schemas.microsoft.com/office/drawing/2014/main" id="{CB7F143A-38D2-1FB8-2250-0A85D8D71B15}"/>
                </a:ext>
              </a:extLst>
            </p:cNvPr>
            <p:cNvSpPr txBox="1"/>
            <p:nvPr/>
          </p:nvSpPr>
          <p:spPr>
            <a:xfrm>
              <a:off x="5879060" y="2162493"/>
              <a:ext cx="1339751" cy="471755"/>
            </a:xfrm>
            <a:prstGeom prst="flowChartInternalStorage">
              <a:avLst/>
            </a:prstGeom>
            <a:solidFill>
              <a:srgbClr val="FFFF00"/>
            </a:solidFill>
            <a:ln>
              <a:solidFill>
                <a:schemeClr val="tx1"/>
              </a:solidFill>
            </a:ln>
          </p:spPr>
          <p:txBody>
            <a:bodyPr wrap="square" rtlCol="0">
              <a:spAutoFit/>
            </a:bodyPr>
            <a:lstStyle/>
            <a:p>
              <a:pPr algn="ctr"/>
              <a:r>
                <a:rPr lang="en-US" sz="1050" dirty="0"/>
                <a:t>3.Picking/ Serving to Invoicing</a:t>
              </a:r>
            </a:p>
          </p:txBody>
        </p:sp>
        <p:sp>
          <p:nvSpPr>
            <p:cNvPr id="10" name="TextBox 9">
              <a:extLst>
                <a:ext uri="{FF2B5EF4-FFF2-40B4-BE49-F238E27FC236}">
                  <a16:creationId xmlns:a16="http://schemas.microsoft.com/office/drawing/2014/main" id="{57F032FF-851B-BB0B-5395-0A83643D7A97}"/>
                </a:ext>
              </a:extLst>
            </p:cNvPr>
            <p:cNvSpPr txBox="1"/>
            <p:nvPr/>
          </p:nvSpPr>
          <p:spPr>
            <a:xfrm>
              <a:off x="7449507" y="2162492"/>
              <a:ext cx="1015649" cy="471755"/>
            </a:xfrm>
            <a:prstGeom prst="flowChartInternalStorage">
              <a:avLst/>
            </a:prstGeom>
            <a:solidFill>
              <a:srgbClr val="FFFF00"/>
            </a:solidFill>
            <a:ln>
              <a:solidFill>
                <a:schemeClr val="tx1"/>
              </a:solidFill>
            </a:ln>
          </p:spPr>
          <p:txBody>
            <a:bodyPr wrap="square" rtlCol="0">
              <a:spAutoFit/>
            </a:bodyPr>
            <a:lstStyle/>
            <a:p>
              <a:pPr algn="ctr"/>
              <a:r>
                <a:rPr lang="en-US" sz="1050" dirty="0"/>
                <a:t>4.Invoicing to Cash</a:t>
              </a:r>
            </a:p>
          </p:txBody>
        </p:sp>
        <p:sp>
          <p:nvSpPr>
            <p:cNvPr id="11" name="TextBox 10">
              <a:extLst>
                <a:ext uri="{FF2B5EF4-FFF2-40B4-BE49-F238E27FC236}">
                  <a16:creationId xmlns:a16="http://schemas.microsoft.com/office/drawing/2014/main" id="{C59B5FD6-B9A8-1B55-9512-780C0437C239}"/>
                </a:ext>
              </a:extLst>
            </p:cNvPr>
            <p:cNvSpPr txBox="1"/>
            <p:nvPr/>
          </p:nvSpPr>
          <p:spPr>
            <a:xfrm>
              <a:off x="8796027" y="2162884"/>
              <a:ext cx="1015649" cy="471755"/>
            </a:xfrm>
            <a:prstGeom prst="flowChartInternalStorage">
              <a:avLst/>
            </a:prstGeom>
            <a:solidFill>
              <a:srgbClr val="FFFF00"/>
            </a:solidFill>
            <a:ln>
              <a:solidFill>
                <a:schemeClr val="tx1"/>
              </a:solidFill>
            </a:ln>
          </p:spPr>
          <p:txBody>
            <a:bodyPr wrap="square" rtlCol="0">
              <a:spAutoFit/>
            </a:bodyPr>
            <a:lstStyle/>
            <a:p>
              <a:pPr algn="ctr"/>
              <a:r>
                <a:rPr lang="en-US" sz="1050" dirty="0"/>
                <a:t>5.Return to Credit</a:t>
              </a:r>
            </a:p>
          </p:txBody>
        </p:sp>
        <p:sp>
          <p:nvSpPr>
            <p:cNvPr id="12" name="TextBox 11">
              <a:extLst>
                <a:ext uri="{FF2B5EF4-FFF2-40B4-BE49-F238E27FC236}">
                  <a16:creationId xmlns:a16="http://schemas.microsoft.com/office/drawing/2014/main" id="{AA0A5D5D-75F1-69CF-F372-641ECA1F7108}"/>
                </a:ext>
              </a:extLst>
            </p:cNvPr>
            <p:cNvSpPr txBox="1"/>
            <p:nvPr/>
          </p:nvSpPr>
          <p:spPr>
            <a:xfrm>
              <a:off x="3699947" y="4483755"/>
              <a:ext cx="1237577" cy="471755"/>
            </a:xfrm>
            <a:prstGeom prst="flowChartInternalStorage">
              <a:avLst/>
            </a:prstGeom>
            <a:solidFill>
              <a:srgbClr val="FFFF00"/>
            </a:solidFill>
            <a:ln>
              <a:solidFill>
                <a:schemeClr val="tx1"/>
              </a:solidFill>
            </a:ln>
          </p:spPr>
          <p:txBody>
            <a:bodyPr wrap="square" rtlCol="0">
              <a:spAutoFit/>
            </a:bodyPr>
            <a:lstStyle/>
            <a:p>
              <a:pPr algn="ctr"/>
              <a:r>
                <a:rPr lang="en-US" sz="1050" dirty="0"/>
                <a:t>Replenishment Re com. to Pay</a:t>
              </a:r>
            </a:p>
          </p:txBody>
        </p:sp>
        <p:sp>
          <p:nvSpPr>
            <p:cNvPr id="13" name="TextBox 12">
              <a:extLst>
                <a:ext uri="{FF2B5EF4-FFF2-40B4-BE49-F238E27FC236}">
                  <a16:creationId xmlns:a16="http://schemas.microsoft.com/office/drawing/2014/main" id="{AC2EA72D-8410-4BFC-7371-96941DFF8A52}"/>
                </a:ext>
              </a:extLst>
            </p:cNvPr>
            <p:cNvSpPr txBox="1"/>
            <p:nvPr/>
          </p:nvSpPr>
          <p:spPr>
            <a:xfrm>
              <a:off x="5820220" y="4504772"/>
              <a:ext cx="1339537" cy="471755"/>
            </a:xfrm>
            <a:prstGeom prst="flowChartInternalStorage">
              <a:avLst/>
            </a:prstGeom>
            <a:solidFill>
              <a:srgbClr val="FFFF00"/>
            </a:solidFill>
            <a:ln>
              <a:solidFill>
                <a:schemeClr val="tx1"/>
              </a:solidFill>
            </a:ln>
          </p:spPr>
          <p:txBody>
            <a:bodyPr wrap="square" rtlCol="0">
              <a:spAutoFit/>
            </a:bodyPr>
            <a:lstStyle/>
            <a:p>
              <a:pPr algn="ctr"/>
              <a:r>
                <a:rPr lang="en-US" sz="1050" dirty="0"/>
                <a:t>Physical Cycle Count to Update</a:t>
              </a:r>
            </a:p>
          </p:txBody>
        </p:sp>
        <p:sp>
          <p:nvSpPr>
            <p:cNvPr id="14" name="TextBox 13">
              <a:extLst>
                <a:ext uri="{FF2B5EF4-FFF2-40B4-BE49-F238E27FC236}">
                  <a16:creationId xmlns:a16="http://schemas.microsoft.com/office/drawing/2014/main" id="{642EC26B-7F62-2C3A-8555-1EEEB1AA1937}"/>
                </a:ext>
              </a:extLst>
            </p:cNvPr>
            <p:cNvSpPr txBox="1"/>
            <p:nvPr/>
          </p:nvSpPr>
          <p:spPr>
            <a:xfrm>
              <a:off x="8074427" y="4385810"/>
              <a:ext cx="1339537" cy="471755"/>
            </a:xfrm>
            <a:prstGeom prst="flowChartInternalStorage">
              <a:avLst/>
            </a:prstGeom>
            <a:solidFill>
              <a:srgbClr val="FFFF00"/>
            </a:solidFill>
            <a:ln>
              <a:solidFill>
                <a:schemeClr val="tx1"/>
              </a:solidFill>
            </a:ln>
          </p:spPr>
          <p:txBody>
            <a:bodyPr wrap="square" rtlCol="0">
              <a:spAutoFit/>
            </a:bodyPr>
            <a:lstStyle/>
            <a:p>
              <a:pPr algn="ctr"/>
              <a:r>
                <a:rPr lang="en-US" sz="1050" dirty="0"/>
                <a:t>Month end Processing</a:t>
              </a:r>
            </a:p>
          </p:txBody>
        </p:sp>
        <p:cxnSp>
          <p:nvCxnSpPr>
            <p:cNvPr id="19" name="Connector: Elbow 18">
              <a:extLst>
                <a:ext uri="{FF2B5EF4-FFF2-40B4-BE49-F238E27FC236}">
                  <a16:creationId xmlns:a16="http://schemas.microsoft.com/office/drawing/2014/main" id="{6C04CA20-B252-FD12-FA34-EFF4BE96AF2A}"/>
                </a:ext>
              </a:extLst>
            </p:cNvPr>
            <p:cNvCxnSpPr>
              <a:cxnSpLocks/>
              <a:stCxn id="7" idx="2"/>
              <a:endCxn id="4" idx="0"/>
            </p:cNvCxnSpPr>
            <p:nvPr/>
          </p:nvCxnSpPr>
          <p:spPr>
            <a:xfrm rot="5400000">
              <a:off x="4175013" y="2724983"/>
              <a:ext cx="924286" cy="742820"/>
            </a:xfrm>
            <a:prstGeom prst="bentConnector3">
              <a:avLst>
                <a:gd name="adj1" fmla="val 50000"/>
              </a:avLst>
            </a:prstGeom>
            <a:ln w="38100" cmpd="dbl">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43" name="Connector: Elbow 42">
              <a:extLst>
                <a:ext uri="{FF2B5EF4-FFF2-40B4-BE49-F238E27FC236}">
                  <a16:creationId xmlns:a16="http://schemas.microsoft.com/office/drawing/2014/main" id="{C7E3A957-7CC8-0E57-A798-3D8C18051441}"/>
                </a:ext>
              </a:extLst>
            </p:cNvPr>
            <p:cNvCxnSpPr>
              <a:cxnSpLocks/>
              <a:stCxn id="9" idx="2"/>
              <a:endCxn id="4" idx="0"/>
            </p:cNvCxnSpPr>
            <p:nvPr/>
          </p:nvCxnSpPr>
          <p:spPr>
            <a:xfrm rot="5400000">
              <a:off x="4945198" y="1954797"/>
              <a:ext cx="924287" cy="2283190"/>
            </a:xfrm>
            <a:prstGeom prst="bentConnector3">
              <a:avLst>
                <a:gd name="adj1" fmla="val 50000"/>
              </a:avLst>
            </a:prstGeom>
            <a:ln w="38100" cmpd="dbl">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57" name="Connector: Elbow 56">
              <a:extLst>
                <a:ext uri="{FF2B5EF4-FFF2-40B4-BE49-F238E27FC236}">
                  <a16:creationId xmlns:a16="http://schemas.microsoft.com/office/drawing/2014/main" id="{DAD9F0D4-2F75-08AD-8111-C2E8AFA5FDFA}"/>
                </a:ext>
              </a:extLst>
            </p:cNvPr>
            <p:cNvCxnSpPr>
              <a:cxnSpLocks/>
              <a:stCxn id="9" idx="2"/>
              <a:endCxn id="31" idx="0"/>
            </p:cNvCxnSpPr>
            <p:nvPr/>
          </p:nvCxnSpPr>
          <p:spPr>
            <a:xfrm rot="16200000" flipH="1">
              <a:off x="7178065" y="2005118"/>
              <a:ext cx="924287" cy="2182547"/>
            </a:xfrm>
            <a:prstGeom prst="bentConnector3">
              <a:avLst>
                <a:gd name="adj1" fmla="val 50000"/>
              </a:avLst>
            </a:prstGeom>
            <a:ln w="38100" cmpd="dbl">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77" name="Connector: Elbow 76">
              <a:extLst>
                <a:ext uri="{FF2B5EF4-FFF2-40B4-BE49-F238E27FC236}">
                  <a16:creationId xmlns:a16="http://schemas.microsoft.com/office/drawing/2014/main" id="{CD59BCEE-3236-6B1F-9391-0E65D5031B28}"/>
                </a:ext>
              </a:extLst>
            </p:cNvPr>
            <p:cNvCxnSpPr>
              <a:cxnSpLocks/>
              <a:stCxn id="10" idx="2"/>
              <a:endCxn id="31" idx="0"/>
            </p:cNvCxnSpPr>
            <p:nvPr/>
          </p:nvCxnSpPr>
          <p:spPr>
            <a:xfrm rot="16200000" flipH="1">
              <a:off x="7882262" y="2709316"/>
              <a:ext cx="924288" cy="774149"/>
            </a:xfrm>
            <a:prstGeom prst="bentConnector3">
              <a:avLst>
                <a:gd name="adj1" fmla="val 48588"/>
              </a:avLst>
            </a:prstGeom>
            <a:ln w="38100" cmpd="dbl">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92" name="Straight Arrow Connector 91">
              <a:extLst>
                <a:ext uri="{FF2B5EF4-FFF2-40B4-BE49-F238E27FC236}">
                  <a16:creationId xmlns:a16="http://schemas.microsoft.com/office/drawing/2014/main" id="{4F220391-FCA0-D276-615C-331F8F81B411}"/>
                </a:ext>
              </a:extLst>
            </p:cNvPr>
            <p:cNvCxnSpPr>
              <a:cxnSpLocks/>
              <a:stCxn id="6" idx="3"/>
              <a:endCxn id="7" idx="1"/>
            </p:cNvCxnSpPr>
            <p:nvPr/>
          </p:nvCxnSpPr>
          <p:spPr>
            <a:xfrm>
              <a:off x="4167679" y="2398372"/>
              <a:ext cx="171010" cy="0"/>
            </a:xfrm>
            <a:prstGeom prst="straightConnector1">
              <a:avLst/>
            </a:prstGeom>
            <a:ln w="38100" cmpd="dbl">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96" name="Straight Arrow Connector 95">
              <a:extLst>
                <a:ext uri="{FF2B5EF4-FFF2-40B4-BE49-F238E27FC236}">
                  <a16:creationId xmlns:a16="http://schemas.microsoft.com/office/drawing/2014/main" id="{2CDB6DDB-77CD-539D-C549-D2D5C77D9B2A}"/>
                </a:ext>
              </a:extLst>
            </p:cNvPr>
            <p:cNvCxnSpPr>
              <a:cxnSpLocks/>
              <a:stCxn id="7" idx="3"/>
              <a:endCxn id="9" idx="1"/>
            </p:cNvCxnSpPr>
            <p:nvPr/>
          </p:nvCxnSpPr>
          <p:spPr>
            <a:xfrm flipV="1">
              <a:off x="5678440" y="2398371"/>
              <a:ext cx="200619" cy="1"/>
            </a:xfrm>
            <a:prstGeom prst="straightConnector1">
              <a:avLst/>
            </a:prstGeom>
            <a:ln w="38100" cmpd="dbl">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99" name="Straight Arrow Connector 98">
              <a:extLst>
                <a:ext uri="{FF2B5EF4-FFF2-40B4-BE49-F238E27FC236}">
                  <a16:creationId xmlns:a16="http://schemas.microsoft.com/office/drawing/2014/main" id="{6D438D13-1ECD-B757-E58A-C08E2FABB0C4}"/>
                </a:ext>
              </a:extLst>
            </p:cNvPr>
            <p:cNvCxnSpPr>
              <a:cxnSpLocks/>
              <a:stCxn id="9" idx="3"/>
              <a:endCxn id="10" idx="1"/>
            </p:cNvCxnSpPr>
            <p:nvPr/>
          </p:nvCxnSpPr>
          <p:spPr>
            <a:xfrm flipV="1">
              <a:off x="7218810" y="2398370"/>
              <a:ext cx="230696" cy="1"/>
            </a:xfrm>
            <a:prstGeom prst="straightConnector1">
              <a:avLst/>
            </a:prstGeom>
            <a:ln w="38100" cmpd="dbl">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02" name="Straight Arrow Connector 101">
              <a:extLst>
                <a:ext uri="{FF2B5EF4-FFF2-40B4-BE49-F238E27FC236}">
                  <a16:creationId xmlns:a16="http://schemas.microsoft.com/office/drawing/2014/main" id="{A1F48C98-92AE-3E16-2D8A-573FC9763A00}"/>
                </a:ext>
              </a:extLst>
            </p:cNvPr>
            <p:cNvCxnSpPr>
              <a:cxnSpLocks/>
              <a:stCxn id="10" idx="3"/>
              <a:endCxn id="11" idx="1"/>
            </p:cNvCxnSpPr>
            <p:nvPr/>
          </p:nvCxnSpPr>
          <p:spPr>
            <a:xfrm>
              <a:off x="8465156" y="2398370"/>
              <a:ext cx="330871" cy="392"/>
            </a:xfrm>
            <a:prstGeom prst="straightConnector1">
              <a:avLst/>
            </a:prstGeom>
            <a:ln w="38100" cmpd="dbl">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4" name="Flowchart: Or 3">
              <a:extLst>
                <a:ext uri="{FF2B5EF4-FFF2-40B4-BE49-F238E27FC236}">
                  <a16:creationId xmlns:a16="http://schemas.microsoft.com/office/drawing/2014/main" id="{CF5F4D7A-0626-7ECA-B571-E9ED54D6AB44}"/>
                </a:ext>
              </a:extLst>
            </p:cNvPr>
            <p:cNvSpPr/>
            <p:nvPr/>
          </p:nvSpPr>
          <p:spPr>
            <a:xfrm>
              <a:off x="4192801" y="3558535"/>
              <a:ext cx="145888" cy="127099"/>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30" name="Flowchart: Or 29">
              <a:extLst>
                <a:ext uri="{FF2B5EF4-FFF2-40B4-BE49-F238E27FC236}">
                  <a16:creationId xmlns:a16="http://schemas.microsoft.com/office/drawing/2014/main" id="{EC7D781A-E01C-C640-AF6A-65C7E5F18E9A}"/>
                </a:ext>
              </a:extLst>
            </p:cNvPr>
            <p:cNvSpPr/>
            <p:nvPr/>
          </p:nvSpPr>
          <p:spPr>
            <a:xfrm>
              <a:off x="6482833" y="3558535"/>
              <a:ext cx="145888" cy="127099"/>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31" name="Flowchart: Or 30">
              <a:extLst>
                <a:ext uri="{FF2B5EF4-FFF2-40B4-BE49-F238E27FC236}">
                  <a16:creationId xmlns:a16="http://schemas.microsoft.com/office/drawing/2014/main" id="{7774CC16-0D9C-181B-C808-4447CC0891AC}"/>
                </a:ext>
              </a:extLst>
            </p:cNvPr>
            <p:cNvSpPr/>
            <p:nvPr/>
          </p:nvSpPr>
          <p:spPr>
            <a:xfrm>
              <a:off x="8658537" y="3558535"/>
              <a:ext cx="145888" cy="127099"/>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4" name="Straight Arrow Connector 43">
              <a:extLst>
                <a:ext uri="{FF2B5EF4-FFF2-40B4-BE49-F238E27FC236}">
                  <a16:creationId xmlns:a16="http://schemas.microsoft.com/office/drawing/2014/main" id="{95AC9BAE-AAA1-4FD9-D48F-BF4890C1891A}"/>
                </a:ext>
              </a:extLst>
            </p:cNvPr>
            <p:cNvCxnSpPr>
              <a:cxnSpLocks/>
              <a:stCxn id="4" idx="4"/>
              <a:endCxn id="16" idx="0"/>
            </p:cNvCxnSpPr>
            <p:nvPr/>
          </p:nvCxnSpPr>
          <p:spPr>
            <a:xfrm>
              <a:off x="4265745" y="3685634"/>
              <a:ext cx="5648" cy="333951"/>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E678BC69-7C9F-EBA9-5B82-2DB47F0A2D37}"/>
                </a:ext>
              </a:extLst>
            </p:cNvPr>
            <p:cNvCxnSpPr>
              <a:cxnSpLocks/>
              <a:stCxn id="30" idx="4"/>
              <a:endCxn id="17" idx="0"/>
            </p:cNvCxnSpPr>
            <p:nvPr/>
          </p:nvCxnSpPr>
          <p:spPr>
            <a:xfrm>
              <a:off x="6555777" y="3685634"/>
              <a:ext cx="5953" cy="325061"/>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773DE5B3-ADA7-451E-B9A2-124087B0A1CD}"/>
                </a:ext>
              </a:extLst>
            </p:cNvPr>
            <p:cNvCxnSpPr>
              <a:cxnSpLocks/>
              <a:stCxn id="31" idx="4"/>
              <a:endCxn id="18" idx="0"/>
            </p:cNvCxnSpPr>
            <p:nvPr/>
          </p:nvCxnSpPr>
          <p:spPr>
            <a:xfrm>
              <a:off x="8731481" y="3685634"/>
              <a:ext cx="16135" cy="317347"/>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a:extLst>
                <a:ext uri="{FF2B5EF4-FFF2-40B4-BE49-F238E27FC236}">
                  <a16:creationId xmlns:a16="http://schemas.microsoft.com/office/drawing/2014/main" id="{7153DD68-FC69-D716-5BA0-43FE1E4F47FA}"/>
                </a:ext>
              </a:extLst>
            </p:cNvPr>
            <p:cNvCxnSpPr>
              <a:cxnSpLocks/>
              <a:stCxn id="9" idx="2"/>
              <a:endCxn id="30" idx="0"/>
            </p:cNvCxnSpPr>
            <p:nvPr/>
          </p:nvCxnSpPr>
          <p:spPr>
            <a:xfrm>
              <a:off x="6548935" y="2634248"/>
              <a:ext cx="6842" cy="924287"/>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
        <p:nvSpPr>
          <p:cNvPr id="68" name="Parlance">
            <a:extLst>
              <a:ext uri="{FF2B5EF4-FFF2-40B4-BE49-F238E27FC236}">
                <a16:creationId xmlns:a16="http://schemas.microsoft.com/office/drawing/2014/main" id="{B9B76DB0-4CF9-4923-00C7-7A01803034F1}"/>
              </a:ext>
            </a:extLst>
          </p:cNvPr>
          <p:cNvSpPr txBox="1"/>
          <p:nvPr/>
        </p:nvSpPr>
        <p:spPr>
          <a:xfrm>
            <a:off x="1835315" y="745372"/>
            <a:ext cx="8906605" cy="246221"/>
          </a:xfrm>
          <a:prstGeom prst="rect">
            <a:avLst/>
          </a:prstGeom>
          <a:noFill/>
        </p:spPr>
        <p:txBody>
          <a:bodyPr wrap="none" rtlCol="0">
            <a:spAutoFit/>
          </a:bodyPr>
          <a:lstStyle/>
          <a:p>
            <a:r>
              <a:rPr lang="en-US" sz="1000" dirty="0">
                <a:solidFill>
                  <a:schemeClr val="bg1"/>
                </a:solidFill>
              </a:rPr>
              <a:t>The creator of this slide  appreciates the Infor System’s  Process Intelligence which became the basis for process creation and verification and finally the training System</a:t>
            </a:r>
          </a:p>
        </p:txBody>
      </p:sp>
      <p:sp>
        <p:nvSpPr>
          <p:cNvPr id="8" name="-S003. Pictoral Service to Cash Work Flow">
            <a:extLst>
              <a:ext uri="{FF2B5EF4-FFF2-40B4-BE49-F238E27FC236}">
                <a16:creationId xmlns:a16="http://schemas.microsoft.com/office/drawing/2014/main" id="{3D895848-08E7-4F21-F1D5-A21018F31E7F}"/>
              </a:ext>
            </a:extLst>
          </p:cNvPr>
          <p:cNvSpPr txBox="1">
            <a:spLocks/>
          </p:cNvSpPr>
          <p:nvPr/>
        </p:nvSpPr>
        <p:spPr>
          <a:xfrm>
            <a:off x="838198" y="162630"/>
            <a:ext cx="10515600" cy="261407"/>
          </a:xfrm>
          <a:prstGeom prst="rect">
            <a:avLst/>
          </a:prstGeom>
        </p:spPr>
        <p:txBody>
          <a:bodyPr>
            <a:noAutofit/>
          </a:bodyPr>
          <a:lstStyle>
            <a:lvl1pPr algn="l" defTabSz="914400" rtl="0" eaLnBrk="1" latinLnBrk="0" hangingPunct="1">
              <a:lnSpc>
                <a:spcPct val="90000"/>
              </a:lnSpc>
              <a:spcBef>
                <a:spcPct val="0"/>
              </a:spcBef>
              <a:buNone/>
              <a:defRPr sz="2400" kern="1200">
                <a:solidFill>
                  <a:schemeClr val="tx1"/>
                </a:solidFill>
                <a:latin typeface="+mj-lt"/>
                <a:ea typeface="+mj-ea"/>
                <a:cs typeface="+mj-cs"/>
              </a:defRPr>
            </a:lvl1pPr>
          </a:lstStyle>
          <a:p>
            <a:pPr algn="ctr"/>
            <a:r>
              <a:rPr lang="en-US" sz="1400" b="1" dirty="0"/>
              <a:t>S003. Pictorial representation of  Quote/ Service Request  to Cash similar to Quote  to Cash   - At PPS Service</a:t>
            </a:r>
          </a:p>
        </p:txBody>
      </p:sp>
    </p:spTree>
    <p:extLst>
      <p:ext uri="{BB962C8B-B14F-4D97-AF65-F5344CB8AC3E}">
        <p14:creationId xmlns:p14="http://schemas.microsoft.com/office/powerpoint/2010/main" val="31464429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2BAEEC-1F2E-8DFF-13B7-FBAE34B97712}"/>
            </a:ext>
          </a:extLst>
        </p:cNvPr>
        <p:cNvGrpSpPr/>
        <p:nvPr/>
      </p:nvGrpSpPr>
      <p:grpSpPr>
        <a:xfrm>
          <a:off x="0" y="0"/>
          <a:ext cx="0" cy="0"/>
          <a:chOff x="0" y="0"/>
          <a:chExt cx="0" cy="0"/>
        </a:xfrm>
      </p:grpSpPr>
      <p:sp>
        <p:nvSpPr>
          <p:cNvPr id="18" name="TextBox 17">
            <a:extLst>
              <a:ext uri="{FF2B5EF4-FFF2-40B4-BE49-F238E27FC236}">
                <a16:creationId xmlns:a16="http://schemas.microsoft.com/office/drawing/2014/main" id="{432D3AF6-8347-0097-D160-CC79F647F3F8}"/>
              </a:ext>
            </a:extLst>
          </p:cNvPr>
          <p:cNvSpPr txBox="1"/>
          <p:nvPr/>
        </p:nvSpPr>
        <p:spPr>
          <a:xfrm>
            <a:off x="135429" y="5872043"/>
            <a:ext cx="994285" cy="461665"/>
          </a:xfrm>
          <a:prstGeom prst="rect">
            <a:avLst/>
          </a:prstGeom>
          <a:noFill/>
        </p:spPr>
        <p:txBody>
          <a:bodyPr wrap="square" rtlCol="0">
            <a:spAutoFit/>
          </a:bodyPr>
          <a:lstStyle/>
          <a:p>
            <a:r>
              <a:rPr lang="en-US" sz="800" dirty="0"/>
              <a:t>Base Created by TS VM TSD KC and BW  06 09 2025 </a:t>
            </a:r>
          </a:p>
        </p:txBody>
      </p:sp>
      <p:sp>
        <p:nvSpPr>
          <p:cNvPr id="23" name="TextBox 22">
            <a:extLst>
              <a:ext uri="{FF2B5EF4-FFF2-40B4-BE49-F238E27FC236}">
                <a16:creationId xmlns:a16="http://schemas.microsoft.com/office/drawing/2014/main" id="{21DB4962-CCB1-63C4-A44E-C5BA45DBD93A}"/>
              </a:ext>
            </a:extLst>
          </p:cNvPr>
          <p:cNvSpPr txBox="1"/>
          <p:nvPr/>
        </p:nvSpPr>
        <p:spPr>
          <a:xfrm>
            <a:off x="124769" y="6361250"/>
            <a:ext cx="994285" cy="461665"/>
          </a:xfrm>
          <a:prstGeom prst="rect">
            <a:avLst/>
          </a:prstGeom>
          <a:noFill/>
        </p:spPr>
        <p:txBody>
          <a:bodyPr wrap="square" rtlCol="0">
            <a:spAutoFit/>
          </a:bodyPr>
          <a:lstStyle/>
          <a:p>
            <a:r>
              <a:rPr lang="en-US" sz="800" dirty="0"/>
              <a:t>Train Slide updated by TS VM SR TD MS</a:t>
            </a:r>
          </a:p>
          <a:p>
            <a:r>
              <a:rPr lang="en-US" sz="800" dirty="0"/>
              <a:t> 25 12 23  1120</a:t>
            </a:r>
          </a:p>
        </p:txBody>
      </p:sp>
      <p:sp>
        <p:nvSpPr>
          <p:cNvPr id="38" name="Rectangle 37">
            <a:extLst>
              <a:ext uri="{FF2B5EF4-FFF2-40B4-BE49-F238E27FC236}">
                <a16:creationId xmlns:a16="http://schemas.microsoft.com/office/drawing/2014/main" id="{F342C44E-7092-9672-3D52-C210F03528AA}"/>
              </a:ext>
            </a:extLst>
          </p:cNvPr>
          <p:cNvSpPr/>
          <p:nvPr/>
        </p:nvSpPr>
        <p:spPr>
          <a:xfrm>
            <a:off x="3388789" y="438332"/>
            <a:ext cx="5155275" cy="236348"/>
          </a:xfrm>
          <a:prstGeom prst="rect">
            <a:avLst/>
          </a:prstGeom>
          <a:solidFill>
            <a:schemeClr val="accent4">
              <a:lumMod val="20000"/>
              <a:lumOff val="80000"/>
              <a:alpha val="3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sz="1400" b="1" dirty="0">
                <a:solidFill>
                  <a:schemeClr val="accent1">
                    <a:lumMod val="50000"/>
                  </a:schemeClr>
                </a:solidFill>
              </a:rPr>
              <a:t>Process Being Presented</a:t>
            </a:r>
          </a:p>
        </p:txBody>
      </p:sp>
      <p:sp>
        <p:nvSpPr>
          <p:cNvPr id="45" name="TextBox 44">
            <a:extLst>
              <a:ext uri="{FF2B5EF4-FFF2-40B4-BE49-F238E27FC236}">
                <a16:creationId xmlns:a16="http://schemas.microsoft.com/office/drawing/2014/main" id="{693227D3-AA2E-371C-EB56-3A080384EF87}"/>
              </a:ext>
            </a:extLst>
          </p:cNvPr>
          <p:cNvSpPr txBox="1"/>
          <p:nvPr/>
        </p:nvSpPr>
        <p:spPr>
          <a:xfrm>
            <a:off x="1597397" y="5972202"/>
            <a:ext cx="1015649" cy="471755"/>
          </a:xfrm>
          <a:prstGeom prst="flowChartInternalStorage">
            <a:avLst/>
          </a:prstGeom>
          <a:solidFill>
            <a:srgbClr val="FFFF00"/>
          </a:solidFill>
          <a:ln>
            <a:solidFill>
              <a:schemeClr val="tx1"/>
            </a:solidFill>
          </a:ln>
        </p:spPr>
        <p:txBody>
          <a:bodyPr wrap="square" rtlCol="0">
            <a:spAutoFit/>
          </a:bodyPr>
          <a:lstStyle/>
          <a:p>
            <a:pPr algn="ctr"/>
            <a:r>
              <a:rPr lang="en-US" sz="1050" b="1" dirty="0"/>
              <a:t>Represents a Sub SOP</a:t>
            </a:r>
          </a:p>
        </p:txBody>
      </p:sp>
      <p:sp>
        <p:nvSpPr>
          <p:cNvPr id="50" name="TextBox 49">
            <a:extLst>
              <a:ext uri="{FF2B5EF4-FFF2-40B4-BE49-F238E27FC236}">
                <a16:creationId xmlns:a16="http://schemas.microsoft.com/office/drawing/2014/main" id="{C7463970-846D-9CE1-CD4A-56191746C19D}"/>
              </a:ext>
            </a:extLst>
          </p:cNvPr>
          <p:cNvSpPr txBox="1"/>
          <p:nvPr/>
        </p:nvSpPr>
        <p:spPr>
          <a:xfrm>
            <a:off x="4362280" y="5764453"/>
            <a:ext cx="4173546" cy="415498"/>
          </a:xfrm>
          <a:prstGeom prst="rect">
            <a:avLst/>
          </a:prstGeom>
          <a:noFill/>
        </p:spPr>
        <p:txBody>
          <a:bodyPr wrap="square" rtlCol="0">
            <a:spAutoFit/>
          </a:bodyPr>
          <a:lstStyle/>
          <a:p>
            <a:r>
              <a:rPr lang="en-US" sz="1050" dirty="0"/>
              <a:t>Normally this would fall under the preview of an Operation Procedure Manual or OPM  since it call on a SOP it is treated as a SOP </a:t>
            </a:r>
          </a:p>
        </p:txBody>
      </p:sp>
      <p:sp>
        <p:nvSpPr>
          <p:cNvPr id="52" name="Rectangle 51">
            <a:extLst>
              <a:ext uri="{FF2B5EF4-FFF2-40B4-BE49-F238E27FC236}">
                <a16:creationId xmlns:a16="http://schemas.microsoft.com/office/drawing/2014/main" id="{D317E8B3-8EF2-2A67-3F7E-B8351A63CEB4}"/>
              </a:ext>
            </a:extLst>
          </p:cNvPr>
          <p:cNvSpPr/>
          <p:nvPr/>
        </p:nvSpPr>
        <p:spPr>
          <a:xfrm>
            <a:off x="1275588" y="2336858"/>
            <a:ext cx="1641715" cy="643170"/>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S1 Contract is created using a template and a Line/SN is added</a:t>
            </a:r>
          </a:p>
        </p:txBody>
      </p:sp>
      <p:cxnSp>
        <p:nvCxnSpPr>
          <p:cNvPr id="54" name="Connector: Elbow 28">
            <a:extLst>
              <a:ext uri="{FF2B5EF4-FFF2-40B4-BE49-F238E27FC236}">
                <a16:creationId xmlns:a16="http://schemas.microsoft.com/office/drawing/2014/main" id="{6A05EFB7-9018-31D4-9E0E-D82086C91CF9}"/>
              </a:ext>
            </a:extLst>
          </p:cNvPr>
          <p:cNvCxnSpPr>
            <a:cxnSpLocks/>
            <a:stCxn id="52" idx="3"/>
            <a:endCxn id="56" idx="1"/>
          </p:cNvCxnSpPr>
          <p:nvPr/>
        </p:nvCxnSpPr>
        <p:spPr>
          <a:xfrm>
            <a:off x="2917303" y="2658443"/>
            <a:ext cx="568085" cy="0"/>
          </a:xfrm>
          <a:prstGeom prst="straightConnector1">
            <a:avLst/>
          </a:prstGeom>
          <a:ln w="381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56" name="Rectangle 55">
            <a:extLst>
              <a:ext uri="{FF2B5EF4-FFF2-40B4-BE49-F238E27FC236}">
                <a16:creationId xmlns:a16="http://schemas.microsoft.com/office/drawing/2014/main" id="{9CD98BA2-0012-3A40-9A4A-2134713F5FD6}"/>
              </a:ext>
            </a:extLst>
          </p:cNvPr>
          <p:cNvSpPr/>
          <p:nvPr/>
        </p:nvSpPr>
        <p:spPr>
          <a:xfrm>
            <a:off x="3485388" y="2336858"/>
            <a:ext cx="2097391" cy="643170"/>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S2. Contract Maintenance schedule is filled out. Using the first day of what month service is requested</a:t>
            </a:r>
          </a:p>
        </p:txBody>
      </p:sp>
      <p:sp>
        <p:nvSpPr>
          <p:cNvPr id="57" name="Rectangle 56">
            <a:extLst>
              <a:ext uri="{FF2B5EF4-FFF2-40B4-BE49-F238E27FC236}">
                <a16:creationId xmlns:a16="http://schemas.microsoft.com/office/drawing/2014/main" id="{29485E4D-DB90-5E74-2104-D9644DF5FAFE}"/>
              </a:ext>
            </a:extLst>
          </p:cNvPr>
          <p:cNvSpPr/>
          <p:nvPr/>
        </p:nvSpPr>
        <p:spPr>
          <a:xfrm>
            <a:off x="6096000" y="2336858"/>
            <a:ext cx="1155559" cy="643170"/>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S3. Fixed billing total is entered</a:t>
            </a:r>
          </a:p>
        </p:txBody>
      </p:sp>
      <p:cxnSp>
        <p:nvCxnSpPr>
          <p:cNvPr id="60" name="Connector: Elbow 28">
            <a:extLst>
              <a:ext uri="{FF2B5EF4-FFF2-40B4-BE49-F238E27FC236}">
                <a16:creationId xmlns:a16="http://schemas.microsoft.com/office/drawing/2014/main" id="{38DB3EFF-025D-6E41-C22E-24877544FA88}"/>
              </a:ext>
            </a:extLst>
          </p:cNvPr>
          <p:cNvCxnSpPr>
            <a:cxnSpLocks/>
            <a:stCxn id="56" idx="3"/>
            <a:endCxn id="57" idx="1"/>
          </p:cNvCxnSpPr>
          <p:nvPr/>
        </p:nvCxnSpPr>
        <p:spPr>
          <a:xfrm>
            <a:off x="5582779" y="2658443"/>
            <a:ext cx="513221" cy="0"/>
          </a:xfrm>
          <a:prstGeom prst="straightConnector1">
            <a:avLst/>
          </a:prstGeom>
          <a:ln w="381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62" name="Rectangle 61">
            <a:extLst>
              <a:ext uri="{FF2B5EF4-FFF2-40B4-BE49-F238E27FC236}">
                <a16:creationId xmlns:a16="http://schemas.microsoft.com/office/drawing/2014/main" id="{CA548CBE-714A-AC01-F240-8BFD281F34C6}"/>
              </a:ext>
            </a:extLst>
          </p:cNvPr>
          <p:cNvSpPr/>
          <p:nvPr/>
        </p:nvSpPr>
        <p:spPr>
          <a:xfrm>
            <a:off x="7775448" y="2336858"/>
            <a:ext cx="1263763" cy="643170"/>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S4. Contract SRO generator utility is run in the middle of each month </a:t>
            </a:r>
          </a:p>
        </p:txBody>
      </p:sp>
      <p:sp>
        <p:nvSpPr>
          <p:cNvPr id="63" name="Rectangle 62">
            <a:extLst>
              <a:ext uri="{FF2B5EF4-FFF2-40B4-BE49-F238E27FC236}">
                <a16:creationId xmlns:a16="http://schemas.microsoft.com/office/drawing/2014/main" id="{8B609459-6D92-A614-B39E-C01A7A6EC881}"/>
              </a:ext>
            </a:extLst>
          </p:cNvPr>
          <p:cNvSpPr/>
          <p:nvPr/>
        </p:nvSpPr>
        <p:spPr>
          <a:xfrm>
            <a:off x="9519271" y="2336858"/>
            <a:ext cx="1397141" cy="643170"/>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S5. SRO is generated for all required PMA services in the next month</a:t>
            </a:r>
          </a:p>
        </p:txBody>
      </p:sp>
      <p:sp>
        <p:nvSpPr>
          <p:cNvPr id="65" name="Flowchart: Internal Storage 64">
            <a:extLst>
              <a:ext uri="{FF2B5EF4-FFF2-40B4-BE49-F238E27FC236}">
                <a16:creationId xmlns:a16="http://schemas.microsoft.com/office/drawing/2014/main" id="{842F76C1-605E-C783-BFE3-E4459F3E40A2}"/>
              </a:ext>
            </a:extLst>
          </p:cNvPr>
          <p:cNvSpPr/>
          <p:nvPr/>
        </p:nvSpPr>
        <p:spPr>
          <a:xfrm>
            <a:off x="4849183" y="3729070"/>
            <a:ext cx="2010726" cy="643170"/>
          </a:xfrm>
          <a:prstGeom prst="flowChartInternalStorage">
            <a:avLst/>
          </a:prstGeom>
          <a:solidFill>
            <a:srgbClr val="FFFF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S6. See Service Order Process starting from Schedule </a:t>
            </a:r>
          </a:p>
        </p:txBody>
      </p:sp>
      <p:cxnSp>
        <p:nvCxnSpPr>
          <p:cNvPr id="67" name="Connector: Elbow 28">
            <a:extLst>
              <a:ext uri="{FF2B5EF4-FFF2-40B4-BE49-F238E27FC236}">
                <a16:creationId xmlns:a16="http://schemas.microsoft.com/office/drawing/2014/main" id="{2500267A-85C4-2704-E35F-D5EE555CA9D4}"/>
              </a:ext>
            </a:extLst>
          </p:cNvPr>
          <p:cNvCxnSpPr>
            <a:cxnSpLocks/>
            <a:stCxn id="57" idx="3"/>
            <a:endCxn id="62" idx="1"/>
          </p:cNvCxnSpPr>
          <p:nvPr/>
        </p:nvCxnSpPr>
        <p:spPr>
          <a:xfrm>
            <a:off x="7251559" y="2658443"/>
            <a:ext cx="523889" cy="0"/>
          </a:xfrm>
          <a:prstGeom prst="straightConnector1">
            <a:avLst/>
          </a:prstGeom>
          <a:ln w="381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68" name="Connector: Elbow 28">
            <a:extLst>
              <a:ext uri="{FF2B5EF4-FFF2-40B4-BE49-F238E27FC236}">
                <a16:creationId xmlns:a16="http://schemas.microsoft.com/office/drawing/2014/main" id="{CE0F1F37-0137-E389-989C-A54140D26AB7}"/>
              </a:ext>
            </a:extLst>
          </p:cNvPr>
          <p:cNvCxnSpPr>
            <a:cxnSpLocks/>
            <a:stCxn id="62" idx="3"/>
            <a:endCxn id="63" idx="1"/>
          </p:cNvCxnSpPr>
          <p:nvPr/>
        </p:nvCxnSpPr>
        <p:spPr>
          <a:xfrm>
            <a:off x="9039211" y="2658443"/>
            <a:ext cx="480060" cy="0"/>
          </a:xfrm>
          <a:prstGeom prst="straightConnector1">
            <a:avLst/>
          </a:prstGeom>
          <a:ln w="381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69" name="Connector: Elbow 28">
            <a:extLst>
              <a:ext uri="{FF2B5EF4-FFF2-40B4-BE49-F238E27FC236}">
                <a16:creationId xmlns:a16="http://schemas.microsoft.com/office/drawing/2014/main" id="{8F39E30D-D1C1-426E-50C3-D0AC4BDF5FE9}"/>
              </a:ext>
            </a:extLst>
          </p:cNvPr>
          <p:cNvCxnSpPr>
            <a:cxnSpLocks/>
            <a:stCxn id="63" idx="2"/>
            <a:endCxn id="65" idx="0"/>
          </p:cNvCxnSpPr>
          <p:nvPr/>
        </p:nvCxnSpPr>
        <p:spPr>
          <a:xfrm rot="5400000">
            <a:off x="7661673" y="1172901"/>
            <a:ext cx="749042" cy="4363296"/>
          </a:xfrm>
          <a:prstGeom prst="bentConnector3">
            <a:avLst>
              <a:gd name="adj1" fmla="val 50000"/>
            </a:avLst>
          </a:prstGeom>
          <a:ln w="381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70" name="Flowchart: Document 69">
            <a:extLst>
              <a:ext uri="{FF2B5EF4-FFF2-40B4-BE49-F238E27FC236}">
                <a16:creationId xmlns:a16="http://schemas.microsoft.com/office/drawing/2014/main" id="{E6DF0C6D-8DAD-AD8C-B8EF-FBE1CE26DB9C}"/>
              </a:ext>
            </a:extLst>
          </p:cNvPr>
          <p:cNvSpPr/>
          <p:nvPr/>
        </p:nvSpPr>
        <p:spPr>
          <a:xfrm>
            <a:off x="549402" y="1006795"/>
            <a:ext cx="1641714" cy="862354"/>
          </a:xfrm>
          <a:prstGeom prst="flowChartDocumen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Our PMA Sales staff contacts the customer or a recently installed generator customer calls us on the suggestion of the Technician</a:t>
            </a:r>
          </a:p>
        </p:txBody>
      </p:sp>
      <p:sp>
        <p:nvSpPr>
          <p:cNvPr id="3" name="Parlance">
            <a:extLst>
              <a:ext uri="{FF2B5EF4-FFF2-40B4-BE49-F238E27FC236}">
                <a16:creationId xmlns:a16="http://schemas.microsoft.com/office/drawing/2014/main" id="{F74373C8-D302-EB0D-22D6-F465A64BA301}"/>
              </a:ext>
            </a:extLst>
          </p:cNvPr>
          <p:cNvSpPr txBox="1"/>
          <p:nvPr/>
        </p:nvSpPr>
        <p:spPr>
          <a:xfrm>
            <a:off x="1401244" y="629044"/>
            <a:ext cx="8906605" cy="246221"/>
          </a:xfrm>
          <a:prstGeom prst="rect">
            <a:avLst/>
          </a:prstGeom>
          <a:noFill/>
        </p:spPr>
        <p:txBody>
          <a:bodyPr wrap="none" rtlCol="0">
            <a:spAutoFit/>
          </a:bodyPr>
          <a:lstStyle/>
          <a:p>
            <a:r>
              <a:rPr lang="en-US" sz="1000" dirty="0">
                <a:solidFill>
                  <a:schemeClr val="bg1"/>
                </a:solidFill>
              </a:rPr>
              <a:t>The creator of this slide  appreciates the Infor System’s  Process Intelligence which became the basis for process creation and verification and finally the training System</a:t>
            </a:r>
          </a:p>
        </p:txBody>
      </p:sp>
      <p:cxnSp>
        <p:nvCxnSpPr>
          <p:cNvPr id="71" name="Connector: Elbow 28">
            <a:extLst>
              <a:ext uri="{FF2B5EF4-FFF2-40B4-BE49-F238E27FC236}">
                <a16:creationId xmlns:a16="http://schemas.microsoft.com/office/drawing/2014/main" id="{56152E86-4173-08D1-149A-872286CE9FBA}"/>
              </a:ext>
            </a:extLst>
          </p:cNvPr>
          <p:cNvCxnSpPr>
            <a:cxnSpLocks/>
            <a:stCxn id="70" idx="2"/>
            <a:endCxn id="52" idx="0"/>
          </p:cNvCxnSpPr>
          <p:nvPr/>
        </p:nvCxnSpPr>
        <p:spPr>
          <a:xfrm rot="16200000" flipH="1">
            <a:off x="1470992" y="1711404"/>
            <a:ext cx="524720" cy="726187"/>
          </a:xfrm>
          <a:prstGeom prst="bentConnector3">
            <a:avLst>
              <a:gd name="adj1" fmla="val 50000"/>
            </a:avLst>
          </a:prstGeom>
          <a:ln w="381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2" name="-M1. PMA SOP  master at Palco">
            <a:extLst>
              <a:ext uri="{FF2B5EF4-FFF2-40B4-BE49-F238E27FC236}">
                <a16:creationId xmlns:a16="http://schemas.microsoft.com/office/drawing/2014/main" id="{93CFC48F-7F5B-EDDB-0BF8-42EDFA6554A0}"/>
              </a:ext>
            </a:extLst>
          </p:cNvPr>
          <p:cNvSpPr>
            <a:spLocks noGrp="1"/>
          </p:cNvSpPr>
          <p:nvPr>
            <p:ph type="title"/>
          </p:nvPr>
        </p:nvSpPr>
        <p:spPr>
          <a:xfrm>
            <a:off x="726132" y="122387"/>
            <a:ext cx="10515600" cy="399216"/>
          </a:xfrm>
        </p:spPr>
        <p:txBody>
          <a:bodyPr>
            <a:noAutofit/>
          </a:bodyPr>
          <a:lstStyle/>
          <a:p>
            <a:pPr algn="ctr"/>
            <a:r>
              <a:rPr lang="en-US" sz="1800" b="1" dirty="0"/>
              <a:t>M1. PMA SOP  - PPS Service Rental</a:t>
            </a:r>
          </a:p>
        </p:txBody>
      </p:sp>
    </p:spTree>
    <p:extLst>
      <p:ext uri="{BB962C8B-B14F-4D97-AF65-F5344CB8AC3E}">
        <p14:creationId xmlns:p14="http://schemas.microsoft.com/office/powerpoint/2010/main" val="25632030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18E534-3B5F-F910-950F-9C2FF4C91893}"/>
            </a:ext>
          </a:extLst>
        </p:cNvPr>
        <p:cNvGrpSpPr/>
        <p:nvPr/>
      </p:nvGrpSpPr>
      <p:grpSpPr>
        <a:xfrm>
          <a:off x="0" y="0"/>
          <a:ext cx="0" cy="0"/>
          <a:chOff x="0" y="0"/>
          <a:chExt cx="0" cy="0"/>
        </a:xfrm>
      </p:grpSpPr>
      <p:sp>
        <p:nvSpPr>
          <p:cNvPr id="18" name="TextBox 17">
            <a:extLst>
              <a:ext uri="{FF2B5EF4-FFF2-40B4-BE49-F238E27FC236}">
                <a16:creationId xmlns:a16="http://schemas.microsoft.com/office/drawing/2014/main" id="{98795014-790C-1544-8A06-A282AAE69182}"/>
              </a:ext>
            </a:extLst>
          </p:cNvPr>
          <p:cNvSpPr txBox="1"/>
          <p:nvPr/>
        </p:nvSpPr>
        <p:spPr>
          <a:xfrm>
            <a:off x="135429" y="5872043"/>
            <a:ext cx="994285" cy="461665"/>
          </a:xfrm>
          <a:prstGeom prst="rect">
            <a:avLst/>
          </a:prstGeom>
          <a:noFill/>
        </p:spPr>
        <p:txBody>
          <a:bodyPr wrap="square" rtlCol="0">
            <a:spAutoFit/>
          </a:bodyPr>
          <a:lstStyle/>
          <a:p>
            <a:r>
              <a:rPr lang="en-US" sz="800" dirty="0"/>
              <a:t>Base Created by TS VM TSD KC and BW  06 09 2025 </a:t>
            </a:r>
          </a:p>
        </p:txBody>
      </p:sp>
      <p:sp>
        <p:nvSpPr>
          <p:cNvPr id="23" name="TextBox 22">
            <a:extLst>
              <a:ext uri="{FF2B5EF4-FFF2-40B4-BE49-F238E27FC236}">
                <a16:creationId xmlns:a16="http://schemas.microsoft.com/office/drawing/2014/main" id="{DCD3D846-7EBB-DC3D-1810-E9BABB126AE8}"/>
              </a:ext>
            </a:extLst>
          </p:cNvPr>
          <p:cNvSpPr txBox="1"/>
          <p:nvPr/>
        </p:nvSpPr>
        <p:spPr>
          <a:xfrm>
            <a:off x="124769" y="6361250"/>
            <a:ext cx="994285" cy="461665"/>
          </a:xfrm>
          <a:prstGeom prst="rect">
            <a:avLst/>
          </a:prstGeom>
          <a:noFill/>
        </p:spPr>
        <p:txBody>
          <a:bodyPr wrap="square" rtlCol="0">
            <a:spAutoFit/>
          </a:bodyPr>
          <a:lstStyle/>
          <a:p>
            <a:r>
              <a:rPr lang="en-US" sz="800" dirty="0"/>
              <a:t>Train Slide updated by TS VM SR TD MS</a:t>
            </a:r>
          </a:p>
          <a:p>
            <a:r>
              <a:rPr lang="en-US" sz="800" dirty="0"/>
              <a:t> 25 12 23  1120</a:t>
            </a:r>
          </a:p>
        </p:txBody>
      </p:sp>
      <p:sp>
        <p:nvSpPr>
          <p:cNvPr id="38" name="Rectangle 37">
            <a:extLst>
              <a:ext uri="{FF2B5EF4-FFF2-40B4-BE49-F238E27FC236}">
                <a16:creationId xmlns:a16="http://schemas.microsoft.com/office/drawing/2014/main" id="{ADC61235-4DB7-D166-6D5E-4BA32E90312C}"/>
              </a:ext>
            </a:extLst>
          </p:cNvPr>
          <p:cNvSpPr/>
          <p:nvPr/>
        </p:nvSpPr>
        <p:spPr>
          <a:xfrm>
            <a:off x="427505" y="963166"/>
            <a:ext cx="2386034" cy="1240772"/>
          </a:xfrm>
          <a:prstGeom prst="rect">
            <a:avLst/>
          </a:prstGeom>
          <a:solidFill>
            <a:schemeClr val="accent4">
              <a:lumMod val="20000"/>
              <a:lumOff val="80000"/>
              <a:alpha val="3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sz="1400" b="1" dirty="0">
                <a:solidFill>
                  <a:schemeClr val="accent1">
                    <a:lumMod val="50000"/>
                  </a:schemeClr>
                </a:solidFill>
              </a:rPr>
              <a:t>Process Being Presented</a:t>
            </a:r>
          </a:p>
        </p:txBody>
      </p:sp>
      <p:sp>
        <p:nvSpPr>
          <p:cNvPr id="45" name="TextBox 44">
            <a:extLst>
              <a:ext uri="{FF2B5EF4-FFF2-40B4-BE49-F238E27FC236}">
                <a16:creationId xmlns:a16="http://schemas.microsoft.com/office/drawing/2014/main" id="{26E8A5C5-1E20-C340-E683-99DA5627FA1C}"/>
              </a:ext>
            </a:extLst>
          </p:cNvPr>
          <p:cNvSpPr txBox="1"/>
          <p:nvPr/>
        </p:nvSpPr>
        <p:spPr>
          <a:xfrm>
            <a:off x="1597397" y="5972202"/>
            <a:ext cx="1015649" cy="471755"/>
          </a:xfrm>
          <a:prstGeom prst="flowChartInternalStorage">
            <a:avLst/>
          </a:prstGeom>
          <a:solidFill>
            <a:srgbClr val="FFFF00"/>
          </a:solidFill>
          <a:ln>
            <a:solidFill>
              <a:schemeClr val="tx1"/>
            </a:solidFill>
          </a:ln>
        </p:spPr>
        <p:txBody>
          <a:bodyPr wrap="square" rtlCol="0">
            <a:spAutoFit/>
          </a:bodyPr>
          <a:lstStyle/>
          <a:p>
            <a:pPr algn="ctr"/>
            <a:r>
              <a:rPr lang="en-US" sz="1050" b="1" dirty="0"/>
              <a:t>Represents a Sub SOP</a:t>
            </a:r>
          </a:p>
        </p:txBody>
      </p:sp>
      <p:sp>
        <p:nvSpPr>
          <p:cNvPr id="50" name="TextBox 49">
            <a:extLst>
              <a:ext uri="{FF2B5EF4-FFF2-40B4-BE49-F238E27FC236}">
                <a16:creationId xmlns:a16="http://schemas.microsoft.com/office/drawing/2014/main" id="{E7725CFE-7C44-C348-AD0D-C02EDDD9E6FD}"/>
              </a:ext>
            </a:extLst>
          </p:cNvPr>
          <p:cNvSpPr txBox="1"/>
          <p:nvPr/>
        </p:nvSpPr>
        <p:spPr>
          <a:xfrm>
            <a:off x="4362280" y="5764453"/>
            <a:ext cx="4173546" cy="415498"/>
          </a:xfrm>
          <a:prstGeom prst="rect">
            <a:avLst/>
          </a:prstGeom>
          <a:noFill/>
        </p:spPr>
        <p:txBody>
          <a:bodyPr wrap="square" rtlCol="0">
            <a:spAutoFit/>
          </a:bodyPr>
          <a:lstStyle/>
          <a:p>
            <a:r>
              <a:rPr lang="en-US" sz="1050" dirty="0"/>
              <a:t>Normally this would fall under the preview of an Operation Procedure Manual or OPM  since it call on a SOP it is treated as a SOP </a:t>
            </a:r>
          </a:p>
        </p:txBody>
      </p:sp>
      <p:sp>
        <p:nvSpPr>
          <p:cNvPr id="52" name="Rectangle 51">
            <a:extLst>
              <a:ext uri="{FF2B5EF4-FFF2-40B4-BE49-F238E27FC236}">
                <a16:creationId xmlns:a16="http://schemas.microsoft.com/office/drawing/2014/main" id="{365D1B6A-64CA-A161-0168-2CF615502FF9}"/>
              </a:ext>
            </a:extLst>
          </p:cNvPr>
          <p:cNvSpPr/>
          <p:nvPr/>
        </p:nvSpPr>
        <p:spPr>
          <a:xfrm>
            <a:off x="1275588" y="2336858"/>
            <a:ext cx="1641715" cy="643170"/>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S1 Contract is created using a template and a Line/SN is added</a:t>
            </a:r>
          </a:p>
        </p:txBody>
      </p:sp>
      <p:cxnSp>
        <p:nvCxnSpPr>
          <p:cNvPr id="54" name="Connector: Elbow 28">
            <a:extLst>
              <a:ext uri="{FF2B5EF4-FFF2-40B4-BE49-F238E27FC236}">
                <a16:creationId xmlns:a16="http://schemas.microsoft.com/office/drawing/2014/main" id="{89E4E90E-31BB-C32B-BD5A-339C100EDB24}"/>
              </a:ext>
            </a:extLst>
          </p:cNvPr>
          <p:cNvCxnSpPr>
            <a:cxnSpLocks/>
            <a:stCxn id="52" idx="3"/>
            <a:endCxn id="56" idx="1"/>
          </p:cNvCxnSpPr>
          <p:nvPr/>
        </p:nvCxnSpPr>
        <p:spPr>
          <a:xfrm>
            <a:off x="2917303" y="2658443"/>
            <a:ext cx="568085" cy="0"/>
          </a:xfrm>
          <a:prstGeom prst="straightConnector1">
            <a:avLst/>
          </a:prstGeom>
          <a:ln w="381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56" name="Rectangle 55">
            <a:extLst>
              <a:ext uri="{FF2B5EF4-FFF2-40B4-BE49-F238E27FC236}">
                <a16:creationId xmlns:a16="http://schemas.microsoft.com/office/drawing/2014/main" id="{A3C6EC8A-FE1B-C931-D86D-BD9C7DA4ECB1}"/>
              </a:ext>
            </a:extLst>
          </p:cNvPr>
          <p:cNvSpPr/>
          <p:nvPr/>
        </p:nvSpPr>
        <p:spPr>
          <a:xfrm>
            <a:off x="3485388" y="2336858"/>
            <a:ext cx="2097391" cy="643170"/>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S2. Contract Maintenance schedule is filled out. Using the first day of what month service is requested</a:t>
            </a:r>
          </a:p>
        </p:txBody>
      </p:sp>
      <p:sp>
        <p:nvSpPr>
          <p:cNvPr id="57" name="Rectangle 56">
            <a:extLst>
              <a:ext uri="{FF2B5EF4-FFF2-40B4-BE49-F238E27FC236}">
                <a16:creationId xmlns:a16="http://schemas.microsoft.com/office/drawing/2014/main" id="{7071F2B9-59C5-4627-F19F-306E902AD002}"/>
              </a:ext>
            </a:extLst>
          </p:cNvPr>
          <p:cNvSpPr/>
          <p:nvPr/>
        </p:nvSpPr>
        <p:spPr>
          <a:xfrm>
            <a:off x="6096000" y="2336858"/>
            <a:ext cx="1155559" cy="643170"/>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S3. Fixed billing total is entered</a:t>
            </a:r>
          </a:p>
        </p:txBody>
      </p:sp>
      <p:cxnSp>
        <p:nvCxnSpPr>
          <p:cNvPr id="60" name="Connector: Elbow 28">
            <a:extLst>
              <a:ext uri="{FF2B5EF4-FFF2-40B4-BE49-F238E27FC236}">
                <a16:creationId xmlns:a16="http://schemas.microsoft.com/office/drawing/2014/main" id="{09F5073B-2ED2-0FD3-4F2A-F56814605240}"/>
              </a:ext>
            </a:extLst>
          </p:cNvPr>
          <p:cNvCxnSpPr>
            <a:cxnSpLocks/>
            <a:stCxn id="56" idx="3"/>
            <a:endCxn id="57" idx="1"/>
          </p:cNvCxnSpPr>
          <p:nvPr/>
        </p:nvCxnSpPr>
        <p:spPr>
          <a:xfrm>
            <a:off x="5582779" y="2658443"/>
            <a:ext cx="513221" cy="0"/>
          </a:xfrm>
          <a:prstGeom prst="straightConnector1">
            <a:avLst/>
          </a:prstGeom>
          <a:ln w="381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62" name="Rectangle 61">
            <a:extLst>
              <a:ext uri="{FF2B5EF4-FFF2-40B4-BE49-F238E27FC236}">
                <a16:creationId xmlns:a16="http://schemas.microsoft.com/office/drawing/2014/main" id="{F2812A0A-F2D6-90B7-F7C8-803813477793}"/>
              </a:ext>
            </a:extLst>
          </p:cNvPr>
          <p:cNvSpPr/>
          <p:nvPr/>
        </p:nvSpPr>
        <p:spPr>
          <a:xfrm>
            <a:off x="7775448" y="2336858"/>
            <a:ext cx="1263763" cy="643170"/>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S4. Contract SRO generator utility is run in the middle of each month </a:t>
            </a:r>
          </a:p>
        </p:txBody>
      </p:sp>
      <p:sp>
        <p:nvSpPr>
          <p:cNvPr id="63" name="Rectangle 62">
            <a:extLst>
              <a:ext uri="{FF2B5EF4-FFF2-40B4-BE49-F238E27FC236}">
                <a16:creationId xmlns:a16="http://schemas.microsoft.com/office/drawing/2014/main" id="{EFD875F5-36E7-2475-048C-4803C42817D7}"/>
              </a:ext>
            </a:extLst>
          </p:cNvPr>
          <p:cNvSpPr/>
          <p:nvPr/>
        </p:nvSpPr>
        <p:spPr>
          <a:xfrm>
            <a:off x="9519271" y="2336858"/>
            <a:ext cx="1535591" cy="643170"/>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S5. SRO is generated for all required PMA services in the next month</a:t>
            </a:r>
          </a:p>
        </p:txBody>
      </p:sp>
      <p:sp>
        <p:nvSpPr>
          <p:cNvPr id="65" name="Flowchart: Internal Storage 64">
            <a:extLst>
              <a:ext uri="{FF2B5EF4-FFF2-40B4-BE49-F238E27FC236}">
                <a16:creationId xmlns:a16="http://schemas.microsoft.com/office/drawing/2014/main" id="{3818A389-D5C3-53A5-267B-DEBF02A12045}"/>
              </a:ext>
            </a:extLst>
          </p:cNvPr>
          <p:cNvSpPr/>
          <p:nvPr/>
        </p:nvSpPr>
        <p:spPr>
          <a:xfrm>
            <a:off x="4849183" y="3729070"/>
            <a:ext cx="2010726" cy="643170"/>
          </a:xfrm>
          <a:prstGeom prst="flowChartInternalStorage">
            <a:avLst/>
          </a:prstGeom>
          <a:solidFill>
            <a:srgbClr val="FFFF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S6. See Service Order Process starting from Schedule </a:t>
            </a:r>
          </a:p>
        </p:txBody>
      </p:sp>
      <p:cxnSp>
        <p:nvCxnSpPr>
          <p:cNvPr id="67" name="Connector: Elbow 28">
            <a:extLst>
              <a:ext uri="{FF2B5EF4-FFF2-40B4-BE49-F238E27FC236}">
                <a16:creationId xmlns:a16="http://schemas.microsoft.com/office/drawing/2014/main" id="{F950417A-A286-AAAF-B15A-2587ECD81A55}"/>
              </a:ext>
            </a:extLst>
          </p:cNvPr>
          <p:cNvCxnSpPr>
            <a:cxnSpLocks/>
            <a:stCxn id="57" idx="3"/>
            <a:endCxn id="62" idx="1"/>
          </p:cNvCxnSpPr>
          <p:nvPr/>
        </p:nvCxnSpPr>
        <p:spPr>
          <a:xfrm>
            <a:off x="7251559" y="2658443"/>
            <a:ext cx="523889" cy="0"/>
          </a:xfrm>
          <a:prstGeom prst="straightConnector1">
            <a:avLst/>
          </a:prstGeom>
          <a:ln w="381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68" name="Connector: Elbow 28">
            <a:extLst>
              <a:ext uri="{FF2B5EF4-FFF2-40B4-BE49-F238E27FC236}">
                <a16:creationId xmlns:a16="http://schemas.microsoft.com/office/drawing/2014/main" id="{7C31EEA4-D48F-EBC3-335F-1DEADD8E8897}"/>
              </a:ext>
            </a:extLst>
          </p:cNvPr>
          <p:cNvCxnSpPr>
            <a:cxnSpLocks/>
            <a:stCxn id="62" idx="3"/>
            <a:endCxn id="63" idx="1"/>
          </p:cNvCxnSpPr>
          <p:nvPr/>
        </p:nvCxnSpPr>
        <p:spPr>
          <a:xfrm>
            <a:off x="9039211" y="2658443"/>
            <a:ext cx="480060" cy="0"/>
          </a:xfrm>
          <a:prstGeom prst="straightConnector1">
            <a:avLst/>
          </a:prstGeom>
          <a:ln w="381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69" name="Connector: Elbow 28">
            <a:extLst>
              <a:ext uri="{FF2B5EF4-FFF2-40B4-BE49-F238E27FC236}">
                <a16:creationId xmlns:a16="http://schemas.microsoft.com/office/drawing/2014/main" id="{562FFC0D-FE40-ED3C-4929-D67C987671D4}"/>
              </a:ext>
            </a:extLst>
          </p:cNvPr>
          <p:cNvCxnSpPr>
            <a:cxnSpLocks/>
            <a:stCxn id="63" idx="2"/>
            <a:endCxn id="65" idx="0"/>
          </p:cNvCxnSpPr>
          <p:nvPr/>
        </p:nvCxnSpPr>
        <p:spPr>
          <a:xfrm rot="5400000">
            <a:off x="7696286" y="1138289"/>
            <a:ext cx="749042" cy="4432521"/>
          </a:xfrm>
          <a:prstGeom prst="bentConnector3">
            <a:avLst>
              <a:gd name="adj1" fmla="val 50000"/>
            </a:avLst>
          </a:prstGeom>
          <a:ln w="381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70" name="Flowchart: Document 69">
            <a:extLst>
              <a:ext uri="{FF2B5EF4-FFF2-40B4-BE49-F238E27FC236}">
                <a16:creationId xmlns:a16="http://schemas.microsoft.com/office/drawing/2014/main" id="{49F36650-CDA8-CB26-2C9F-92381D203DAE}"/>
              </a:ext>
            </a:extLst>
          </p:cNvPr>
          <p:cNvSpPr/>
          <p:nvPr/>
        </p:nvSpPr>
        <p:spPr>
          <a:xfrm>
            <a:off x="549402" y="1006795"/>
            <a:ext cx="1641714" cy="862354"/>
          </a:xfrm>
          <a:prstGeom prst="flowChartDocumen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Our PMA Sales staff contacts the customer or a recently installed generator customer calls us on the suggestion of the Technician</a:t>
            </a:r>
          </a:p>
        </p:txBody>
      </p:sp>
      <p:sp>
        <p:nvSpPr>
          <p:cNvPr id="3" name="Parlance">
            <a:extLst>
              <a:ext uri="{FF2B5EF4-FFF2-40B4-BE49-F238E27FC236}">
                <a16:creationId xmlns:a16="http://schemas.microsoft.com/office/drawing/2014/main" id="{75AD0E0B-751B-72E0-2112-ACE567EF057A}"/>
              </a:ext>
            </a:extLst>
          </p:cNvPr>
          <p:cNvSpPr txBox="1"/>
          <p:nvPr/>
        </p:nvSpPr>
        <p:spPr>
          <a:xfrm>
            <a:off x="1401244" y="629044"/>
            <a:ext cx="8906605" cy="246221"/>
          </a:xfrm>
          <a:prstGeom prst="rect">
            <a:avLst/>
          </a:prstGeom>
          <a:noFill/>
        </p:spPr>
        <p:txBody>
          <a:bodyPr wrap="none" rtlCol="0">
            <a:spAutoFit/>
          </a:bodyPr>
          <a:lstStyle/>
          <a:p>
            <a:r>
              <a:rPr lang="en-US" sz="1000" dirty="0">
                <a:solidFill>
                  <a:schemeClr val="bg1"/>
                </a:solidFill>
              </a:rPr>
              <a:t>The creator of this slide  appreciates the Infor System’s  Process Intelligence which became the basis for process creation and verification and finally the training System</a:t>
            </a:r>
          </a:p>
        </p:txBody>
      </p:sp>
      <p:cxnSp>
        <p:nvCxnSpPr>
          <p:cNvPr id="71" name="Connector: Elbow 28">
            <a:extLst>
              <a:ext uri="{FF2B5EF4-FFF2-40B4-BE49-F238E27FC236}">
                <a16:creationId xmlns:a16="http://schemas.microsoft.com/office/drawing/2014/main" id="{FC2E2777-2CA6-AEBE-D351-456C5A7F8672}"/>
              </a:ext>
            </a:extLst>
          </p:cNvPr>
          <p:cNvCxnSpPr>
            <a:cxnSpLocks/>
            <a:stCxn id="70" idx="2"/>
            <a:endCxn id="52" idx="0"/>
          </p:cNvCxnSpPr>
          <p:nvPr/>
        </p:nvCxnSpPr>
        <p:spPr>
          <a:xfrm rot="16200000" flipH="1">
            <a:off x="1470992" y="1711404"/>
            <a:ext cx="524720" cy="726187"/>
          </a:xfrm>
          <a:prstGeom prst="bentConnector3">
            <a:avLst>
              <a:gd name="adj1" fmla="val 50000"/>
            </a:avLst>
          </a:prstGeom>
          <a:ln w="381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2" name="-S004. PMA start with contact from or to a customer">
            <a:extLst>
              <a:ext uri="{FF2B5EF4-FFF2-40B4-BE49-F238E27FC236}">
                <a16:creationId xmlns:a16="http://schemas.microsoft.com/office/drawing/2014/main" id="{EEC21BE8-00EE-6853-5AFE-08DF95C89658}"/>
              </a:ext>
            </a:extLst>
          </p:cNvPr>
          <p:cNvSpPr>
            <a:spLocks noGrp="1"/>
          </p:cNvSpPr>
          <p:nvPr>
            <p:ph type="title"/>
          </p:nvPr>
        </p:nvSpPr>
        <p:spPr>
          <a:xfrm>
            <a:off x="726132" y="122387"/>
            <a:ext cx="10515600" cy="399216"/>
          </a:xfrm>
        </p:spPr>
        <p:txBody>
          <a:bodyPr>
            <a:noAutofit/>
          </a:bodyPr>
          <a:lstStyle/>
          <a:p>
            <a:pPr algn="ctr"/>
            <a:r>
              <a:rPr lang="en-US" sz="1800" b="1" dirty="0"/>
              <a:t>S004. PMA start with contact from or to a customer  - PPS Service Rental</a:t>
            </a:r>
          </a:p>
        </p:txBody>
      </p:sp>
    </p:spTree>
    <p:extLst>
      <p:ext uri="{BB962C8B-B14F-4D97-AF65-F5344CB8AC3E}">
        <p14:creationId xmlns:p14="http://schemas.microsoft.com/office/powerpoint/2010/main" val="23887198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435E77-FED2-5098-FF28-57A6FF484451}"/>
            </a:ext>
          </a:extLst>
        </p:cNvPr>
        <p:cNvGrpSpPr/>
        <p:nvPr/>
      </p:nvGrpSpPr>
      <p:grpSpPr>
        <a:xfrm>
          <a:off x="0" y="0"/>
          <a:ext cx="0" cy="0"/>
          <a:chOff x="0" y="0"/>
          <a:chExt cx="0" cy="0"/>
        </a:xfrm>
      </p:grpSpPr>
      <p:sp>
        <p:nvSpPr>
          <p:cNvPr id="18" name="TextBox 17">
            <a:extLst>
              <a:ext uri="{FF2B5EF4-FFF2-40B4-BE49-F238E27FC236}">
                <a16:creationId xmlns:a16="http://schemas.microsoft.com/office/drawing/2014/main" id="{26512F7D-9938-D700-9E88-DA224CE8F8F7}"/>
              </a:ext>
            </a:extLst>
          </p:cNvPr>
          <p:cNvSpPr txBox="1"/>
          <p:nvPr/>
        </p:nvSpPr>
        <p:spPr>
          <a:xfrm>
            <a:off x="135429" y="5872043"/>
            <a:ext cx="994285" cy="461665"/>
          </a:xfrm>
          <a:prstGeom prst="rect">
            <a:avLst/>
          </a:prstGeom>
          <a:noFill/>
        </p:spPr>
        <p:txBody>
          <a:bodyPr wrap="square" rtlCol="0">
            <a:spAutoFit/>
          </a:bodyPr>
          <a:lstStyle/>
          <a:p>
            <a:r>
              <a:rPr lang="en-US" sz="800" dirty="0"/>
              <a:t>Base Created by TS VM TSD KC and BW  06 09 2025 </a:t>
            </a:r>
          </a:p>
        </p:txBody>
      </p:sp>
      <p:sp>
        <p:nvSpPr>
          <p:cNvPr id="23" name="TextBox 22">
            <a:extLst>
              <a:ext uri="{FF2B5EF4-FFF2-40B4-BE49-F238E27FC236}">
                <a16:creationId xmlns:a16="http://schemas.microsoft.com/office/drawing/2014/main" id="{6E6641F6-3E36-9043-BAC9-7DF9C4052750}"/>
              </a:ext>
            </a:extLst>
          </p:cNvPr>
          <p:cNvSpPr txBox="1"/>
          <p:nvPr/>
        </p:nvSpPr>
        <p:spPr>
          <a:xfrm>
            <a:off x="124769" y="6361250"/>
            <a:ext cx="994285" cy="461665"/>
          </a:xfrm>
          <a:prstGeom prst="rect">
            <a:avLst/>
          </a:prstGeom>
          <a:noFill/>
        </p:spPr>
        <p:txBody>
          <a:bodyPr wrap="square" rtlCol="0">
            <a:spAutoFit/>
          </a:bodyPr>
          <a:lstStyle/>
          <a:p>
            <a:r>
              <a:rPr lang="en-US" sz="800" dirty="0"/>
              <a:t>Train Slide updated by TS VM SR TD MS</a:t>
            </a:r>
          </a:p>
          <a:p>
            <a:r>
              <a:rPr lang="en-US" sz="800" dirty="0"/>
              <a:t> 25 12 23  1120</a:t>
            </a:r>
          </a:p>
        </p:txBody>
      </p:sp>
      <p:sp>
        <p:nvSpPr>
          <p:cNvPr id="38" name="Rectangle 37">
            <a:extLst>
              <a:ext uri="{FF2B5EF4-FFF2-40B4-BE49-F238E27FC236}">
                <a16:creationId xmlns:a16="http://schemas.microsoft.com/office/drawing/2014/main" id="{CDB6AF1E-86E4-AA35-935A-B245D7632EA2}"/>
              </a:ext>
            </a:extLst>
          </p:cNvPr>
          <p:cNvSpPr/>
          <p:nvPr/>
        </p:nvSpPr>
        <p:spPr>
          <a:xfrm>
            <a:off x="837410" y="2256326"/>
            <a:ext cx="2386034" cy="1240772"/>
          </a:xfrm>
          <a:prstGeom prst="rect">
            <a:avLst/>
          </a:prstGeom>
          <a:solidFill>
            <a:schemeClr val="accent4">
              <a:lumMod val="20000"/>
              <a:lumOff val="80000"/>
              <a:alpha val="3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sz="1400" b="1" dirty="0">
                <a:solidFill>
                  <a:schemeClr val="accent1">
                    <a:lumMod val="50000"/>
                  </a:schemeClr>
                </a:solidFill>
              </a:rPr>
              <a:t>Process Being Presented</a:t>
            </a:r>
          </a:p>
        </p:txBody>
      </p:sp>
      <p:sp>
        <p:nvSpPr>
          <p:cNvPr id="45" name="TextBox 44">
            <a:extLst>
              <a:ext uri="{FF2B5EF4-FFF2-40B4-BE49-F238E27FC236}">
                <a16:creationId xmlns:a16="http://schemas.microsoft.com/office/drawing/2014/main" id="{6BBF48C4-53A5-6C81-AC0D-24ECC04859AE}"/>
              </a:ext>
            </a:extLst>
          </p:cNvPr>
          <p:cNvSpPr txBox="1"/>
          <p:nvPr/>
        </p:nvSpPr>
        <p:spPr>
          <a:xfrm>
            <a:off x="1597397" y="5972202"/>
            <a:ext cx="1015649" cy="471755"/>
          </a:xfrm>
          <a:prstGeom prst="flowChartInternalStorage">
            <a:avLst/>
          </a:prstGeom>
          <a:solidFill>
            <a:srgbClr val="FFFF00"/>
          </a:solidFill>
          <a:ln>
            <a:solidFill>
              <a:schemeClr val="tx1"/>
            </a:solidFill>
          </a:ln>
        </p:spPr>
        <p:txBody>
          <a:bodyPr wrap="square" rtlCol="0">
            <a:spAutoFit/>
          </a:bodyPr>
          <a:lstStyle/>
          <a:p>
            <a:pPr algn="ctr"/>
            <a:r>
              <a:rPr lang="en-US" sz="1050" b="1" dirty="0"/>
              <a:t>Represents a Sub SOP</a:t>
            </a:r>
          </a:p>
        </p:txBody>
      </p:sp>
      <p:sp>
        <p:nvSpPr>
          <p:cNvPr id="50" name="TextBox 49">
            <a:extLst>
              <a:ext uri="{FF2B5EF4-FFF2-40B4-BE49-F238E27FC236}">
                <a16:creationId xmlns:a16="http://schemas.microsoft.com/office/drawing/2014/main" id="{80EC7817-3002-86CA-187E-2335A8545E1D}"/>
              </a:ext>
            </a:extLst>
          </p:cNvPr>
          <p:cNvSpPr txBox="1"/>
          <p:nvPr/>
        </p:nvSpPr>
        <p:spPr>
          <a:xfrm>
            <a:off x="4362280" y="5764453"/>
            <a:ext cx="4173546" cy="415498"/>
          </a:xfrm>
          <a:prstGeom prst="rect">
            <a:avLst/>
          </a:prstGeom>
          <a:noFill/>
        </p:spPr>
        <p:txBody>
          <a:bodyPr wrap="square" rtlCol="0">
            <a:spAutoFit/>
          </a:bodyPr>
          <a:lstStyle/>
          <a:p>
            <a:r>
              <a:rPr lang="en-US" sz="1050" dirty="0"/>
              <a:t>Normally this would fall under the preview of an Operation Procedure Manual or OPM  since it call on a SOP it is treated as a SOP </a:t>
            </a:r>
          </a:p>
        </p:txBody>
      </p:sp>
      <p:sp>
        <p:nvSpPr>
          <p:cNvPr id="52" name="Rectangle 51">
            <a:extLst>
              <a:ext uri="{FF2B5EF4-FFF2-40B4-BE49-F238E27FC236}">
                <a16:creationId xmlns:a16="http://schemas.microsoft.com/office/drawing/2014/main" id="{06F65222-94EA-F4A3-9A11-C5D48AFB169F}"/>
              </a:ext>
            </a:extLst>
          </p:cNvPr>
          <p:cNvSpPr/>
          <p:nvPr/>
        </p:nvSpPr>
        <p:spPr>
          <a:xfrm>
            <a:off x="1275588" y="2336858"/>
            <a:ext cx="1641715" cy="643170"/>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S1 Contract is created using a template and a Line/SN is added</a:t>
            </a:r>
          </a:p>
        </p:txBody>
      </p:sp>
      <p:cxnSp>
        <p:nvCxnSpPr>
          <p:cNvPr id="54" name="Connector: Elbow 28">
            <a:extLst>
              <a:ext uri="{FF2B5EF4-FFF2-40B4-BE49-F238E27FC236}">
                <a16:creationId xmlns:a16="http://schemas.microsoft.com/office/drawing/2014/main" id="{16B45E54-6A60-EB95-72C2-06B996825F6F}"/>
              </a:ext>
            </a:extLst>
          </p:cNvPr>
          <p:cNvCxnSpPr>
            <a:cxnSpLocks/>
            <a:stCxn id="52" idx="3"/>
            <a:endCxn id="56" idx="1"/>
          </p:cNvCxnSpPr>
          <p:nvPr/>
        </p:nvCxnSpPr>
        <p:spPr>
          <a:xfrm>
            <a:off x="2917303" y="2658443"/>
            <a:ext cx="568085" cy="0"/>
          </a:xfrm>
          <a:prstGeom prst="straightConnector1">
            <a:avLst/>
          </a:prstGeom>
          <a:ln w="381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56" name="Rectangle 55">
            <a:extLst>
              <a:ext uri="{FF2B5EF4-FFF2-40B4-BE49-F238E27FC236}">
                <a16:creationId xmlns:a16="http://schemas.microsoft.com/office/drawing/2014/main" id="{9E1AF68A-4B9F-0F44-2FCD-D5D92341FF1C}"/>
              </a:ext>
            </a:extLst>
          </p:cNvPr>
          <p:cNvSpPr/>
          <p:nvPr/>
        </p:nvSpPr>
        <p:spPr>
          <a:xfrm>
            <a:off x="3485388" y="2336858"/>
            <a:ext cx="2097391" cy="643170"/>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S2. Contract Maintenance schedule is filled out. Using the first day of what month service is requested</a:t>
            </a:r>
          </a:p>
        </p:txBody>
      </p:sp>
      <p:sp>
        <p:nvSpPr>
          <p:cNvPr id="57" name="Rectangle 56">
            <a:extLst>
              <a:ext uri="{FF2B5EF4-FFF2-40B4-BE49-F238E27FC236}">
                <a16:creationId xmlns:a16="http://schemas.microsoft.com/office/drawing/2014/main" id="{F473309D-985E-5E6B-2375-EE5A77C0EE6E}"/>
              </a:ext>
            </a:extLst>
          </p:cNvPr>
          <p:cNvSpPr/>
          <p:nvPr/>
        </p:nvSpPr>
        <p:spPr>
          <a:xfrm>
            <a:off x="6096000" y="2336858"/>
            <a:ext cx="1155559" cy="643170"/>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S3. Fixed billing total is entered</a:t>
            </a:r>
          </a:p>
        </p:txBody>
      </p:sp>
      <p:cxnSp>
        <p:nvCxnSpPr>
          <p:cNvPr id="60" name="Connector: Elbow 28">
            <a:extLst>
              <a:ext uri="{FF2B5EF4-FFF2-40B4-BE49-F238E27FC236}">
                <a16:creationId xmlns:a16="http://schemas.microsoft.com/office/drawing/2014/main" id="{4448A842-7F32-3084-4AE9-6ECD3C7A2E87}"/>
              </a:ext>
            </a:extLst>
          </p:cNvPr>
          <p:cNvCxnSpPr>
            <a:cxnSpLocks/>
            <a:stCxn id="56" idx="3"/>
            <a:endCxn id="57" idx="1"/>
          </p:cNvCxnSpPr>
          <p:nvPr/>
        </p:nvCxnSpPr>
        <p:spPr>
          <a:xfrm>
            <a:off x="5582779" y="2658443"/>
            <a:ext cx="513221" cy="0"/>
          </a:xfrm>
          <a:prstGeom prst="straightConnector1">
            <a:avLst/>
          </a:prstGeom>
          <a:ln w="381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62" name="Rectangle 61">
            <a:extLst>
              <a:ext uri="{FF2B5EF4-FFF2-40B4-BE49-F238E27FC236}">
                <a16:creationId xmlns:a16="http://schemas.microsoft.com/office/drawing/2014/main" id="{E53DBDD6-5B66-A670-83EE-4767BE9BF071}"/>
              </a:ext>
            </a:extLst>
          </p:cNvPr>
          <p:cNvSpPr/>
          <p:nvPr/>
        </p:nvSpPr>
        <p:spPr>
          <a:xfrm>
            <a:off x="7775448" y="2336858"/>
            <a:ext cx="1263763" cy="643170"/>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S4. Contract SRO generator utility is run in the middle of each month </a:t>
            </a:r>
          </a:p>
        </p:txBody>
      </p:sp>
      <p:sp>
        <p:nvSpPr>
          <p:cNvPr id="63" name="Rectangle 62">
            <a:extLst>
              <a:ext uri="{FF2B5EF4-FFF2-40B4-BE49-F238E27FC236}">
                <a16:creationId xmlns:a16="http://schemas.microsoft.com/office/drawing/2014/main" id="{8D405092-4FE9-4606-1355-0E2DD103E513}"/>
              </a:ext>
            </a:extLst>
          </p:cNvPr>
          <p:cNvSpPr/>
          <p:nvPr/>
        </p:nvSpPr>
        <p:spPr>
          <a:xfrm>
            <a:off x="9519271" y="2336858"/>
            <a:ext cx="1570760" cy="643170"/>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S5. SRO is generated for all required PMA services in the next month</a:t>
            </a:r>
          </a:p>
        </p:txBody>
      </p:sp>
      <p:sp>
        <p:nvSpPr>
          <p:cNvPr id="65" name="Flowchart: Internal Storage 64">
            <a:extLst>
              <a:ext uri="{FF2B5EF4-FFF2-40B4-BE49-F238E27FC236}">
                <a16:creationId xmlns:a16="http://schemas.microsoft.com/office/drawing/2014/main" id="{68AC8C22-4EFC-03DA-34E3-6FA154CE4D95}"/>
              </a:ext>
            </a:extLst>
          </p:cNvPr>
          <p:cNvSpPr/>
          <p:nvPr/>
        </p:nvSpPr>
        <p:spPr>
          <a:xfrm>
            <a:off x="4849183" y="3729070"/>
            <a:ext cx="2010726" cy="643170"/>
          </a:xfrm>
          <a:prstGeom prst="flowChartInternalStorage">
            <a:avLst/>
          </a:prstGeom>
          <a:solidFill>
            <a:srgbClr val="FFFF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S6. See Service Order Process starting from Schedule </a:t>
            </a:r>
          </a:p>
        </p:txBody>
      </p:sp>
      <p:cxnSp>
        <p:nvCxnSpPr>
          <p:cNvPr id="67" name="Connector: Elbow 28">
            <a:extLst>
              <a:ext uri="{FF2B5EF4-FFF2-40B4-BE49-F238E27FC236}">
                <a16:creationId xmlns:a16="http://schemas.microsoft.com/office/drawing/2014/main" id="{ED2FC742-278D-5650-B507-FC6B03E232AF}"/>
              </a:ext>
            </a:extLst>
          </p:cNvPr>
          <p:cNvCxnSpPr>
            <a:cxnSpLocks/>
            <a:stCxn id="57" idx="3"/>
            <a:endCxn id="62" idx="1"/>
          </p:cNvCxnSpPr>
          <p:nvPr/>
        </p:nvCxnSpPr>
        <p:spPr>
          <a:xfrm>
            <a:off x="7251559" y="2658443"/>
            <a:ext cx="523889" cy="0"/>
          </a:xfrm>
          <a:prstGeom prst="straightConnector1">
            <a:avLst/>
          </a:prstGeom>
          <a:ln w="381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68" name="Connector: Elbow 28">
            <a:extLst>
              <a:ext uri="{FF2B5EF4-FFF2-40B4-BE49-F238E27FC236}">
                <a16:creationId xmlns:a16="http://schemas.microsoft.com/office/drawing/2014/main" id="{2735DDE4-11B3-EBCC-AF40-8F4BA6591CD0}"/>
              </a:ext>
            </a:extLst>
          </p:cNvPr>
          <p:cNvCxnSpPr>
            <a:cxnSpLocks/>
            <a:stCxn id="62" idx="3"/>
            <a:endCxn id="63" idx="1"/>
          </p:cNvCxnSpPr>
          <p:nvPr/>
        </p:nvCxnSpPr>
        <p:spPr>
          <a:xfrm>
            <a:off x="9039211" y="2658443"/>
            <a:ext cx="480060" cy="0"/>
          </a:xfrm>
          <a:prstGeom prst="straightConnector1">
            <a:avLst/>
          </a:prstGeom>
          <a:ln w="381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69" name="Connector: Elbow 28">
            <a:extLst>
              <a:ext uri="{FF2B5EF4-FFF2-40B4-BE49-F238E27FC236}">
                <a16:creationId xmlns:a16="http://schemas.microsoft.com/office/drawing/2014/main" id="{AE2DA77A-2A57-19AE-1535-D6C933B741CD}"/>
              </a:ext>
            </a:extLst>
          </p:cNvPr>
          <p:cNvCxnSpPr>
            <a:cxnSpLocks/>
            <a:stCxn id="63" idx="2"/>
            <a:endCxn id="65" idx="0"/>
          </p:cNvCxnSpPr>
          <p:nvPr/>
        </p:nvCxnSpPr>
        <p:spPr>
          <a:xfrm rot="5400000">
            <a:off x="7705078" y="1129497"/>
            <a:ext cx="749042" cy="4450105"/>
          </a:xfrm>
          <a:prstGeom prst="bentConnector3">
            <a:avLst>
              <a:gd name="adj1" fmla="val 50000"/>
            </a:avLst>
          </a:prstGeom>
          <a:ln w="381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70" name="Flowchart: Document 69">
            <a:extLst>
              <a:ext uri="{FF2B5EF4-FFF2-40B4-BE49-F238E27FC236}">
                <a16:creationId xmlns:a16="http://schemas.microsoft.com/office/drawing/2014/main" id="{C2218D25-A56A-6C3A-8821-E7A68CBF8719}"/>
              </a:ext>
            </a:extLst>
          </p:cNvPr>
          <p:cNvSpPr/>
          <p:nvPr/>
        </p:nvSpPr>
        <p:spPr>
          <a:xfrm>
            <a:off x="549402" y="1006795"/>
            <a:ext cx="1641714" cy="862354"/>
          </a:xfrm>
          <a:prstGeom prst="flowChartDocumen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Our PMA Sales staff contacts the customer or a recently installed generator customer calls us on the suggestion of the Technician</a:t>
            </a:r>
          </a:p>
        </p:txBody>
      </p:sp>
      <p:sp>
        <p:nvSpPr>
          <p:cNvPr id="3" name="Parlance">
            <a:extLst>
              <a:ext uri="{FF2B5EF4-FFF2-40B4-BE49-F238E27FC236}">
                <a16:creationId xmlns:a16="http://schemas.microsoft.com/office/drawing/2014/main" id="{22D93614-AF3A-9940-52AE-55384BDEA07E}"/>
              </a:ext>
            </a:extLst>
          </p:cNvPr>
          <p:cNvSpPr txBox="1"/>
          <p:nvPr/>
        </p:nvSpPr>
        <p:spPr>
          <a:xfrm>
            <a:off x="1401244" y="629044"/>
            <a:ext cx="8906605" cy="246221"/>
          </a:xfrm>
          <a:prstGeom prst="rect">
            <a:avLst/>
          </a:prstGeom>
          <a:noFill/>
        </p:spPr>
        <p:txBody>
          <a:bodyPr wrap="none" rtlCol="0">
            <a:spAutoFit/>
          </a:bodyPr>
          <a:lstStyle/>
          <a:p>
            <a:r>
              <a:rPr lang="en-US" sz="1000" dirty="0">
                <a:solidFill>
                  <a:schemeClr val="bg1"/>
                </a:solidFill>
              </a:rPr>
              <a:t>The creator of this slide  appreciates the Infor System’s  Process Intelligence which became the basis for process creation and verification and finally the training System</a:t>
            </a:r>
          </a:p>
        </p:txBody>
      </p:sp>
      <p:cxnSp>
        <p:nvCxnSpPr>
          <p:cNvPr id="71" name="Connector: Elbow 28">
            <a:extLst>
              <a:ext uri="{FF2B5EF4-FFF2-40B4-BE49-F238E27FC236}">
                <a16:creationId xmlns:a16="http://schemas.microsoft.com/office/drawing/2014/main" id="{833F92C4-E91E-1D6F-3A7D-11B7BE8956F5}"/>
              </a:ext>
            </a:extLst>
          </p:cNvPr>
          <p:cNvCxnSpPr>
            <a:cxnSpLocks/>
            <a:stCxn id="70" idx="2"/>
            <a:endCxn id="52" idx="0"/>
          </p:cNvCxnSpPr>
          <p:nvPr/>
        </p:nvCxnSpPr>
        <p:spPr>
          <a:xfrm rot="16200000" flipH="1">
            <a:off x="1470992" y="1711404"/>
            <a:ext cx="524720" cy="726187"/>
          </a:xfrm>
          <a:prstGeom prst="bentConnector3">
            <a:avLst>
              <a:gd name="adj1" fmla="val 50000"/>
            </a:avLst>
          </a:prstGeom>
          <a:ln w="381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2" name="-S1. A Customer and Unit specific contract is Crea">
            <a:extLst>
              <a:ext uri="{FF2B5EF4-FFF2-40B4-BE49-F238E27FC236}">
                <a16:creationId xmlns:a16="http://schemas.microsoft.com/office/drawing/2014/main" id="{4A791E2C-297E-9ECC-2242-92F45017B5A8}"/>
              </a:ext>
            </a:extLst>
          </p:cNvPr>
          <p:cNvSpPr>
            <a:spLocks noGrp="1"/>
          </p:cNvSpPr>
          <p:nvPr>
            <p:ph type="title"/>
          </p:nvPr>
        </p:nvSpPr>
        <p:spPr>
          <a:xfrm>
            <a:off x="726132" y="122387"/>
            <a:ext cx="10515600" cy="399216"/>
          </a:xfrm>
        </p:spPr>
        <p:txBody>
          <a:bodyPr>
            <a:noAutofit/>
          </a:bodyPr>
          <a:lstStyle/>
          <a:p>
            <a:pPr algn="ctr"/>
            <a:r>
              <a:rPr lang="en-US" sz="1800" b="1" dirty="0"/>
              <a:t>S1. A Customer and Unit specific contract is Created  - PPS Service Rental</a:t>
            </a:r>
          </a:p>
        </p:txBody>
      </p:sp>
    </p:spTree>
    <p:extLst>
      <p:ext uri="{BB962C8B-B14F-4D97-AF65-F5344CB8AC3E}">
        <p14:creationId xmlns:p14="http://schemas.microsoft.com/office/powerpoint/2010/main" val="32286947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997B12-1D60-DD6C-22DB-6664904D659A}"/>
            </a:ext>
          </a:extLst>
        </p:cNvPr>
        <p:cNvGrpSpPr/>
        <p:nvPr/>
      </p:nvGrpSpPr>
      <p:grpSpPr>
        <a:xfrm>
          <a:off x="0" y="0"/>
          <a:ext cx="0" cy="0"/>
          <a:chOff x="0" y="0"/>
          <a:chExt cx="0" cy="0"/>
        </a:xfrm>
      </p:grpSpPr>
      <p:sp>
        <p:nvSpPr>
          <p:cNvPr id="18" name="TextBox 17">
            <a:extLst>
              <a:ext uri="{FF2B5EF4-FFF2-40B4-BE49-F238E27FC236}">
                <a16:creationId xmlns:a16="http://schemas.microsoft.com/office/drawing/2014/main" id="{58AF216D-42B9-DE0B-9A6A-981FCC91A552}"/>
              </a:ext>
            </a:extLst>
          </p:cNvPr>
          <p:cNvSpPr txBox="1"/>
          <p:nvPr/>
        </p:nvSpPr>
        <p:spPr>
          <a:xfrm>
            <a:off x="135429" y="5872043"/>
            <a:ext cx="994285" cy="461665"/>
          </a:xfrm>
          <a:prstGeom prst="rect">
            <a:avLst/>
          </a:prstGeom>
          <a:noFill/>
        </p:spPr>
        <p:txBody>
          <a:bodyPr wrap="square" rtlCol="0">
            <a:spAutoFit/>
          </a:bodyPr>
          <a:lstStyle/>
          <a:p>
            <a:r>
              <a:rPr lang="en-US" sz="800" dirty="0"/>
              <a:t>Base Created by TS VM TSD KC and BW  06 09 2025 </a:t>
            </a:r>
          </a:p>
        </p:txBody>
      </p:sp>
      <p:sp>
        <p:nvSpPr>
          <p:cNvPr id="23" name="TextBox 22">
            <a:extLst>
              <a:ext uri="{FF2B5EF4-FFF2-40B4-BE49-F238E27FC236}">
                <a16:creationId xmlns:a16="http://schemas.microsoft.com/office/drawing/2014/main" id="{3E149385-ED09-6EAF-15A2-23D2370445DC}"/>
              </a:ext>
            </a:extLst>
          </p:cNvPr>
          <p:cNvSpPr txBox="1"/>
          <p:nvPr/>
        </p:nvSpPr>
        <p:spPr>
          <a:xfrm>
            <a:off x="124769" y="6361250"/>
            <a:ext cx="994285" cy="461665"/>
          </a:xfrm>
          <a:prstGeom prst="rect">
            <a:avLst/>
          </a:prstGeom>
          <a:noFill/>
        </p:spPr>
        <p:txBody>
          <a:bodyPr wrap="square" rtlCol="0">
            <a:spAutoFit/>
          </a:bodyPr>
          <a:lstStyle/>
          <a:p>
            <a:r>
              <a:rPr lang="en-US" sz="800" dirty="0"/>
              <a:t>Train Slide updated by TS VM SR TD MS</a:t>
            </a:r>
          </a:p>
          <a:p>
            <a:r>
              <a:rPr lang="en-US" sz="800" dirty="0"/>
              <a:t> 25 12 23  1120</a:t>
            </a:r>
          </a:p>
        </p:txBody>
      </p:sp>
      <p:sp>
        <p:nvSpPr>
          <p:cNvPr id="38" name="Rectangle 37">
            <a:extLst>
              <a:ext uri="{FF2B5EF4-FFF2-40B4-BE49-F238E27FC236}">
                <a16:creationId xmlns:a16="http://schemas.microsoft.com/office/drawing/2014/main" id="{D6CFCB64-C7F1-0ECF-E66F-01A9296AD46D}"/>
              </a:ext>
            </a:extLst>
          </p:cNvPr>
          <p:cNvSpPr/>
          <p:nvPr/>
        </p:nvSpPr>
        <p:spPr>
          <a:xfrm>
            <a:off x="3252005" y="2182000"/>
            <a:ext cx="2386034" cy="1240772"/>
          </a:xfrm>
          <a:prstGeom prst="rect">
            <a:avLst/>
          </a:prstGeom>
          <a:solidFill>
            <a:schemeClr val="accent4">
              <a:lumMod val="20000"/>
              <a:lumOff val="80000"/>
              <a:alpha val="3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sz="1400" b="1" dirty="0">
                <a:solidFill>
                  <a:schemeClr val="accent1">
                    <a:lumMod val="50000"/>
                  </a:schemeClr>
                </a:solidFill>
              </a:rPr>
              <a:t>Process Being Presented</a:t>
            </a:r>
          </a:p>
        </p:txBody>
      </p:sp>
      <p:sp>
        <p:nvSpPr>
          <p:cNvPr id="45" name="TextBox 44">
            <a:extLst>
              <a:ext uri="{FF2B5EF4-FFF2-40B4-BE49-F238E27FC236}">
                <a16:creationId xmlns:a16="http://schemas.microsoft.com/office/drawing/2014/main" id="{4D5CBAC1-0F43-480D-84FB-51ED4D977896}"/>
              </a:ext>
            </a:extLst>
          </p:cNvPr>
          <p:cNvSpPr txBox="1"/>
          <p:nvPr/>
        </p:nvSpPr>
        <p:spPr>
          <a:xfrm>
            <a:off x="1597397" y="5972202"/>
            <a:ext cx="1015649" cy="471755"/>
          </a:xfrm>
          <a:prstGeom prst="flowChartInternalStorage">
            <a:avLst/>
          </a:prstGeom>
          <a:solidFill>
            <a:srgbClr val="FFFF00"/>
          </a:solidFill>
          <a:ln>
            <a:solidFill>
              <a:schemeClr val="tx1"/>
            </a:solidFill>
          </a:ln>
        </p:spPr>
        <p:txBody>
          <a:bodyPr wrap="square" rtlCol="0">
            <a:spAutoFit/>
          </a:bodyPr>
          <a:lstStyle/>
          <a:p>
            <a:pPr algn="ctr"/>
            <a:r>
              <a:rPr lang="en-US" sz="1050" b="1" dirty="0"/>
              <a:t>Represents a Sub SOP</a:t>
            </a:r>
          </a:p>
        </p:txBody>
      </p:sp>
      <p:sp>
        <p:nvSpPr>
          <p:cNvPr id="50" name="TextBox 49">
            <a:extLst>
              <a:ext uri="{FF2B5EF4-FFF2-40B4-BE49-F238E27FC236}">
                <a16:creationId xmlns:a16="http://schemas.microsoft.com/office/drawing/2014/main" id="{74CAF514-5713-1121-7309-0994BE7356FB}"/>
              </a:ext>
            </a:extLst>
          </p:cNvPr>
          <p:cNvSpPr txBox="1"/>
          <p:nvPr/>
        </p:nvSpPr>
        <p:spPr>
          <a:xfrm>
            <a:off x="4362280" y="5764453"/>
            <a:ext cx="4173546" cy="415498"/>
          </a:xfrm>
          <a:prstGeom prst="rect">
            <a:avLst/>
          </a:prstGeom>
          <a:noFill/>
        </p:spPr>
        <p:txBody>
          <a:bodyPr wrap="square" rtlCol="0">
            <a:spAutoFit/>
          </a:bodyPr>
          <a:lstStyle/>
          <a:p>
            <a:r>
              <a:rPr lang="en-US" sz="1050" dirty="0"/>
              <a:t>Normally this would fall under the preview of an Operation Procedure Manual or OPM  since it call on a SOP it is treated as a SOP </a:t>
            </a:r>
          </a:p>
        </p:txBody>
      </p:sp>
      <p:sp>
        <p:nvSpPr>
          <p:cNvPr id="52" name="Rectangle 51">
            <a:extLst>
              <a:ext uri="{FF2B5EF4-FFF2-40B4-BE49-F238E27FC236}">
                <a16:creationId xmlns:a16="http://schemas.microsoft.com/office/drawing/2014/main" id="{92DBEB8B-8E72-CEA7-66AC-B9668BAF70F0}"/>
              </a:ext>
            </a:extLst>
          </p:cNvPr>
          <p:cNvSpPr/>
          <p:nvPr/>
        </p:nvSpPr>
        <p:spPr>
          <a:xfrm>
            <a:off x="1275588" y="2336858"/>
            <a:ext cx="1641715" cy="643170"/>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S1 Contract is created using a template and a Line/SN is added</a:t>
            </a:r>
          </a:p>
        </p:txBody>
      </p:sp>
      <p:cxnSp>
        <p:nvCxnSpPr>
          <p:cNvPr id="54" name="Connector: Elbow 28">
            <a:extLst>
              <a:ext uri="{FF2B5EF4-FFF2-40B4-BE49-F238E27FC236}">
                <a16:creationId xmlns:a16="http://schemas.microsoft.com/office/drawing/2014/main" id="{37E6366C-6F63-998C-EC33-948E9C0529EF}"/>
              </a:ext>
            </a:extLst>
          </p:cNvPr>
          <p:cNvCxnSpPr>
            <a:cxnSpLocks/>
            <a:stCxn id="52" idx="3"/>
            <a:endCxn id="56" idx="1"/>
          </p:cNvCxnSpPr>
          <p:nvPr/>
        </p:nvCxnSpPr>
        <p:spPr>
          <a:xfrm>
            <a:off x="2917303" y="2658443"/>
            <a:ext cx="568085" cy="0"/>
          </a:xfrm>
          <a:prstGeom prst="straightConnector1">
            <a:avLst/>
          </a:prstGeom>
          <a:ln w="381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56" name="Rectangle 55">
            <a:extLst>
              <a:ext uri="{FF2B5EF4-FFF2-40B4-BE49-F238E27FC236}">
                <a16:creationId xmlns:a16="http://schemas.microsoft.com/office/drawing/2014/main" id="{4F938A9E-C896-7E6A-7A9C-BECC0FBE1D55}"/>
              </a:ext>
            </a:extLst>
          </p:cNvPr>
          <p:cNvSpPr/>
          <p:nvPr/>
        </p:nvSpPr>
        <p:spPr>
          <a:xfrm>
            <a:off x="3485388" y="2336858"/>
            <a:ext cx="2097391" cy="643170"/>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S2. Contract Maintenance schedule is filled out. Using the first day of what month service is requested</a:t>
            </a:r>
          </a:p>
        </p:txBody>
      </p:sp>
      <p:sp>
        <p:nvSpPr>
          <p:cNvPr id="57" name="Rectangle 56">
            <a:extLst>
              <a:ext uri="{FF2B5EF4-FFF2-40B4-BE49-F238E27FC236}">
                <a16:creationId xmlns:a16="http://schemas.microsoft.com/office/drawing/2014/main" id="{01A424E2-3B4C-F383-CECD-4B9920F8A681}"/>
              </a:ext>
            </a:extLst>
          </p:cNvPr>
          <p:cNvSpPr/>
          <p:nvPr/>
        </p:nvSpPr>
        <p:spPr>
          <a:xfrm>
            <a:off x="6096000" y="2336858"/>
            <a:ext cx="1155559" cy="643170"/>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S3. Fixed billing total is entered</a:t>
            </a:r>
          </a:p>
        </p:txBody>
      </p:sp>
      <p:cxnSp>
        <p:nvCxnSpPr>
          <p:cNvPr id="60" name="Connector: Elbow 28">
            <a:extLst>
              <a:ext uri="{FF2B5EF4-FFF2-40B4-BE49-F238E27FC236}">
                <a16:creationId xmlns:a16="http://schemas.microsoft.com/office/drawing/2014/main" id="{03D0650F-1ED5-C0D4-753C-EC9580BBCF31}"/>
              </a:ext>
            </a:extLst>
          </p:cNvPr>
          <p:cNvCxnSpPr>
            <a:cxnSpLocks/>
            <a:stCxn id="56" idx="3"/>
            <a:endCxn id="57" idx="1"/>
          </p:cNvCxnSpPr>
          <p:nvPr/>
        </p:nvCxnSpPr>
        <p:spPr>
          <a:xfrm>
            <a:off x="5582779" y="2658443"/>
            <a:ext cx="513221" cy="0"/>
          </a:xfrm>
          <a:prstGeom prst="straightConnector1">
            <a:avLst/>
          </a:prstGeom>
          <a:ln w="381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62" name="Rectangle 61">
            <a:extLst>
              <a:ext uri="{FF2B5EF4-FFF2-40B4-BE49-F238E27FC236}">
                <a16:creationId xmlns:a16="http://schemas.microsoft.com/office/drawing/2014/main" id="{42DE732A-2581-ABCC-22DA-EC5E995A6EB0}"/>
              </a:ext>
            </a:extLst>
          </p:cNvPr>
          <p:cNvSpPr/>
          <p:nvPr/>
        </p:nvSpPr>
        <p:spPr>
          <a:xfrm>
            <a:off x="7775448" y="2336858"/>
            <a:ext cx="1263763" cy="643170"/>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S4. Contract SRO generator utility is run in the middle of each month </a:t>
            </a:r>
          </a:p>
        </p:txBody>
      </p:sp>
      <p:sp>
        <p:nvSpPr>
          <p:cNvPr id="63" name="Rectangle 62">
            <a:extLst>
              <a:ext uri="{FF2B5EF4-FFF2-40B4-BE49-F238E27FC236}">
                <a16:creationId xmlns:a16="http://schemas.microsoft.com/office/drawing/2014/main" id="{8FE3F934-D14C-BF84-1B98-7AE778954C70}"/>
              </a:ext>
            </a:extLst>
          </p:cNvPr>
          <p:cNvSpPr/>
          <p:nvPr/>
        </p:nvSpPr>
        <p:spPr>
          <a:xfrm>
            <a:off x="9519271" y="2336858"/>
            <a:ext cx="1570760" cy="643170"/>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S5. SRO is generated for all required PMA services in the next month</a:t>
            </a:r>
          </a:p>
        </p:txBody>
      </p:sp>
      <p:sp>
        <p:nvSpPr>
          <p:cNvPr id="65" name="Flowchart: Internal Storage 64">
            <a:extLst>
              <a:ext uri="{FF2B5EF4-FFF2-40B4-BE49-F238E27FC236}">
                <a16:creationId xmlns:a16="http://schemas.microsoft.com/office/drawing/2014/main" id="{87B01A1A-DEB6-C614-E00F-64654A2E9691}"/>
              </a:ext>
            </a:extLst>
          </p:cNvPr>
          <p:cNvSpPr/>
          <p:nvPr/>
        </p:nvSpPr>
        <p:spPr>
          <a:xfrm>
            <a:off x="4849183" y="3729070"/>
            <a:ext cx="2010726" cy="643170"/>
          </a:xfrm>
          <a:prstGeom prst="flowChartInternalStorage">
            <a:avLst/>
          </a:prstGeom>
          <a:solidFill>
            <a:srgbClr val="FFFF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S6. See Service Order Process starting from Schedule </a:t>
            </a:r>
          </a:p>
        </p:txBody>
      </p:sp>
      <p:cxnSp>
        <p:nvCxnSpPr>
          <p:cNvPr id="67" name="Connector: Elbow 28">
            <a:extLst>
              <a:ext uri="{FF2B5EF4-FFF2-40B4-BE49-F238E27FC236}">
                <a16:creationId xmlns:a16="http://schemas.microsoft.com/office/drawing/2014/main" id="{1EF7F6DE-C892-9297-C491-4DEAD5B9EFEB}"/>
              </a:ext>
            </a:extLst>
          </p:cNvPr>
          <p:cNvCxnSpPr>
            <a:cxnSpLocks/>
            <a:stCxn id="57" idx="3"/>
            <a:endCxn id="62" idx="1"/>
          </p:cNvCxnSpPr>
          <p:nvPr/>
        </p:nvCxnSpPr>
        <p:spPr>
          <a:xfrm>
            <a:off x="7251559" y="2658443"/>
            <a:ext cx="523889" cy="0"/>
          </a:xfrm>
          <a:prstGeom prst="straightConnector1">
            <a:avLst/>
          </a:prstGeom>
          <a:ln w="381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68" name="Connector: Elbow 28">
            <a:extLst>
              <a:ext uri="{FF2B5EF4-FFF2-40B4-BE49-F238E27FC236}">
                <a16:creationId xmlns:a16="http://schemas.microsoft.com/office/drawing/2014/main" id="{942808F8-7A8B-E0C8-1A1F-1C16E644E983}"/>
              </a:ext>
            </a:extLst>
          </p:cNvPr>
          <p:cNvCxnSpPr>
            <a:cxnSpLocks/>
            <a:stCxn id="62" idx="3"/>
            <a:endCxn id="63" idx="1"/>
          </p:cNvCxnSpPr>
          <p:nvPr/>
        </p:nvCxnSpPr>
        <p:spPr>
          <a:xfrm>
            <a:off x="9039211" y="2658443"/>
            <a:ext cx="480060" cy="0"/>
          </a:xfrm>
          <a:prstGeom prst="straightConnector1">
            <a:avLst/>
          </a:prstGeom>
          <a:ln w="381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69" name="Connector: Elbow 28">
            <a:extLst>
              <a:ext uri="{FF2B5EF4-FFF2-40B4-BE49-F238E27FC236}">
                <a16:creationId xmlns:a16="http://schemas.microsoft.com/office/drawing/2014/main" id="{7D6798F2-A0CF-396E-857A-285DA2A7454F}"/>
              </a:ext>
            </a:extLst>
          </p:cNvPr>
          <p:cNvCxnSpPr>
            <a:cxnSpLocks/>
            <a:stCxn id="63" idx="2"/>
            <a:endCxn id="65" idx="0"/>
          </p:cNvCxnSpPr>
          <p:nvPr/>
        </p:nvCxnSpPr>
        <p:spPr>
          <a:xfrm rot="5400000">
            <a:off x="7705078" y="1129497"/>
            <a:ext cx="749042" cy="4450105"/>
          </a:xfrm>
          <a:prstGeom prst="bentConnector3">
            <a:avLst>
              <a:gd name="adj1" fmla="val 50000"/>
            </a:avLst>
          </a:prstGeom>
          <a:ln w="381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70" name="Flowchart: Document 69">
            <a:extLst>
              <a:ext uri="{FF2B5EF4-FFF2-40B4-BE49-F238E27FC236}">
                <a16:creationId xmlns:a16="http://schemas.microsoft.com/office/drawing/2014/main" id="{632C723C-F84B-AE99-04BB-7A9164CE176F}"/>
              </a:ext>
            </a:extLst>
          </p:cNvPr>
          <p:cNvSpPr/>
          <p:nvPr/>
        </p:nvSpPr>
        <p:spPr>
          <a:xfrm>
            <a:off x="549402" y="1006795"/>
            <a:ext cx="1641714" cy="862354"/>
          </a:xfrm>
          <a:prstGeom prst="flowChartDocumen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Our PMA Sales staff contacts the customer or a recently installed generator customer calls us on the suggestion of the Technician</a:t>
            </a:r>
          </a:p>
        </p:txBody>
      </p:sp>
      <p:sp>
        <p:nvSpPr>
          <p:cNvPr id="3" name="Parlance">
            <a:extLst>
              <a:ext uri="{FF2B5EF4-FFF2-40B4-BE49-F238E27FC236}">
                <a16:creationId xmlns:a16="http://schemas.microsoft.com/office/drawing/2014/main" id="{BA89AAF5-B50F-B1ED-C788-F4C543184D49}"/>
              </a:ext>
            </a:extLst>
          </p:cNvPr>
          <p:cNvSpPr txBox="1"/>
          <p:nvPr/>
        </p:nvSpPr>
        <p:spPr>
          <a:xfrm>
            <a:off x="1401244" y="629044"/>
            <a:ext cx="8906605" cy="246221"/>
          </a:xfrm>
          <a:prstGeom prst="rect">
            <a:avLst/>
          </a:prstGeom>
          <a:noFill/>
        </p:spPr>
        <p:txBody>
          <a:bodyPr wrap="none" rtlCol="0">
            <a:spAutoFit/>
          </a:bodyPr>
          <a:lstStyle/>
          <a:p>
            <a:r>
              <a:rPr lang="en-US" sz="1000" dirty="0">
                <a:solidFill>
                  <a:schemeClr val="bg1"/>
                </a:solidFill>
              </a:rPr>
              <a:t>The creator of this slide  appreciates the Infor System’s  Process Intelligence which became the basis for process creation and verification and finally the training System</a:t>
            </a:r>
          </a:p>
        </p:txBody>
      </p:sp>
      <p:cxnSp>
        <p:nvCxnSpPr>
          <p:cNvPr id="71" name="Connector: Elbow 28">
            <a:extLst>
              <a:ext uri="{FF2B5EF4-FFF2-40B4-BE49-F238E27FC236}">
                <a16:creationId xmlns:a16="http://schemas.microsoft.com/office/drawing/2014/main" id="{8E5B66BC-35E2-61DB-D380-EC960EC4F9C7}"/>
              </a:ext>
            </a:extLst>
          </p:cNvPr>
          <p:cNvCxnSpPr>
            <a:cxnSpLocks/>
            <a:stCxn id="70" idx="2"/>
            <a:endCxn id="52" idx="0"/>
          </p:cNvCxnSpPr>
          <p:nvPr/>
        </p:nvCxnSpPr>
        <p:spPr>
          <a:xfrm rot="16200000" flipH="1">
            <a:off x="1470992" y="1711404"/>
            <a:ext cx="524720" cy="726187"/>
          </a:xfrm>
          <a:prstGeom prst="bentConnector3">
            <a:avLst>
              <a:gd name="adj1" fmla="val 50000"/>
            </a:avLst>
          </a:prstGeom>
          <a:ln w="381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2" name="-S2. Contract Maintenance Schedule is prepare">
            <a:extLst>
              <a:ext uri="{FF2B5EF4-FFF2-40B4-BE49-F238E27FC236}">
                <a16:creationId xmlns:a16="http://schemas.microsoft.com/office/drawing/2014/main" id="{2D954F91-142C-31DA-2027-915ADDEF70AB}"/>
              </a:ext>
            </a:extLst>
          </p:cNvPr>
          <p:cNvSpPr>
            <a:spLocks noGrp="1"/>
          </p:cNvSpPr>
          <p:nvPr>
            <p:ph type="title"/>
          </p:nvPr>
        </p:nvSpPr>
        <p:spPr>
          <a:xfrm>
            <a:off x="726132" y="122387"/>
            <a:ext cx="10515600" cy="399216"/>
          </a:xfrm>
        </p:spPr>
        <p:txBody>
          <a:bodyPr>
            <a:noAutofit/>
          </a:bodyPr>
          <a:lstStyle/>
          <a:p>
            <a:pPr algn="ctr"/>
            <a:r>
              <a:rPr lang="en-US" sz="1800" b="1" dirty="0"/>
              <a:t>S2. Contract Maintenance Schedule is prepared - PPS Service Rental</a:t>
            </a:r>
          </a:p>
        </p:txBody>
      </p:sp>
    </p:spTree>
    <p:extLst>
      <p:ext uri="{BB962C8B-B14F-4D97-AF65-F5344CB8AC3E}">
        <p14:creationId xmlns:p14="http://schemas.microsoft.com/office/powerpoint/2010/main" val="26001970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F7F429-E861-0654-761C-52092CE9D8B6}"/>
            </a:ext>
          </a:extLst>
        </p:cNvPr>
        <p:cNvGrpSpPr/>
        <p:nvPr/>
      </p:nvGrpSpPr>
      <p:grpSpPr>
        <a:xfrm>
          <a:off x="0" y="0"/>
          <a:ext cx="0" cy="0"/>
          <a:chOff x="0" y="0"/>
          <a:chExt cx="0" cy="0"/>
        </a:xfrm>
      </p:grpSpPr>
      <p:sp>
        <p:nvSpPr>
          <p:cNvPr id="18" name="TextBox 17">
            <a:extLst>
              <a:ext uri="{FF2B5EF4-FFF2-40B4-BE49-F238E27FC236}">
                <a16:creationId xmlns:a16="http://schemas.microsoft.com/office/drawing/2014/main" id="{E7107FFA-F783-D2A7-3C6B-C27F28EE7E31}"/>
              </a:ext>
            </a:extLst>
          </p:cNvPr>
          <p:cNvSpPr txBox="1"/>
          <p:nvPr/>
        </p:nvSpPr>
        <p:spPr>
          <a:xfrm>
            <a:off x="135429" y="5872043"/>
            <a:ext cx="994285" cy="461665"/>
          </a:xfrm>
          <a:prstGeom prst="rect">
            <a:avLst/>
          </a:prstGeom>
          <a:noFill/>
        </p:spPr>
        <p:txBody>
          <a:bodyPr wrap="square" rtlCol="0">
            <a:spAutoFit/>
          </a:bodyPr>
          <a:lstStyle/>
          <a:p>
            <a:r>
              <a:rPr lang="en-US" sz="800" dirty="0"/>
              <a:t>Base Created by TS VM TSD KC and BW  06 09 2025 </a:t>
            </a:r>
          </a:p>
        </p:txBody>
      </p:sp>
      <p:sp>
        <p:nvSpPr>
          <p:cNvPr id="23" name="TextBox 22">
            <a:extLst>
              <a:ext uri="{FF2B5EF4-FFF2-40B4-BE49-F238E27FC236}">
                <a16:creationId xmlns:a16="http://schemas.microsoft.com/office/drawing/2014/main" id="{F60D5A36-C1D7-2A2A-9EF0-FBA1C291FC98}"/>
              </a:ext>
            </a:extLst>
          </p:cNvPr>
          <p:cNvSpPr txBox="1"/>
          <p:nvPr/>
        </p:nvSpPr>
        <p:spPr>
          <a:xfrm>
            <a:off x="124769" y="6361250"/>
            <a:ext cx="994285" cy="461665"/>
          </a:xfrm>
          <a:prstGeom prst="rect">
            <a:avLst/>
          </a:prstGeom>
          <a:noFill/>
        </p:spPr>
        <p:txBody>
          <a:bodyPr wrap="square" rtlCol="0">
            <a:spAutoFit/>
          </a:bodyPr>
          <a:lstStyle/>
          <a:p>
            <a:r>
              <a:rPr lang="en-US" sz="800" dirty="0"/>
              <a:t>Train Slide updated by TS VM SR TD MS</a:t>
            </a:r>
          </a:p>
          <a:p>
            <a:r>
              <a:rPr lang="en-US" sz="800" dirty="0"/>
              <a:t> 25 12 23  1120</a:t>
            </a:r>
          </a:p>
        </p:txBody>
      </p:sp>
      <p:sp>
        <p:nvSpPr>
          <p:cNvPr id="38" name="Rectangle 37">
            <a:extLst>
              <a:ext uri="{FF2B5EF4-FFF2-40B4-BE49-F238E27FC236}">
                <a16:creationId xmlns:a16="http://schemas.microsoft.com/office/drawing/2014/main" id="{DBED1DF8-84C1-AE86-5901-A80EE93F6494}"/>
              </a:ext>
            </a:extLst>
          </p:cNvPr>
          <p:cNvSpPr/>
          <p:nvPr/>
        </p:nvSpPr>
        <p:spPr>
          <a:xfrm>
            <a:off x="5724223" y="2074497"/>
            <a:ext cx="1987689" cy="1240772"/>
          </a:xfrm>
          <a:prstGeom prst="rect">
            <a:avLst/>
          </a:prstGeom>
          <a:solidFill>
            <a:schemeClr val="accent4">
              <a:lumMod val="20000"/>
              <a:lumOff val="80000"/>
              <a:alpha val="3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sz="1400" b="1" dirty="0">
                <a:solidFill>
                  <a:schemeClr val="accent1">
                    <a:lumMod val="50000"/>
                  </a:schemeClr>
                </a:solidFill>
              </a:rPr>
              <a:t>Process Being Presented</a:t>
            </a:r>
          </a:p>
        </p:txBody>
      </p:sp>
      <p:sp>
        <p:nvSpPr>
          <p:cNvPr id="45" name="TextBox 44">
            <a:extLst>
              <a:ext uri="{FF2B5EF4-FFF2-40B4-BE49-F238E27FC236}">
                <a16:creationId xmlns:a16="http://schemas.microsoft.com/office/drawing/2014/main" id="{321B5F33-0653-6C34-A9C8-94DF01FE1AF3}"/>
              </a:ext>
            </a:extLst>
          </p:cNvPr>
          <p:cNvSpPr txBox="1"/>
          <p:nvPr/>
        </p:nvSpPr>
        <p:spPr>
          <a:xfrm>
            <a:off x="1597397" y="5972202"/>
            <a:ext cx="1015649" cy="471755"/>
          </a:xfrm>
          <a:prstGeom prst="flowChartInternalStorage">
            <a:avLst/>
          </a:prstGeom>
          <a:solidFill>
            <a:srgbClr val="FFFF00"/>
          </a:solidFill>
          <a:ln>
            <a:solidFill>
              <a:schemeClr val="tx1"/>
            </a:solidFill>
          </a:ln>
        </p:spPr>
        <p:txBody>
          <a:bodyPr wrap="square" rtlCol="0">
            <a:spAutoFit/>
          </a:bodyPr>
          <a:lstStyle/>
          <a:p>
            <a:pPr algn="ctr"/>
            <a:r>
              <a:rPr lang="en-US" sz="1050" b="1" dirty="0"/>
              <a:t>Represents a Sub SOP</a:t>
            </a:r>
          </a:p>
        </p:txBody>
      </p:sp>
      <p:sp>
        <p:nvSpPr>
          <p:cNvPr id="50" name="TextBox 49">
            <a:extLst>
              <a:ext uri="{FF2B5EF4-FFF2-40B4-BE49-F238E27FC236}">
                <a16:creationId xmlns:a16="http://schemas.microsoft.com/office/drawing/2014/main" id="{AB160E31-4704-A0E2-3D14-AF0B0D523A23}"/>
              </a:ext>
            </a:extLst>
          </p:cNvPr>
          <p:cNvSpPr txBox="1"/>
          <p:nvPr/>
        </p:nvSpPr>
        <p:spPr>
          <a:xfrm>
            <a:off x="4362280" y="5764453"/>
            <a:ext cx="4173546" cy="415498"/>
          </a:xfrm>
          <a:prstGeom prst="rect">
            <a:avLst/>
          </a:prstGeom>
          <a:noFill/>
        </p:spPr>
        <p:txBody>
          <a:bodyPr wrap="square" rtlCol="0">
            <a:spAutoFit/>
          </a:bodyPr>
          <a:lstStyle/>
          <a:p>
            <a:r>
              <a:rPr lang="en-US" sz="1050" dirty="0"/>
              <a:t>Normally this would fall under the preview of an Operation Procedure Manual or OPM  since it call on a SOP it is treated as a SOP </a:t>
            </a:r>
          </a:p>
        </p:txBody>
      </p:sp>
      <p:sp>
        <p:nvSpPr>
          <p:cNvPr id="52" name="Rectangle 51">
            <a:extLst>
              <a:ext uri="{FF2B5EF4-FFF2-40B4-BE49-F238E27FC236}">
                <a16:creationId xmlns:a16="http://schemas.microsoft.com/office/drawing/2014/main" id="{23C40853-3B15-35A4-E8DD-EC5E03232201}"/>
              </a:ext>
            </a:extLst>
          </p:cNvPr>
          <p:cNvSpPr/>
          <p:nvPr/>
        </p:nvSpPr>
        <p:spPr>
          <a:xfrm>
            <a:off x="1275588" y="2336858"/>
            <a:ext cx="1641715" cy="643170"/>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S1 Contract is created using a template and a Line/SN is added</a:t>
            </a:r>
          </a:p>
        </p:txBody>
      </p:sp>
      <p:cxnSp>
        <p:nvCxnSpPr>
          <p:cNvPr id="54" name="Connector: Elbow 28">
            <a:extLst>
              <a:ext uri="{FF2B5EF4-FFF2-40B4-BE49-F238E27FC236}">
                <a16:creationId xmlns:a16="http://schemas.microsoft.com/office/drawing/2014/main" id="{0B44BBC7-D1D7-342A-B4F1-157527421844}"/>
              </a:ext>
            </a:extLst>
          </p:cNvPr>
          <p:cNvCxnSpPr>
            <a:cxnSpLocks/>
            <a:stCxn id="52" idx="3"/>
            <a:endCxn id="56" idx="1"/>
          </p:cNvCxnSpPr>
          <p:nvPr/>
        </p:nvCxnSpPr>
        <p:spPr>
          <a:xfrm>
            <a:off x="2917303" y="2658443"/>
            <a:ext cx="568085" cy="0"/>
          </a:xfrm>
          <a:prstGeom prst="straightConnector1">
            <a:avLst/>
          </a:prstGeom>
          <a:ln w="381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56" name="Rectangle 55">
            <a:extLst>
              <a:ext uri="{FF2B5EF4-FFF2-40B4-BE49-F238E27FC236}">
                <a16:creationId xmlns:a16="http://schemas.microsoft.com/office/drawing/2014/main" id="{638682A7-4224-349E-7FD6-1DBDF74F79FE}"/>
              </a:ext>
            </a:extLst>
          </p:cNvPr>
          <p:cNvSpPr/>
          <p:nvPr/>
        </p:nvSpPr>
        <p:spPr>
          <a:xfrm>
            <a:off x="3485388" y="2336858"/>
            <a:ext cx="2097391" cy="643170"/>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S2. Contract Maintenance schedule is filled out. Using the first day of what month service is requested</a:t>
            </a:r>
          </a:p>
        </p:txBody>
      </p:sp>
      <p:sp>
        <p:nvSpPr>
          <p:cNvPr id="57" name="Rectangle 56">
            <a:extLst>
              <a:ext uri="{FF2B5EF4-FFF2-40B4-BE49-F238E27FC236}">
                <a16:creationId xmlns:a16="http://schemas.microsoft.com/office/drawing/2014/main" id="{F832EB4C-9224-BBEB-9D3C-1C4CC39DCD4E}"/>
              </a:ext>
            </a:extLst>
          </p:cNvPr>
          <p:cNvSpPr/>
          <p:nvPr/>
        </p:nvSpPr>
        <p:spPr>
          <a:xfrm>
            <a:off x="6096000" y="2336858"/>
            <a:ext cx="1155559" cy="643170"/>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S3. Fixed billing total is entered</a:t>
            </a:r>
          </a:p>
        </p:txBody>
      </p:sp>
      <p:cxnSp>
        <p:nvCxnSpPr>
          <p:cNvPr id="60" name="Connector: Elbow 28">
            <a:extLst>
              <a:ext uri="{FF2B5EF4-FFF2-40B4-BE49-F238E27FC236}">
                <a16:creationId xmlns:a16="http://schemas.microsoft.com/office/drawing/2014/main" id="{97BEB9F8-15BD-B213-C423-BA73EE99EA09}"/>
              </a:ext>
            </a:extLst>
          </p:cNvPr>
          <p:cNvCxnSpPr>
            <a:cxnSpLocks/>
            <a:stCxn id="56" idx="3"/>
            <a:endCxn id="57" idx="1"/>
          </p:cNvCxnSpPr>
          <p:nvPr/>
        </p:nvCxnSpPr>
        <p:spPr>
          <a:xfrm>
            <a:off x="5582779" y="2658443"/>
            <a:ext cx="513221" cy="0"/>
          </a:xfrm>
          <a:prstGeom prst="straightConnector1">
            <a:avLst/>
          </a:prstGeom>
          <a:ln w="381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62" name="Rectangle 61">
            <a:extLst>
              <a:ext uri="{FF2B5EF4-FFF2-40B4-BE49-F238E27FC236}">
                <a16:creationId xmlns:a16="http://schemas.microsoft.com/office/drawing/2014/main" id="{602C9A42-EBD2-53B9-8901-A8871BC1568D}"/>
              </a:ext>
            </a:extLst>
          </p:cNvPr>
          <p:cNvSpPr/>
          <p:nvPr/>
        </p:nvSpPr>
        <p:spPr>
          <a:xfrm>
            <a:off x="7775448" y="2336858"/>
            <a:ext cx="1263763" cy="643170"/>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S4. Contract SRO generator utility is run in the middle of each month </a:t>
            </a:r>
          </a:p>
        </p:txBody>
      </p:sp>
      <p:sp>
        <p:nvSpPr>
          <p:cNvPr id="63" name="Rectangle 62">
            <a:extLst>
              <a:ext uri="{FF2B5EF4-FFF2-40B4-BE49-F238E27FC236}">
                <a16:creationId xmlns:a16="http://schemas.microsoft.com/office/drawing/2014/main" id="{05F9361D-A0CE-7CAF-C86F-8D9F8D5D403B}"/>
              </a:ext>
            </a:extLst>
          </p:cNvPr>
          <p:cNvSpPr/>
          <p:nvPr/>
        </p:nvSpPr>
        <p:spPr>
          <a:xfrm>
            <a:off x="9519271" y="2336858"/>
            <a:ext cx="1570760" cy="643170"/>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S5. SRO is generated for all required PMA services in the next month</a:t>
            </a:r>
          </a:p>
        </p:txBody>
      </p:sp>
      <p:sp>
        <p:nvSpPr>
          <p:cNvPr id="65" name="Flowchart: Internal Storage 64">
            <a:extLst>
              <a:ext uri="{FF2B5EF4-FFF2-40B4-BE49-F238E27FC236}">
                <a16:creationId xmlns:a16="http://schemas.microsoft.com/office/drawing/2014/main" id="{862C82B6-B271-BA82-20C5-51235459A34A}"/>
              </a:ext>
            </a:extLst>
          </p:cNvPr>
          <p:cNvSpPr/>
          <p:nvPr/>
        </p:nvSpPr>
        <p:spPr>
          <a:xfrm>
            <a:off x="4849183" y="3729070"/>
            <a:ext cx="2010726" cy="643170"/>
          </a:xfrm>
          <a:prstGeom prst="flowChartInternalStorage">
            <a:avLst/>
          </a:prstGeom>
          <a:solidFill>
            <a:srgbClr val="FFFF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S6. See Service Order Process starting from Schedule </a:t>
            </a:r>
          </a:p>
        </p:txBody>
      </p:sp>
      <p:cxnSp>
        <p:nvCxnSpPr>
          <p:cNvPr id="67" name="Connector: Elbow 28">
            <a:extLst>
              <a:ext uri="{FF2B5EF4-FFF2-40B4-BE49-F238E27FC236}">
                <a16:creationId xmlns:a16="http://schemas.microsoft.com/office/drawing/2014/main" id="{1ABBE99D-2478-6064-A61E-82E9C7D65940}"/>
              </a:ext>
            </a:extLst>
          </p:cNvPr>
          <p:cNvCxnSpPr>
            <a:cxnSpLocks/>
            <a:stCxn id="57" idx="3"/>
            <a:endCxn id="62" idx="1"/>
          </p:cNvCxnSpPr>
          <p:nvPr/>
        </p:nvCxnSpPr>
        <p:spPr>
          <a:xfrm>
            <a:off x="7251559" y="2658443"/>
            <a:ext cx="523889" cy="0"/>
          </a:xfrm>
          <a:prstGeom prst="straightConnector1">
            <a:avLst/>
          </a:prstGeom>
          <a:ln w="381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68" name="Connector: Elbow 28">
            <a:extLst>
              <a:ext uri="{FF2B5EF4-FFF2-40B4-BE49-F238E27FC236}">
                <a16:creationId xmlns:a16="http://schemas.microsoft.com/office/drawing/2014/main" id="{DB881342-D4EC-0710-4FDB-536A22B00015}"/>
              </a:ext>
            </a:extLst>
          </p:cNvPr>
          <p:cNvCxnSpPr>
            <a:cxnSpLocks/>
            <a:stCxn id="62" idx="3"/>
            <a:endCxn id="63" idx="1"/>
          </p:cNvCxnSpPr>
          <p:nvPr/>
        </p:nvCxnSpPr>
        <p:spPr>
          <a:xfrm>
            <a:off x="9039211" y="2658443"/>
            <a:ext cx="480060" cy="0"/>
          </a:xfrm>
          <a:prstGeom prst="straightConnector1">
            <a:avLst/>
          </a:prstGeom>
          <a:ln w="381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69" name="Connector: Elbow 28">
            <a:extLst>
              <a:ext uri="{FF2B5EF4-FFF2-40B4-BE49-F238E27FC236}">
                <a16:creationId xmlns:a16="http://schemas.microsoft.com/office/drawing/2014/main" id="{640C4B81-2000-C33B-8208-95ED33F7C713}"/>
              </a:ext>
            </a:extLst>
          </p:cNvPr>
          <p:cNvCxnSpPr>
            <a:cxnSpLocks/>
            <a:stCxn id="63" idx="2"/>
            <a:endCxn id="65" idx="0"/>
          </p:cNvCxnSpPr>
          <p:nvPr/>
        </p:nvCxnSpPr>
        <p:spPr>
          <a:xfrm rot="5400000">
            <a:off x="7705078" y="1129497"/>
            <a:ext cx="749042" cy="4450105"/>
          </a:xfrm>
          <a:prstGeom prst="bentConnector3">
            <a:avLst>
              <a:gd name="adj1" fmla="val 50000"/>
            </a:avLst>
          </a:prstGeom>
          <a:ln w="381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70" name="Flowchart: Document 69">
            <a:extLst>
              <a:ext uri="{FF2B5EF4-FFF2-40B4-BE49-F238E27FC236}">
                <a16:creationId xmlns:a16="http://schemas.microsoft.com/office/drawing/2014/main" id="{7DED65D1-C2D2-4AB2-940D-E766D72C1ACE}"/>
              </a:ext>
            </a:extLst>
          </p:cNvPr>
          <p:cNvSpPr/>
          <p:nvPr/>
        </p:nvSpPr>
        <p:spPr>
          <a:xfrm>
            <a:off x="549402" y="1006795"/>
            <a:ext cx="1641714" cy="862354"/>
          </a:xfrm>
          <a:prstGeom prst="flowChartDocumen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Our PMA Sales staff contacts the customer or a recently installed generator customer calls us on the suggestion of the Technician</a:t>
            </a:r>
          </a:p>
        </p:txBody>
      </p:sp>
      <p:sp>
        <p:nvSpPr>
          <p:cNvPr id="3" name="Parlance">
            <a:extLst>
              <a:ext uri="{FF2B5EF4-FFF2-40B4-BE49-F238E27FC236}">
                <a16:creationId xmlns:a16="http://schemas.microsoft.com/office/drawing/2014/main" id="{36C2F024-4707-8029-03CF-33FFC48E0B41}"/>
              </a:ext>
            </a:extLst>
          </p:cNvPr>
          <p:cNvSpPr txBox="1"/>
          <p:nvPr/>
        </p:nvSpPr>
        <p:spPr>
          <a:xfrm>
            <a:off x="1401244" y="629044"/>
            <a:ext cx="8906605" cy="246221"/>
          </a:xfrm>
          <a:prstGeom prst="rect">
            <a:avLst/>
          </a:prstGeom>
          <a:noFill/>
        </p:spPr>
        <p:txBody>
          <a:bodyPr wrap="none" rtlCol="0">
            <a:spAutoFit/>
          </a:bodyPr>
          <a:lstStyle/>
          <a:p>
            <a:r>
              <a:rPr lang="en-US" sz="1000" dirty="0">
                <a:solidFill>
                  <a:schemeClr val="bg1"/>
                </a:solidFill>
              </a:rPr>
              <a:t>The creator of this slide  appreciates the Infor System’s  Process Intelligence which became the basis for process creation and verification and finally the training System</a:t>
            </a:r>
          </a:p>
        </p:txBody>
      </p:sp>
      <p:cxnSp>
        <p:nvCxnSpPr>
          <p:cNvPr id="71" name="Connector: Elbow 28">
            <a:extLst>
              <a:ext uri="{FF2B5EF4-FFF2-40B4-BE49-F238E27FC236}">
                <a16:creationId xmlns:a16="http://schemas.microsoft.com/office/drawing/2014/main" id="{1C72C839-2BD5-8F50-DD3D-A7ABACB6673F}"/>
              </a:ext>
            </a:extLst>
          </p:cNvPr>
          <p:cNvCxnSpPr>
            <a:cxnSpLocks/>
            <a:stCxn id="70" idx="2"/>
            <a:endCxn id="52" idx="0"/>
          </p:cNvCxnSpPr>
          <p:nvPr/>
        </p:nvCxnSpPr>
        <p:spPr>
          <a:xfrm rot="16200000" flipH="1">
            <a:off x="1470992" y="1711404"/>
            <a:ext cx="524720" cy="726187"/>
          </a:xfrm>
          <a:prstGeom prst="bentConnector3">
            <a:avLst>
              <a:gd name="adj1" fmla="val 50000"/>
            </a:avLst>
          </a:prstGeom>
          <a:ln w="381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2" name="-S3. Fixed billing total is entered">
            <a:extLst>
              <a:ext uri="{FF2B5EF4-FFF2-40B4-BE49-F238E27FC236}">
                <a16:creationId xmlns:a16="http://schemas.microsoft.com/office/drawing/2014/main" id="{4C356348-3005-BD9D-374A-CD80B8178EF4}"/>
              </a:ext>
            </a:extLst>
          </p:cNvPr>
          <p:cNvSpPr>
            <a:spLocks noGrp="1"/>
          </p:cNvSpPr>
          <p:nvPr>
            <p:ph type="title"/>
          </p:nvPr>
        </p:nvSpPr>
        <p:spPr>
          <a:xfrm>
            <a:off x="726132" y="122387"/>
            <a:ext cx="10515600" cy="399216"/>
          </a:xfrm>
        </p:spPr>
        <p:txBody>
          <a:bodyPr>
            <a:noAutofit/>
          </a:bodyPr>
          <a:lstStyle/>
          <a:p>
            <a:pPr algn="ctr"/>
            <a:r>
              <a:rPr lang="en-US" sz="1800" b="1" dirty="0"/>
              <a:t>S3. Fixed billing total is entered  - PPS Service Rental</a:t>
            </a:r>
          </a:p>
        </p:txBody>
      </p:sp>
    </p:spTree>
    <p:extLst>
      <p:ext uri="{BB962C8B-B14F-4D97-AF65-F5344CB8AC3E}">
        <p14:creationId xmlns:p14="http://schemas.microsoft.com/office/powerpoint/2010/main" val="26359283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214D09-F149-2BC0-EE94-1ED8F6B1D342}"/>
            </a:ext>
          </a:extLst>
        </p:cNvPr>
        <p:cNvGrpSpPr/>
        <p:nvPr/>
      </p:nvGrpSpPr>
      <p:grpSpPr>
        <a:xfrm>
          <a:off x="0" y="0"/>
          <a:ext cx="0" cy="0"/>
          <a:chOff x="0" y="0"/>
          <a:chExt cx="0" cy="0"/>
        </a:xfrm>
      </p:grpSpPr>
      <p:sp>
        <p:nvSpPr>
          <p:cNvPr id="18" name="TextBox 17">
            <a:extLst>
              <a:ext uri="{FF2B5EF4-FFF2-40B4-BE49-F238E27FC236}">
                <a16:creationId xmlns:a16="http://schemas.microsoft.com/office/drawing/2014/main" id="{45F29030-E784-E2D0-F19D-504764242925}"/>
              </a:ext>
            </a:extLst>
          </p:cNvPr>
          <p:cNvSpPr txBox="1"/>
          <p:nvPr/>
        </p:nvSpPr>
        <p:spPr>
          <a:xfrm>
            <a:off x="135429" y="5872043"/>
            <a:ext cx="994285" cy="461665"/>
          </a:xfrm>
          <a:prstGeom prst="rect">
            <a:avLst/>
          </a:prstGeom>
          <a:noFill/>
        </p:spPr>
        <p:txBody>
          <a:bodyPr wrap="square" rtlCol="0">
            <a:spAutoFit/>
          </a:bodyPr>
          <a:lstStyle/>
          <a:p>
            <a:r>
              <a:rPr lang="en-US" sz="800" dirty="0"/>
              <a:t>Base Created by TS VM TSD KC and BW  06 09 2025 </a:t>
            </a:r>
          </a:p>
        </p:txBody>
      </p:sp>
      <p:sp>
        <p:nvSpPr>
          <p:cNvPr id="23" name="TextBox 22">
            <a:extLst>
              <a:ext uri="{FF2B5EF4-FFF2-40B4-BE49-F238E27FC236}">
                <a16:creationId xmlns:a16="http://schemas.microsoft.com/office/drawing/2014/main" id="{60A414EE-8CE6-C3A0-0962-A8E2A26A570F}"/>
              </a:ext>
            </a:extLst>
          </p:cNvPr>
          <p:cNvSpPr txBox="1"/>
          <p:nvPr/>
        </p:nvSpPr>
        <p:spPr>
          <a:xfrm>
            <a:off x="124769" y="6361250"/>
            <a:ext cx="994285" cy="461665"/>
          </a:xfrm>
          <a:prstGeom prst="rect">
            <a:avLst/>
          </a:prstGeom>
          <a:noFill/>
        </p:spPr>
        <p:txBody>
          <a:bodyPr wrap="square" rtlCol="0">
            <a:spAutoFit/>
          </a:bodyPr>
          <a:lstStyle/>
          <a:p>
            <a:r>
              <a:rPr lang="en-US" sz="800" dirty="0"/>
              <a:t>Train Slide updated by TS VM SR TD MS</a:t>
            </a:r>
          </a:p>
          <a:p>
            <a:r>
              <a:rPr lang="en-US" sz="800" dirty="0"/>
              <a:t> 25 12 23  1120</a:t>
            </a:r>
          </a:p>
        </p:txBody>
      </p:sp>
      <p:sp>
        <p:nvSpPr>
          <p:cNvPr id="38" name="Rectangle 37">
            <a:extLst>
              <a:ext uri="{FF2B5EF4-FFF2-40B4-BE49-F238E27FC236}">
                <a16:creationId xmlns:a16="http://schemas.microsoft.com/office/drawing/2014/main" id="{B69D435C-2896-8095-8E49-B30BA0366778}"/>
              </a:ext>
            </a:extLst>
          </p:cNvPr>
          <p:cNvSpPr/>
          <p:nvPr/>
        </p:nvSpPr>
        <p:spPr>
          <a:xfrm>
            <a:off x="7359763" y="2074497"/>
            <a:ext cx="1987689" cy="1240772"/>
          </a:xfrm>
          <a:prstGeom prst="rect">
            <a:avLst/>
          </a:prstGeom>
          <a:solidFill>
            <a:schemeClr val="accent4">
              <a:lumMod val="20000"/>
              <a:lumOff val="80000"/>
              <a:alpha val="3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sz="1400" b="1" dirty="0">
                <a:solidFill>
                  <a:schemeClr val="accent1">
                    <a:lumMod val="50000"/>
                  </a:schemeClr>
                </a:solidFill>
              </a:rPr>
              <a:t>Process Being Presented</a:t>
            </a:r>
          </a:p>
        </p:txBody>
      </p:sp>
      <p:sp>
        <p:nvSpPr>
          <p:cNvPr id="45" name="TextBox 44">
            <a:extLst>
              <a:ext uri="{FF2B5EF4-FFF2-40B4-BE49-F238E27FC236}">
                <a16:creationId xmlns:a16="http://schemas.microsoft.com/office/drawing/2014/main" id="{2852B3FF-3DE7-0EAC-2B20-8632F21A321A}"/>
              </a:ext>
            </a:extLst>
          </p:cNvPr>
          <p:cNvSpPr txBox="1"/>
          <p:nvPr/>
        </p:nvSpPr>
        <p:spPr>
          <a:xfrm>
            <a:off x="1597397" y="5972202"/>
            <a:ext cx="1015649" cy="471755"/>
          </a:xfrm>
          <a:prstGeom prst="flowChartInternalStorage">
            <a:avLst/>
          </a:prstGeom>
          <a:solidFill>
            <a:srgbClr val="FFFF00"/>
          </a:solidFill>
          <a:ln>
            <a:solidFill>
              <a:schemeClr val="tx1"/>
            </a:solidFill>
          </a:ln>
        </p:spPr>
        <p:txBody>
          <a:bodyPr wrap="square" rtlCol="0">
            <a:spAutoFit/>
          </a:bodyPr>
          <a:lstStyle/>
          <a:p>
            <a:pPr algn="ctr"/>
            <a:r>
              <a:rPr lang="en-US" sz="1050" b="1" dirty="0"/>
              <a:t>Represents a Sub SOP</a:t>
            </a:r>
          </a:p>
        </p:txBody>
      </p:sp>
      <p:sp>
        <p:nvSpPr>
          <p:cNvPr id="50" name="TextBox 49">
            <a:extLst>
              <a:ext uri="{FF2B5EF4-FFF2-40B4-BE49-F238E27FC236}">
                <a16:creationId xmlns:a16="http://schemas.microsoft.com/office/drawing/2014/main" id="{DAA92DC2-5FF2-00E6-C3FF-3830609418F5}"/>
              </a:ext>
            </a:extLst>
          </p:cNvPr>
          <p:cNvSpPr txBox="1"/>
          <p:nvPr/>
        </p:nvSpPr>
        <p:spPr>
          <a:xfrm>
            <a:off x="4362280" y="5764453"/>
            <a:ext cx="4173546" cy="415498"/>
          </a:xfrm>
          <a:prstGeom prst="rect">
            <a:avLst/>
          </a:prstGeom>
          <a:noFill/>
        </p:spPr>
        <p:txBody>
          <a:bodyPr wrap="square" rtlCol="0">
            <a:spAutoFit/>
          </a:bodyPr>
          <a:lstStyle/>
          <a:p>
            <a:r>
              <a:rPr lang="en-US" sz="1050" dirty="0"/>
              <a:t>Normally this would fall under the preview of an Operation Procedure Manual or OPM  since it call on a SOP it is treated as a SOP </a:t>
            </a:r>
          </a:p>
        </p:txBody>
      </p:sp>
      <p:sp>
        <p:nvSpPr>
          <p:cNvPr id="52" name="Rectangle 51">
            <a:extLst>
              <a:ext uri="{FF2B5EF4-FFF2-40B4-BE49-F238E27FC236}">
                <a16:creationId xmlns:a16="http://schemas.microsoft.com/office/drawing/2014/main" id="{741A1021-216E-90E3-31AF-687987748572}"/>
              </a:ext>
            </a:extLst>
          </p:cNvPr>
          <p:cNvSpPr/>
          <p:nvPr/>
        </p:nvSpPr>
        <p:spPr>
          <a:xfrm>
            <a:off x="1275588" y="2336858"/>
            <a:ext cx="1641715" cy="643170"/>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S1 Contract is created using a template and a Line/SN is added</a:t>
            </a:r>
          </a:p>
        </p:txBody>
      </p:sp>
      <p:cxnSp>
        <p:nvCxnSpPr>
          <p:cNvPr id="54" name="Connector: Elbow 28">
            <a:extLst>
              <a:ext uri="{FF2B5EF4-FFF2-40B4-BE49-F238E27FC236}">
                <a16:creationId xmlns:a16="http://schemas.microsoft.com/office/drawing/2014/main" id="{B2B3256D-34AC-1DE3-3664-109E765F7D4D}"/>
              </a:ext>
            </a:extLst>
          </p:cNvPr>
          <p:cNvCxnSpPr>
            <a:cxnSpLocks/>
            <a:stCxn id="52" idx="3"/>
            <a:endCxn id="56" idx="1"/>
          </p:cNvCxnSpPr>
          <p:nvPr/>
        </p:nvCxnSpPr>
        <p:spPr>
          <a:xfrm>
            <a:off x="2917303" y="2658443"/>
            <a:ext cx="568085" cy="0"/>
          </a:xfrm>
          <a:prstGeom prst="straightConnector1">
            <a:avLst/>
          </a:prstGeom>
          <a:ln w="381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56" name="Rectangle 55">
            <a:extLst>
              <a:ext uri="{FF2B5EF4-FFF2-40B4-BE49-F238E27FC236}">
                <a16:creationId xmlns:a16="http://schemas.microsoft.com/office/drawing/2014/main" id="{2425A1BD-B1FB-53FF-7A25-F179508C81E8}"/>
              </a:ext>
            </a:extLst>
          </p:cNvPr>
          <p:cNvSpPr/>
          <p:nvPr/>
        </p:nvSpPr>
        <p:spPr>
          <a:xfrm>
            <a:off x="3485388" y="2336858"/>
            <a:ext cx="2097391" cy="643170"/>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S2. Contract Maintenance schedule is filled out. Using the first day of what month service is requested</a:t>
            </a:r>
          </a:p>
        </p:txBody>
      </p:sp>
      <p:sp>
        <p:nvSpPr>
          <p:cNvPr id="57" name="Rectangle 56">
            <a:extLst>
              <a:ext uri="{FF2B5EF4-FFF2-40B4-BE49-F238E27FC236}">
                <a16:creationId xmlns:a16="http://schemas.microsoft.com/office/drawing/2014/main" id="{F38D998C-F426-EE40-9842-92CAD1536708}"/>
              </a:ext>
            </a:extLst>
          </p:cNvPr>
          <p:cNvSpPr/>
          <p:nvPr/>
        </p:nvSpPr>
        <p:spPr>
          <a:xfrm>
            <a:off x="6096000" y="2336858"/>
            <a:ext cx="1155559" cy="643170"/>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S3. Fixed billing total is entered</a:t>
            </a:r>
          </a:p>
        </p:txBody>
      </p:sp>
      <p:cxnSp>
        <p:nvCxnSpPr>
          <p:cNvPr id="60" name="Connector: Elbow 28">
            <a:extLst>
              <a:ext uri="{FF2B5EF4-FFF2-40B4-BE49-F238E27FC236}">
                <a16:creationId xmlns:a16="http://schemas.microsoft.com/office/drawing/2014/main" id="{2BDF9BBF-C332-4899-A643-13403378BD3C}"/>
              </a:ext>
            </a:extLst>
          </p:cNvPr>
          <p:cNvCxnSpPr>
            <a:cxnSpLocks/>
            <a:stCxn id="56" idx="3"/>
            <a:endCxn id="57" idx="1"/>
          </p:cNvCxnSpPr>
          <p:nvPr/>
        </p:nvCxnSpPr>
        <p:spPr>
          <a:xfrm>
            <a:off x="5582779" y="2658443"/>
            <a:ext cx="513221" cy="0"/>
          </a:xfrm>
          <a:prstGeom prst="straightConnector1">
            <a:avLst/>
          </a:prstGeom>
          <a:ln w="381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62" name="Rectangle 61">
            <a:extLst>
              <a:ext uri="{FF2B5EF4-FFF2-40B4-BE49-F238E27FC236}">
                <a16:creationId xmlns:a16="http://schemas.microsoft.com/office/drawing/2014/main" id="{63FBAB3E-3767-11C9-4DF6-CE16AD6791BA}"/>
              </a:ext>
            </a:extLst>
          </p:cNvPr>
          <p:cNvSpPr/>
          <p:nvPr/>
        </p:nvSpPr>
        <p:spPr>
          <a:xfrm>
            <a:off x="7775448" y="2336858"/>
            <a:ext cx="1263763" cy="643170"/>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S4. Contract SRO generator utility is run in the middle of each month </a:t>
            </a:r>
          </a:p>
        </p:txBody>
      </p:sp>
      <p:sp>
        <p:nvSpPr>
          <p:cNvPr id="63" name="Rectangle 62">
            <a:extLst>
              <a:ext uri="{FF2B5EF4-FFF2-40B4-BE49-F238E27FC236}">
                <a16:creationId xmlns:a16="http://schemas.microsoft.com/office/drawing/2014/main" id="{01F223CF-F2EE-06ED-1862-C404B2A45B22}"/>
              </a:ext>
            </a:extLst>
          </p:cNvPr>
          <p:cNvSpPr/>
          <p:nvPr/>
        </p:nvSpPr>
        <p:spPr>
          <a:xfrm>
            <a:off x="9519271" y="2336858"/>
            <a:ext cx="1570760" cy="643170"/>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S5. SRO is generated for all required PMA services in the next month</a:t>
            </a:r>
          </a:p>
        </p:txBody>
      </p:sp>
      <p:sp>
        <p:nvSpPr>
          <p:cNvPr id="65" name="Flowchart: Internal Storage 64">
            <a:extLst>
              <a:ext uri="{FF2B5EF4-FFF2-40B4-BE49-F238E27FC236}">
                <a16:creationId xmlns:a16="http://schemas.microsoft.com/office/drawing/2014/main" id="{E6F443E8-7EB0-5729-C751-4E536FA1A9C0}"/>
              </a:ext>
            </a:extLst>
          </p:cNvPr>
          <p:cNvSpPr/>
          <p:nvPr/>
        </p:nvSpPr>
        <p:spPr>
          <a:xfrm>
            <a:off x="4849183" y="3729070"/>
            <a:ext cx="2010726" cy="643170"/>
          </a:xfrm>
          <a:prstGeom prst="flowChartInternalStorage">
            <a:avLst/>
          </a:prstGeom>
          <a:solidFill>
            <a:srgbClr val="FFFF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S6. See Service Order Process starting from Schedule </a:t>
            </a:r>
          </a:p>
        </p:txBody>
      </p:sp>
      <p:cxnSp>
        <p:nvCxnSpPr>
          <p:cNvPr id="67" name="Connector: Elbow 28">
            <a:extLst>
              <a:ext uri="{FF2B5EF4-FFF2-40B4-BE49-F238E27FC236}">
                <a16:creationId xmlns:a16="http://schemas.microsoft.com/office/drawing/2014/main" id="{19AD9FBF-4E62-6854-9896-9EAFBEAC01A9}"/>
              </a:ext>
            </a:extLst>
          </p:cNvPr>
          <p:cNvCxnSpPr>
            <a:cxnSpLocks/>
            <a:stCxn id="57" idx="3"/>
            <a:endCxn id="62" idx="1"/>
          </p:cNvCxnSpPr>
          <p:nvPr/>
        </p:nvCxnSpPr>
        <p:spPr>
          <a:xfrm>
            <a:off x="7251559" y="2658443"/>
            <a:ext cx="523889" cy="0"/>
          </a:xfrm>
          <a:prstGeom prst="straightConnector1">
            <a:avLst/>
          </a:prstGeom>
          <a:ln w="381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68" name="Connector: Elbow 28">
            <a:extLst>
              <a:ext uri="{FF2B5EF4-FFF2-40B4-BE49-F238E27FC236}">
                <a16:creationId xmlns:a16="http://schemas.microsoft.com/office/drawing/2014/main" id="{0CC8EC0F-6C0C-523D-1AE4-29D409A85D57}"/>
              </a:ext>
            </a:extLst>
          </p:cNvPr>
          <p:cNvCxnSpPr>
            <a:cxnSpLocks/>
            <a:stCxn id="62" idx="3"/>
            <a:endCxn id="63" idx="1"/>
          </p:cNvCxnSpPr>
          <p:nvPr/>
        </p:nvCxnSpPr>
        <p:spPr>
          <a:xfrm>
            <a:off x="9039211" y="2658443"/>
            <a:ext cx="480060" cy="0"/>
          </a:xfrm>
          <a:prstGeom prst="straightConnector1">
            <a:avLst/>
          </a:prstGeom>
          <a:ln w="381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69" name="Connector: Elbow 28">
            <a:extLst>
              <a:ext uri="{FF2B5EF4-FFF2-40B4-BE49-F238E27FC236}">
                <a16:creationId xmlns:a16="http://schemas.microsoft.com/office/drawing/2014/main" id="{E873C40C-54E8-16AE-319D-FF67B61F6C37}"/>
              </a:ext>
            </a:extLst>
          </p:cNvPr>
          <p:cNvCxnSpPr>
            <a:cxnSpLocks/>
            <a:stCxn id="63" idx="2"/>
            <a:endCxn id="65" idx="0"/>
          </p:cNvCxnSpPr>
          <p:nvPr/>
        </p:nvCxnSpPr>
        <p:spPr>
          <a:xfrm rot="5400000">
            <a:off x="7705078" y="1129497"/>
            <a:ext cx="749042" cy="4450105"/>
          </a:xfrm>
          <a:prstGeom prst="bentConnector3">
            <a:avLst>
              <a:gd name="adj1" fmla="val 50000"/>
            </a:avLst>
          </a:prstGeom>
          <a:ln w="381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70" name="Flowchart: Document 69">
            <a:extLst>
              <a:ext uri="{FF2B5EF4-FFF2-40B4-BE49-F238E27FC236}">
                <a16:creationId xmlns:a16="http://schemas.microsoft.com/office/drawing/2014/main" id="{C92363FC-E26A-125D-795E-D5B1AFD554AC}"/>
              </a:ext>
            </a:extLst>
          </p:cNvPr>
          <p:cNvSpPr/>
          <p:nvPr/>
        </p:nvSpPr>
        <p:spPr>
          <a:xfrm>
            <a:off x="549402" y="1006795"/>
            <a:ext cx="1641714" cy="862354"/>
          </a:xfrm>
          <a:prstGeom prst="flowChartDocumen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Our PMA Sales staff contacts the customer or a recently installed generator customer calls us on the suggestion of the Technician</a:t>
            </a:r>
          </a:p>
        </p:txBody>
      </p:sp>
      <p:sp>
        <p:nvSpPr>
          <p:cNvPr id="3" name="Parlance">
            <a:extLst>
              <a:ext uri="{FF2B5EF4-FFF2-40B4-BE49-F238E27FC236}">
                <a16:creationId xmlns:a16="http://schemas.microsoft.com/office/drawing/2014/main" id="{0F6BAB3E-98DD-03F5-DBCD-6B100525C10F}"/>
              </a:ext>
            </a:extLst>
          </p:cNvPr>
          <p:cNvSpPr txBox="1"/>
          <p:nvPr/>
        </p:nvSpPr>
        <p:spPr>
          <a:xfrm>
            <a:off x="1401244" y="629044"/>
            <a:ext cx="8906605" cy="246221"/>
          </a:xfrm>
          <a:prstGeom prst="rect">
            <a:avLst/>
          </a:prstGeom>
          <a:noFill/>
        </p:spPr>
        <p:txBody>
          <a:bodyPr wrap="none" rtlCol="0">
            <a:spAutoFit/>
          </a:bodyPr>
          <a:lstStyle/>
          <a:p>
            <a:r>
              <a:rPr lang="en-US" sz="1000" dirty="0">
                <a:solidFill>
                  <a:schemeClr val="bg1"/>
                </a:solidFill>
              </a:rPr>
              <a:t>The creator of this slide  appreciates the Infor System’s  Process Intelligence which became the basis for process creation and verification and finally the training System</a:t>
            </a:r>
          </a:p>
        </p:txBody>
      </p:sp>
      <p:cxnSp>
        <p:nvCxnSpPr>
          <p:cNvPr id="71" name="Connector: Elbow 28">
            <a:extLst>
              <a:ext uri="{FF2B5EF4-FFF2-40B4-BE49-F238E27FC236}">
                <a16:creationId xmlns:a16="http://schemas.microsoft.com/office/drawing/2014/main" id="{0A69F113-B302-5BC5-A087-59DFB0BAF54E}"/>
              </a:ext>
            </a:extLst>
          </p:cNvPr>
          <p:cNvCxnSpPr>
            <a:cxnSpLocks/>
            <a:stCxn id="70" idx="2"/>
            <a:endCxn id="52" idx="0"/>
          </p:cNvCxnSpPr>
          <p:nvPr/>
        </p:nvCxnSpPr>
        <p:spPr>
          <a:xfrm rot="16200000" flipH="1">
            <a:off x="1470992" y="1711404"/>
            <a:ext cx="524720" cy="726187"/>
          </a:xfrm>
          <a:prstGeom prst="bentConnector3">
            <a:avLst>
              <a:gd name="adj1" fmla="val 50000"/>
            </a:avLst>
          </a:prstGeom>
          <a:ln w="381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2" name="-S4. Contract SRO generator is run at mid month">
            <a:extLst>
              <a:ext uri="{FF2B5EF4-FFF2-40B4-BE49-F238E27FC236}">
                <a16:creationId xmlns:a16="http://schemas.microsoft.com/office/drawing/2014/main" id="{09CD4CBC-39A7-9863-BFC8-A3BF9EF64FA4}"/>
              </a:ext>
            </a:extLst>
          </p:cNvPr>
          <p:cNvSpPr>
            <a:spLocks noGrp="1"/>
          </p:cNvSpPr>
          <p:nvPr>
            <p:ph type="title"/>
          </p:nvPr>
        </p:nvSpPr>
        <p:spPr>
          <a:xfrm>
            <a:off x="726132" y="122387"/>
            <a:ext cx="10515600" cy="399216"/>
          </a:xfrm>
        </p:spPr>
        <p:txBody>
          <a:bodyPr>
            <a:noAutofit/>
          </a:bodyPr>
          <a:lstStyle/>
          <a:p>
            <a:pPr algn="ctr"/>
            <a:r>
              <a:rPr lang="en-US" sz="1800" b="1" dirty="0"/>
              <a:t>S4. Contract SRO generator is run at mid month - PPS Service Rental</a:t>
            </a:r>
          </a:p>
        </p:txBody>
      </p:sp>
    </p:spTree>
    <p:extLst>
      <p:ext uri="{BB962C8B-B14F-4D97-AF65-F5344CB8AC3E}">
        <p14:creationId xmlns:p14="http://schemas.microsoft.com/office/powerpoint/2010/main" val="16649589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B8B68B-4416-D65E-1CBE-01706E8646E1}"/>
            </a:ext>
          </a:extLst>
        </p:cNvPr>
        <p:cNvGrpSpPr/>
        <p:nvPr/>
      </p:nvGrpSpPr>
      <p:grpSpPr>
        <a:xfrm>
          <a:off x="0" y="0"/>
          <a:ext cx="0" cy="0"/>
          <a:chOff x="0" y="0"/>
          <a:chExt cx="0" cy="0"/>
        </a:xfrm>
      </p:grpSpPr>
      <p:sp>
        <p:nvSpPr>
          <p:cNvPr id="18" name="TextBox 17">
            <a:extLst>
              <a:ext uri="{FF2B5EF4-FFF2-40B4-BE49-F238E27FC236}">
                <a16:creationId xmlns:a16="http://schemas.microsoft.com/office/drawing/2014/main" id="{ABAF53FA-B20A-4745-0825-1885BE1D5063}"/>
              </a:ext>
            </a:extLst>
          </p:cNvPr>
          <p:cNvSpPr txBox="1"/>
          <p:nvPr/>
        </p:nvSpPr>
        <p:spPr>
          <a:xfrm>
            <a:off x="135429" y="5872043"/>
            <a:ext cx="994285" cy="461665"/>
          </a:xfrm>
          <a:prstGeom prst="rect">
            <a:avLst/>
          </a:prstGeom>
          <a:noFill/>
        </p:spPr>
        <p:txBody>
          <a:bodyPr wrap="square" rtlCol="0">
            <a:spAutoFit/>
          </a:bodyPr>
          <a:lstStyle/>
          <a:p>
            <a:r>
              <a:rPr lang="en-US" sz="800" dirty="0"/>
              <a:t>Base Created by TS VM TSD KC and BW  06 09 2025 </a:t>
            </a:r>
          </a:p>
        </p:txBody>
      </p:sp>
      <p:sp>
        <p:nvSpPr>
          <p:cNvPr id="23" name="TextBox 22">
            <a:extLst>
              <a:ext uri="{FF2B5EF4-FFF2-40B4-BE49-F238E27FC236}">
                <a16:creationId xmlns:a16="http://schemas.microsoft.com/office/drawing/2014/main" id="{78D8A2F3-E8B2-1E96-38A0-F4718D9E4A4E}"/>
              </a:ext>
            </a:extLst>
          </p:cNvPr>
          <p:cNvSpPr txBox="1"/>
          <p:nvPr/>
        </p:nvSpPr>
        <p:spPr>
          <a:xfrm>
            <a:off x="124769" y="6361250"/>
            <a:ext cx="994285" cy="461665"/>
          </a:xfrm>
          <a:prstGeom prst="rect">
            <a:avLst/>
          </a:prstGeom>
          <a:noFill/>
        </p:spPr>
        <p:txBody>
          <a:bodyPr wrap="square" rtlCol="0">
            <a:spAutoFit/>
          </a:bodyPr>
          <a:lstStyle/>
          <a:p>
            <a:r>
              <a:rPr lang="en-US" sz="800" dirty="0"/>
              <a:t>Train Slide updated by TS VM SR TD MS</a:t>
            </a:r>
          </a:p>
          <a:p>
            <a:r>
              <a:rPr lang="en-US" sz="800" dirty="0"/>
              <a:t> 25 12 23  1120</a:t>
            </a:r>
          </a:p>
        </p:txBody>
      </p:sp>
      <p:sp>
        <p:nvSpPr>
          <p:cNvPr id="38" name="Rectangle 37">
            <a:extLst>
              <a:ext uri="{FF2B5EF4-FFF2-40B4-BE49-F238E27FC236}">
                <a16:creationId xmlns:a16="http://schemas.microsoft.com/office/drawing/2014/main" id="{8E8BB591-3655-65AB-8A2B-D5EA55BD1860}"/>
              </a:ext>
            </a:extLst>
          </p:cNvPr>
          <p:cNvSpPr/>
          <p:nvPr/>
        </p:nvSpPr>
        <p:spPr>
          <a:xfrm>
            <a:off x="9098852" y="2052147"/>
            <a:ext cx="2185514" cy="1240772"/>
          </a:xfrm>
          <a:prstGeom prst="rect">
            <a:avLst/>
          </a:prstGeom>
          <a:solidFill>
            <a:schemeClr val="accent4">
              <a:lumMod val="20000"/>
              <a:lumOff val="80000"/>
              <a:alpha val="3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sz="1400" b="1" dirty="0">
                <a:solidFill>
                  <a:schemeClr val="accent1">
                    <a:lumMod val="50000"/>
                  </a:schemeClr>
                </a:solidFill>
              </a:rPr>
              <a:t>Process Being Presented</a:t>
            </a:r>
          </a:p>
        </p:txBody>
      </p:sp>
      <p:sp>
        <p:nvSpPr>
          <p:cNvPr id="45" name="TextBox 44">
            <a:extLst>
              <a:ext uri="{FF2B5EF4-FFF2-40B4-BE49-F238E27FC236}">
                <a16:creationId xmlns:a16="http://schemas.microsoft.com/office/drawing/2014/main" id="{3CA0DCE2-5C53-E9E3-A2DE-F1CB69CE2021}"/>
              </a:ext>
            </a:extLst>
          </p:cNvPr>
          <p:cNvSpPr txBox="1"/>
          <p:nvPr/>
        </p:nvSpPr>
        <p:spPr>
          <a:xfrm>
            <a:off x="1597397" y="5972202"/>
            <a:ext cx="1015649" cy="471755"/>
          </a:xfrm>
          <a:prstGeom prst="flowChartInternalStorage">
            <a:avLst/>
          </a:prstGeom>
          <a:solidFill>
            <a:srgbClr val="FFFF00"/>
          </a:solidFill>
          <a:ln>
            <a:solidFill>
              <a:schemeClr val="tx1"/>
            </a:solidFill>
          </a:ln>
        </p:spPr>
        <p:txBody>
          <a:bodyPr wrap="square" rtlCol="0">
            <a:spAutoFit/>
          </a:bodyPr>
          <a:lstStyle/>
          <a:p>
            <a:pPr algn="ctr"/>
            <a:r>
              <a:rPr lang="en-US" sz="1050" b="1" dirty="0"/>
              <a:t>Represents a Sub SOP</a:t>
            </a:r>
          </a:p>
        </p:txBody>
      </p:sp>
      <p:sp>
        <p:nvSpPr>
          <p:cNvPr id="50" name="TextBox 49">
            <a:extLst>
              <a:ext uri="{FF2B5EF4-FFF2-40B4-BE49-F238E27FC236}">
                <a16:creationId xmlns:a16="http://schemas.microsoft.com/office/drawing/2014/main" id="{E06C818F-9A57-A584-AB60-A042F79E1D02}"/>
              </a:ext>
            </a:extLst>
          </p:cNvPr>
          <p:cNvSpPr txBox="1"/>
          <p:nvPr/>
        </p:nvSpPr>
        <p:spPr>
          <a:xfrm>
            <a:off x="4362280" y="5764453"/>
            <a:ext cx="4173546" cy="415498"/>
          </a:xfrm>
          <a:prstGeom prst="rect">
            <a:avLst/>
          </a:prstGeom>
          <a:noFill/>
        </p:spPr>
        <p:txBody>
          <a:bodyPr wrap="square" rtlCol="0">
            <a:spAutoFit/>
          </a:bodyPr>
          <a:lstStyle/>
          <a:p>
            <a:r>
              <a:rPr lang="en-US" sz="1050" dirty="0"/>
              <a:t>Normally this would fall under the preview of an Operation Procedure Manual or OPM  since it call on a SOP it is treated as a SOP </a:t>
            </a:r>
          </a:p>
        </p:txBody>
      </p:sp>
      <p:sp>
        <p:nvSpPr>
          <p:cNvPr id="52" name="Rectangle 51">
            <a:extLst>
              <a:ext uri="{FF2B5EF4-FFF2-40B4-BE49-F238E27FC236}">
                <a16:creationId xmlns:a16="http://schemas.microsoft.com/office/drawing/2014/main" id="{CAC1A20B-8EFB-C978-B4FE-4AFE2CAD1988}"/>
              </a:ext>
            </a:extLst>
          </p:cNvPr>
          <p:cNvSpPr/>
          <p:nvPr/>
        </p:nvSpPr>
        <p:spPr>
          <a:xfrm>
            <a:off x="1275588" y="2336858"/>
            <a:ext cx="1641715" cy="643170"/>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S1 Contract is created using a template and a Line/SN is added</a:t>
            </a:r>
          </a:p>
        </p:txBody>
      </p:sp>
      <p:cxnSp>
        <p:nvCxnSpPr>
          <p:cNvPr id="54" name="Connector: Elbow 28">
            <a:extLst>
              <a:ext uri="{FF2B5EF4-FFF2-40B4-BE49-F238E27FC236}">
                <a16:creationId xmlns:a16="http://schemas.microsoft.com/office/drawing/2014/main" id="{3EED311E-CF1A-CC6C-A10A-59FF12AE21E1}"/>
              </a:ext>
            </a:extLst>
          </p:cNvPr>
          <p:cNvCxnSpPr>
            <a:cxnSpLocks/>
            <a:stCxn id="52" idx="3"/>
            <a:endCxn id="56" idx="1"/>
          </p:cNvCxnSpPr>
          <p:nvPr/>
        </p:nvCxnSpPr>
        <p:spPr>
          <a:xfrm>
            <a:off x="2917303" y="2658443"/>
            <a:ext cx="568085" cy="0"/>
          </a:xfrm>
          <a:prstGeom prst="straightConnector1">
            <a:avLst/>
          </a:prstGeom>
          <a:ln w="381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56" name="Rectangle 55">
            <a:extLst>
              <a:ext uri="{FF2B5EF4-FFF2-40B4-BE49-F238E27FC236}">
                <a16:creationId xmlns:a16="http://schemas.microsoft.com/office/drawing/2014/main" id="{9554E0EF-7968-79FE-ED2C-D2CD51FE77E2}"/>
              </a:ext>
            </a:extLst>
          </p:cNvPr>
          <p:cNvSpPr/>
          <p:nvPr/>
        </p:nvSpPr>
        <p:spPr>
          <a:xfrm>
            <a:off x="3485388" y="2336858"/>
            <a:ext cx="2097391" cy="643170"/>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S2. Contract Maintenance schedule is filled out. Using the first day of what month service is requested</a:t>
            </a:r>
          </a:p>
        </p:txBody>
      </p:sp>
      <p:sp>
        <p:nvSpPr>
          <p:cNvPr id="57" name="Rectangle 56">
            <a:extLst>
              <a:ext uri="{FF2B5EF4-FFF2-40B4-BE49-F238E27FC236}">
                <a16:creationId xmlns:a16="http://schemas.microsoft.com/office/drawing/2014/main" id="{6FE91EBC-1BB5-F2C7-A896-7331E41DC35B}"/>
              </a:ext>
            </a:extLst>
          </p:cNvPr>
          <p:cNvSpPr/>
          <p:nvPr/>
        </p:nvSpPr>
        <p:spPr>
          <a:xfrm>
            <a:off x="6096000" y="2336858"/>
            <a:ext cx="1155559" cy="643170"/>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S3. Fixed billing total is entered</a:t>
            </a:r>
          </a:p>
        </p:txBody>
      </p:sp>
      <p:cxnSp>
        <p:nvCxnSpPr>
          <p:cNvPr id="60" name="Connector: Elbow 28">
            <a:extLst>
              <a:ext uri="{FF2B5EF4-FFF2-40B4-BE49-F238E27FC236}">
                <a16:creationId xmlns:a16="http://schemas.microsoft.com/office/drawing/2014/main" id="{F9B516F7-2EC1-B9AC-3CF5-DDEEE203C15E}"/>
              </a:ext>
            </a:extLst>
          </p:cNvPr>
          <p:cNvCxnSpPr>
            <a:cxnSpLocks/>
            <a:stCxn id="56" idx="3"/>
            <a:endCxn id="57" idx="1"/>
          </p:cNvCxnSpPr>
          <p:nvPr/>
        </p:nvCxnSpPr>
        <p:spPr>
          <a:xfrm>
            <a:off x="5582779" y="2658443"/>
            <a:ext cx="513221" cy="0"/>
          </a:xfrm>
          <a:prstGeom prst="straightConnector1">
            <a:avLst/>
          </a:prstGeom>
          <a:ln w="381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62" name="Rectangle 61">
            <a:extLst>
              <a:ext uri="{FF2B5EF4-FFF2-40B4-BE49-F238E27FC236}">
                <a16:creationId xmlns:a16="http://schemas.microsoft.com/office/drawing/2014/main" id="{42E01B38-6EDB-BF17-2CC6-917684464515}"/>
              </a:ext>
            </a:extLst>
          </p:cNvPr>
          <p:cNvSpPr/>
          <p:nvPr/>
        </p:nvSpPr>
        <p:spPr>
          <a:xfrm>
            <a:off x="7775448" y="2336858"/>
            <a:ext cx="1263763" cy="643170"/>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S4. Contract SRO generator utility is run in the middle of each month </a:t>
            </a:r>
          </a:p>
        </p:txBody>
      </p:sp>
      <p:sp>
        <p:nvSpPr>
          <p:cNvPr id="63" name="Rectangle 62">
            <a:extLst>
              <a:ext uri="{FF2B5EF4-FFF2-40B4-BE49-F238E27FC236}">
                <a16:creationId xmlns:a16="http://schemas.microsoft.com/office/drawing/2014/main" id="{6B25AFA8-1D26-23C5-940B-67C382C45C6D}"/>
              </a:ext>
            </a:extLst>
          </p:cNvPr>
          <p:cNvSpPr/>
          <p:nvPr/>
        </p:nvSpPr>
        <p:spPr>
          <a:xfrm>
            <a:off x="9519271" y="2336858"/>
            <a:ext cx="1570760" cy="643170"/>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S5. SRO is generated for all required PMA services in the next month</a:t>
            </a:r>
          </a:p>
        </p:txBody>
      </p:sp>
      <p:sp>
        <p:nvSpPr>
          <p:cNvPr id="65" name="Flowchart: Internal Storage 64">
            <a:extLst>
              <a:ext uri="{FF2B5EF4-FFF2-40B4-BE49-F238E27FC236}">
                <a16:creationId xmlns:a16="http://schemas.microsoft.com/office/drawing/2014/main" id="{79E6B79A-DF18-ABFB-40D5-94629D6335ED}"/>
              </a:ext>
            </a:extLst>
          </p:cNvPr>
          <p:cNvSpPr/>
          <p:nvPr/>
        </p:nvSpPr>
        <p:spPr>
          <a:xfrm>
            <a:off x="4849183" y="3729070"/>
            <a:ext cx="2010726" cy="643170"/>
          </a:xfrm>
          <a:prstGeom prst="flowChartInternalStorage">
            <a:avLst/>
          </a:prstGeom>
          <a:solidFill>
            <a:srgbClr val="FFFF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S6. See Service Order Process starting from Schedule </a:t>
            </a:r>
          </a:p>
        </p:txBody>
      </p:sp>
      <p:cxnSp>
        <p:nvCxnSpPr>
          <p:cNvPr id="67" name="Connector: Elbow 28">
            <a:extLst>
              <a:ext uri="{FF2B5EF4-FFF2-40B4-BE49-F238E27FC236}">
                <a16:creationId xmlns:a16="http://schemas.microsoft.com/office/drawing/2014/main" id="{6F082318-E1E0-EBA0-E48A-580E41E1DA75}"/>
              </a:ext>
            </a:extLst>
          </p:cNvPr>
          <p:cNvCxnSpPr>
            <a:cxnSpLocks/>
            <a:stCxn id="57" idx="3"/>
            <a:endCxn id="62" idx="1"/>
          </p:cNvCxnSpPr>
          <p:nvPr/>
        </p:nvCxnSpPr>
        <p:spPr>
          <a:xfrm>
            <a:off x="7251559" y="2658443"/>
            <a:ext cx="523889" cy="0"/>
          </a:xfrm>
          <a:prstGeom prst="straightConnector1">
            <a:avLst/>
          </a:prstGeom>
          <a:ln w="381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68" name="Connector: Elbow 28">
            <a:extLst>
              <a:ext uri="{FF2B5EF4-FFF2-40B4-BE49-F238E27FC236}">
                <a16:creationId xmlns:a16="http://schemas.microsoft.com/office/drawing/2014/main" id="{A228EA0A-8008-A35C-EE5E-6D870ACE6F94}"/>
              </a:ext>
            </a:extLst>
          </p:cNvPr>
          <p:cNvCxnSpPr>
            <a:cxnSpLocks/>
            <a:stCxn id="62" idx="3"/>
            <a:endCxn id="63" idx="1"/>
          </p:cNvCxnSpPr>
          <p:nvPr/>
        </p:nvCxnSpPr>
        <p:spPr>
          <a:xfrm>
            <a:off x="9039211" y="2658443"/>
            <a:ext cx="480060" cy="0"/>
          </a:xfrm>
          <a:prstGeom prst="straightConnector1">
            <a:avLst/>
          </a:prstGeom>
          <a:ln w="381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69" name="Connector: Elbow 28">
            <a:extLst>
              <a:ext uri="{FF2B5EF4-FFF2-40B4-BE49-F238E27FC236}">
                <a16:creationId xmlns:a16="http://schemas.microsoft.com/office/drawing/2014/main" id="{B142A6EA-DD0F-FA5C-1652-8EE89A4D0A8B}"/>
              </a:ext>
            </a:extLst>
          </p:cNvPr>
          <p:cNvCxnSpPr>
            <a:cxnSpLocks/>
            <a:stCxn id="63" idx="2"/>
            <a:endCxn id="65" idx="0"/>
          </p:cNvCxnSpPr>
          <p:nvPr/>
        </p:nvCxnSpPr>
        <p:spPr>
          <a:xfrm rot="5400000">
            <a:off x="7705078" y="1129497"/>
            <a:ext cx="749042" cy="4450105"/>
          </a:xfrm>
          <a:prstGeom prst="bentConnector3">
            <a:avLst>
              <a:gd name="adj1" fmla="val 50000"/>
            </a:avLst>
          </a:prstGeom>
          <a:ln w="381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70" name="Flowchart: Document 69">
            <a:extLst>
              <a:ext uri="{FF2B5EF4-FFF2-40B4-BE49-F238E27FC236}">
                <a16:creationId xmlns:a16="http://schemas.microsoft.com/office/drawing/2014/main" id="{982BD891-573D-B67D-891F-6AF98094292C}"/>
              </a:ext>
            </a:extLst>
          </p:cNvPr>
          <p:cNvSpPr/>
          <p:nvPr/>
        </p:nvSpPr>
        <p:spPr>
          <a:xfrm>
            <a:off x="549402" y="1006795"/>
            <a:ext cx="1641714" cy="862354"/>
          </a:xfrm>
          <a:prstGeom prst="flowChartDocumen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Our PMA Sales staff contacts the customer or a recently installed generator customer calls us on the suggestion of the Technician</a:t>
            </a:r>
          </a:p>
        </p:txBody>
      </p:sp>
      <p:sp>
        <p:nvSpPr>
          <p:cNvPr id="3" name="Parlance">
            <a:extLst>
              <a:ext uri="{FF2B5EF4-FFF2-40B4-BE49-F238E27FC236}">
                <a16:creationId xmlns:a16="http://schemas.microsoft.com/office/drawing/2014/main" id="{19547B6C-28DB-EA0E-2892-473993541B74}"/>
              </a:ext>
            </a:extLst>
          </p:cNvPr>
          <p:cNvSpPr txBox="1"/>
          <p:nvPr/>
        </p:nvSpPr>
        <p:spPr>
          <a:xfrm>
            <a:off x="1401244" y="629044"/>
            <a:ext cx="8906605" cy="246221"/>
          </a:xfrm>
          <a:prstGeom prst="rect">
            <a:avLst/>
          </a:prstGeom>
          <a:noFill/>
        </p:spPr>
        <p:txBody>
          <a:bodyPr wrap="none" rtlCol="0">
            <a:spAutoFit/>
          </a:bodyPr>
          <a:lstStyle/>
          <a:p>
            <a:r>
              <a:rPr lang="en-US" sz="1000" dirty="0">
                <a:solidFill>
                  <a:schemeClr val="bg1"/>
                </a:solidFill>
              </a:rPr>
              <a:t>The creator of this slide  appreciates the Infor System’s  Process Intelligence which became the basis for process creation and verification and finally the training System</a:t>
            </a:r>
          </a:p>
        </p:txBody>
      </p:sp>
      <p:cxnSp>
        <p:nvCxnSpPr>
          <p:cNvPr id="71" name="Connector: Elbow 28">
            <a:extLst>
              <a:ext uri="{FF2B5EF4-FFF2-40B4-BE49-F238E27FC236}">
                <a16:creationId xmlns:a16="http://schemas.microsoft.com/office/drawing/2014/main" id="{5A93642F-18C9-C607-923A-CBB49BB03D49}"/>
              </a:ext>
            </a:extLst>
          </p:cNvPr>
          <p:cNvCxnSpPr>
            <a:cxnSpLocks/>
            <a:stCxn id="70" idx="2"/>
            <a:endCxn id="52" idx="0"/>
          </p:cNvCxnSpPr>
          <p:nvPr/>
        </p:nvCxnSpPr>
        <p:spPr>
          <a:xfrm rot="16200000" flipH="1">
            <a:off x="1470992" y="1711404"/>
            <a:ext cx="524720" cy="726187"/>
          </a:xfrm>
          <a:prstGeom prst="bentConnector3">
            <a:avLst>
              <a:gd name="adj1" fmla="val 50000"/>
            </a:avLst>
          </a:prstGeom>
          <a:ln w="381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2" name="- S5. SRO Service Request Order is generated for all PMA for next month">
            <a:extLst>
              <a:ext uri="{FF2B5EF4-FFF2-40B4-BE49-F238E27FC236}">
                <a16:creationId xmlns:a16="http://schemas.microsoft.com/office/drawing/2014/main" id="{C1C1040A-B235-E4DE-6DB4-56520CC7342C}"/>
              </a:ext>
            </a:extLst>
          </p:cNvPr>
          <p:cNvSpPr>
            <a:spLocks noGrp="1"/>
          </p:cNvSpPr>
          <p:nvPr>
            <p:ph type="title"/>
          </p:nvPr>
        </p:nvSpPr>
        <p:spPr>
          <a:xfrm>
            <a:off x="726132" y="122387"/>
            <a:ext cx="10515600" cy="399216"/>
          </a:xfrm>
        </p:spPr>
        <p:txBody>
          <a:bodyPr>
            <a:noAutofit/>
          </a:bodyPr>
          <a:lstStyle/>
          <a:p>
            <a:pPr algn="ctr"/>
            <a:r>
              <a:rPr lang="en-US" sz="1800" b="1" dirty="0"/>
              <a:t>S5. SRO Service Request Order is generated for all PMA for next month - PPS Service Rental</a:t>
            </a:r>
          </a:p>
        </p:txBody>
      </p:sp>
    </p:spTree>
    <p:extLst>
      <p:ext uri="{BB962C8B-B14F-4D97-AF65-F5344CB8AC3E}">
        <p14:creationId xmlns:p14="http://schemas.microsoft.com/office/powerpoint/2010/main" val="5441529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3418F1-6700-E620-E726-AFAEFC5BE4C1}"/>
            </a:ext>
          </a:extLst>
        </p:cNvPr>
        <p:cNvGrpSpPr/>
        <p:nvPr/>
      </p:nvGrpSpPr>
      <p:grpSpPr>
        <a:xfrm>
          <a:off x="0" y="0"/>
          <a:ext cx="0" cy="0"/>
          <a:chOff x="0" y="0"/>
          <a:chExt cx="0" cy="0"/>
        </a:xfrm>
      </p:grpSpPr>
      <p:sp>
        <p:nvSpPr>
          <p:cNvPr id="18" name="TextBox 17">
            <a:extLst>
              <a:ext uri="{FF2B5EF4-FFF2-40B4-BE49-F238E27FC236}">
                <a16:creationId xmlns:a16="http://schemas.microsoft.com/office/drawing/2014/main" id="{187AE1F6-CEE1-12A1-464D-41701CAC6CFC}"/>
              </a:ext>
            </a:extLst>
          </p:cNvPr>
          <p:cNvSpPr txBox="1"/>
          <p:nvPr/>
        </p:nvSpPr>
        <p:spPr>
          <a:xfrm>
            <a:off x="135429" y="5872043"/>
            <a:ext cx="994285" cy="461665"/>
          </a:xfrm>
          <a:prstGeom prst="rect">
            <a:avLst/>
          </a:prstGeom>
          <a:noFill/>
        </p:spPr>
        <p:txBody>
          <a:bodyPr wrap="square" rtlCol="0">
            <a:spAutoFit/>
          </a:bodyPr>
          <a:lstStyle/>
          <a:p>
            <a:r>
              <a:rPr lang="en-US" sz="800" dirty="0"/>
              <a:t>Base Created by TS VM TSD KC and BW  06 09 2025 </a:t>
            </a:r>
          </a:p>
        </p:txBody>
      </p:sp>
      <p:sp>
        <p:nvSpPr>
          <p:cNvPr id="23" name="TextBox 22">
            <a:extLst>
              <a:ext uri="{FF2B5EF4-FFF2-40B4-BE49-F238E27FC236}">
                <a16:creationId xmlns:a16="http://schemas.microsoft.com/office/drawing/2014/main" id="{A76826BF-1FA8-B56B-F658-22AAA0707D14}"/>
              </a:ext>
            </a:extLst>
          </p:cNvPr>
          <p:cNvSpPr txBox="1"/>
          <p:nvPr/>
        </p:nvSpPr>
        <p:spPr>
          <a:xfrm>
            <a:off x="124769" y="6361250"/>
            <a:ext cx="994285" cy="461665"/>
          </a:xfrm>
          <a:prstGeom prst="rect">
            <a:avLst/>
          </a:prstGeom>
          <a:noFill/>
        </p:spPr>
        <p:txBody>
          <a:bodyPr wrap="square" rtlCol="0">
            <a:spAutoFit/>
          </a:bodyPr>
          <a:lstStyle/>
          <a:p>
            <a:r>
              <a:rPr lang="en-US" sz="800" dirty="0"/>
              <a:t>Train Slide updated by TS VM SR TD MS</a:t>
            </a:r>
          </a:p>
          <a:p>
            <a:r>
              <a:rPr lang="en-US" sz="800" dirty="0"/>
              <a:t> 25 12 23  1120</a:t>
            </a:r>
          </a:p>
        </p:txBody>
      </p:sp>
      <p:sp>
        <p:nvSpPr>
          <p:cNvPr id="38" name="Rectangle 37">
            <a:extLst>
              <a:ext uri="{FF2B5EF4-FFF2-40B4-BE49-F238E27FC236}">
                <a16:creationId xmlns:a16="http://schemas.microsoft.com/office/drawing/2014/main" id="{C4A07A42-8FCE-99F9-4677-866941FE660D}"/>
              </a:ext>
            </a:extLst>
          </p:cNvPr>
          <p:cNvSpPr/>
          <p:nvPr/>
        </p:nvSpPr>
        <p:spPr>
          <a:xfrm>
            <a:off x="4746632" y="3623198"/>
            <a:ext cx="2185514" cy="1240772"/>
          </a:xfrm>
          <a:prstGeom prst="rect">
            <a:avLst/>
          </a:prstGeom>
          <a:solidFill>
            <a:schemeClr val="accent4">
              <a:lumMod val="20000"/>
              <a:lumOff val="80000"/>
              <a:alpha val="3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sz="1400" b="1" dirty="0">
                <a:solidFill>
                  <a:schemeClr val="accent1">
                    <a:lumMod val="50000"/>
                  </a:schemeClr>
                </a:solidFill>
              </a:rPr>
              <a:t>Process Being Presented</a:t>
            </a:r>
          </a:p>
        </p:txBody>
      </p:sp>
      <p:sp>
        <p:nvSpPr>
          <p:cNvPr id="45" name="TextBox 44">
            <a:extLst>
              <a:ext uri="{FF2B5EF4-FFF2-40B4-BE49-F238E27FC236}">
                <a16:creationId xmlns:a16="http://schemas.microsoft.com/office/drawing/2014/main" id="{7EFB112F-F56E-97C6-2CC5-D5B7448640AF}"/>
              </a:ext>
            </a:extLst>
          </p:cNvPr>
          <p:cNvSpPr txBox="1"/>
          <p:nvPr/>
        </p:nvSpPr>
        <p:spPr>
          <a:xfrm>
            <a:off x="1597397" y="5972202"/>
            <a:ext cx="1015649" cy="471755"/>
          </a:xfrm>
          <a:prstGeom prst="flowChartInternalStorage">
            <a:avLst/>
          </a:prstGeom>
          <a:solidFill>
            <a:srgbClr val="FFFF00"/>
          </a:solidFill>
          <a:ln>
            <a:solidFill>
              <a:schemeClr val="tx1"/>
            </a:solidFill>
          </a:ln>
        </p:spPr>
        <p:txBody>
          <a:bodyPr wrap="square" rtlCol="0">
            <a:spAutoFit/>
          </a:bodyPr>
          <a:lstStyle/>
          <a:p>
            <a:pPr algn="ctr"/>
            <a:r>
              <a:rPr lang="en-US" sz="1050" b="1" dirty="0"/>
              <a:t>Represents a Sub SOP</a:t>
            </a:r>
          </a:p>
        </p:txBody>
      </p:sp>
      <p:sp>
        <p:nvSpPr>
          <p:cNvPr id="50" name="TextBox 49">
            <a:extLst>
              <a:ext uri="{FF2B5EF4-FFF2-40B4-BE49-F238E27FC236}">
                <a16:creationId xmlns:a16="http://schemas.microsoft.com/office/drawing/2014/main" id="{5FBC05ED-DAB5-3801-B8B6-613D500231B3}"/>
              </a:ext>
            </a:extLst>
          </p:cNvPr>
          <p:cNvSpPr txBox="1"/>
          <p:nvPr/>
        </p:nvSpPr>
        <p:spPr>
          <a:xfrm>
            <a:off x="4362280" y="5764453"/>
            <a:ext cx="4173546" cy="415498"/>
          </a:xfrm>
          <a:prstGeom prst="rect">
            <a:avLst/>
          </a:prstGeom>
          <a:noFill/>
        </p:spPr>
        <p:txBody>
          <a:bodyPr wrap="square" rtlCol="0">
            <a:spAutoFit/>
          </a:bodyPr>
          <a:lstStyle/>
          <a:p>
            <a:r>
              <a:rPr lang="en-US" sz="1050" dirty="0"/>
              <a:t>Normally this would fall under the preview of an Operation Procedure Manual or OPM  since it call on a SOP it is treated as a SOP </a:t>
            </a:r>
          </a:p>
        </p:txBody>
      </p:sp>
      <p:sp>
        <p:nvSpPr>
          <p:cNvPr id="52" name="Rectangle 51">
            <a:extLst>
              <a:ext uri="{FF2B5EF4-FFF2-40B4-BE49-F238E27FC236}">
                <a16:creationId xmlns:a16="http://schemas.microsoft.com/office/drawing/2014/main" id="{2B50CD18-0342-97FF-7A03-E9B2C35FE5A0}"/>
              </a:ext>
            </a:extLst>
          </p:cNvPr>
          <p:cNvSpPr/>
          <p:nvPr/>
        </p:nvSpPr>
        <p:spPr>
          <a:xfrm>
            <a:off x="1275588" y="2336858"/>
            <a:ext cx="1641715" cy="643170"/>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S1 Contract is created using a template and a Line/SN is added</a:t>
            </a:r>
          </a:p>
        </p:txBody>
      </p:sp>
      <p:cxnSp>
        <p:nvCxnSpPr>
          <p:cNvPr id="54" name="Connector: Elbow 28">
            <a:extLst>
              <a:ext uri="{FF2B5EF4-FFF2-40B4-BE49-F238E27FC236}">
                <a16:creationId xmlns:a16="http://schemas.microsoft.com/office/drawing/2014/main" id="{F17B8D80-38B6-65E1-8B78-E7EE98B5AD7C}"/>
              </a:ext>
            </a:extLst>
          </p:cNvPr>
          <p:cNvCxnSpPr>
            <a:cxnSpLocks/>
            <a:stCxn id="52" idx="3"/>
            <a:endCxn id="56" idx="1"/>
          </p:cNvCxnSpPr>
          <p:nvPr/>
        </p:nvCxnSpPr>
        <p:spPr>
          <a:xfrm>
            <a:off x="2917303" y="2658443"/>
            <a:ext cx="568085" cy="0"/>
          </a:xfrm>
          <a:prstGeom prst="straightConnector1">
            <a:avLst/>
          </a:prstGeom>
          <a:ln w="381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56" name="Rectangle 55">
            <a:extLst>
              <a:ext uri="{FF2B5EF4-FFF2-40B4-BE49-F238E27FC236}">
                <a16:creationId xmlns:a16="http://schemas.microsoft.com/office/drawing/2014/main" id="{DE57C359-D073-6DB6-36FB-7C0ED533544B}"/>
              </a:ext>
            </a:extLst>
          </p:cNvPr>
          <p:cNvSpPr/>
          <p:nvPr/>
        </p:nvSpPr>
        <p:spPr>
          <a:xfrm>
            <a:off x="3485388" y="2336858"/>
            <a:ext cx="2097391" cy="643170"/>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S2. Contract Maintenance schedule is filled out. Using the first day of what month service is requested</a:t>
            </a:r>
          </a:p>
        </p:txBody>
      </p:sp>
      <p:sp>
        <p:nvSpPr>
          <p:cNvPr id="57" name="Rectangle 56">
            <a:extLst>
              <a:ext uri="{FF2B5EF4-FFF2-40B4-BE49-F238E27FC236}">
                <a16:creationId xmlns:a16="http://schemas.microsoft.com/office/drawing/2014/main" id="{C0863D09-C2F7-1745-54D9-4095CB754D5A}"/>
              </a:ext>
            </a:extLst>
          </p:cNvPr>
          <p:cNvSpPr/>
          <p:nvPr/>
        </p:nvSpPr>
        <p:spPr>
          <a:xfrm>
            <a:off x="6096000" y="2336858"/>
            <a:ext cx="1155559" cy="643170"/>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S3. Fixed billing total is entered</a:t>
            </a:r>
          </a:p>
        </p:txBody>
      </p:sp>
      <p:cxnSp>
        <p:nvCxnSpPr>
          <p:cNvPr id="60" name="Connector: Elbow 28">
            <a:extLst>
              <a:ext uri="{FF2B5EF4-FFF2-40B4-BE49-F238E27FC236}">
                <a16:creationId xmlns:a16="http://schemas.microsoft.com/office/drawing/2014/main" id="{54357463-1804-541A-0BD2-A9AAC27DE927}"/>
              </a:ext>
            </a:extLst>
          </p:cNvPr>
          <p:cNvCxnSpPr>
            <a:cxnSpLocks/>
            <a:stCxn id="56" idx="3"/>
            <a:endCxn id="57" idx="1"/>
          </p:cNvCxnSpPr>
          <p:nvPr/>
        </p:nvCxnSpPr>
        <p:spPr>
          <a:xfrm>
            <a:off x="5582779" y="2658443"/>
            <a:ext cx="513221" cy="0"/>
          </a:xfrm>
          <a:prstGeom prst="straightConnector1">
            <a:avLst/>
          </a:prstGeom>
          <a:ln w="381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62" name="Rectangle 61">
            <a:extLst>
              <a:ext uri="{FF2B5EF4-FFF2-40B4-BE49-F238E27FC236}">
                <a16:creationId xmlns:a16="http://schemas.microsoft.com/office/drawing/2014/main" id="{5243314E-2B25-552F-7953-F9312422D238}"/>
              </a:ext>
            </a:extLst>
          </p:cNvPr>
          <p:cNvSpPr/>
          <p:nvPr/>
        </p:nvSpPr>
        <p:spPr>
          <a:xfrm>
            <a:off x="7775448" y="2336858"/>
            <a:ext cx="1263763" cy="643170"/>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S4. Contract SRO generator utility is run in the middle of each month </a:t>
            </a:r>
          </a:p>
        </p:txBody>
      </p:sp>
      <p:sp>
        <p:nvSpPr>
          <p:cNvPr id="63" name="Rectangle 62">
            <a:extLst>
              <a:ext uri="{FF2B5EF4-FFF2-40B4-BE49-F238E27FC236}">
                <a16:creationId xmlns:a16="http://schemas.microsoft.com/office/drawing/2014/main" id="{098AF4FB-8518-812B-4B04-363FC8E1C6F6}"/>
              </a:ext>
            </a:extLst>
          </p:cNvPr>
          <p:cNvSpPr/>
          <p:nvPr/>
        </p:nvSpPr>
        <p:spPr>
          <a:xfrm>
            <a:off x="9519271" y="2336858"/>
            <a:ext cx="1570760" cy="643170"/>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S5. SRO is generated for all required PMA services in the next month</a:t>
            </a:r>
          </a:p>
        </p:txBody>
      </p:sp>
      <p:sp>
        <p:nvSpPr>
          <p:cNvPr id="65" name="Flowchart: Internal Storage 64">
            <a:extLst>
              <a:ext uri="{FF2B5EF4-FFF2-40B4-BE49-F238E27FC236}">
                <a16:creationId xmlns:a16="http://schemas.microsoft.com/office/drawing/2014/main" id="{62F14015-A584-96D4-5D38-214D3442E736}"/>
              </a:ext>
            </a:extLst>
          </p:cNvPr>
          <p:cNvSpPr/>
          <p:nvPr/>
        </p:nvSpPr>
        <p:spPr>
          <a:xfrm>
            <a:off x="4849183" y="3729070"/>
            <a:ext cx="2010726" cy="643170"/>
          </a:xfrm>
          <a:prstGeom prst="flowChartInternalStorage">
            <a:avLst/>
          </a:prstGeom>
          <a:solidFill>
            <a:srgbClr val="FFFF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S6. See Service Order Process starting from Schedule </a:t>
            </a:r>
          </a:p>
        </p:txBody>
      </p:sp>
      <p:cxnSp>
        <p:nvCxnSpPr>
          <p:cNvPr id="67" name="Connector: Elbow 28">
            <a:extLst>
              <a:ext uri="{FF2B5EF4-FFF2-40B4-BE49-F238E27FC236}">
                <a16:creationId xmlns:a16="http://schemas.microsoft.com/office/drawing/2014/main" id="{5213E250-09DE-751B-651C-17DBEB15CD21}"/>
              </a:ext>
            </a:extLst>
          </p:cNvPr>
          <p:cNvCxnSpPr>
            <a:cxnSpLocks/>
            <a:stCxn id="57" idx="3"/>
            <a:endCxn id="62" idx="1"/>
          </p:cNvCxnSpPr>
          <p:nvPr/>
        </p:nvCxnSpPr>
        <p:spPr>
          <a:xfrm>
            <a:off x="7251559" y="2658443"/>
            <a:ext cx="523889" cy="0"/>
          </a:xfrm>
          <a:prstGeom prst="straightConnector1">
            <a:avLst/>
          </a:prstGeom>
          <a:ln w="381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68" name="Connector: Elbow 28">
            <a:extLst>
              <a:ext uri="{FF2B5EF4-FFF2-40B4-BE49-F238E27FC236}">
                <a16:creationId xmlns:a16="http://schemas.microsoft.com/office/drawing/2014/main" id="{4C9E4876-980A-3807-607C-5BC0D0109D25}"/>
              </a:ext>
            </a:extLst>
          </p:cNvPr>
          <p:cNvCxnSpPr>
            <a:cxnSpLocks/>
            <a:stCxn id="62" idx="3"/>
            <a:endCxn id="63" idx="1"/>
          </p:cNvCxnSpPr>
          <p:nvPr/>
        </p:nvCxnSpPr>
        <p:spPr>
          <a:xfrm>
            <a:off x="9039211" y="2658443"/>
            <a:ext cx="480060" cy="0"/>
          </a:xfrm>
          <a:prstGeom prst="straightConnector1">
            <a:avLst/>
          </a:prstGeom>
          <a:ln w="381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69" name="Connector: Elbow 28">
            <a:extLst>
              <a:ext uri="{FF2B5EF4-FFF2-40B4-BE49-F238E27FC236}">
                <a16:creationId xmlns:a16="http://schemas.microsoft.com/office/drawing/2014/main" id="{B62EE8C5-DA18-B298-E8F3-E67787B56FBC}"/>
              </a:ext>
            </a:extLst>
          </p:cNvPr>
          <p:cNvCxnSpPr>
            <a:cxnSpLocks/>
            <a:stCxn id="63" idx="2"/>
            <a:endCxn id="65" idx="0"/>
          </p:cNvCxnSpPr>
          <p:nvPr/>
        </p:nvCxnSpPr>
        <p:spPr>
          <a:xfrm rot="5400000">
            <a:off x="7705078" y="1129497"/>
            <a:ext cx="749042" cy="4450105"/>
          </a:xfrm>
          <a:prstGeom prst="bentConnector3">
            <a:avLst>
              <a:gd name="adj1" fmla="val 50000"/>
            </a:avLst>
          </a:prstGeom>
          <a:ln w="381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70" name="Flowchart: Document 69">
            <a:extLst>
              <a:ext uri="{FF2B5EF4-FFF2-40B4-BE49-F238E27FC236}">
                <a16:creationId xmlns:a16="http://schemas.microsoft.com/office/drawing/2014/main" id="{E392C829-F6DA-2CCA-CF8B-E25DA3E1F9E3}"/>
              </a:ext>
            </a:extLst>
          </p:cNvPr>
          <p:cNvSpPr/>
          <p:nvPr/>
        </p:nvSpPr>
        <p:spPr>
          <a:xfrm>
            <a:off x="549402" y="1006795"/>
            <a:ext cx="1641714" cy="862354"/>
          </a:xfrm>
          <a:prstGeom prst="flowChartDocumen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Our PMA Sales staff contacts the customer or a recently installed generator customer calls us on the suggestion of the Technician</a:t>
            </a:r>
          </a:p>
        </p:txBody>
      </p:sp>
      <p:sp>
        <p:nvSpPr>
          <p:cNvPr id="3" name="Parlance">
            <a:extLst>
              <a:ext uri="{FF2B5EF4-FFF2-40B4-BE49-F238E27FC236}">
                <a16:creationId xmlns:a16="http://schemas.microsoft.com/office/drawing/2014/main" id="{73E2A35E-958A-E251-C4A4-1E55D7185878}"/>
              </a:ext>
            </a:extLst>
          </p:cNvPr>
          <p:cNvSpPr txBox="1"/>
          <p:nvPr/>
        </p:nvSpPr>
        <p:spPr>
          <a:xfrm>
            <a:off x="1401244" y="629044"/>
            <a:ext cx="8906605" cy="246221"/>
          </a:xfrm>
          <a:prstGeom prst="rect">
            <a:avLst/>
          </a:prstGeom>
          <a:noFill/>
        </p:spPr>
        <p:txBody>
          <a:bodyPr wrap="none" rtlCol="0">
            <a:spAutoFit/>
          </a:bodyPr>
          <a:lstStyle/>
          <a:p>
            <a:r>
              <a:rPr lang="en-US" sz="1000" dirty="0">
                <a:solidFill>
                  <a:schemeClr val="bg1"/>
                </a:solidFill>
              </a:rPr>
              <a:t>The creator of this slide  appreciates the Infor System’s  Process Intelligence which became the basis for process creation and verification and finally the training System</a:t>
            </a:r>
          </a:p>
        </p:txBody>
      </p:sp>
      <p:cxnSp>
        <p:nvCxnSpPr>
          <p:cNvPr id="71" name="Connector: Elbow 28">
            <a:extLst>
              <a:ext uri="{FF2B5EF4-FFF2-40B4-BE49-F238E27FC236}">
                <a16:creationId xmlns:a16="http://schemas.microsoft.com/office/drawing/2014/main" id="{D6811D5E-546C-BE78-B7BC-DF0AA235BC93}"/>
              </a:ext>
            </a:extLst>
          </p:cNvPr>
          <p:cNvCxnSpPr>
            <a:cxnSpLocks/>
            <a:stCxn id="70" idx="2"/>
            <a:endCxn id="52" idx="0"/>
          </p:cNvCxnSpPr>
          <p:nvPr/>
        </p:nvCxnSpPr>
        <p:spPr>
          <a:xfrm rot="16200000" flipH="1">
            <a:off x="1470992" y="1711404"/>
            <a:ext cx="524720" cy="726187"/>
          </a:xfrm>
          <a:prstGeom prst="bentConnector3">
            <a:avLst>
              <a:gd name="adj1" fmla="val 50000"/>
            </a:avLst>
          </a:prstGeom>
          <a:ln w="381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2" name="- S6. SRO or Service Order Processing starts from scheduling to task completion">
            <a:extLst>
              <a:ext uri="{FF2B5EF4-FFF2-40B4-BE49-F238E27FC236}">
                <a16:creationId xmlns:a16="http://schemas.microsoft.com/office/drawing/2014/main" id="{5C3EEBE2-768D-4AAB-0A02-6363ACA094D2}"/>
              </a:ext>
            </a:extLst>
          </p:cNvPr>
          <p:cNvSpPr>
            <a:spLocks noGrp="1"/>
          </p:cNvSpPr>
          <p:nvPr>
            <p:ph type="title"/>
          </p:nvPr>
        </p:nvSpPr>
        <p:spPr>
          <a:xfrm>
            <a:off x="726132" y="122387"/>
            <a:ext cx="10515600" cy="399216"/>
          </a:xfrm>
        </p:spPr>
        <p:txBody>
          <a:bodyPr>
            <a:noAutofit/>
          </a:bodyPr>
          <a:lstStyle/>
          <a:p>
            <a:pPr algn="ctr"/>
            <a:r>
              <a:rPr lang="en-US" sz="1800" b="1" dirty="0"/>
              <a:t>S6. SRO or Service Order Processing starts from scheduling to task completion - PPS Service Rental</a:t>
            </a:r>
          </a:p>
        </p:txBody>
      </p:sp>
    </p:spTree>
    <p:extLst>
      <p:ext uri="{BB962C8B-B14F-4D97-AF65-F5344CB8AC3E}">
        <p14:creationId xmlns:p14="http://schemas.microsoft.com/office/powerpoint/2010/main" val="10393245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E4A257-4F47-E545-C0CF-8BBA4C1B51B2}"/>
            </a:ext>
          </a:extLst>
        </p:cNvPr>
        <p:cNvGrpSpPr/>
        <p:nvPr/>
      </p:nvGrpSpPr>
      <p:grpSpPr>
        <a:xfrm>
          <a:off x="0" y="0"/>
          <a:ext cx="0" cy="0"/>
          <a:chOff x="0" y="0"/>
          <a:chExt cx="0" cy="0"/>
        </a:xfrm>
      </p:grpSpPr>
      <p:sp>
        <p:nvSpPr>
          <p:cNvPr id="62" name="TextBox 61">
            <a:extLst>
              <a:ext uri="{FF2B5EF4-FFF2-40B4-BE49-F238E27FC236}">
                <a16:creationId xmlns:a16="http://schemas.microsoft.com/office/drawing/2014/main" id="{51CD4E5E-4352-6F84-8C6D-B62A73288C96}"/>
              </a:ext>
            </a:extLst>
          </p:cNvPr>
          <p:cNvSpPr txBox="1"/>
          <p:nvPr/>
        </p:nvSpPr>
        <p:spPr>
          <a:xfrm>
            <a:off x="10660" y="5873315"/>
            <a:ext cx="994285" cy="461665"/>
          </a:xfrm>
          <a:prstGeom prst="rect">
            <a:avLst/>
          </a:prstGeom>
          <a:noFill/>
        </p:spPr>
        <p:txBody>
          <a:bodyPr wrap="square" rtlCol="0">
            <a:spAutoFit/>
          </a:bodyPr>
          <a:lstStyle/>
          <a:p>
            <a:r>
              <a:rPr lang="en-US" sz="800" dirty="0"/>
              <a:t>Base Created by TS VM TSD KC and BW  06 09 2025 </a:t>
            </a:r>
          </a:p>
        </p:txBody>
      </p:sp>
      <p:sp>
        <p:nvSpPr>
          <p:cNvPr id="66" name="TextBox 65">
            <a:extLst>
              <a:ext uri="{FF2B5EF4-FFF2-40B4-BE49-F238E27FC236}">
                <a16:creationId xmlns:a16="http://schemas.microsoft.com/office/drawing/2014/main" id="{88D007BA-343E-E732-982C-A0C0DA96A6D7}"/>
              </a:ext>
            </a:extLst>
          </p:cNvPr>
          <p:cNvSpPr txBox="1"/>
          <p:nvPr/>
        </p:nvSpPr>
        <p:spPr>
          <a:xfrm>
            <a:off x="1252978" y="5986802"/>
            <a:ext cx="1135581" cy="655216"/>
          </a:xfrm>
          <a:prstGeom prst="flowChartInternalStorage">
            <a:avLst/>
          </a:prstGeom>
          <a:solidFill>
            <a:srgbClr val="FFFF00"/>
          </a:solidFill>
          <a:ln>
            <a:solidFill>
              <a:schemeClr val="tx1"/>
            </a:solidFill>
          </a:ln>
        </p:spPr>
        <p:txBody>
          <a:bodyPr wrap="square" rtlCol="0">
            <a:spAutoFit/>
          </a:bodyPr>
          <a:lstStyle/>
          <a:p>
            <a:pPr algn="ctr"/>
            <a:r>
              <a:rPr lang="en-US" sz="1050" dirty="0"/>
              <a:t>Note this Indicates a Sub SOP </a:t>
            </a:r>
          </a:p>
        </p:txBody>
      </p:sp>
      <p:sp>
        <p:nvSpPr>
          <p:cNvPr id="64" name="TextBox 63">
            <a:extLst>
              <a:ext uri="{FF2B5EF4-FFF2-40B4-BE49-F238E27FC236}">
                <a16:creationId xmlns:a16="http://schemas.microsoft.com/office/drawing/2014/main" id="{386322DA-883D-6B46-E03D-882FB52936EF}"/>
              </a:ext>
            </a:extLst>
          </p:cNvPr>
          <p:cNvSpPr txBox="1"/>
          <p:nvPr/>
        </p:nvSpPr>
        <p:spPr>
          <a:xfrm>
            <a:off x="0" y="6362522"/>
            <a:ext cx="994285" cy="338554"/>
          </a:xfrm>
          <a:prstGeom prst="rect">
            <a:avLst/>
          </a:prstGeom>
          <a:noFill/>
        </p:spPr>
        <p:txBody>
          <a:bodyPr wrap="square" rtlCol="0">
            <a:spAutoFit/>
          </a:bodyPr>
          <a:lstStyle/>
          <a:p>
            <a:r>
              <a:rPr lang="en-US" sz="800" dirty="0"/>
              <a:t>Updated for WDZ SR 09 29 2025 1614</a:t>
            </a:r>
          </a:p>
        </p:txBody>
      </p:sp>
      <p:sp>
        <p:nvSpPr>
          <p:cNvPr id="22" name="TextBox 21">
            <a:extLst>
              <a:ext uri="{FF2B5EF4-FFF2-40B4-BE49-F238E27FC236}">
                <a16:creationId xmlns:a16="http://schemas.microsoft.com/office/drawing/2014/main" id="{3F16D31F-0A1B-F43C-B4D3-86D84C583CC4}"/>
              </a:ext>
            </a:extLst>
          </p:cNvPr>
          <p:cNvSpPr txBox="1"/>
          <p:nvPr/>
        </p:nvSpPr>
        <p:spPr>
          <a:xfrm>
            <a:off x="2896280" y="4594528"/>
            <a:ext cx="6009141" cy="938719"/>
          </a:xfrm>
          <a:prstGeom prst="rect">
            <a:avLst/>
          </a:prstGeom>
          <a:noFill/>
        </p:spPr>
        <p:txBody>
          <a:bodyPr wrap="square" rtlCol="0">
            <a:spAutoFit/>
          </a:bodyPr>
          <a:lstStyle/>
          <a:p>
            <a:pPr algn="ctr"/>
            <a:r>
              <a:rPr lang="en-US" sz="1100" b="1" dirty="0"/>
              <a:t>Ever heard the phrase “Practice makes perfect ? – if you had not then now you have !</a:t>
            </a:r>
          </a:p>
          <a:p>
            <a:pPr algn="ctr"/>
            <a:endParaRPr lang="en-US" sz="1100" b="1" dirty="0"/>
          </a:p>
          <a:p>
            <a:pPr algn="ctr"/>
            <a:r>
              <a:rPr lang="en-US" sz="1100" b="1" dirty="0"/>
              <a:t>The Management and your project team would like you to practice this and other processes so that the Go live is smooth or if your new to the company or are new to the role you can get proficient in the training environment </a:t>
            </a:r>
          </a:p>
        </p:txBody>
      </p:sp>
      <p:sp>
        <p:nvSpPr>
          <p:cNvPr id="3" name="-S99. Exit at the end of each path you followed">
            <a:extLst>
              <a:ext uri="{FF2B5EF4-FFF2-40B4-BE49-F238E27FC236}">
                <a16:creationId xmlns:a16="http://schemas.microsoft.com/office/drawing/2014/main" id="{4330C9FE-53DB-B9E7-338B-E44730DBD34A}"/>
              </a:ext>
            </a:extLst>
          </p:cNvPr>
          <p:cNvSpPr txBox="1">
            <a:spLocks noGrp="1"/>
          </p:cNvSpPr>
          <p:nvPr>
            <p:ph type="title"/>
          </p:nvPr>
        </p:nvSpPr>
        <p:spPr>
          <a:xfrm>
            <a:off x="833197" y="234503"/>
            <a:ext cx="10515600" cy="369332"/>
          </a:xfrm>
          <a:prstGeom prst="rect">
            <a:avLst/>
          </a:prstGeom>
          <a:noFill/>
        </p:spPr>
        <p:txBody>
          <a:bodyPr wrap="square" rtlCol="0">
            <a:spAutoFit/>
          </a:bodyPr>
          <a:lstStyle/>
          <a:p>
            <a:pPr algn="ctr"/>
            <a:r>
              <a:rPr lang="en-US" sz="2000" b="1" dirty="0"/>
              <a:t>S998. You have come to the end of the path selected in the – Rental Process</a:t>
            </a:r>
          </a:p>
        </p:txBody>
      </p:sp>
      <p:pic>
        <p:nvPicPr>
          <p:cNvPr id="4" name="Picture 3" descr="A screenshot of a computer screen&#10;&#10;AI-generated content may be incorrect.">
            <a:extLst>
              <a:ext uri="{FF2B5EF4-FFF2-40B4-BE49-F238E27FC236}">
                <a16:creationId xmlns:a16="http://schemas.microsoft.com/office/drawing/2014/main" id="{303A92C3-5D4C-1BD5-B603-E429718E45B6}"/>
              </a:ext>
            </a:extLst>
          </p:cNvPr>
          <p:cNvPicPr>
            <a:picLocks noChangeAspect="1"/>
          </p:cNvPicPr>
          <p:nvPr/>
        </p:nvPicPr>
        <p:blipFill>
          <a:blip r:embed="rId3"/>
          <a:stretch>
            <a:fillRect/>
          </a:stretch>
        </p:blipFill>
        <p:spPr>
          <a:xfrm>
            <a:off x="2753143" y="841242"/>
            <a:ext cx="6295414" cy="3515879"/>
          </a:xfrm>
          <a:prstGeom prst="rect">
            <a:avLst/>
          </a:prstGeom>
        </p:spPr>
      </p:pic>
    </p:spTree>
    <p:extLst>
      <p:ext uri="{BB962C8B-B14F-4D97-AF65-F5344CB8AC3E}">
        <p14:creationId xmlns:p14="http://schemas.microsoft.com/office/powerpoint/2010/main" val="1404145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36BE03-F932-51DA-3A05-B579CB4669E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8D62D53-A217-E9BA-F0C5-A41E384C0E58}"/>
              </a:ext>
            </a:extLst>
          </p:cNvPr>
          <p:cNvSpPr txBox="1"/>
          <p:nvPr/>
        </p:nvSpPr>
        <p:spPr>
          <a:xfrm>
            <a:off x="2300789" y="4053725"/>
            <a:ext cx="8050924" cy="2492990"/>
          </a:xfrm>
          <a:prstGeom prst="rect">
            <a:avLst/>
          </a:prstGeom>
          <a:noFill/>
        </p:spPr>
        <p:txBody>
          <a:bodyPr wrap="square" rtlCol="0">
            <a:spAutoFit/>
          </a:bodyPr>
          <a:lstStyle/>
          <a:p>
            <a:r>
              <a:rPr lang="en-US" sz="1200" b="1" dirty="0"/>
              <a:t>Thank you for completing this module on PMA Creation and Scheduling SOP .</a:t>
            </a:r>
            <a:r>
              <a:rPr lang="en-US" sz="1200" dirty="0"/>
              <a:t> The ERP Project Team and Training Group appreciate your time, attention, and commitment to learning our new systems and processes.</a:t>
            </a:r>
          </a:p>
          <a:p>
            <a:endParaRPr lang="en-US" sz="1200" dirty="0"/>
          </a:p>
          <a:p>
            <a:r>
              <a:rPr lang="en-US" sz="1200" dirty="0"/>
              <a:t>To be confident in your day-to-day work—and to avoid surprises at Go Live or when you move into a new role—please set aside time to </a:t>
            </a:r>
            <a:r>
              <a:rPr lang="en-US" sz="1200" b="1" dirty="0"/>
              <a:t>practice this SOP in the training environment</a:t>
            </a:r>
            <a:r>
              <a:rPr lang="en-US" sz="1200" dirty="0"/>
              <a:t>. Working through realistic examples several times will help you:</a:t>
            </a:r>
            <a:br>
              <a:rPr lang="en-US" sz="1200" dirty="0"/>
            </a:br>
            <a:r>
              <a:rPr lang="en-US" sz="1200" dirty="0"/>
              <a:t>• Follow the steps in the correct sequence</a:t>
            </a:r>
            <a:br>
              <a:rPr lang="en-US" sz="1200" dirty="0"/>
            </a:br>
            <a:r>
              <a:rPr lang="en-US" sz="1200" dirty="0"/>
              <a:t>• Understand what the key fields and options do</a:t>
            </a:r>
            <a:br>
              <a:rPr lang="en-US" sz="1200" dirty="0"/>
            </a:br>
            <a:r>
              <a:rPr lang="en-US" sz="1200" dirty="0"/>
              <a:t>• Reduce errors when you work in the live system</a:t>
            </a:r>
            <a:br>
              <a:rPr lang="en-US" sz="1200" dirty="0"/>
            </a:br>
            <a:r>
              <a:rPr lang="en-US" sz="1200" dirty="0"/>
              <a:t>• Handle real customer and business situations with confidence</a:t>
            </a:r>
          </a:p>
          <a:p>
            <a:endParaRPr lang="en-US" sz="1200" dirty="0"/>
          </a:p>
          <a:p>
            <a:r>
              <a:rPr lang="en-US" sz="1200" dirty="0"/>
              <a:t>The </a:t>
            </a:r>
            <a:r>
              <a:rPr lang="en-US" sz="1200" b="1" dirty="0"/>
              <a:t>training environment is the safest place to practice</a:t>
            </a:r>
            <a:r>
              <a:rPr lang="en-US" sz="1200" dirty="0"/>
              <a:t>, ask questions, and learn from mistakes—before they affect real orders, inventory, equipment, or customers. The more you use the training environment now, the smoother your work will be later in the live system.</a:t>
            </a:r>
          </a:p>
        </p:txBody>
      </p:sp>
      <p:sp>
        <p:nvSpPr>
          <p:cNvPr id="9" name="Parlance">
            <a:extLst>
              <a:ext uri="{FF2B5EF4-FFF2-40B4-BE49-F238E27FC236}">
                <a16:creationId xmlns:a16="http://schemas.microsoft.com/office/drawing/2014/main" id="{225CD0B5-A601-6D52-53A1-DD7EF8B4FF01}"/>
              </a:ext>
            </a:extLst>
          </p:cNvPr>
          <p:cNvSpPr txBox="1"/>
          <p:nvPr/>
        </p:nvSpPr>
        <p:spPr>
          <a:xfrm>
            <a:off x="1253231" y="714232"/>
            <a:ext cx="8906605" cy="246221"/>
          </a:xfrm>
          <a:prstGeom prst="rect">
            <a:avLst/>
          </a:prstGeom>
          <a:noFill/>
        </p:spPr>
        <p:txBody>
          <a:bodyPr wrap="none" rtlCol="0">
            <a:spAutoFit/>
          </a:bodyPr>
          <a:lstStyle/>
          <a:p>
            <a:r>
              <a:rPr lang="en-US" sz="1000" dirty="0">
                <a:solidFill>
                  <a:schemeClr val="bg1"/>
                </a:solidFill>
              </a:rPr>
              <a:t>The creator of this slide  appreciates the Infor System’s  Process Intelligence which became the basis for process creation and verification and finally the training System</a:t>
            </a:r>
          </a:p>
        </p:txBody>
      </p:sp>
      <p:sp>
        <p:nvSpPr>
          <p:cNvPr id="3" name="-S999. You have successfully completed this SOP On PMA’s">
            <a:extLst>
              <a:ext uri="{FF2B5EF4-FFF2-40B4-BE49-F238E27FC236}">
                <a16:creationId xmlns:a16="http://schemas.microsoft.com/office/drawing/2014/main" id="{F8D84980-CBA2-BEF8-AB8B-0A9E6DBA426A}"/>
              </a:ext>
            </a:extLst>
          </p:cNvPr>
          <p:cNvSpPr txBox="1">
            <a:spLocks/>
          </p:cNvSpPr>
          <p:nvPr/>
        </p:nvSpPr>
        <p:spPr>
          <a:xfrm>
            <a:off x="838198" y="162630"/>
            <a:ext cx="10515600" cy="261407"/>
          </a:xfrm>
          <a:prstGeom prst="rect">
            <a:avLst/>
          </a:prstGeom>
        </p:spPr>
        <p:txBody>
          <a:bodyPr>
            <a:noAutofit/>
          </a:bodyPr>
          <a:lstStyle>
            <a:lvl1pPr algn="l" defTabSz="914400" rtl="0" eaLnBrk="1" latinLnBrk="0" hangingPunct="1">
              <a:lnSpc>
                <a:spcPct val="90000"/>
              </a:lnSpc>
              <a:spcBef>
                <a:spcPct val="0"/>
              </a:spcBef>
              <a:buNone/>
              <a:defRPr sz="2400" kern="1200">
                <a:solidFill>
                  <a:schemeClr val="tx1"/>
                </a:solidFill>
                <a:latin typeface="+mj-lt"/>
                <a:ea typeface="+mj-ea"/>
                <a:cs typeface="+mj-cs"/>
              </a:defRPr>
            </a:lvl1pPr>
          </a:lstStyle>
          <a:p>
            <a:pPr algn="ctr"/>
            <a:r>
              <a:rPr lang="en-US" sz="1400" b="1" dirty="0"/>
              <a:t>S999. You have successfully completed this SOP On PMA’s </a:t>
            </a:r>
          </a:p>
        </p:txBody>
      </p:sp>
      <p:pic>
        <p:nvPicPr>
          <p:cNvPr id="5" name="Picture 4" descr="A screenshot of a computer screen&#10;&#10;AI-generated content may be incorrect.">
            <a:extLst>
              <a:ext uri="{FF2B5EF4-FFF2-40B4-BE49-F238E27FC236}">
                <a16:creationId xmlns:a16="http://schemas.microsoft.com/office/drawing/2014/main" id="{C7454471-E12B-418B-18C9-66EDAB308AFA}"/>
              </a:ext>
            </a:extLst>
          </p:cNvPr>
          <p:cNvPicPr>
            <a:picLocks noChangeAspect="1"/>
          </p:cNvPicPr>
          <p:nvPr/>
        </p:nvPicPr>
        <p:blipFill>
          <a:blip r:embed="rId3"/>
          <a:stretch>
            <a:fillRect/>
          </a:stretch>
        </p:blipFill>
        <p:spPr>
          <a:xfrm>
            <a:off x="2974166" y="571611"/>
            <a:ext cx="5464734" cy="3051959"/>
          </a:xfrm>
          <a:prstGeom prst="rect">
            <a:avLst/>
          </a:prstGeom>
        </p:spPr>
      </p:pic>
    </p:spTree>
    <p:extLst>
      <p:ext uri="{BB962C8B-B14F-4D97-AF65-F5344CB8AC3E}">
        <p14:creationId xmlns:p14="http://schemas.microsoft.com/office/powerpoint/2010/main" val="78745697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51</TotalTime>
  <Words>4186</Words>
  <Application>Microsoft Office PowerPoint</Application>
  <PresentationFormat>Widescreen</PresentationFormat>
  <Paragraphs>385</Paragraphs>
  <Slides>14</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Calibri Light</vt:lpstr>
      <vt:lpstr>Office Theme</vt:lpstr>
      <vt:lpstr>PowerPoint Presentation</vt:lpstr>
      <vt:lpstr> S001. About Palco Power Systems and Scott Electric  and  a Welcome to Training</vt:lpstr>
      <vt:lpstr>PowerPoint Presentation</vt:lpstr>
      <vt:lpstr>PowerPoint Presentation</vt:lpstr>
      <vt:lpstr>M1. PMA SOP  - PPS Service Rental</vt:lpstr>
      <vt:lpstr>S004. PMA start with contact from or to a customer  - PPS Service Rental</vt:lpstr>
      <vt:lpstr>S1. A Customer and Unit specific contract is Created  - PPS Service Rental</vt:lpstr>
      <vt:lpstr>S2. Contract Maintenance Schedule is prepared - PPS Service Rental</vt:lpstr>
      <vt:lpstr>S3. Fixed billing total is entered  - PPS Service Rental</vt:lpstr>
      <vt:lpstr>S4. Contract SRO generator is run at mid month - PPS Service Rental</vt:lpstr>
      <vt:lpstr>S5. SRO Service Request Order is generated for all PMA for next month - PPS Service Rental</vt:lpstr>
      <vt:lpstr>S6. SRO or Service Order Processing starts from scheduling to task completion - PPS Service Rental</vt:lpstr>
      <vt:lpstr>S998. You have come to the end of the path selected in the – Rental Process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scott electric</dc:creator>
  <cp:lastModifiedBy>Subi R</cp:lastModifiedBy>
  <cp:revision>3</cp:revision>
  <dcterms:created xsi:type="dcterms:W3CDTF">2025-08-18T16:15:09Z</dcterms:created>
  <dcterms:modified xsi:type="dcterms:W3CDTF">2025-12-23T17:02:50Z</dcterms:modified>
</cp:coreProperties>
</file>